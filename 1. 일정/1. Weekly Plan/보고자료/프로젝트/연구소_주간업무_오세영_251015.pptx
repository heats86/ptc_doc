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embedTrueTypeFonts="1" saveSubsetFonts="1">
  <p:sldMasterIdLst>
    <p:sldMasterId id="2147483709" r:id="rId1"/>
  </p:sldMasterIdLst>
  <p:notesMasterIdLst>
    <p:notesMasterId r:id="rId14"/>
  </p:notesMasterIdLst>
  <p:handoutMasterIdLst>
    <p:handoutMasterId r:id="rId15"/>
  </p:handoutMasterIdLst>
  <p:sldIdLst>
    <p:sldId id="1005" r:id="rId2"/>
    <p:sldId id="958" r:id="rId3"/>
    <p:sldId id="997" r:id="rId4"/>
    <p:sldId id="998" r:id="rId5"/>
    <p:sldId id="994" r:id="rId6"/>
    <p:sldId id="1004" r:id="rId7"/>
    <p:sldId id="1000" r:id="rId8"/>
    <p:sldId id="1001" r:id="rId9"/>
    <p:sldId id="1002" r:id="rId10"/>
    <p:sldId id="1003" r:id="rId11"/>
    <p:sldId id="1006" r:id="rId12"/>
    <p:sldId id="1007" r:id="rId13"/>
  </p:sldIdLst>
  <p:sldSz cx="9144000" cy="6858000" type="screen4x3"/>
  <p:notesSz cx="6802438" cy="9934575"/>
  <p:embeddedFontLst>
    <p:embeddedFont>
      <p:font typeface="굴림" panose="020B0600000101010101" pitchFamily="50" charset="-127"/>
      <p:regular r:id="rId16"/>
    </p:embeddedFont>
    <p:embeddedFont>
      <p:font typeface="Lucida Sans Unicode" panose="020B0602030504020204" pitchFamily="34" charset="0"/>
      <p:regular r:id="rId17"/>
    </p:embeddedFont>
    <p:embeddedFont>
      <p:font typeface="Verdana" panose="020B0604030504040204" pitchFamily="34" charset="0"/>
      <p:regular r:id="rId18"/>
      <p:bold r:id="rId19"/>
      <p:italic r:id="rId20"/>
      <p:boldItalic r:id="rId21"/>
    </p:embeddedFont>
    <p:embeddedFont>
      <p:font typeface="맑은 고딕" panose="020B0503020000020004" pitchFamily="50" charset="-127"/>
      <p:regular r:id="rId22"/>
      <p:bold r:id="rId23"/>
    </p:embeddedFont>
  </p:embeddedFontLst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287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/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TxStyle/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TxStyle/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502" autoAdjust="0"/>
    <p:restoredTop sz="85644" autoAdjust="0"/>
  </p:normalViewPr>
  <p:slideViewPr>
    <p:cSldViewPr snapToObjects="1">
      <p:cViewPr varScale="1">
        <p:scale>
          <a:sx n="139" d="100"/>
          <a:sy n="139" d="100"/>
        </p:scale>
        <p:origin x="5178" y="114"/>
      </p:cViewPr>
      <p:guideLst>
        <p:guide orient="horz" pos="2159"/>
        <p:guide pos="2879"/>
      </p:guideLst>
    </p:cSldViewPr>
  </p:slid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40" d="100"/>
        <a:sy n="140" d="100"/>
      </p:scale>
      <p:origin x="0" y="-5916"/>
    </p:cViewPr>
  </p:sorterViewPr>
  <p:notesViewPr>
    <p:cSldViewPr snapToObjects="1">
      <p:cViewPr varScale="1">
        <p:scale>
          <a:sx n="85" d="100"/>
          <a:sy n="85" d="100"/>
        </p:scale>
        <p:origin x="3804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23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988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2863" y="0"/>
            <a:ext cx="2947987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14F0EACC-29E1-4123-AB74-F69792B7420C}" type="datetime1">
              <a:rPr lang="ko-KR" altLang="en-US"/>
              <a:pPr>
                <a:defRPr/>
              </a:pPr>
              <a:t>2025-10-15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36100"/>
            <a:ext cx="2947988" cy="498475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2863" y="9436100"/>
            <a:ext cx="2947987" cy="498475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>
            <a:lvl1pPr algn="r">
              <a:defRPr kumimoji="0" sz="1200">
                <a:latin typeface="맑은 고딕"/>
                <a:ea typeface="맑은 고딕"/>
              </a:defRPr>
            </a:lvl1pPr>
          </a:lstStyle>
          <a:p>
            <a:pPr lvl="0">
              <a:defRPr/>
            </a:pPr>
            <a:fld id="{C5AD38E4-52FB-405C-8E19-6A254CCE2067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988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2863" y="0"/>
            <a:ext cx="2947987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0B67648E-ACAE-4A84-9CB2-88D8D686B020}" type="datetime1">
              <a:rPr lang="ko-KR" altLang="en-US"/>
              <a:pPr>
                <a:defRPr/>
              </a:pPr>
              <a:t>2025-10-15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66813" y="1241425"/>
            <a:ext cx="4468812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1038" y="4781550"/>
            <a:ext cx="5441950" cy="39116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36100"/>
            <a:ext cx="2947988" cy="498475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2863" y="9436100"/>
            <a:ext cx="2947987" cy="498475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>
            <a:lvl1pPr algn="r">
              <a:defRPr kumimoji="0" sz="1200">
                <a:latin typeface="맑은 고딕"/>
                <a:ea typeface="맑은 고딕"/>
              </a:defRPr>
            </a:lvl1pPr>
          </a:lstStyle>
          <a:p>
            <a:pPr lvl="0">
              <a:defRPr/>
            </a:pPr>
            <a:fld id="{29ED2F5D-67AF-441D-A814-CF7ACE32B267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lvl="0">
              <a:defRPr/>
            </a:pPr>
            <a:fld id="{29ED2F5D-67AF-441D-A814-CF7ACE32B267}" type="slidenum">
              <a:rPr lang="en-US" altLang="en-US"/>
              <a:pPr lvl="0">
                <a:defRPr/>
              </a:pPr>
              <a:t>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027975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70678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38732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89101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3768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561575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09390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930979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3152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38767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70401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59497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6">
            <a:extLst>
              <a:ext uri="{FF2B5EF4-FFF2-40B4-BE49-F238E27FC236}">
                <a16:creationId xmlns:a16="http://schemas.microsoft.com/office/drawing/2014/main" id="{FAD228E9-8FB4-4FE0-8960-343D0C70C809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0" y="-26988"/>
            <a:ext cx="9144000" cy="2303463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100000">
                <a:schemeClr val="bg1">
                  <a:lumMod val="85000"/>
                </a:schemeClr>
              </a:gs>
            </a:gsLst>
            <a:lin ang="0" scaled="1"/>
            <a:tileRect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3" name="Freeform 38">
            <a:extLst>
              <a:ext uri="{FF2B5EF4-FFF2-40B4-BE49-F238E27FC236}">
                <a16:creationId xmlns:a16="http://schemas.microsoft.com/office/drawing/2014/main" id="{FE218359-3438-4B51-8D6A-457052163E4C}"/>
              </a:ext>
            </a:extLst>
          </p:cNvPr>
          <p:cNvSpPr>
            <a:spLocks/>
          </p:cNvSpPr>
          <p:nvPr userDrawn="1"/>
        </p:nvSpPr>
        <p:spPr bwMode="gray">
          <a:xfrm>
            <a:off x="0" y="3284538"/>
            <a:ext cx="1911350" cy="461962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1204" y="0"/>
              </a:cxn>
              <a:cxn ang="0">
                <a:pos x="1041" y="291"/>
              </a:cxn>
              <a:cxn ang="0">
                <a:pos x="0" y="286"/>
              </a:cxn>
              <a:cxn ang="0">
                <a:pos x="0" y="0"/>
              </a:cxn>
            </a:cxnLst>
            <a:rect l="0" t="0" r="r" b="b"/>
            <a:pathLst>
              <a:path w="1204" h="291">
                <a:moveTo>
                  <a:pt x="0" y="0"/>
                </a:moveTo>
                <a:lnTo>
                  <a:pt x="1204" y="0"/>
                </a:lnTo>
                <a:lnTo>
                  <a:pt x="1041" y="291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4" name="Freeform 44">
            <a:extLst>
              <a:ext uri="{FF2B5EF4-FFF2-40B4-BE49-F238E27FC236}">
                <a16:creationId xmlns:a16="http://schemas.microsoft.com/office/drawing/2014/main" id="{17CFAC85-6B30-4974-950D-358A0033D0C3}"/>
              </a:ext>
            </a:extLst>
          </p:cNvPr>
          <p:cNvSpPr>
            <a:spLocks/>
          </p:cNvSpPr>
          <p:nvPr userDrawn="1"/>
        </p:nvSpPr>
        <p:spPr bwMode="gray">
          <a:xfrm>
            <a:off x="1908175" y="2276475"/>
            <a:ext cx="7240588" cy="1008063"/>
          </a:xfrm>
          <a:custGeom>
            <a:avLst/>
            <a:gdLst/>
            <a:ahLst/>
            <a:cxnLst>
              <a:cxn ang="0">
                <a:pos x="0" y="573"/>
              </a:cxn>
              <a:cxn ang="0">
                <a:pos x="4134" y="573"/>
              </a:cxn>
              <a:cxn ang="0">
                <a:pos x="4134" y="1"/>
              </a:cxn>
              <a:cxn ang="0">
                <a:pos x="322" y="0"/>
              </a:cxn>
              <a:cxn ang="0">
                <a:pos x="0" y="573"/>
              </a:cxn>
            </a:cxnLst>
            <a:rect l="0" t="0" r="r" b="b"/>
            <a:pathLst>
              <a:path w="4134" h="573">
                <a:moveTo>
                  <a:pt x="0" y="573"/>
                </a:moveTo>
                <a:lnTo>
                  <a:pt x="4134" y="573"/>
                </a:lnTo>
                <a:lnTo>
                  <a:pt x="4134" y="1"/>
                </a:lnTo>
                <a:lnTo>
                  <a:pt x="322" y="0"/>
                </a:lnTo>
                <a:lnTo>
                  <a:pt x="0" y="573"/>
                </a:lnTo>
                <a:close/>
              </a:path>
            </a:pathLst>
          </a:custGeom>
          <a:solidFill>
            <a:srgbClr val="CC0000">
              <a:alpha val="74902"/>
            </a:srgbClr>
          </a:solidFill>
          <a:ln w="9525">
            <a:noFill/>
            <a:round/>
            <a:headEnd/>
            <a:tailEnd/>
          </a:ln>
          <a:effectLst/>
        </p:spPr>
        <p:txBody>
          <a:bodyPr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pic>
        <p:nvPicPr>
          <p:cNvPr id="5" name="Picture 46">
            <a:extLst>
              <a:ext uri="{FF2B5EF4-FFF2-40B4-BE49-F238E27FC236}">
                <a16:creationId xmlns:a16="http://schemas.microsoft.com/office/drawing/2014/main" id="{B53297AF-6519-407B-867F-AC4F2608A24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575" b="-2045"/>
          <a:stretch>
            <a:fillRect/>
          </a:stretch>
        </p:blipFill>
        <p:spPr bwMode="auto">
          <a:xfrm>
            <a:off x="252413" y="2655888"/>
            <a:ext cx="1498600" cy="528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1">
            <a:extLst>
              <a:ext uri="{FF2B5EF4-FFF2-40B4-BE49-F238E27FC236}">
                <a16:creationId xmlns:a16="http://schemas.microsoft.com/office/drawing/2014/main" id="{9EED3C8E-3CDE-4D79-A4EB-DE256320E9E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2349500"/>
            <a:ext cx="1728787" cy="296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41543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2575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260494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285890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626578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081637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BE6FF5E-07DA-4B89-B715-6E19F831BEA3}"/>
              </a:ext>
            </a:extLst>
          </p:cNvPr>
          <p:cNvSpPr/>
          <p:nvPr userDrawn="1"/>
        </p:nvSpPr>
        <p:spPr>
          <a:xfrm>
            <a:off x="323850" y="6604000"/>
            <a:ext cx="6769100" cy="230188"/>
          </a:xfrm>
          <a:prstGeom prst="rect">
            <a:avLst/>
          </a:prstGeom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en-US" sz="900" dirty="0">
                <a:solidFill>
                  <a:schemeClr val="bg1">
                    <a:lumMod val="65000"/>
                  </a:schemeClr>
                </a:solidFill>
                <a:latin typeface="Arial" charset="0"/>
                <a:ea typeface="+mn-ea"/>
                <a:cs typeface="Arial" charset="0"/>
              </a:rPr>
              <a:t>The information contained in this document may be privileged and confidential and thus protected from disclosure</a:t>
            </a:r>
            <a:endParaRPr kumimoji="0" lang="ko-KR" altLang="en-US" sz="900" dirty="0">
              <a:solidFill>
                <a:schemeClr val="bg1">
                  <a:lumMod val="65000"/>
                </a:schemeClr>
              </a:solidFill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24118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4229523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5414501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683178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39921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그림 1">
            <a:extLst>
              <a:ext uri="{FF2B5EF4-FFF2-40B4-BE49-F238E27FC236}">
                <a16:creationId xmlns:a16="http://schemas.microsoft.com/office/drawing/2014/main" id="{BB67A7F6-BFFB-4832-B11C-31A3C3558AE0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75" t="20592" r="33426" b="72507"/>
          <a:stretch>
            <a:fillRect/>
          </a:stretch>
        </p:blipFill>
        <p:spPr bwMode="auto">
          <a:xfrm>
            <a:off x="7766050" y="6584950"/>
            <a:ext cx="1368425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36">
            <a:extLst>
              <a:ext uri="{FF2B5EF4-FFF2-40B4-BE49-F238E27FC236}">
                <a16:creationId xmlns:a16="http://schemas.microsoft.com/office/drawing/2014/main" id="{04234A19-3EAB-4D32-A573-4A01376C44D8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0" y="481013"/>
            <a:ext cx="542925" cy="60325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fontAlgn="auto" latinLnBrk="0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solidFill>
                <a:prstClr val="black"/>
              </a:solidFill>
              <a:latin typeface="Lucida Sans Unicode"/>
              <a:ea typeface="+mn-ea"/>
            </a:endParaRPr>
          </a:p>
        </p:txBody>
      </p:sp>
      <p:sp>
        <p:nvSpPr>
          <p:cNvPr id="8" name="Rectangle 36">
            <a:extLst>
              <a:ext uri="{FF2B5EF4-FFF2-40B4-BE49-F238E27FC236}">
                <a16:creationId xmlns:a16="http://schemas.microsoft.com/office/drawing/2014/main" id="{071F7991-6104-4317-9C80-4574C36DA0D5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628650" y="481013"/>
            <a:ext cx="8515350" cy="6032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9pPr>
          </a:lstStyle>
          <a:p>
            <a:pPr eaLnBrk="1" latinLnBrk="0" hangingPunct="1">
              <a:defRPr/>
            </a:pPr>
            <a:endParaRPr kumimoji="0" lang="ko-KR" altLang="en-US" sz="1100" dirty="0">
              <a:solidFill>
                <a:srgbClr val="FFFFFF"/>
              </a:solidFill>
              <a:latin typeface="Verdana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CF50959-B8E2-4238-A88F-6395F53E7E37}"/>
              </a:ext>
            </a:extLst>
          </p:cNvPr>
          <p:cNvSpPr/>
          <p:nvPr userDrawn="1"/>
        </p:nvSpPr>
        <p:spPr>
          <a:xfrm>
            <a:off x="9525" y="6516688"/>
            <a:ext cx="6769100" cy="374650"/>
          </a:xfrm>
          <a:prstGeom prst="rect">
            <a:avLst/>
          </a:prstGeom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>
              <a:lnSpc>
                <a:spcPts val="1100"/>
              </a:lnSpc>
            </a:pPr>
            <a:r>
              <a:rPr kumimoji="0" lang="ko-KR" altLang="en-US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본 문서는 우리산업㈜의 자산으로 회사의 승인없이 외부 유포 및 공개가 금지 됩니다</a:t>
            </a:r>
            <a:r>
              <a:rPr kumimoji="0" lang="en-US" altLang="ko-KR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. </a:t>
            </a:r>
            <a:endParaRPr kumimoji="0" lang="en-US" altLang="en-US" sz="800">
              <a:solidFill>
                <a:srgbClr val="D9D9D9"/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eaLnBrk="1" hangingPunct="1">
              <a:lnSpc>
                <a:spcPts val="1100"/>
              </a:lnSpc>
            </a:pPr>
            <a:r>
              <a:rPr kumimoji="0" lang="en-US" altLang="en-US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The information contained in this document may be privileged and confidential and thus protected from disclosure.</a:t>
            </a:r>
            <a:endParaRPr kumimoji="0" lang="ko-KR" altLang="en-US" sz="800">
              <a:solidFill>
                <a:srgbClr val="D9D9D9"/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8" r:id="rId7"/>
    <p:sldLayoutId id="2147483693" r:id="rId8"/>
    <p:sldLayoutId id="2147483694" r:id="rId9"/>
    <p:sldLayoutId id="2147483695" r:id="rId10"/>
    <p:sldLayoutId id="2147483696" r:id="rId11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Font typeface="Wingdings" panose="05000000000000000000" pitchFamily="2" charset="2"/>
        <a:buChar char="v"/>
        <a:defRPr sz="28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§"/>
        <a:defRPr sz="2800">
          <a:solidFill>
            <a:schemeClr val="tx1"/>
          </a:solidFill>
          <a:latin typeface="+mj-lt"/>
          <a:ea typeface="맑은 고딕" pitchFamily="50" charset="-127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+mj-lt"/>
          <a:ea typeface="맑은 고딕" pitchFamily="50" charset="-127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j-lt"/>
          <a:ea typeface="맑은 고딕" pitchFamily="50" charset="-127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  <a:ea typeface="맑은 고딕" pitchFamily="50" charset="-127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1" name="Group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9844066"/>
              </p:ext>
            </p:extLst>
          </p:nvPr>
        </p:nvGraphicFramePr>
        <p:xfrm>
          <a:off x="215899" y="692697"/>
          <a:ext cx="8748589" cy="5195062"/>
        </p:xfrm>
        <a:graphic>
          <a:graphicData uri="http://schemas.openxmlformats.org/drawingml/2006/table">
            <a:tbl>
              <a:tblPr/>
              <a:tblGrid>
                <a:gridCol w="4948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6973">
                  <a:extLst>
                    <a:ext uri="{9D8B030D-6E8A-4147-A177-3AD203B41FA5}">
                      <a16:colId xmlns:a16="http://schemas.microsoft.com/office/drawing/2014/main" val="3009445602"/>
                    </a:ext>
                  </a:extLst>
                </a:gridCol>
                <a:gridCol w="4032448">
                  <a:extLst>
                    <a:ext uri="{9D8B030D-6E8A-4147-A177-3AD203B41FA5}">
                      <a16:colId xmlns:a16="http://schemas.microsoft.com/office/drawing/2014/main" val="644301783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2350242535"/>
                    </a:ext>
                  </a:extLst>
                </a:gridCol>
                <a:gridCol w="1008113">
                  <a:extLst>
                    <a:ext uri="{9D8B030D-6E8A-4147-A177-3AD203B41FA5}">
                      <a16:colId xmlns:a16="http://schemas.microsoft.com/office/drawing/2014/main" val="631944199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4750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순서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주요내용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조치내용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진행</a:t>
                      </a:r>
                      <a:r>
                        <a:rPr lang="en-US" altLang="ko-KR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/</a:t>
                      </a: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종료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유형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비고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2895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1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QV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QV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항속형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차량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실차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합동 평가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일자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9/30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장소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현대 남양 연구소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환경시험동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결과 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: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난방 평가 만족 기준 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Room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온도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도</a:t>
                      </a:r>
                    </a:p>
                    <a:p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   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: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평가 시료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Room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온도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20.8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도 </a:t>
                      </a:r>
                      <a:endParaRPr lang="en-US" altLang="ko-KR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US" altLang="ko-KR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--&gt; QV </a:t>
                      </a:r>
                      <a:r>
                        <a:rPr lang="ko-KR" altLang="en-US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항속형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차량 최대 난방 평가 문제없음을 확인함</a:t>
                      </a:r>
                    </a:p>
                    <a:p>
                      <a:r>
                        <a:rPr lang="ko-KR" altLang="en-US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※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추후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SOP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단계 이후부터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165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도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TC Stone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으로 변경됨에 따</a:t>
                      </a:r>
                      <a:endParaRPr lang="en-US" altLang="ko-KR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른 </a:t>
                      </a:r>
                      <a:r>
                        <a:rPr lang="ko-KR" altLang="en-US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실차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평가는 하지 않음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ko-KR" altLang="en-US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       단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SVm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BJ1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에서 문제 발생 시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QV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도 </a:t>
                      </a:r>
                      <a:r>
                        <a:rPr lang="ko-KR" altLang="en-US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실차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평가 진행 예정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  <a:p>
                      <a:endParaRPr lang="en-US" altLang="ko-KR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SPQA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육성 프로젝트 심사 결과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B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등급</a:t>
                      </a:r>
                      <a:endParaRPr lang="en-US" altLang="ko-KR" sz="1000" b="0" i="0" kern="1200" baseline="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심사 후 지속적으로 업무 진행 중</a:t>
                      </a:r>
                      <a:endParaRPr lang="en-US" altLang="ko-KR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-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smtClean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315568"/>
                  </a:ext>
                </a:extLst>
              </a:tr>
              <a:tr h="3754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2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BJ1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 </a:t>
                      </a:r>
                      <a:r>
                        <a:rPr lang="ko-KR" altLang="en-US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좌우 온도 편차 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SPEC </a:t>
                      </a:r>
                      <a:r>
                        <a:rPr lang="ko-KR" altLang="en-US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미달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실차 평가 위한 시료 교체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10/1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25/7/15 ~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BJ1 </a:t>
                      </a:r>
                      <a:r>
                        <a:rPr lang="ko-KR" altLang="en-US" sz="1000" b="0" kern="120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차종 시험 평가 중 접수</a:t>
                      </a:r>
                      <a:endParaRPr lang="en-US" altLang="ko-KR" sz="1000" b="0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056622"/>
                  </a:ext>
                </a:extLst>
              </a:tr>
              <a:tr h="57883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3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 SVm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 P1 </a:t>
                      </a:r>
                      <a:r>
                        <a:rPr lang="ko-KR" altLang="en-US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차량 </a:t>
                      </a:r>
                      <a:endParaRPr lang="en-US" altLang="ko-KR" sz="1000" b="0" kern="1200" baseline="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최대 난방 및 좌우 편차 </a:t>
                      </a:r>
                      <a:endParaRPr lang="en-US" altLang="ko-KR" sz="1000" b="0" kern="1200" baseline="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최종 평가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실차 평가 위한 시료 교체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10/1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성능 제한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6200W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7200W SW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변경 적용</a:t>
                      </a: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-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00" b="0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5232538"/>
                  </a:ext>
                </a:extLst>
              </a:tr>
              <a:tr h="7008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4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SX3 ASPICE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ASPICE Pre Kick-Off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회의 진행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(10/1)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Software Engineering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담당자 지정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 HVAC 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및 고전압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PTC 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히터 데이터 현황 점검 회의</a:t>
                      </a:r>
                      <a:endParaRPr lang="en-US" altLang="ko-KR" sz="1000" b="0" i="0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- 10/2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오전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화상회의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-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00" b="0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170217"/>
                  </a:ext>
                </a:extLst>
              </a:tr>
              <a:tr h="41031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5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Maruti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 Suzuki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프로젝트 선정 완료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-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00" b="0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3259162"/>
                  </a:ext>
                </a:extLst>
              </a:tr>
            </a:tbl>
          </a:graphicData>
        </a:graphic>
      </p:graphicFrame>
      <p:sp>
        <p:nvSpPr>
          <p:cNvPr id="5" name="Text Box 3"/>
          <p:cNvSpPr txBox="1">
            <a:spLocks noChangeArrowheads="1"/>
          </p:cNvSpPr>
          <p:nvPr/>
        </p:nvSpPr>
        <p:spPr>
          <a:xfrm>
            <a:off x="191" y="50111"/>
            <a:ext cx="5003857" cy="41549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1pPr>
            <a:lvl2pPr marL="742950" indent="-28575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2pPr>
            <a:lvl3pPr marL="11430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3pPr>
            <a:lvl4pPr marL="16002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4pPr>
            <a:lvl5pPr marL="20574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9pPr>
          </a:lstStyle>
          <a:p>
            <a:pPr eaLnBrk="1" hangingPunct="1">
              <a:spcBef>
                <a:spcPct val="50000"/>
              </a:spcBef>
              <a:spcAft>
                <a:spcPts val="0"/>
              </a:spcAft>
              <a:buFont typeface="Wingdings"/>
              <a:buChar char="v"/>
              <a:defRPr/>
            </a:pPr>
            <a:r>
              <a:rPr lang="en-US" altLang="ko-KR" sz="2100" b="1" dirty="0">
                <a:latin typeface="+mn-ea"/>
                <a:ea typeface="+mn-ea"/>
              </a:rPr>
              <a:t>  </a:t>
            </a:r>
            <a:r>
              <a:rPr lang="ko-KR" altLang="en-US" sz="2100" b="1" dirty="0" smtClean="0">
                <a:latin typeface="+mn-ea"/>
                <a:ea typeface="+mn-ea"/>
              </a:rPr>
              <a:t>지시내용</a:t>
            </a:r>
            <a:r>
              <a:rPr lang="en-US" altLang="ko-KR" sz="2100" b="1" dirty="0" smtClean="0">
                <a:latin typeface="+mn-ea"/>
                <a:ea typeface="+mn-ea"/>
              </a:rPr>
              <a:t>/</a:t>
            </a:r>
            <a:r>
              <a:rPr lang="ko-KR" altLang="en-US" sz="2100" b="1" dirty="0" smtClean="0">
                <a:latin typeface="+mn-ea"/>
                <a:ea typeface="+mn-ea"/>
              </a:rPr>
              <a:t>의사결정</a:t>
            </a:r>
            <a:r>
              <a:rPr lang="en-US" altLang="ko-KR" sz="2100" b="1" dirty="0" smtClean="0">
                <a:latin typeface="+mn-ea"/>
                <a:ea typeface="+mn-ea"/>
              </a:rPr>
              <a:t>/</a:t>
            </a:r>
            <a:r>
              <a:rPr lang="ko-KR" altLang="en-US" sz="2100" b="1" dirty="0" smtClean="0">
                <a:latin typeface="+mn-ea"/>
                <a:ea typeface="+mn-ea"/>
              </a:rPr>
              <a:t>리스크</a:t>
            </a:r>
            <a:r>
              <a:rPr lang="en-US" altLang="ko-KR" sz="2100" b="1" dirty="0" smtClean="0">
                <a:latin typeface="+mn-ea"/>
                <a:ea typeface="+mn-ea"/>
              </a:rPr>
              <a:t>/</a:t>
            </a:r>
            <a:r>
              <a:rPr lang="ko-KR" altLang="en-US" sz="2100" b="1" dirty="0" err="1" smtClean="0">
                <a:latin typeface="+mn-ea"/>
                <a:ea typeface="+mn-ea"/>
              </a:rPr>
              <a:t>이슈현황</a:t>
            </a:r>
            <a:endParaRPr lang="ko-KR" altLang="en-US" sz="2100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2329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0696877"/>
              </p:ext>
            </p:extLst>
          </p:nvPr>
        </p:nvGraphicFramePr>
        <p:xfrm>
          <a:off x="47211" y="536957"/>
          <a:ext cx="9073008" cy="6032881"/>
        </p:xfrm>
        <a:graphic>
          <a:graphicData uri="http://schemas.openxmlformats.org/drawingml/2006/table">
            <a:tbl>
              <a:tblPr/>
              <a:tblGrid>
                <a:gridCol w="6210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0193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318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176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321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(10/10~10/16)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(10/17~10/23)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26442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QV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항속형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차량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실차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합동 평가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일자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9/30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장소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현대 남양 연구소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환경시험동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결과 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: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난방 평가 만족 기준 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Room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온도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도</a:t>
                      </a:r>
                    </a:p>
                    <a:p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   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: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평가 시료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Room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온도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20.8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도 </a:t>
                      </a:r>
                      <a:endParaRPr lang="en-US" altLang="ko-KR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en-US" altLang="ko-KR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--&gt; QV </a:t>
                      </a:r>
                      <a:r>
                        <a:rPr lang="ko-KR" altLang="en-US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항속형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차량 최대 난방 평가 문제없음을 확인함</a:t>
                      </a:r>
                    </a:p>
                    <a:p>
                      <a:r>
                        <a:rPr lang="ko-KR" altLang="en-US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※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추후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SOP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단계 이후부터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165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도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TC Stone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으로 변경됨에 따</a:t>
                      </a:r>
                      <a:endParaRPr lang="en-US" altLang="ko-KR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른 </a:t>
                      </a:r>
                      <a:r>
                        <a:rPr lang="ko-KR" altLang="en-US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실차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평가는 하지 않음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ko-KR" altLang="en-US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       단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SVm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BJ1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에서 문제 발생 시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QV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도 </a:t>
                      </a:r>
                      <a:r>
                        <a:rPr lang="ko-KR" altLang="en-US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실차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평가 진행 예정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ES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항목 진행 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성적서 제출일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10/17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  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ES90700-02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제어기 고속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CAN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통신 시험방법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진행률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100%)</a:t>
                      </a:r>
                    </a:p>
                    <a:p>
                      <a:pPr latinLnBrk="0"/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    ES95480-00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고속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CAN(HSCAN)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통신 설계 사양서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진행률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100%)</a:t>
                      </a:r>
                    </a:p>
                    <a:p>
                      <a:pPr latinLnBrk="0"/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    ES95411-00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소프트웨어 평가 사양서 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진행률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80%)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endParaRPr lang="en-US" altLang="ko-KR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   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ES95489-24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오픈소스 보안 취약점 검증 요구사항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진행률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95%)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endParaRPr lang="en-US" altLang="ko-KR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0"/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   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ES95489-21 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제어기 일반 보안 사양서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진행률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10%)</a:t>
                      </a:r>
                      <a:endParaRPr lang="ko-KR" altLang="en-US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 SPQA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SPQA Architecture Design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작성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진행률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%)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SPQA Unit Detail Design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작성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진행률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80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%)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SPQA Unit Test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 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Heating Control (100%), Communication (50%)</a:t>
                      </a: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SPQA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육성 프로젝트 진행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ES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항목 진행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b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089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95536" y="570166"/>
            <a:ext cx="24729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QV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오세영 수석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24.09.01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25.07.05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25.12.01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25.03.15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29" name="그룹 16"/>
          <p:cNvGrpSpPr>
            <a:grpSpLocks noChangeAspect="1"/>
          </p:cNvGrpSpPr>
          <p:nvPr/>
        </p:nvGrpSpPr>
        <p:grpSpPr bwMode="auto">
          <a:xfrm>
            <a:off x="6089818" y="553413"/>
            <a:ext cx="1045724" cy="505515"/>
            <a:chOff x="0" y="135732"/>
            <a:chExt cx="604837" cy="482564"/>
          </a:xfrm>
        </p:grpSpPr>
        <p:sp>
          <p:nvSpPr>
            <p:cNvPr id="3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25.11.15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Pre P#2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32" name="위쪽 화살표 31"/>
          <p:cNvSpPr>
            <a:spLocks noChangeArrowheads="1"/>
          </p:cNvSpPr>
          <p:nvPr/>
        </p:nvSpPr>
        <p:spPr bwMode="auto">
          <a:xfrm rot="10800000">
            <a:off x="6552926" y="72827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79517707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8390876"/>
              </p:ext>
            </p:extLst>
          </p:nvPr>
        </p:nvGraphicFramePr>
        <p:xfrm>
          <a:off x="11059" y="536956"/>
          <a:ext cx="9097445" cy="5841504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96101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775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(10/10~10/16)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(10/17~10/23)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1590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실차 평가 위한 시료 교체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10/1 (P1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차량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성능 제한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6200W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 7200W SW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변경 적용</a:t>
                      </a: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6174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 sz="10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6653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SVm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오세영 수석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24.09.01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25.08.15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26.03.30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26.06.30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25.06.30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4148866831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8562891"/>
              </p:ext>
            </p:extLst>
          </p:nvPr>
        </p:nvGraphicFramePr>
        <p:xfrm>
          <a:off x="11059" y="536956"/>
          <a:ext cx="9097445" cy="5340316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(10/10~10/16)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(10/17~10/23)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819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실차 평가 위한 시료 교체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10/1</a:t>
                      </a: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7716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BJ1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오세영 수석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25.04.15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25.10.15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26.04.15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26.08.01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25.09.15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973593047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0306536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(10/10~10/16)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(10/17~10/23)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7876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MX5a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오세영 수석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25.08.15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26.04.01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26.10.01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27.04.15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79752229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279102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(10/10~10/16)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(10/17~10/23)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0"/>
                      <a:endParaRPr lang="ko-KR" altLang="en-US" sz="1000" b="0" i="0" kern="1200" smtClean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7356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NEaW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오세영 수석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25.08.01</a:t>
              </a:r>
            </a:p>
            <a:p>
              <a:pPr algn="ctr">
                <a:defRPr sz="1000"/>
              </a:pP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26.07.15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LP#1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TBD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27.01.15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M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26.04.15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SP#1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13476302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3484150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(10/10~10/16)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(10/17~10/23)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ES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항목 진행 여부 확인 요청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(To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공조설계팀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  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ES90700-02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제어기 고속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CAN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통신 시험방법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~11/15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    ES95480-00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고속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CAN(HSCAN)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통신 설계 사양서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~11/15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    ES95411-00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소프트웨어 평가 사양서  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~12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 말</a:t>
                      </a:r>
                      <a:endParaRPr lang="en-US" altLang="ko-KR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   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ES95489-24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오픈소스 보안 취약점 검증 요구사항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~12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월말</a:t>
                      </a:r>
                    </a:p>
                    <a:p>
                      <a:pPr latinLnBrk="0"/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    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ES95489-21 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제어기 일반 보안 사양서 </a:t>
                      </a:r>
                      <a:endParaRPr lang="en-US" altLang="ko-KR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0"/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공정 선 감사 사이버 보안 </a:t>
                      </a:r>
                      <a:r>
                        <a:rPr lang="ko-KR" altLang="en-US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품질팀에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의뢰 여부 확인</a:t>
                      </a:r>
                      <a:endParaRPr lang="en-US" altLang="ko-KR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0"/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NE1a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대비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NX5e PHEV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고전압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PTC </a:t>
                      </a:r>
                      <a:r>
                        <a:rPr lang="ko-KR" altLang="en-US" sz="1000" b="0" i="0" kern="1200" baseline="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변동점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요청 회신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(10/01)</a:t>
                      </a:r>
                    </a:p>
                    <a:p>
                      <a:pPr latinLnBrk="0"/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EOL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검사 항목 차이점 비교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차이점 없음</a:t>
                      </a:r>
                      <a:endParaRPr lang="en-US" altLang="ko-KR" sz="1000" b="0" i="0" kern="1200" baseline="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0"/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난방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MAX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성능 비교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차이점 있음 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(MAX </a:t>
                      </a:r>
                      <a:r>
                        <a:rPr lang="ko-KR" altLang="en-US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성능 변경</a:t>
                      </a:r>
                      <a:r>
                        <a:rPr lang="en-US" altLang="ko-KR" sz="1000" b="0" i="0" kern="1200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altLang="ko-KR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0"/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보호 </a:t>
                      </a:r>
                      <a:r>
                        <a:rPr lang="ko-KR" altLang="en-US" sz="1000" b="0" i="0" kern="1200" dirty="0" err="1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비교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차이점 있음 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전압 범위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Core Temp </a:t>
                      </a:r>
                      <a:r>
                        <a:rPr lang="ko-KR" altLang="en-US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변경</a:t>
                      </a:r>
                      <a:r>
                        <a:rPr lang="en-US" altLang="ko-KR" sz="10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00" b="0" i="0" kern="1200" dirty="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제어사양서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고장진단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 사양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로직점검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 체크리스트 확인 및 갱신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2. </a:t>
                      </a:r>
                      <a:r>
                        <a:rPr kumimoji="1" lang="ko-KR" altLang="en-US" sz="1000" b="0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기구팀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Core Temp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itchFamily="2" charset="2"/>
                        </a:rPr>
                        <a:t>최적화 진행 결과 확인 및 반영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40838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N</a:t>
            </a:r>
            <a:r>
              <a:rPr lang="en-US" altLang="ko-KR" sz="1600" b="1" noProof="0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X5e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</a:t>
            </a:r>
            <a:r>
              <a:rPr lang="ko-KR" altLang="en-US" sz="1600" b="1" dirty="0" err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임제훈</a:t>
            </a:r>
            <a:r>
              <a:rPr lang="ko-KR" altLang="en-US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 사원</a:t>
            </a:r>
            <a:r>
              <a:rPr lang="en-US" altLang="ko-KR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25.06.01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26.08.15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27.05.01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519702548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9902946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(10/10~10/16)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(10/17~10/23)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0191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KY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오세영 수석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24.06.01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24.10.15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25.05.01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25.07.15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24.08.31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79909156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7378534"/>
              </p:ext>
            </p:extLst>
          </p:nvPr>
        </p:nvGraphicFramePr>
        <p:xfrm>
          <a:off x="11059" y="536956"/>
          <a:ext cx="9097445" cy="5920605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1804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(10/10~10/16)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(10/17~10/23)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AY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주간 회의 진행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(10/13)</a:t>
                      </a: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1" lang="en-US" altLang="ko-KR" sz="10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-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HVAC 4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대 수령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AY LHD, RHD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보유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AY LHD ESIR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내부 일정 변경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09/30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→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월 말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228439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AY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오세영 수석</a:t>
            </a: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1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102" name="그룹 7"/>
          <p:cNvGrpSpPr>
            <a:grpSpLocks noChangeAspect="1"/>
          </p:cNvGrpSpPr>
          <p:nvPr/>
        </p:nvGrpSpPr>
        <p:grpSpPr bwMode="auto">
          <a:xfrm>
            <a:off x="3025337" y="555241"/>
            <a:ext cx="1023786" cy="689376"/>
            <a:chOff x="-1110" y="134593"/>
            <a:chExt cx="605947" cy="658079"/>
          </a:xfrm>
        </p:grpSpPr>
        <p:sp>
          <p:nvSpPr>
            <p:cNvPr id="103" name="위쪽 화살표 102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04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24.12.15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10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  <p:sp>
          <p:nvSpPr>
            <p:cNvPr id="106" name="Rectangle 46"/>
            <p:cNvSpPr>
              <a:spLocks noChangeArrowheads="1"/>
            </p:cNvSpPr>
            <p:nvPr/>
          </p:nvSpPr>
          <p:spPr bwMode="auto">
            <a:xfrm>
              <a:off x="-1110" y="538080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25.08.15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107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706808"/>
            <a:chOff x="0" y="134593"/>
            <a:chExt cx="604837" cy="674720"/>
          </a:xfrm>
        </p:grpSpPr>
        <p:sp>
          <p:nvSpPr>
            <p:cNvPr id="108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25.09.30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10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  <p:sp>
          <p:nvSpPr>
            <p:cNvPr id="110" name="Rectangle 46"/>
            <p:cNvSpPr>
              <a:spLocks noChangeArrowheads="1"/>
            </p:cNvSpPr>
            <p:nvPr/>
          </p:nvSpPr>
          <p:spPr bwMode="auto">
            <a:xfrm>
              <a:off x="0" y="554721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26.02.15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111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708267"/>
            <a:chOff x="0" y="135732"/>
            <a:chExt cx="604837" cy="676111"/>
          </a:xfrm>
        </p:grpSpPr>
        <p:sp>
          <p:nvSpPr>
            <p:cNvPr id="112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26.02.01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113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  <p:sp>
          <p:nvSpPr>
            <p:cNvPr id="114" name="Rectangle 46"/>
            <p:cNvSpPr>
              <a:spLocks noChangeArrowheads="1"/>
            </p:cNvSpPr>
            <p:nvPr/>
          </p:nvSpPr>
          <p:spPr bwMode="auto">
            <a:xfrm>
              <a:off x="0" y="557251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26.05.01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11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693556"/>
            <a:chOff x="0" y="137478"/>
            <a:chExt cx="604837" cy="662068"/>
          </a:xfrm>
        </p:grpSpPr>
        <p:sp>
          <p:nvSpPr>
            <p:cNvPr id="11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26.04.20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117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  <p:sp>
          <p:nvSpPr>
            <p:cNvPr id="118" name="Rectangle 46"/>
            <p:cNvSpPr>
              <a:spLocks noChangeArrowheads="1"/>
            </p:cNvSpPr>
            <p:nvPr/>
          </p:nvSpPr>
          <p:spPr bwMode="auto">
            <a:xfrm>
              <a:off x="0" y="54495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26.7.15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119" name="위쪽 화살표 118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0" name="위쪽 화살표 119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1" name="위쪽 화살표 120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122" name="그룹 12"/>
          <p:cNvGrpSpPr>
            <a:grpSpLocks noChangeAspect="1"/>
          </p:cNvGrpSpPr>
          <p:nvPr/>
        </p:nvGrpSpPr>
        <p:grpSpPr bwMode="auto">
          <a:xfrm>
            <a:off x="4105591" y="548680"/>
            <a:ext cx="1016448" cy="700430"/>
            <a:chOff x="-4514" y="134593"/>
            <a:chExt cx="609351" cy="668631"/>
          </a:xfrm>
        </p:grpSpPr>
        <p:sp>
          <p:nvSpPr>
            <p:cNvPr id="12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25.05.01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12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  <p:sp>
          <p:nvSpPr>
            <p:cNvPr id="125" name="Rectangle 46"/>
            <p:cNvSpPr>
              <a:spLocks noChangeArrowheads="1"/>
            </p:cNvSpPr>
            <p:nvPr/>
          </p:nvSpPr>
          <p:spPr bwMode="auto">
            <a:xfrm>
              <a:off x="-4514" y="5486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25.11.15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126" name="위쪽 화살표 125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Box 2"/>
          <p:cNvSpPr txBox="1"/>
          <p:nvPr/>
        </p:nvSpPr>
        <p:spPr>
          <a:xfrm>
            <a:off x="2734758" y="801357"/>
            <a:ext cx="450764" cy="246221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1000" b="1" smtClean="0"/>
              <a:t>RHD</a:t>
            </a:r>
            <a:endParaRPr lang="ko-KR" altLang="en-US" sz="1000" b="1"/>
          </a:p>
        </p:txBody>
      </p:sp>
      <p:sp>
        <p:nvSpPr>
          <p:cNvPr id="34" name="TextBox 33"/>
          <p:cNvSpPr txBox="1"/>
          <p:nvPr/>
        </p:nvSpPr>
        <p:spPr>
          <a:xfrm>
            <a:off x="2734758" y="980621"/>
            <a:ext cx="439544" cy="246221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1000" b="1" smtClean="0"/>
              <a:t>LHD</a:t>
            </a:r>
            <a:endParaRPr lang="ko-KR" altLang="en-US" sz="1000" b="1"/>
          </a:p>
        </p:txBody>
      </p:sp>
    </p:spTree>
    <p:extLst>
      <p:ext uri="{BB962C8B-B14F-4D97-AF65-F5344CB8AC3E}">
        <p14:creationId xmlns:p14="http://schemas.microsoft.com/office/powerpoint/2010/main" val="300561612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3122596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(10/10~10/16)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(10/17~10/23)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프로젝트 선정 완료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8421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err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Maruti</a:t>
            </a:r>
            <a:r>
              <a:rPr lang="en-US" altLang="ko-KR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 Suzuki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오세영 수석</a:t>
            </a:r>
            <a:r>
              <a:rPr lang="en-US" altLang="ko-KR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2" y="555241"/>
            <a:ext cx="1021911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-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16305398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4716067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(10/10~10/16)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(10/17~10/23)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ASPICE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프로세스에 따른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Pre Kick-Off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회의 진행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(10/1)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Software Engineering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담당자 지정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 HVAC 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및 고전압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PTC 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히터 데이터 현황 점검 회의</a:t>
                      </a:r>
                      <a:endParaRPr lang="en-US" altLang="ko-KR" sz="1000" b="0" i="0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 일자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10/2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오전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화상회의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4452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SX3</a:t>
            </a:r>
          </a:p>
          <a:p>
            <a:pPr lv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kumimoji="0" lang="ko-KR" altLang="en-US" sz="1600" b="1" i="0" u="none" strike="noStrike" kern="1200" cap="none" spc="0" normalizeH="0" baseline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</a:rPr>
              <a:t>조현진 전임</a:t>
            </a:r>
            <a:r>
              <a:rPr kumimoji="0" lang="en-US" altLang="ko-KR" sz="1600" b="1" i="0" u="none" strike="noStrike" kern="1200" cap="none" spc="0" normalizeH="0" baseline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solidFill>
                    <a:srgbClr val="FF0000"/>
                  </a:solidFill>
                  <a:latin typeface="+mn-ea"/>
                </a:rPr>
                <a:t>26.08.01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32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34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27.4.1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36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37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27.06.15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8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39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4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27.09.15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58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27.02.15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60" name="위쪽 화살표 59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177275448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3947461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(10/10~10/16)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(10/17~10/23)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6393097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EV Heater S/W 1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34920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HE1i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(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담당자 </a:t>
            </a:r>
            <a:r>
              <a:rPr lang="en-US" altLang="ko-KR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: </a:t>
            </a:r>
            <a:r>
              <a:rPr lang="ko-KR" altLang="en-US" sz="16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오세영 </a:t>
            </a:r>
            <a:r>
              <a:rPr lang="ko-KR" altLang="en-US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수석</a:t>
            </a:r>
            <a:r>
              <a:rPr lang="en-US" altLang="ko-KR" sz="1600" b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solidFill>
                    <a:srgbClr val="FF0000"/>
                  </a:solidFill>
                  <a:latin typeface="+mn-ea"/>
                </a:rPr>
                <a:t>25.10.15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32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34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26.5.15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36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37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26.10.15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8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39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4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26.11.1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58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60" name="위쪽 화살표 59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197098580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제안서 템플릿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>
        <a:noFill/>
        <a:ln w="9525" cap="flat" cmpd="sng" algn="ctr">
          <a:noFill/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FontTx/>
          <a:buNone/>
          <a:defRPr kumimoji="0" lang="en-US" sz="1100" b="0" i="0" u="none" strike="noStrike" cap="none" normalizeH="0" baseline="0" smtClean="0">
            <a:solidFill>
              <a:schemeClr val="bg1"/>
            </a:solidFill>
            <a:effectLst/>
            <a:latin typeface="Verdana"/>
            <a:ea typeface="굴림"/>
          </a:defRPr>
        </a:defPPr>
      </a:lstStyle>
    </a:lnDef>
    <a:txDef>
      <a:spPr/>
      <a:bodyPr/>
      <a:lstStyle/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15376</TotalTime>
  <Words>886</Words>
  <Application>Microsoft Office PowerPoint</Application>
  <PresentationFormat>화면 슬라이드 쇼(4:3)</PresentationFormat>
  <Paragraphs>374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9" baseType="lpstr">
      <vt:lpstr>Arial</vt:lpstr>
      <vt:lpstr>굴림</vt:lpstr>
      <vt:lpstr>Wingdings</vt:lpstr>
      <vt:lpstr>Lucida Sans Unicode</vt:lpstr>
      <vt:lpstr>Verdana</vt:lpstr>
      <vt:lpstr>맑은 고딕</vt:lpstr>
      <vt:lpstr>제안서 템플릿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Simon Jun</dc:creator>
  <cp:lastModifiedBy>WOORY</cp:lastModifiedBy>
  <cp:revision>6115</cp:revision>
  <dcterms:created xsi:type="dcterms:W3CDTF">2019-10-24T04:42:23Z</dcterms:created>
  <dcterms:modified xsi:type="dcterms:W3CDTF">2025-10-15T08:15:04Z</dcterms:modified>
  <cp:version/>
</cp:coreProperties>
</file>