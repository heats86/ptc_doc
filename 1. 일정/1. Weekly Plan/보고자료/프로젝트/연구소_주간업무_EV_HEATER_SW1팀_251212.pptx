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709" r:id="rId1"/>
  </p:sldMasterIdLst>
  <p:notesMasterIdLst>
    <p:notesMasterId r:id="rId22"/>
  </p:notesMasterIdLst>
  <p:handoutMasterIdLst>
    <p:handoutMasterId r:id="rId23"/>
  </p:handoutMasterIdLst>
  <p:sldIdLst>
    <p:sldId id="1014" r:id="rId2"/>
    <p:sldId id="1017" r:id="rId3"/>
    <p:sldId id="1012" r:id="rId4"/>
    <p:sldId id="1010" r:id="rId5"/>
    <p:sldId id="958" r:id="rId6"/>
    <p:sldId id="997" r:id="rId7"/>
    <p:sldId id="998" r:id="rId8"/>
    <p:sldId id="994" r:id="rId9"/>
    <p:sldId id="1004" r:id="rId10"/>
    <p:sldId id="1000" r:id="rId11"/>
    <p:sldId id="1001" r:id="rId12"/>
    <p:sldId id="1002" r:id="rId13"/>
    <p:sldId id="1003" r:id="rId14"/>
    <p:sldId id="1006" r:id="rId15"/>
    <p:sldId id="1007" r:id="rId16"/>
    <p:sldId id="1016" r:id="rId17"/>
    <p:sldId id="1008" r:id="rId18"/>
    <p:sldId id="1009" r:id="rId19"/>
    <p:sldId id="1011" r:id="rId20"/>
    <p:sldId id="1015" r:id="rId21"/>
  </p:sldIdLst>
  <p:sldSz cx="9144000" cy="6858000" type="screen4x3"/>
  <p:notesSz cx="6802438" cy="9934575"/>
  <p:embeddedFontLst>
    <p:embeddedFont>
      <p:font typeface="맑은 고딕" panose="020B0503020000020004" pitchFamily="34" charset="-127"/>
      <p:regular r:id="rId24"/>
      <p:bold r:id="rId25"/>
    </p:embeddedFont>
    <p:embeddedFont>
      <p:font typeface="Lucida Sans Unicode" panose="020B0602030504020204" pitchFamily="34" charset="0"/>
      <p:regular r:id="rId26"/>
    </p:embeddedFont>
    <p:embeddedFont>
      <p:font typeface="현대하모니 M" panose="02020603020101020101" pitchFamily="18" charset="-127"/>
      <p:regular r:id="rId27"/>
    </p:embeddedFont>
    <p:embeddedFont>
      <p:font typeface="굴림" panose="020B0600000101010101" pitchFamily="34" charset="-127"/>
      <p:regular r:id="rId28"/>
    </p:embeddedFont>
    <p:embeddedFont>
      <p:font typeface="Verdana" panose="020B0604030504040204" pitchFamily="34" charset="0"/>
      <p:regular r:id="rId29"/>
      <p:bold r:id="rId30"/>
      <p:italic r:id="rId31"/>
      <p:boldItalic r:id="rId32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02" autoAdjust="0"/>
    <p:restoredTop sz="94813" autoAdjust="0"/>
  </p:normalViewPr>
  <p:slideViewPr>
    <p:cSldViewPr snapToObjects="1">
      <p:cViewPr varScale="1">
        <p:scale>
          <a:sx n="154" d="100"/>
          <a:sy n="154" d="100"/>
        </p:scale>
        <p:origin x="174" y="28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2025-12-11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2025-12-11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93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1491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3099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7067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873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910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76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157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939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097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152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8767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0401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9497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59A-F5DC-19E0-116D-4EFA545E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69912-A69A-B719-FC57-4020CA55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215D0-E3CA-9443-5CB4-E21E3F6B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1B6E8-7393-65A7-39FB-126D5B93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15805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637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49694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55839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C94E65-097A-4CA0-B953-83BB7887CD73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331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096863"/>
              </p:ext>
            </p:extLst>
          </p:nvPr>
        </p:nvGraphicFramePr>
        <p:xfrm>
          <a:off x="215899" y="616619"/>
          <a:ext cx="8676581" cy="3863608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030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34305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999815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14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MX5a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난방 성능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 튜닝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기구 변경 사항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: Stone (190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R/T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커브 기울기 조정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핀 산수 최대 증대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S/W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 시료 입수 일자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(12/18)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10/31 ~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HMC </a:t>
                      </a: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err="1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사양배포</a:t>
                      </a: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오류</a:t>
                      </a: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b="0" kern="1200" dirty="0" err="1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MVa</a:t>
                      </a:r>
                      <a:r>
                        <a:rPr lang="en-US" altLang="ko-KR" sz="1000" b="0" kern="1200" baseline="0" dirty="0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 CO)</a:t>
                      </a: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NX5e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사양 변경 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PTC Stone TC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160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165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</a:t>
                      </a:r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latinLnBrk="0"/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-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정격 전압 변경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360V  351V</a:t>
                      </a:r>
                    </a:p>
                    <a:p>
                      <a:pPr latinLnBrk="0"/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- HV OV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403.2V  413V</a:t>
                      </a:r>
                    </a:p>
                    <a:p>
                      <a:pPr latinLnBrk="0"/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- Linear Max Watt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7,200W  7,000W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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 시료 입수 일자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12/12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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기구 사양 변경에 따른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P1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납품용 제작시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 Rewriting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진행</a:t>
                      </a:r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: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수량 총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300EA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(LHD 150EA, RHD 150EA)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210715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</a:rPr>
                        <a:t>Y2V (Suzuki)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1.</a:t>
                      </a:r>
                      <a:r>
                        <a:rPr lang="en-US" altLang="ko-KR" sz="1000" baseline="0" smtClean="0"/>
                        <a:t> LIN </a:t>
                      </a:r>
                      <a:r>
                        <a:rPr lang="ko-KR" altLang="en-US" sz="1000" baseline="0" smtClean="0"/>
                        <a:t>통신 체크리스트 접수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- </a:t>
                      </a:r>
                      <a:r>
                        <a:rPr lang="en-US" altLang="ko-KR" sz="1000" smtClean="0"/>
                        <a:t>SMC_LIN_CheckList_PL_V2.0 (26</a:t>
                      </a:r>
                      <a:r>
                        <a:rPr lang="ko-KR" altLang="en-US" sz="1000" smtClean="0"/>
                        <a:t>년 </a:t>
                      </a:r>
                      <a:r>
                        <a:rPr lang="en-US" altLang="ko-KR" sz="1000" smtClean="0"/>
                        <a:t>1</a:t>
                      </a:r>
                      <a:r>
                        <a:rPr lang="ko-KR" altLang="en-US" sz="1000" smtClean="0"/>
                        <a:t>월 중순까지 회신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- SMC_LIN_CheckList_Aplication_Ver1.0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 (</a:t>
                      </a:r>
                      <a:r>
                        <a:rPr lang="ko-KR" altLang="en-US" sz="1000" smtClean="0"/>
                        <a:t>양산용 소프트 작성에서 </a:t>
                      </a:r>
                      <a:r>
                        <a:rPr lang="en-US" altLang="ko-KR" sz="1000" smtClean="0"/>
                        <a:t>1</a:t>
                      </a:r>
                      <a:r>
                        <a:rPr lang="ko-KR" altLang="en-US" sz="1000" smtClean="0"/>
                        <a:t>개월이내</a:t>
                      </a:r>
                      <a:r>
                        <a:rPr lang="en-US" altLang="ko-KR" sz="1000" smtClean="0"/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032441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ko-KR" altLang="en-US" sz="2100" b="1" dirty="0">
                <a:latin typeface="+mn-ea"/>
                <a:ea typeface="+mn-ea"/>
              </a:rPr>
              <a:t> 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9879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ko-KR" altLang="en-US" sz="2100" b="1" dirty="0">
                <a:latin typeface="+mn-ea"/>
                <a:ea typeface="+mn-ea"/>
              </a:rPr>
              <a:t> 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graphicFrame>
        <p:nvGraphicFramePr>
          <p:cNvPr id="4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271124"/>
              </p:ext>
            </p:extLst>
          </p:nvPr>
        </p:nvGraphicFramePr>
        <p:xfrm>
          <a:off x="215899" y="556175"/>
          <a:ext cx="8676581" cy="4757300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15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337368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726008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14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47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12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4Way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Valve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1. ES253EE </a:t>
                      </a:r>
                      <a:r>
                        <a:rPr lang="ko-KR" altLang="en-US" sz="1000" smtClean="0"/>
                        <a:t>심사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</a:t>
                      </a:r>
                      <a:r>
                        <a:rPr lang="ko-KR" altLang="en-US" sz="1000" smtClean="0"/>
                        <a:t>심사일 </a:t>
                      </a:r>
                      <a:r>
                        <a:rPr lang="en-US" altLang="ko-KR" sz="1000" smtClean="0"/>
                        <a:t>: 25.12.10~12.11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</a:t>
                      </a:r>
                      <a:r>
                        <a:rPr lang="ko-KR" altLang="en-US" sz="1000" baseline="0" smtClean="0"/>
                        <a:t>장소 </a:t>
                      </a:r>
                      <a:r>
                        <a:rPr lang="en-US" altLang="ko-KR" sz="1000" baseline="0" smtClean="0"/>
                        <a:t>: </a:t>
                      </a:r>
                      <a:r>
                        <a:rPr lang="ko-KR" altLang="en-US" sz="1000" baseline="0" smtClean="0"/>
                        <a:t>명화공업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 smtClean="0"/>
                        <a:t>   </a:t>
                      </a:r>
                      <a:r>
                        <a:rPr lang="ko-KR" altLang="en-US" sz="1000" b="0" baseline="0" smtClean="0"/>
                        <a:t>참석자 </a:t>
                      </a:r>
                      <a:r>
                        <a:rPr lang="en-US" altLang="ko-KR" sz="1000" b="0" baseline="0" smtClean="0"/>
                        <a:t>: </a:t>
                      </a:r>
                      <a:r>
                        <a:rPr lang="ko-KR" altLang="en-US" sz="1000" b="0" baseline="0" smtClean="0"/>
                        <a:t>조현진 전임</a:t>
                      </a:r>
                      <a:r>
                        <a:rPr lang="en-US" altLang="ko-KR" sz="1000" b="0" baseline="0" smtClean="0"/>
                        <a:t>, </a:t>
                      </a:r>
                      <a:r>
                        <a:rPr lang="ko-KR" altLang="en-US" sz="1000" b="0" baseline="0" smtClean="0"/>
                        <a:t>김강일 </a:t>
                      </a:r>
                      <a:r>
                        <a:rPr lang="ko-KR" altLang="en-US" sz="1000" b="0" baseline="0" smtClean="0"/>
                        <a:t>사원</a:t>
                      </a:r>
                      <a:endParaRPr lang="en-US" altLang="ko-KR" sz="1000" b="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 smtClean="0"/>
                        <a:t>   </a:t>
                      </a:r>
                      <a:r>
                        <a:rPr lang="ko-KR" altLang="en-US" sz="1000" b="0" baseline="0" smtClean="0"/>
                        <a:t>결과 </a:t>
                      </a:r>
                      <a:r>
                        <a:rPr lang="en-US" altLang="ko-KR" sz="1000" b="0" baseline="0" smtClean="0"/>
                        <a:t>: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- </a:t>
                      </a:r>
                      <a:r>
                        <a:rPr lang="ko-KR" altLang="en-US" sz="1000" baseline="0" smtClean="0"/>
                        <a:t>대일정 준수 요구</a:t>
                      </a:r>
                      <a:r>
                        <a:rPr lang="en-US" altLang="ko-KR" sz="1000" baseline="0" smtClean="0"/>
                        <a:t>(</a:t>
                      </a:r>
                      <a:r>
                        <a:rPr lang="ko-KR" altLang="en-US" sz="1000" baseline="0" smtClean="0"/>
                        <a:t>심사 일정 </a:t>
                      </a:r>
                      <a:r>
                        <a:rPr lang="en-US" altLang="ko-KR" sz="1000" baseline="0" smtClean="0"/>
                        <a:t>1</a:t>
                      </a:r>
                      <a:r>
                        <a:rPr lang="ko-KR" altLang="en-US" sz="1000" baseline="0" smtClean="0"/>
                        <a:t>월 초</a:t>
                      </a:r>
                      <a:r>
                        <a:rPr lang="en-US" altLang="ko-KR" sz="1000" baseline="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- 12</a:t>
                      </a:r>
                      <a:r>
                        <a:rPr lang="ko-KR" altLang="en-US" sz="1000" baseline="0" smtClean="0"/>
                        <a:t>월 末 제출 문서 기준 </a:t>
                      </a:r>
                      <a:r>
                        <a:rPr lang="en-US" altLang="ko-KR" sz="1000" baseline="0" smtClean="0"/>
                        <a:t>NG </a:t>
                      </a:r>
                      <a:r>
                        <a:rPr lang="ko-KR" altLang="en-US" sz="1000" baseline="0" smtClean="0"/>
                        <a:t>판정이 존재하면</a:t>
                      </a:r>
                      <a:r>
                        <a:rPr lang="en-US" altLang="ko-KR" sz="1000" baseline="0" smtClean="0"/>
                        <a:t>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   </a:t>
                      </a:r>
                      <a:r>
                        <a:rPr lang="ko-KR" altLang="en-US" sz="1000" baseline="0" smtClean="0"/>
                        <a:t>추후 품질문제 발생시 </a:t>
                      </a:r>
                      <a:r>
                        <a:rPr lang="en-US" altLang="ko-KR" sz="1000" baseline="0" smtClean="0"/>
                        <a:t>OEM</a:t>
                      </a:r>
                      <a:r>
                        <a:rPr lang="ko-KR" altLang="en-US" sz="1000" baseline="0" smtClean="0"/>
                        <a:t>에서 품질 보증 하지 아니한다</a:t>
                      </a:r>
                      <a:r>
                        <a:rPr lang="en-US" altLang="ko-KR" sz="1000" baseline="0" smtClean="0"/>
                        <a:t>.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- SwRS, SwAD </a:t>
                      </a:r>
                      <a:r>
                        <a:rPr lang="ko-KR" altLang="en-US" sz="1000" baseline="0" smtClean="0"/>
                        <a:t>문서 상의 </a:t>
                      </a:r>
                      <a:r>
                        <a:rPr lang="en-US" altLang="ko-KR" sz="1000" baseline="0" smtClean="0"/>
                        <a:t>Function Description </a:t>
                      </a:r>
                      <a:r>
                        <a:rPr lang="ko-KR" altLang="en-US" sz="1000" baseline="0" smtClean="0"/>
                        <a:t>데이터 구체화 필요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- TC </a:t>
                      </a:r>
                      <a:r>
                        <a:rPr lang="ko-KR" altLang="en-US" sz="1000" baseline="0" smtClean="0"/>
                        <a:t>도출방법 추가 요청 </a:t>
                      </a:r>
                      <a:r>
                        <a:rPr lang="en-US" altLang="ko-KR" sz="1000" baseline="0" smtClean="0"/>
                        <a:t>(</a:t>
                      </a:r>
                      <a:r>
                        <a:rPr lang="ko-KR" altLang="en-US" sz="1000" baseline="0" smtClean="0"/>
                        <a:t>경계값 분석</a:t>
                      </a:r>
                      <a:r>
                        <a:rPr lang="en-US" altLang="ko-KR" sz="1000" baseline="0" smtClean="0"/>
                        <a:t>, </a:t>
                      </a:r>
                      <a:r>
                        <a:rPr lang="ko-KR" altLang="en-US" sz="1000" baseline="0" smtClean="0"/>
                        <a:t>분기 조건별 경계 값 확인 등</a:t>
                      </a:r>
                      <a:r>
                        <a:rPr lang="en-US" altLang="ko-KR" sz="1000" baseline="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2</a:t>
                      </a:r>
                      <a:r>
                        <a:rPr lang="en-US" altLang="ko-KR" sz="1000" baseline="0" smtClean="0"/>
                        <a:t>. ES </a:t>
                      </a:r>
                      <a:r>
                        <a:rPr lang="ko-KR" altLang="en-US" sz="1000" baseline="0" smtClean="0"/>
                        <a:t>성적서 작성 인력 부족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- </a:t>
                      </a:r>
                      <a:r>
                        <a:rPr lang="ko-KR" altLang="en-US" sz="1000" smtClean="0"/>
                        <a:t>인력 부족으로 </a:t>
                      </a:r>
                      <a:r>
                        <a:rPr lang="en-US" altLang="ko-KR" sz="1000" smtClean="0"/>
                        <a:t>Heater </a:t>
                      </a:r>
                      <a:r>
                        <a:rPr lang="ko-KR" altLang="en-US" sz="1000" smtClean="0"/>
                        <a:t>조현진 전임 투입 되어 </a:t>
                      </a:r>
                      <a:r>
                        <a:rPr lang="en-US" altLang="ko-KR" sz="1000" smtClean="0"/>
                        <a:t>Support </a:t>
                      </a:r>
                      <a:r>
                        <a:rPr lang="ko-KR" altLang="en-US" sz="1000" smtClean="0"/>
                        <a:t>하고 있으나</a:t>
                      </a:r>
                      <a:r>
                        <a:rPr lang="en-US" altLang="ko-KR" sz="1000" smtClean="0"/>
                        <a:t>,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Heater Project </a:t>
                      </a:r>
                      <a:r>
                        <a:rPr lang="ko-KR" altLang="en-US" sz="1000" smtClean="0"/>
                        <a:t>의 업무 부하로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지속적인 </a:t>
                      </a:r>
                      <a:r>
                        <a:rPr lang="en-US" altLang="ko-KR" sz="1000" smtClean="0"/>
                        <a:t>Support </a:t>
                      </a:r>
                      <a:r>
                        <a:rPr lang="ko-KR" altLang="en-US" sz="1000" smtClean="0"/>
                        <a:t>불가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- ES </a:t>
                      </a:r>
                      <a:r>
                        <a:rPr lang="ko-KR" altLang="en-US" sz="1000" smtClean="0"/>
                        <a:t>성적서 작성 관련하여 </a:t>
                      </a:r>
                      <a:r>
                        <a:rPr lang="en-US" altLang="ko-KR" sz="1000" smtClean="0"/>
                        <a:t>ES </a:t>
                      </a:r>
                      <a:r>
                        <a:rPr lang="ko-KR" altLang="en-US" sz="1000" smtClean="0"/>
                        <a:t>검증팀 투입 검토 필요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- 25.12.31 </a:t>
                      </a:r>
                      <a:r>
                        <a:rPr lang="ko-KR" altLang="en-US" sz="1000" smtClean="0"/>
                        <a:t>까지 미흡한 </a:t>
                      </a:r>
                      <a:r>
                        <a:rPr lang="en-US" altLang="ko-KR" sz="1000" smtClean="0"/>
                        <a:t>ES253EE </a:t>
                      </a:r>
                      <a:r>
                        <a:rPr lang="ko-KR" altLang="en-US" sz="1000" smtClean="0"/>
                        <a:t>진행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</a:t>
                      </a:r>
                      <a:r>
                        <a:rPr lang="ko-KR" altLang="en-US" sz="1000" smtClean="0"/>
                        <a:t> </a:t>
                      </a:r>
                      <a:r>
                        <a:rPr lang="en-US" altLang="ko-KR" sz="1000" smtClean="0"/>
                        <a:t>: MCU </a:t>
                      </a:r>
                      <a:r>
                        <a:rPr lang="ko-KR" altLang="en-US" sz="1000" smtClean="0"/>
                        <a:t>고장 진단 및 고장 </a:t>
                      </a:r>
                      <a:r>
                        <a:rPr lang="en-US" altLang="ko-KR" sz="1000" smtClean="0"/>
                        <a:t>Log </a:t>
                      </a:r>
                      <a:r>
                        <a:rPr lang="ko-KR" altLang="en-US" sz="1000" smtClean="0"/>
                        <a:t>저장 설계 필요 </a:t>
                      </a:r>
                      <a:r>
                        <a:rPr lang="en-US" altLang="ko-KR" sz="1000" smtClean="0"/>
                        <a:t>(~12/25)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</a:t>
                      </a:r>
                      <a:r>
                        <a:rPr lang="ko-KR" altLang="en-US" sz="1000" smtClean="0"/>
                        <a:t> </a:t>
                      </a:r>
                      <a:r>
                        <a:rPr lang="en-US" altLang="ko-KR" sz="1000" smtClean="0"/>
                        <a:t>: P1 </a:t>
                      </a:r>
                      <a:r>
                        <a:rPr lang="ko-KR" altLang="en-US" sz="1000" smtClean="0"/>
                        <a:t>납품 전 전체 기능 시험 진행 필요 </a:t>
                      </a:r>
                      <a:endParaRPr lang="en-US" altLang="ko-KR" sz="1000" smtClean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056622"/>
                  </a:ext>
                </a:extLst>
              </a:tr>
            </a:tbl>
          </a:graphicData>
        </a:graphic>
      </p:graphicFrame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1157512"/>
              </p:ext>
            </p:extLst>
          </p:nvPr>
        </p:nvGraphicFramePr>
        <p:xfrm>
          <a:off x="5148064" y="1340768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워크시트" showAsIcon="1" r:id="rId4" imgW="914400" imgH="771480" progId="Excel.Sheet.12">
                  <p:embed/>
                </p:oleObj>
              </mc:Choice>
              <mc:Fallback>
                <p:oleObj name="워크시트" showAsIcon="1" r:id="rId4" imgW="914400" imgH="771480" progId="Excel.Sheet.12">
                  <p:embed/>
                  <p:pic>
                    <p:nvPicPr>
                      <p:cNvPr id="2" name="개체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48064" y="1340768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7254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629318"/>
              </p:ext>
            </p:extLst>
          </p:nvPr>
        </p:nvGraphicFramePr>
        <p:xfrm>
          <a:off x="215899" y="556175"/>
          <a:ext cx="8676581" cy="5276627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15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193352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726008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14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47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51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5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JG1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1. E</a:t>
                      </a:r>
                      <a:r>
                        <a:rPr lang="en-US" altLang="ko-KR" sz="1000" smtClean="0"/>
                        <a:t>OL </a:t>
                      </a:r>
                      <a:r>
                        <a:rPr lang="ko-KR" altLang="en-US" sz="1000" smtClean="0"/>
                        <a:t>성능 검사 시 </a:t>
                      </a:r>
                      <a:r>
                        <a:rPr lang="en-US" altLang="ko-KR" sz="1000" smtClean="0"/>
                        <a:t>NAD ID Read </a:t>
                      </a:r>
                      <a:r>
                        <a:rPr lang="ko-KR" altLang="en-US" sz="1000" smtClean="0"/>
                        <a:t>기능 추가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2. </a:t>
                      </a:r>
                      <a:r>
                        <a:rPr lang="ko-KR" altLang="en-US" sz="1000" smtClean="0"/>
                        <a:t>모터 최종 사양으로 전압 저항 및 역기전압 </a:t>
                      </a:r>
                      <a:r>
                        <a:rPr lang="en-US" altLang="ko-KR" sz="1000" smtClean="0"/>
                        <a:t>S/W </a:t>
                      </a:r>
                      <a:r>
                        <a:rPr lang="ko-KR" altLang="en-US" sz="1000" smtClean="0"/>
                        <a:t>반영 시 의 정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</a:t>
                      </a:r>
                      <a:r>
                        <a:rPr lang="ko-KR" altLang="en-US" sz="1000" smtClean="0"/>
                        <a:t>상 동작 확인 </a:t>
                      </a:r>
                      <a:r>
                        <a:rPr lang="en-US" altLang="ko-KR" sz="1000" smtClean="0"/>
                        <a:t>(25.12.9)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3. </a:t>
                      </a:r>
                      <a:r>
                        <a:rPr lang="ko-KR" altLang="en-US" sz="1000" smtClean="0"/>
                        <a:t>크랭킹 시 전압 </a:t>
                      </a:r>
                      <a:r>
                        <a:rPr lang="en-US" altLang="ko-KR" sz="1000" smtClean="0"/>
                        <a:t>Drop </a:t>
                      </a:r>
                      <a:r>
                        <a:rPr lang="ko-KR" altLang="en-US" sz="1000" smtClean="0"/>
                        <a:t>에 따른 로직 추가 및 검증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- </a:t>
                      </a:r>
                      <a:r>
                        <a:rPr lang="ko-KR" altLang="en-US" sz="1000" smtClean="0"/>
                        <a:t>실차 평가 진행 </a:t>
                      </a:r>
                      <a:r>
                        <a:rPr lang="en-US" altLang="ko-KR" sz="1000" smtClean="0"/>
                        <a:t>(25.12.10)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 </a:t>
                      </a:r>
                      <a:r>
                        <a:rPr lang="ko-KR" altLang="en-US" sz="1000" smtClean="0"/>
                        <a:t>참석자 </a:t>
                      </a:r>
                      <a:r>
                        <a:rPr lang="en-US" altLang="ko-KR" sz="1000" smtClean="0"/>
                        <a:t>: </a:t>
                      </a:r>
                      <a:r>
                        <a:rPr lang="ko-KR" altLang="en-US" sz="1000" smtClean="0"/>
                        <a:t>오세영 수석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최은혁 전임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김진겸 사원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- </a:t>
                      </a:r>
                      <a:r>
                        <a:rPr lang="ko-KR" altLang="en-US" sz="1000" smtClean="0"/>
                        <a:t>실차 평가 후 문제 없을 시 </a:t>
                      </a:r>
                      <a:r>
                        <a:rPr lang="en-US" altLang="ko-KR" sz="1000" smtClean="0"/>
                        <a:t>RS4PE </a:t>
                      </a:r>
                      <a:r>
                        <a:rPr lang="ko-KR" altLang="en-US" sz="1000" smtClean="0"/>
                        <a:t>및 </a:t>
                      </a:r>
                      <a:r>
                        <a:rPr lang="en-US" altLang="ko-KR" sz="1000" smtClean="0"/>
                        <a:t>JG1 </a:t>
                      </a:r>
                      <a:r>
                        <a:rPr lang="ko-KR" altLang="en-US" sz="1000" smtClean="0"/>
                        <a:t>의 업데이트 진행  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 (</a:t>
                      </a:r>
                      <a:r>
                        <a:rPr lang="ko-KR" altLang="en-US" sz="1000" smtClean="0"/>
                        <a:t>업데이트 수량 및 위치는 확인 필요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- JG1 P2 </a:t>
                      </a:r>
                      <a:r>
                        <a:rPr lang="ko-KR" altLang="en-US" sz="1000" smtClean="0"/>
                        <a:t>물량 업데이트 </a:t>
                      </a:r>
                      <a:r>
                        <a:rPr lang="en-US" altLang="ko-KR" sz="1000" smtClean="0"/>
                        <a:t>(1,140EA, ~</a:t>
                      </a:r>
                      <a:r>
                        <a:rPr lang="en-US" altLang="ko-KR" sz="1000" smtClean="0"/>
                        <a:t>12/11)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 (</a:t>
                      </a:r>
                      <a:r>
                        <a:rPr lang="ko-KR" altLang="en-US" sz="1000" smtClean="0"/>
                        <a:t>항공 일정 확인 필요</a:t>
                      </a:r>
                      <a:r>
                        <a:rPr lang="en-US" altLang="ko-KR" sz="1000" smtClean="0"/>
                        <a:t>)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4.</a:t>
                      </a:r>
                      <a:r>
                        <a:rPr lang="ko-KR" altLang="en-US" sz="1000" smtClean="0"/>
                        <a:t> 악의 파형 </a:t>
                      </a:r>
                      <a:r>
                        <a:rPr lang="en-US" altLang="ko-KR" sz="1000" smtClean="0"/>
                        <a:t>23</a:t>
                      </a:r>
                      <a:r>
                        <a:rPr lang="ko-KR" altLang="en-US" sz="1000" smtClean="0"/>
                        <a:t>개 테스트 진행 </a:t>
                      </a:r>
                      <a:r>
                        <a:rPr lang="en-US" altLang="ko-KR" sz="1000" smtClean="0"/>
                        <a:t>(~12/11)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5.</a:t>
                      </a:r>
                      <a:r>
                        <a:rPr lang="ko-KR" altLang="en-US" sz="1000" smtClean="0"/>
                        <a:t> 정상 동작 중 전압 </a:t>
                      </a:r>
                      <a:r>
                        <a:rPr lang="en-US" altLang="ko-KR" sz="1000" smtClean="0"/>
                        <a:t>Drop </a:t>
                      </a:r>
                      <a:r>
                        <a:rPr lang="ko-KR" altLang="en-US" sz="1000" smtClean="0"/>
                        <a:t>발생에 따른 </a:t>
                      </a:r>
                      <a:r>
                        <a:rPr lang="en-US" altLang="ko-KR" sz="1000" smtClean="0"/>
                        <a:t>Stall Fault </a:t>
                      </a:r>
                      <a:r>
                        <a:rPr lang="ko-KR" altLang="en-US" sz="1000" smtClean="0"/>
                        <a:t>우회 로직 설계</a:t>
                      </a:r>
                      <a:r>
                        <a:rPr lang="en-US" altLang="ko-KR" sz="1000" smtClean="0"/>
                        <a:t>        </a:t>
                      </a:r>
                      <a:r>
                        <a:rPr lang="ko-KR" altLang="en-US" sz="1000" smtClean="0"/>
                        <a:t>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(~12/19)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: </a:t>
                      </a:r>
                      <a:r>
                        <a:rPr lang="ko-KR" altLang="en-US" sz="1000" smtClean="0"/>
                        <a:t>전압 </a:t>
                      </a:r>
                      <a:r>
                        <a:rPr lang="en-US" altLang="ko-KR" sz="1000" smtClean="0"/>
                        <a:t>Drop </a:t>
                      </a:r>
                      <a:r>
                        <a:rPr lang="ko-KR" altLang="en-US" sz="1000" smtClean="0"/>
                        <a:t>확인 시 모터 움직임 일시 정지 후 전압 정상으로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</a:t>
                      </a:r>
                      <a:r>
                        <a:rPr lang="ko-KR" altLang="en-US" sz="1000" smtClean="0"/>
                        <a:t>복귀 시 모터 동작 로직 가능 여부 확인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: </a:t>
                      </a:r>
                      <a:r>
                        <a:rPr lang="ko-KR" altLang="en-US" sz="1000" smtClean="0"/>
                        <a:t>모터 동작 시작 전 전압 대비 동작 중 전압 </a:t>
                      </a:r>
                      <a:r>
                        <a:rPr lang="en-US" altLang="ko-KR" sz="1000" smtClean="0"/>
                        <a:t>Drop </a:t>
                      </a:r>
                      <a:r>
                        <a:rPr lang="ko-KR" altLang="en-US" sz="1000" smtClean="0"/>
                        <a:t>확인 시 </a:t>
                      </a:r>
                      <a:r>
                        <a:rPr lang="en-US" altLang="ko-KR" sz="1000" smtClean="0"/>
                        <a:t>Stall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Fault </a:t>
                      </a:r>
                      <a:r>
                        <a:rPr lang="ko-KR" altLang="en-US" sz="1000" smtClean="0"/>
                        <a:t>처리 하지 않고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다음 시동시 </a:t>
                      </a:r>
                      <a:r>
                        <a:rPr lang="en-US" altLang="ko-KR" sz="1000" smtClean="0"/>
                        <a:t>2P Cal </a:t>
                      </a:r>
                      <a:r>
                        <a:rPr lang="ko-KR" altLang="en-US" sz="1000" smtClean="0"/>
                        <a:t>로직 가능 여부 확인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6.</a:t>
                      </a:r>
                      <a:r>
                        <a:rPr lang="ko-KR" altLang="en-US" sz="1000" smtClean="0"/>
                        <a:t> 토크 감소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   : </a:t>
                      </a:r>
                      <a:r>
                        <a:rPr lang="ko-KR" altLang="en-US" sz="1000" smtClean="0"/>
                        <a:t>토크 감소 후 </a:t>
                      </a:r>
                      <a:r>
                        <a:rPr lang="en-US" altLang="ko-KR" sz="1000" smtClean="0"/>
                        <a:t>Stall </a:t>
                      </a:r>
                      <a:r>
                        <a:rPr lang="ko-KR" altLang="en-US" sz="1000" smtClean="0"/>
                        <a:t>감지 튜닝 및 </a:t>
                      </a:r>
                      <a:r>
                        <a:rPr lang="en-US" altLang="ko-KR" sz="1000" smtClean="0"/>
                        <a:t>Side Effect </a:t>
                      </a:r>
                      <a:r>
                        <a:rPr lang="ko-KR" altLang="en-US" sz="1000" smtClean="0"/>
                        <a:t>점검 </a:t>
                      </a:r>
                      <a:r>
                        <a:rPr lang="en-US" altLang="ko-KR" sz="1000" smtClean="0"/>
                        <a:t>(~12/19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7.</a:t>
                      </a:r>
                      <a:r>
                        <a:rPr lang="ko-KR" altLang="en-US" sz="1000" smtClean="0"/>
                        <a:t> 정확도 튜닝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   :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정확도 </a:t>
                      </a:r>
                      <a:r>
                        <a:rPr lang="en-US" altLang="ko-KR" sz="1000" baseline="0" smtClean="0"/>
                        <a:t>1</a:t>
                      </a:r>
                      <a:r>
                        <a:rPr lang="ko-KR" altLang="en-US" sz="1000" baseline="0" smtClean="0"/>
                        <a:t>도 틀어짐에 따른 튜닝 진행 </a:t>
                      </a:r>
                      <a:r>
                        <a:rPr lang="en-US" altLang="ko-KR" sz="1000" baseline="0" smtClean="0"/>
                        <a:t>(~12/19)</a:t>
                      </a:r>
                      <a:endParaRPr lang="en-US" altLang="ko-KR" sz="1000" smtClean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960066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99991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816709" y="3068960"/>
            <a:ext cx="380597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buNone/>
              <a:defRPr/>
            </a:pPr>
            <a:r>
              <a:rPr lang="en-US" altLang="ko-KR" sz="4000" b="1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Air PTC Heater</a:t>
            </a:r>
            <a:endParaRPr kumimoji="1" lang="en-US" altLang="ko-KR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6329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577501"/>
              </p:ext>
            </p:extLst>
          </p:nvPr>
        </p:nvGraphicFramePr>
        <p:xfrm>
          <a:off x="47211" y="764704"/>
          <a:ext cx="9073008" cy="5575299"/>
        </p:xfrm>
        <a:graphic>
          <a:graphicData uri="http://schemas.openxmlformats.org/drawingml/2006/table">
            <a:tbl>
              <a:tblPr/>
              <a:tblGrid>
                <a:gridCol w="62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0193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3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76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6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후속 진행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타 프로젝트 진행에 따른 지연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SPQA Unit Detail Design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97%)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SWE2, SWE3, S/W TEST Result ALM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병행 등록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(~11/21)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SX3 Forword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진행에 따른 업무 과부하로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QV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프로젝트는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미흡한 내용 작성 및 최종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기준으로 작업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후속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95536" y="725795"/>
            <a:ext cx="2472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QV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24.09.01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25.07.05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25.12.01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26.02.15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25.03.15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9" name="그룹 16"/>
          <p:cNvGrpSpPr>
            <a:grpSpLocks noChangeAspect="1"/>
          </p:cNvGrpSpPr>
          <p:nvPr/>
        </p:nvGrpSpPr>
        <p:grpSpPr bwMode="auto">
          <a:xfrm>
            <a:off x="6089818" y="553413"/>
            <a:ext cx="1045724" cy="505515"/>
            <a:chOff x="0" y="135732"/>
            <a:chExt cx="604837" cy="482564"/>
          </a:xfrm>
        </p:grpSpPr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25.11.15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Pre 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32" name="위쪽 화살표 31"/>
          <p:cNvSpPr>
            <a:spLocks noChangeArrowheads="1"/>
          </p:cNvSpPr>
          <p:nvPr/>
        </p:nvSpPr>
        <p:spPr bwMode="auto">
          <a:xfrm rot="10800000">
            <a:off x="6552926" y="72827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51770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678639"/>
              </p:ext>
            </p:extLst>
          </p:nvPr>
        </p:nvGraphicFramePr>
        <p:xfrm>
          <a:off x="11059" y="536956"/>
          <a:ext cx="9097445" cy="577236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978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7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Surge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내성 진행 계획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QV, BJ1, SVm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서지 내성 재평가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(12/11)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ES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600V Pass 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49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6653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24.09.01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26.03.30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26.06.30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25.06.30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1488668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956312"/>
              </p:ext>
            </p:extLst>
          </p:nvPr>
        </p:nvGraphicFramePr>
        <p:xfrm>
          <a:off x="11059" y="536956"/>
          <a:ext cx="9097445" cy="5340316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 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편차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최종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OK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(12/5)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71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25.04.15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26.08.01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9735930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92299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난방 성능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 튜닝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기구 변경 사항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: Stone (190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R/T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커브 기울기 조정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핀 산수 최대 증대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S/W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 시료 입수 일자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(12/18)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87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26.04.01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26.10.01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27.04.15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26.02.15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75222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317141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35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SP#1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3476302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027034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ES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</a:t>
                      </a: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ES90700-02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고속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시험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12/9)</a:t>
                      </a:r>
                      <a:endParaRPr lang="en-US" altLang="ko-KR" sz="1000" b="0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- ES95480-00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고속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CAN(HSCAN)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사양서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12/9)</a:t>
                      </a:r>
                      <a:endParaRPr lang="en-US" altLang="ko-KR" sz="1000" b="0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ES95411-00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 사양서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(12/9)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ES95489-24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오픈소스 보안 취약점 검증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요구사항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ES95489-21 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일반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보안 사양서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/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사양 변경 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PTC Stone TC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160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165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</a:t>
                      </a:r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latinLnBrk="0"/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-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정격 전압 변경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360V  351V</a:t>
                      </a:r>
                    </a:p>
                    <a:p>
                      <a:pPr latinLnBrk="0"/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- HV OV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403.2V  413V</a:t>
                      </a:r>
                    </a:p>
                    <a:p>
                      <a:pPr latinLnBrk="0"/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- Linear Max Watt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7,200W  7,000W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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 시료 입수 일자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12/12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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기구 사양 변경에 따른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P1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납품용 제작시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 Rewriting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진행</a:t>
                      </a:r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: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수량 총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300EA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(LHD 150EA, RHD 150EA)</a:t>
                      </a:r>
                    </a:p>
                    <a:p>
                      <a:pPr latinLnBrk="0"/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latinLnBrk="0"/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</a:t>
                      </a:r>
                    </a:p>
                    <a:p>
                      <a:pPr latinLnBrk="0"/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</a:t>
                      </a:r>
                      <a:endParaRPr lang="en-US" altLang="ko-KR" sz="1000" b="0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endParaRPr lang="en-US" altLang="ko-KR" sz="1000" b="0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w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40838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25.06.01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26.02.15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26.08.15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27.05.01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519702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499635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019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KY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24.06.01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24.10.15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25.05.01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25.07.15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24.08.31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79909156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006212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284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24.12.15</a:t>
              </a: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25.09.30</a:t>
              </a: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26.02.01</a:t>
              </a: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26.04.20</a:t>
              </a: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25.05.01</a:t>
              </a: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25.11.15</a:t>
              </a: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/>
              <a:t>RHD</a:t>
            </a:r>
            <a:endParaRPr lang="ko-KR" altLang="en-US" sz="1000" b="1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/>
              <a:t>LHD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300561612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150230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1.</a:t>
                      </a:r>
                      <a:r>
                        <a:rPr lang="en-US" altLang="ko-KR" sz="1000" baseline="0" smtClean="0"/>
                        <a:t> LIN </a:t>
                      </a:r>
                      <a:r>
                        <a:rPr lang="ko-KR" altLang="en-US" sz="1000" baseline="0" smtClean="0"/>
                        <a:t>통신 체크리스트 접수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- </a:t>
                      </a:r>
                      <a:r>
                        <a:rPr lang="en-US" altLang="ko-KR" sz="1000" smtClean="0"/>
                        <a:t>SMC_LIN_CheckList_PL_V2.0 (26</a:t>
                      </a:r>
                      <a:r>
                        <a:rPr lang="ko-KR" altLang="en-US" sz="1000" smtClean="0"/>
                        <a:t>년 </a:t>
                      </a:r>
                      <a:r>
                        <a:rPr lang="en-US" altLang="ko-KR" sz="1000" smtClean="0"/>
                        <a:t>1</a:t>
                      </a:r>
                      <a:r>
                        <a:rPr lang="ko-KR" altLang="en-US" sz="1000" smtClean="0"/>
                        <a:t>월 중순까지 회신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- SMC_LIN_CheckList_Aplication_Ver1.0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 (</a:t>
                      </a:r>
                      <a:r>
                        <a:rPr lang="ko-KR" altLang="en-US" sz="1000" smtClean="0"/>
                        <a:t>양산용 소프트 작성에서 </a:t>
                      </a:r>
                      <a:r>
                        <a:rPr lang="en-US" altLang="ko-KR" sz="1000" smtClean="0"/>
                        <a:t>1</a:t>
                      </a:r>
                      <a:r>
                        <a:rPr lang="ko-KR" altLang="en-US" sz="1000" smtClean="0"/>
                        <a:t>개월이내</a:t>
                      </a:r>
                      <a:r>
                        <a:rPr lang="en-US" altLang="ko-KR" sz="1000" smtClean="0"/>
                        <a:t>)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842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Y2V (Suzuki)</a:t>
            </a:r>
            <a:endParaRPr lang="en-US" altLang="ko-KR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-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16305398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31648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45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kumimoji="0" lang="ko-KR" altLang="en-US" sz="16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kumimoji="0" lang="en-US" altLang="ko-KR" sz="16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17727544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046134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HE1i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26.5.15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26.11.1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97098580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C1C4-A3C9-668F-8BD4-A4EFBA02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EC9F43-DC7A-B554-0027-7324B6D8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165695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CB876340-F09E-504A-0DE6-11469622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2CF65C-1B93-0A3B-5E44-8AFA81767C77}"/>
              </a:ext>
            </a:extLst>
          </p:cNvPr>
          <p:cNvSpPr txBox="1"/>
          <p:nvPr/>
        </p:nvSpPr>
        <p:spPr>
          <a:xfrm>
            <a:off x="378983" y="692696"/>
            <a:ext cx="3492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XV1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6AB7CCE-AC66-EE6E-395C-571BC498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42209463-6C29-0498-9738-0B38AC6B0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>
            <a:extLst>
              <a:ext uri="{FF2B5EF4-FFF2-40B4-BE49-F238E27FC236}">
                <a16:creationId xmlns:a16="http://schemas.microsoft.com/office/drawing/2014/main" id="{3B6089FB-B4EB-1309-6C6C-FED38C4B60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>
              <a:extLst>
                <a:ext uri="{FF2B5EF4-FFF2-40B4-BE49-F238E27FC236}">
                  <a16:creationId xmlns:a16="http://schemas.microsoft.com/office/drawing/2014/main" id="{AAE4A6DE-BB43-36E7-DE06-5E054232AE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>
              <a:extLst>
                <a:ext uri="{FF2B5EF4-FFF2-40B4-BE49-F238E27FC236}">
                  <a16:creationId xmlns:a16="http://schemas.microsoft.com/office/drawing/2014/main" id="{F51CE518-D8CE-56D1-343E-27D125A2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F3A4B264-7845-009C-FF8C-557C315E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>
            <a:extLst>
              <a:ext uri="{FF2B5EF4-FFF2-40B4-BE49-F238E27FC236}">
                <a16:creationId xmlns:a16="http://schemas.microsoft.com/office/drawing/2014/main" id="{7E0CAE91-9272-F3B5-CD0D-3AFB7A1CE1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F8ABE3AE-D061-7541-EAD2-43767972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5" name="Rectangle 46">
              <a:extLst>
                <a:ext uri="{FF2B5EF4-FFF2-40B4-BE49-F238E27FC236}">
                  <a16:creationId xmlns:a16="http://schemas.microsoft.com/office/drawing/2014/main" id="{FFA98DA7-63D9-A7D1-041A-EFEFAF44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>
            <a:extLst>
              <a:ext uri="{FF2B5EF4-FFF2-40B4-BE49-F238E27FC236}">
                <a16:creationId xmlns:a16="http://schemas.microsoft.com/office/drawing/2014/main" id="{750DF511-D71D-F326-17B2-0EE47CB64A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>
              <a:extLst>
                <a:ext uri="{FF2B5EF4-FFF2-40B4-BE49-F238E27FC236}">
                  <a16:creationId xmlns:a16="http://schemas.microsoft.com/office/drawing/2014/main" id="{E0A6356D-33B1-90F5-B763-DD783D8E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8" name="Rectangle 46">
              <a:extLst>
                <a:ext uri="{FF2B5EF4-FFF2-40B4-BE49-F238E27FC236}">
                  <a16:creationId xmlns:a16="http://schemas.microsoft.com/office/drawing/2014/main" id="{BEACA4F1-757A-2F05-2660-65AA94460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41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>
            <a:extLst>
              <a:ext uri="{FF2B5EF4-FFF2-40B4-BE49-F238E27FC236}">
                <a16:creationId xmlns:a16="http://schemas.microsoft.com/office/drawing/2014/main" id="{B49122A4-88BD-0054-D8CF-A93D750E9C3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>
            <a:extLst>
              <a:ext uri="{FF2B5EF4-FFF2-40B4-BE49-F238E27FC236}">
                <a16:creationId xmlns:a16="http://schemas.microsoft.com/office/drawing/2014/main" id="{F46E8ED4-9848-0689-4E79-EB131E9CE3E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>
            <a:extLst>
              <a:ext uri="{FF2B5EF4-FFF2-40B4-BE49-F238E27FC236}">
                <a16:creationId xmlns:a16="http://schemas.microsoft.com/office/drawing/2014/main" id="{3EB16624-EBF9-0AB7-9CC9-079849BA1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C15B97AA-D88E-1E3C-FBEE-4ECBD07C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>
              <a:extLst>
                <a:ext uri="{FF2B5EF4-FFF2-40B4-BE49-F238E27FC236}">
                  <a16:creationId xmlns:a16="http://schemas.microsoft.com/office/drawing/2014/main" id="{E6EAD7CF-A9FE-431C-DB9B-3DB87A1C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>
            <a:extLst>
              <a:ext uri="{FF2B5EF4-FFF2-40B4-BE49-F238E27FC236}">
                <a16:creationId xmlns:a16="http://schemas.microsoft.com/office/drawing/2014/main" id="{4F775F6C-7A60-7FEA-0734-E515250424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98065836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3707904" y="3140968"/>
            <a:ext cx="206492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buNone/>
              <a:defRPr/>
            </a:pPr>
            <a:r>
              <a:rPr lang="en-US" altLang="ko-KR" sz="4000" b="1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MOTOR</a:t>
            </a:r>
            <a:endParaRPr kumimoji="1" lang="en-US" altLang="ko-KR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13597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738241"/>
              </p:ext>
            </p:extLst>
          </p:nvPr>
        </p:nvGraphicFramePr>
        <p:xfrm>
          <a:off x="11059" y="536956"/>
          <a:ext cx="9097445" cy="6487266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1. E</a:t>
                      </a:r>
                      <a:r>
                        <a:rPr lang="en-US" altLang="ko-KR" sz="1000" smtClean="0"/>
                        <a:t>OL </a:t>
                      </a:r>
                      <a:r>
                        <a:rPr lang="ko-KR" altLang="en-US" sz="1000" smtClean="0"/>
                        <a:t>성능 검사 시 </a:t>
                      </a:r>
                      <a:r>
                        <a:rPr lang="en-US" altLang="ko-KR" sz="1000" smtClean="0"/>
                        <a:t>NAD ID Read </a:t>
                      </a:r>
                      <a:r>
                        <a:rPr lang="ko-KR" altLang="en-US" sz="1000" smtClean="0"/>
                        <a:t>기능 추가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2. </a:t>
                      </a:r>
                      <a:r>
                        <a:rPr lang="ko-KR" altLang="en-US" sz="1000" smtClean="0"/>
                        <a:t>모터 최종 사양으로 전압 저항 및 역기전압 </a:t>
                      </a:r>
                      <a:r>
                        <a:rPr lang="en-US" altLang="ko-KR" sz="1000" smtClean="0"/>
                        <a:t>S/W </a:t>
                      </a:r>
                      <a:r>
                        <a:rPr lang="ko-KR" altLang="en-US" sz="1000" smtClean="0"/>
                        <a:t>반영 시 의 정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</a:t>
                      </a:r>
                      <a:r>
                        <a:rPr lang="ko-KR" altLang="en-US" sz="1000" smtClean="0"/>
                        <a:t>상 동작 확인 </a:t>
                      </a:r>
                      <a:r>
                        <a:rPr lang="en-US" altLang="ko-KR" sz="1000" smtClean="0"/>
                        <a:t>(25.12.9)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3. </a:t>
                      </a:r>
                      <a:r>
                        <a:rPr lang="ko-KR" altLang="en-US" sz="1000" smtClean="0"/>
                        <a:t>크랭킹 시 전압 </a:t>
                      </a:r>
                      <a:r>
                        <a:rPr lang="en-US" altLang="ko-KR" sz="1000" smtClean="0"/>
                        <a:t>Drop </a:t>
                      </a:r>
                      <a:r>
                        <a:rPr lang="ko-KR" altLang="en-US" sz="1000" smtClean="0"/>
                        <a:t>에 따른 로직 추가 및 검증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- </a:t>
                      </a:r>
                      <a:r>
                        <a:rPr lang="ko-KR" altLang="en-US" sz="1000" smtClean="0"/>
                        <a:t>실차 평가 진행 </a:t>
                      </a:r>
                      <a:r>
                        <a:rPr lang="en-US" altLang="ko-KR" sz="1000" smtClean="0"/>
                        <a:t>(25.12.10)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 </a:t>
                      </a:r>
                      <a:r>
                        <a:rPr lang="ko-KR" altLang="en-US" sz="1000" smtClean="0"/>
                        <a:t>참석자 </a:t>
                      </a:r>
                      <a:r>
                        <a:rPr lang="en-US" altLang="ko-KR" sz="1000" smtClean="0"/>
                        <a:t>: </a:t>
                      </a:r>
                      <a:r>
                        <a:rPr lang="ko-KR" altLang="en-US" sz="1000" smtClean="0"/>
                        <a:t>오세영 수석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최은혁 전임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김진겸 사원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- </a:t>
                      </a:r>
                      <a:r>
                        <a:rPr lang="ko-KR" altLang="en-US" sz="1000" smtClean="0"/>
                        <a:t>실차 평가 후 문제 없을 시 </a:t>
                      </a:r>
                      <a:r>
                        <a:rPr lang="en-US" altLang="ko-KR" sz="1000" smtClean="0"/>
                        <a:t>RS4PE </a:t>
                      </a:r>
                      <a:r>
                        <a:rPr lang="ko-KR" altLang="en-US" sz="1000" smtClean="0"/>
                        <a:t>및 </a:t>
                      </a:r>
                      <a:r>
                        <a:rPr lang="en-US" altLang="ko-KR" sz="1000" smtClean="0"/>
                        <a:t>JG1 </a:t>
                      </a:r>
                      <a:r>
                        <a:rPr lang="ko-KR" altLang="en-US" sz="1000" smtClean="0"/>
                        <a:t>의 업데이트 진행  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 (</a:t>
                      </a:r>
                      <a:r>
                        <a:rPr lang="ko-KR" altLang="en-US" sz="1000" smtClean="0"/>
                        <a:t>업데이트 수량 및 위치는 확인 필요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- JG1 P2 </a:t>
                      </a:r>
                      <a:r>
                        <a:rPr lang="ko-KR" altLang="en-US" sz="1000" smtClean="0"/>
                        <a:t>물량 업데이트 </a:t>
                      </a:r>
                      <a:r>
                        <a:rPr lang="en-US" altLang="ko-KR" sz="1000" smtClean="0"/>
                        <a:t>(1,140EA, ~12/11)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4.</a:t>
                      </a:r>
                      <a:r>
                        <a:rPr lang="ko-KR" altLang="en-US" sz="1000" smtClean="0"/>
                        <a:t> 악의 파형 </a:t>
                      </a:r>
                      <a:r>
                        <a:rPr lang="en-US" altLang="ko-KR" sz="1000" smtClean="0"/>
                        <a:t>23</a:t>
                      </a:r>
                      <a:r>
                        <a:rPr lang="ko-KR" altLang="en-US" sz="1000" smtClean="0"/>
                        <a:t>개 테스트 진행 </a:t>
                      </a:r>
                      <a:r>
                        <a:rPr lang="en-US" altLang="ko-KR" sz="1000" smtClean="0"/>
                        <a:t>(~12/11)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5.</a:t>
                      </a:r>
                      <a:r>
                        <a:rPr lang="ko-KR" altLang="en-US" sz="1000" smtClean="0"/>
                        <a:t> 정상 동작 중 전압 </a:t>
                      </a:r>
                      <a:r>
                        <a:rPr lang="en-US" altLang="ko-KR" sz="1000" smtClean="0"/>
                        <a:t>Drop </a:t>
                      </a:r>
                      <a:r>
                        <a:rPr lang="ko-KR" altLang="en-US" sz="1000" smtClean="0"/>
                        <a:t>발생에 따른 </a:t>
                      </a:r>
                      <a:r>
                        <a:rPr lang="en-US" altLang="ko-KR" sz="1000" smtClean="0"/>
                        <a:t>Stall Fault </a:t>
                      </a:r>
                      <a:r>
                        <a:rPr lang="ko-KR" altLang="en-US" sz="1000" smtClean="0"/>
                        <a:t>우회 로직 설계</a:t>
                      </a:r>
                      <a:r>
                        <a:rPr lang="en-US" altLang="ko-KR" sz="1000" smtClean="0"/>
                        <a:t>        </a:t>
                      </a:r>
                      <a:r>
                        <a:rPr lang="ko-KR" altLang="en-US" sz="1000" smtClean="0"/>
                        <a:t>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(~12/19)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: </a:t>
                      </a:r>
                      <a:r>
                        <a:rPr lang="ko-KR" altLang="en-US" sz="1000" smtClean="0"/>
                        <a:t>전압 </a:t>
                      </a:r>
                      <a:r>
                        <a:rPr lang="en-US" altLang="ko-KR" sz="1000" smtClean="0"/>
                        <a:t>Drop </a:t>
                      </a:r>
                      <a:r>
                        <a:rPr lang="ko-KR" altLang="en-US" sz="1000" smtClean="0"/>
                        <a:t>확인 시 모터 움직임 일시 정지 후 전압 정상으로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</a:t>
                      </a:r>
                      <a:r>
                        <a:rPr lang="ko-KR" altLang="en-US" sz="1000" smtClean="0"/>
                        <a:t>복귀 시 모터 동작 로직 가능 여부 확인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: </a:t>
                      </a:r>
                      <a:r>
                        <a:rPr lang="ko-KR" altLang="en-US" sz="1000" smtClean="0"/>
                        <a:t>모터 동작 시작 전 전압 대비 동작 중 전압 </a:t>
                      </a:r>
                      <a:r>
                        <a:rPr lang="en-US" altLang="ko-KR" sz="1000" smtClean="0"/>
                        <a:t>Drop </a:t>
                      </a:r>
                      <a:r>
                        <a:rPr lang="ko-KR" altLang="en-US" sz="1000" smtClean="0"/>
                        <a:t>확인 시 </a:t>
                      </a:r>
                      <a:r>
                        <a:rPr lang="en-US" altLang="ko-KR" sz="1000" smtClean="0"/>
                        <a:t>Stall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Fault </a:t>
                      </a:r>
                      <a:r>
                        <a:rPr lang="ko-KR" altLang="en-US" sz="1000" smtClean="0"/>
                        <a:t>처리 하지 않고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다음 시동시 </a:t>
                      </a:r>
                      <a:r>
                        <a:rPr lang="en-US" altLang="ko-KR" sz="1000" smtClean="0"/>
                        <a:t>2P Cal </a:t>
                      </a:r>
                      <a:r>
                        <a:rPr lang="ko-KR" altLang="en-US" sz="1000" smtClean="0"/>
                        <a:t>로직 가능 여부 확인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6.</a:t>
                      </a:r>
                      <a:r>
                        <a:rPr lang="ko-KR" altLang="en-US" sz="1000" smtClean="0"/>
                        <a:t> 토크 감소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   : </a:t>
                      </a:r>
                      <a:r>
                        <a:rPr lang="ko-KR" altLang="en-US" sz="1000" smtClean="0"/>
                        <a:t>토크 감소 후 </a:t>
                      </a:r>
                      <a:r>
                        <a:rPr lang="en-US" altLang="ko-KR" sz="1000" smtClean="0"/>
                        <a:t>Stall </a:t>
                      </a:r>
                      <a:r>
                        <a:rPr lang="ko-KR" altLang="en-US" sz="1000" smtClean="0"/>
                        <a:t>감지 튜닝 및 </a:t>
                      </a:r>
                      <a:r>
                        <a:rPr lang="en-US" altLang="ko-KR" sz="1000" smtClean="0"/>
                        <a:t>Side Effect </a:t>
                      </a:r>
                      <a:r>
                        <a:rPr lang="ko-KR" altLang="en-US" sz="1000" smtClean="0"/>
                        <a:t>점검 </a:t>
                      </a:r>
                      <a:r>
                        <a:rPr lang="en-US" altLang="ko-KR" sz="1000" smtClean="0"/>
                        <a:t>(~12/19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7.</a:t>
                      </a:r>
                      <a:r>
                        <a:rPr lang="ko-KR" altLang="en-US" sz="1000" smtClean="0"/>
                        <a:t> 정확도 튜닝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   :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정확도 </a:t>
                      </a:r>
                      <a:r>
                        <a:rPr lang="en-US" altLang="ko-KR" sz="1000" baseline="0" smtClean="0"/>
                        <a:t>1</a:t>
                      </a:r>
                      <a:r>
                        <a:rPr lang="ko-KR" altLang="en-US" sz="1000" baseline="0" smtClean="0"/>
                        <a:t>도 틀어짐에 따른 튜닝 진행 </a:t>
                      </a:r>
                      <a:r>
                        <a:rPr lang="en-US" altLang="ko-KR" sz="1000" baseline="0" smtClean="0"/>
                        <a:t>(~12/19)</a:t>
                      </a:r>
                      <a:endParaRPr lang="en-US" altLang="ko-KR" sz="1000" smtClean="0"/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요청에 따른 시험 진행</a:t>
                      </a: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JG</a:t>
            </a:r>
            <a:endParaRPr lang="en-US" altLang="ko-KR" sz="1600" b="1" noProof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최은혁 전임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20355"/>
            <a:chOff x="0" y="134593"/>
            <a:chExt cx="604837" cy="496731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19163"/>
            <a:chOff x="0" y="135732"/>
            <a:chExt cx="604837" cy="495592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26.1.15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8" name="그룹 16"/>
          <p:cNvGrpSpPr>
            <a:grpSpLocks noChangeAspect="1"/>
          </p:cNvGrpSpPr>
          <p:nvPr/>
        </p:nvGrpSpPr>
        <p:grpSpPr bwMode="auto">
          <a:xfrm>
            <a:off x="7516839" y="542753"/>
            <a:ext cx="1045724" cy="519163"/>
            <a:chOff x="0" y="135732"/>
            <a:chExt cx="604837" cy="495592"/>
          </a:xfrm>
        </p:grpSpPr>
        <p:sp>
          <p:nvSpPr>
            <p:cNvPr id="43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26.3.15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46" name="위쪽 화살표 45"/>
          <p:cNvSpPr>
            <a:spLocks noChangeArrowheads="1"/>
          </p:cNvSpPr>
          <p:nvPr/>
        </p:nvSpPr>
        <p:spPr bwMode="auto">
          <a:xfrm rot="10800000">
            <a:off x="7979947" y="71761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7285038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841033"/>
              </p:ext>
            </p:extLst>
          </p:nvPr>
        </p:nvGraphicFramePr>
        <p:xfrm>
          <a:off x="11059" y="536956"/>
          <a:ext cx="9097445" cy="605953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1. ES253EE </a:t>
                      </a:r>
                      <a:r>
                        <a:rPr lang="ko-KR" altLang="en-US" sz="1000" smtClean="0"/>
                        <a:t>심사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</a:t>
                      </a:r>
                      <a:r>
                        <a:rPr lang="ko-KR" altLang="en-US" sz="1000" smtClean="0"/>
                        <a:t>심사일 </a:t>
                      </a:r>
                      <a:r>
                        <a:rPr lang="en-US" altLang="ko-KR" sz="1000" smtClean="0"/>
                        <a:t>: 25.12.10~12.11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</a:t>
                      </a:r>
                      <a:r>
                        <a:rPr lang="ko-KR" altLang="en-US" sz="1000" baseline="0" smtClean="0"/>
                        <a:t>장소 </a:t>
                      </a:r>
                      <a:r>
                        <a:rPr lang="en-US" altLang="ko-KR" sz="1000" baseline="0" smtClean="0"/>
                        <a:t>: </a:t>
                      </a:r>
                      <a:r>
                        <a:rPr lang="ko-KR" altLang="en-US" sz="1000" baseline="0" smtClean="0"/>
                        <a:t>명화공업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 smtClean="0"/>
                        <a:t>   </a:t>
                      </a:r>
                      <a:r>
                        <a:rPr lang="ko-KR" altLang="en-US" sz="1000" b="0" baseline="0" smtClean="0"/>
                        <a:t>참석자 </a:t>
                      </a:r>
                      <a:r>
                        <a:rPr lang="en-US" altLang="ko-KR" sz="1000" b="0" baseline="0" smtClean="0"/>
                        <a:t>: </a:t>
                      </a:r>
                      <a:r>
                        <a:rPr lang="ko-KR" altLang="en-US" sz="1000" b="0" baseline="0" smtClean="0"/>
                        <a:t>조현진 전임</a:t>
                      </a:r>
                      <a:r>
                        <a:rPr lang="en-US" altLang="ko-KR" sz="1000" b="0" baseline="0" smtClean="0"/>
                        <a:t>, </a:t>
                      </a:r>
                      <a:r>
                        <a:rPr lang="ko-KR" altLang="en-US" sz="1000" b="0" baseline="0" smtClean="0"/>
                        <a:t>김강일 사원</a:t>
                      </a:r>
                      <a:endParaRPr lang="en-US" altLang="ko-KR" sz="1000" b="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 smtClean="0"/>
                        <a:t>   </a:t>
                      </a:r>
                      <a:r>
                        <a:rPr lang="ko-KR" altLang="en-US" sz="1000" b="0" baseline="0" smtClean="0"/>
                        <a:t>결과 </a:t>
                      </a:r>
                      <a:r>
                        <a:rPr lang="en-US" altLang="ko-KR" sz="1000" b="0" baseline="0" smtClean="0"/>
                        <a:t>: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- </a:t>
                      </a:r>
                      <a:r>
                        <a:rPr lang="ko-KR" altLang="en-US" sz="1000" baseline="0" smtClean="0"/>
                        <a:t>대일정 준수 요구</a:t>
                      </a:r>
                      <a:r>
                        <a:rPr lang="en-US" altLang="ko-KR" sz="1000" baseline="0" smtClean="0"/>
                        <a:t>(</a:t>
                      </a:r>
                      <a:r>
                        <a:rPr lang="ko-KR" altLang="en-US" sz="1000" baseline="0" smtClean="0"/>
                        <a:t>심사 일정 </a:t>
                      </a:r>
                      <a:r>
                        <a:rPr lang="en-US" altLang="ko-KR" sz="1000" baseline="0" smtClean="0"/>
                        <a:t>1</a:t>
                      </a:r>
                      <a:r>
                        <a:rPr lang="ko-KR" altLang="en-US" sz="1000" baseline="0" smtClean="0"/>
                        <a:t>월 초</a:t>
                      </a:r>
                      <a:r>
                        <a:rPr lang="en-US" altLang="ko-KR" sz="1000" baseline="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- 12</a:t>
                      </a:r>
                      <a:r>
                        <a:rPr lang="ko-KR" altLang="en-US" sz="1000" baseline="0" smtClean="0"/>
                        <a:t>월 末 제출 문서 기준 </a:t>
                      </a:r>
                      <a:r>
                        <a:rPr lang="en-US" altLang="ko-KR" sz="1000" baseline="0" smtClean="0"/>
                        <a:t>NG </a:t>
                      </a:r>
                      <a:r>
                        <a:rPr lang="ko-KR" altLang="en-US" sz="1000" baseline="0" smtClean="0"/>
                        <a:t>판정이 존재하면</a:t>
                      </a:r>
                      <a:r>
                        <a:rPr lang="en-US" altLang="ko-KR" sz="1000" baseline="0" smtClean="0"/>
                        <a:t>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   </a:t>
                      </a:r>
                      <a:r>
                        <a:rPr lang="ko-KR" altLang="en-US" sz="1000" baseline="0" smtClean="0"/>
                        <a:t>추후 품질문제 발생시 </a:t>
                      </a:r>
                      <a:r>
                        <a:rPr lang="en-US" altLang="ko-KR" sz="1000" baseline="0" smtClean="0"/>
                        <a:t>OEM</a:t>
                      </a:r>
                      <a:r>
                        <a:rPr lang="ko-KR" altLang="en-US" sz="1000" baseline="0" smtClean="0"/>
                        <a:t>에서 품질 보증 하지 아니한다</a:t>
                      </a:r>
                      <a:r>
                        <a:rPr lang="en-US" altLang="ko-KR" sz="1000" baseline="0" smtClean="0"/>
                        <a:t>.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- SwRS, SwAD </a:t>
                      </a:r>
                      <a:r>
                        <a:rPr lang="ko-KR" altLang="en-US" sz="1000" baseline="0" smtClean="0"/>
                        <a:t>문서 상의 </a:t>
                      </a:r>
                      <a:r>
                        <a:rPr lang="en-US" altLang="ko-KR" sz="1000" baseline="0" smtClean="0"/>
                        <a:t>Function Description </a:t>
                      </a:r>
                      <a:r>
                        <a:rPr lang="ko-KR" altLang="en-US" sz="1000" baseline="0" smtClean="0"/>
                        <a:t>데이터 구체화 필요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- TC </a:t>
                      </a:r>
                      <a:r>
                        <a:rPr lang="ko-KR" altLang="en-US" sz="1000" baseline="0" smtClean="0"/>
                        <a:t>도출방법 추가 요청 </a:t>
                      </a:r>
                      <a:r>
                        <a:rPr lang="en-US" altLang="ko-KR" sz="1000" baseline="0" smtClean="0"/>
                        <a:t>(</a:t>
                      </a:r>
                      <a:r>
                        <a:rPr lang="ko-KR" altLang="en-US" sz="1000" baseline="0" smtClean="0"/>
                        <a:t>경계값 분석</a:t>
                      </a:r>
                      <a:r>
                        <a:rPr lang="en-US" altLang="ko-KR" sz="1000" baseline="0" smtClean="0"/>
                        <a:t>, </a:t>
                      </a:r>
                      <a:r>
                        <a:rPr lang="ko-KR" altLang="en-US" sz="1000" baseline="0" smtClean="0"/>
                        <a:t>분기 조건별 경계 값 확인 등</a:t>
                      </a:r>
                      <a:r>
                        <a:rPr lang="en-US" altLang="ko-KR" sz="1000" baseline="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2. ES </a:t>
                      </a:r>
                      <a:r>
                        <a:rPr lang="ko-KR" altLang="en-US" sz="1000" baseline="0" smtClean="0"/>
                        <a:t>성적서 작성 인력 부족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- </a:t>
                      </a:r>
                      <a:r>
                        <a:rPr lang="ko-KR" altLang="en-US" sz="1000" smtClean="0"/>
                        <a:t>인력 부족으로 </a:t>
                      </a:r>
                      <a:r>
                        <a:rPr lang="en-US" altLang="ko-KR" sz="1000" smtClean="0"/>
                        <a:t>Heater </a:t>
                      </a:r>
                      <a:r>
                        <a:rPr lang="ko-KR" altLang="en-US" sz="1000" smtClean="0"/>
                        <a:t>조현진 전임 투입 되어 </a:t>
                      </a:r>
                      <a:r>
                        <a:rPr lang="en-US" altLang="ko-KR" sz="1000" smtClean="0"/>
                        <a:t>Support </a:t>
                      </a:r>
                      <a:r>
                        <a:rPr lang="ko-KR" altLang="en-US" sz="1000" smtClean="0"/>
                        <a:t>하고 있으나</a:t>
                      </a:r>
                      <a:r>
                        <a:rPr lang="en-US" altLang="ko-KR" sz="1000" smtClean="0"/>
                        <a:t>,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Heater Project </a:t>
                      </a:r>
                      <a:r>
                        <a:rPr lang="ko-KR" altLang="en-US" sz="1000" smtClean="0"/>
                        <a:t>의 업무 부하로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지속적인 </a:t>
                      </a:r>
                      <a:r>
                        <a:rPr lang="en-US" altLang="ko-KR" sz="1000" smtClean="0"/>
                        <a:t>Support </a:t>
                      </a:r>
                      <a:r>
                        <a:rPr lang="ko-KR" altLang="en-US" sz="1000" smtClean="0"/>
                        <a:t>불가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- ES </a:t>
                      </a:r>
                      <a:r>
                        <a:rPr lang="ko-KR" altLang="en-US" sz="1000" smtClean="0"/>
                        <a:t>성적서 작성 관련하여 </a:t>
                      </a:r>
                      <a:r>
                        <a:rPr lang="en-US" altLang="ko-KR" sz="1000" smtClean="0"/>
                        <a:t>ES </a:t>
                      </a:r>
                      <a:r>
                        <a:rPr lang="ko-KR" altLang="en-US" sz="1000" smtClean="0"/>
                        <a:t>검증팀 투입 검토 필요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- 25.12.31 </a:t>
                      </a:r>
                      <a:r>
                        <a:rPr lang="ko-KR" altLang="en-US" sz="1000" smtClean="0"/>
                        <a:t>까지 미흡한 </a:t>
                      </a:r>
                      <a:r>
                        <a:rPr lang="en-US" altLang="ko-KR" sz="1000" smtClean="0"/>
                        <a:t>ES253EE </a:t>
                      </a:r>
                      <a:r>
                        <a:rPr lang="ko-KR" altLang="en-US" sz="1000" smtClean="0"/>
                        <a:t>진행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</a:t>
                      </a:r>
                      <a:r>
                        <a:rPr lang="ko-KR" altLang="en-US" sz="1000" smtClean="0"/>
                        <a:t> </a:t>
                      </a:r>
                      <a:r>
                        <a:rPr lang="en-US" altLang="ko-KR" sz="1000" smtClean="0"/>
                        <a:t>: MCU </a:t>
                      </a:r>
                      <a:r>
                        <a:rPr lang="ko-KR" altLang="en-US" sz="1000" smtClean="0"/>
                        <a:t>고장 진단 및 고장 </a:t>
                      </a:r>
                      <a:r>
                        <a:rPr lang="en-US" altLang="ko-KR" sz="1000" smtClean="0"/>
                        <a:t>Log </a:t>
                      </a:r>
                      <a:r>
                        <a:rPr lang="ko-KR" altLang="en-US" sz="1000" smtClean="0"/>
                        <a:t>저장 설계 필요 </a:t>
                      </a:r>
                      <a:r>
                        <a:rPr lang="en-US" altLang="ko-KR" sz="1000" smtClean="0"/>
                        <a:t>(~12/25)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</a:t>
                      </a:r>
                      <a:r>
                        <a:rPr lang="ko-KR" altLang="en-US" sz="1000" smtClean="0"/>
                        <a:t> </a:t>
                      </a:r>
                      <a:r>
                        <a:rPr lang="en-US" altLang="ko-KR" sz="1000" smtClean="0"/>
                        <a:t>: P1 </a:t>
                      </a:r>
                      <a:r>
                        <a:rPr lang="ko-KR" altLang="en-US" sz="1000" smtClean="0"/>
                        <a:t>납품 전 전체 기능 시험 진행 필요</a:t>
                      </a:r>
                      <a:endParaRPr lang="en-US" altLang="ko-KR" sz="1000" smtClean="0"/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4WayValve</a:t>
            </a:r>
            <a:endParaRPr lang="en-US" altLang="ko-KR" sz="1600" b="1" noProof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김강일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25.8.1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SP#1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27.2.1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2" name="위쪽 화살표 6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위쪽 화살표 63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65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8" name="위쪽 화살표 67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3261085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/>
          </p:cNvSpPr>
          <p:nvPr/>
        </p:nvSpPr>
        <p:spPr bwMode="auto">
          <a:xfrm>
            <a:off x="176506" y="7775"/>
            <a:ext cx="6879981" cy="468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8400" tIns="44200" rIns="88400" bIns="44200" anchor="ctr"/>
          <a:lstStyle/>
          <a:p>
            <a:pPr algn="l"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EV Heater SW2</a:t>
            </a:r>
            <a:r>
              <a:rPr lang="ko-KR" altLang="en-US" sz="2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팀 업무분장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73478"/>
              </p:ext>
            </p:extLst>
          </p:nvPr>
        </p:nvGraphicFramePr>
        <p:xfrm>
          <a:off x="3203848" y="639727"/>
          <a:ext cx="2592288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오세영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팀장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팀 관리 업무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2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. Air PTC SW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 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 - Suzuki, VX3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3. Act’r/Valve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32850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513406"/>
              </p:ext>
            </p:extLst>
          </p:nvPr>
        </p:nvGraphicFramePr>
        <p:xfrm>
          <a:off x="1122973" y="3854911"/>
          <a:ext cx="1907290" cy="1193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65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임제훈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2166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SVm, BJ1, NX5e, HE1i,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  AY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SU2i, KY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448762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240663"/>
              </p:ext>
            </p:extLst>
          </p:nvPr>
        </p:nvGraphicFramePr>
        <p:xfrm>
          <a:off x="1122973" y="2530955"/>
          <a:ext cx="1907290" cy="1126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59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조현진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전임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0622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SX3e, NEaW, MX5a, QV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MVa, Nea, Mea, Cva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952399"/>
              </p:ext>
            </p:extLst>
          </p:nvPr>
        </p:nvGraphicFramePr>
        <p:xfrm>
          <a:off x="5977078" y="2516911"/>
          <a:ext cx="1907290" cy="100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79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최은혁 전임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22984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Actuator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JG1, RS4PE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cxnSp>
        <p:nvCxnSpPr>
          <p:cNvPr id="17" name="꺾인 연결선 16"/>
          <p:cNvCxnSpPr>
            <a:stCxn id="8" idx="0"/>
            <a:endCxn id="7" idx="2"/>
          </p:cNvCxnSpPr>
          <p:nvPr/>
        </p:nvCxnSpPr>
        <p:spPr bwMode="auto">
          <a:xfrm rot="5400000" flipH="1" flipV="1">
            <a:off x="4049548" y="2075948"/>
            <a:ext cx="900635" cy="524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꺾인 연결선 17"/>
          <p:cNvCxnSpPr>
            <a:stCxn id="14" idx="0"/>
            <a:endCxn id="7" idx="2"/>
          </p:cNvCxnSpPr>
          <p:nvPr/>
        </p:nvCxnSpPr>
        <p:spPr bwMode="auto">
          <a:xfrm rot="16200000" flipV="1">
            <a:off x="5272277" y="858464"/>
            <a:ext cx="888659" cy="242823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꺾인 연결선 18"/>
          <p:cNvCxnSpPr>
            <a:stCxn id="13" idx="0"/>
            <a:endCxn id="7" idx="2"/>
          </p:cNvCxnSpPr>
          <p:nvPr/>
        </p:nvCxnSpPr>
        <p:spPr bwMode="auto">
          <a:xfrm rot="5400000" flipH="1" flipV="1">
            <a:off x="2838201" y="866669"/>
            <a:ext cx="902704" cy="2425870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274422"/>
              </p:ext>
            </p:extLst>
          </p:nvPr>
        </p:nvGraphicFramePr>
        <p:xfrm>
          <a:off x="5977078" y="3854911"/>
          <a:ext cx="1907290" cy="1169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572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김강일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912057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Valve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- 4Way/6Way Valve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831328"/>
              </p:ext>
            </p:extLst>
          </p:nvPr>
        </p:nvGraphicFramePr>
        <p:xfrm>
          <a:off x="3537752" y="2531619"/>
          <a:ext cx="1907290" cy="110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146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김진겸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9519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Air PTC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Motor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3. ES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수행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7916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987824" y="6381908"/>
            <a:ext cx="3329758" cy="21544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* 26</a:t>
            </a:r>
            <a:r>
              <a:rPr lang="ko-KR" altLang="en-US" sz="800" b="1" dirty="0"/>
              <a:t>년 현대 </a:t>
            </a:r>
            <a:r>
              <a:rPr lang="en-US" altLang="ko-KR" sz="800" b="1" dirty="0"/>
              <a:t>2</a:t>
            </a:r>
            <a:r>
              <a:rPr lang="ko-KR" altLang="en-US" sz="800" b="1" dirty="0" err="1"/>
              <a:t>챔버</a:t>
            </a:r>
            <a:r>
              <a:rPr lang="ko-KR" altLang="en-US" sz="800" b="1" dirty="0"/>
              <a:t> </a:t>
            </a:r>
            <a:r>
              <a:rPr lang="ko-KR" altLang="en-US" sz="800" b="1" dirty="0" err="1"/>
              <a:t>수가열</a:t>
            </a:r>
            <a:r>
              <a:rPr lang="ko-KR" altLang="en-US" sz="800" b="1" dirty="0"/>
              <a:t> 히터</a:t>
            </a:r>
            <a:r>
              <a:rPr lang="en-US" altLang="ko-KR" sz="800" b="1" dirty="0"/>
              <a:t>/ Ford Air PTC </a:t>
            </a:r>
            <a:r>
              <a:rPr lang="ko-KR" altLang="en-US" sz="800" b="1" dirty="0"/>
              <a:t>수주 시 충원 </a:t>
            </a:r>
            <a:r>
              <a:rPr lang="en-US" altLang="ko-KR" sz="800" b="1" dirty="0"/>
              <a:t>2</a:t>
            </a:r>
            <a:r>
              <a:rPr lang="ko-KR" altLang="en-US" sz="800" b="1" dirty="0"/>
              <a:t>명 계획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122973" y="5121559"/>
            <a:ext cx="189968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PTC</a:t>
            </a:r>
            <a:endParaRPr lang="ko-KR" altLang="en-US" sz="1200"/>
          </a:p>
        </p:txBody>
      </p:sp>
      <p:sp>
        <p:nvSpPr>
          <p:cNvPr id="20" name="직사각형 19"/>
          <p:cNvSpPr/>
          <p:nvPr/>
        </p:nvSpPr>
        <p:spPr>
          <a:xfrm>
            <a:off x="5977078" y="5113551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Motor</a:t>
            </a:r>
            <a:endParaRPr lang="ko-KR" altLang="en-US" sz="1200"/>
          </a:p>
        </p:txBody>
      </p:sp>
      <p:sp>
        <p:nvSpPr>
          <p:cNvPr id="21" name="직사각형 20"/>
          <p:cNvSpPr/>
          <p:nvPr/>
        </p:nvSpPr>
        <p:spPr>
          <a:xfrm>
            <a:off x="3537752" y="5117903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공통업무</a:t>
            </a:r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2793394040"/>
      </p:ext>
    </p:extLst>
  </p:cSld>
  <p:clrMapOvr>
    <a:masterClrMapping/>
  </p:clrMapOvr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17392</TotalTime>
  <Words>2129</Words>
  <Application>Microsoft Office PowerPoint</Application>
  <PresentationFormat>화면 슬라이드 쇼(4:3)</PresentationFormat>
  <Paragraphs>553</Paragraphs>
  <Slides>20</Slides>
  <Notes>19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9" baseType="lpstr">
      <vt:lpstr>맑은 고딕</vt:lpstr>
      <vt:lpstr>Lucida Sans Unicode</vt:lpstr>
      <vt:lpstr>Wingdings</vt:lpstr>
      <vt:lpstr>Arial</vt:lpstr>
      <vt:lpstr>현대하모니 M</vt:lpstr>
      <vt:lpstr>굴림</vt:lpstr>
      <vt:lpstr>Verdana</vt:lpstr>
      <vt:lpstr>제안서 템플릿</vt:lpstr>
      <vt:lpstr>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6329</cp:revision>
  <dcterms:created xsi:type="dcterms:W3CDTF">2019-10-24T04:42:23Z</dcterms:created>
  <dcterms:modified xsi:type="dcterms:W3CDTF">2025-12-11T00:44:40Z</dcterms:modified>
  <cp:version/>
</cp:coreProperties>
</file>