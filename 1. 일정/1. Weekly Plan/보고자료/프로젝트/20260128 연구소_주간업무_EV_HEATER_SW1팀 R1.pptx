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pptx" ContentType="application/vnd.openxmlformats-officedocument.presentationml.presentation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22"/>
  </p:notesMasterIdLst>
  <p:handoutMasterIdLst>
    <p:handoutMasterId r:id="rId23"/>
  </p:handoutMasterIdLst>
  <p:sldIdLst>
    <p:sldId id="947" r:id="rId2"/>
    <p:sldId id="1137" r:id="rId3"/>
    <p:sldId id="1170" r:id="rId4"/>
    <p:sldId id="1171" r:id="rId5"/>
    <p:sldId id="1151" r:id="rId6"/>
    <p:sldId id="1152" r:id="rId7"/>
    <p:sldId id="1153" r:id="rId8"/>
    <p:sldId id="1163" r:id="rId9"/>
    <p:sldId id="1155" r:id="rId10"/>
    <p:sldId id="1156" r:id="rId11"/>
    <p:sldId id="1158" r:id="rId12"/>
    <p:sldId id="1159" r:id="rId13"/>
    <p:sldId id="1160" r:id="rId14"/>
    <p:sldId id="1161" r:id="rId15"/>
    <p:sldId id="1162" r:id="rId16"/>
    <p:sldId id="1165" r:id="rId17"/>
    <p:sldId id="1166" r:id="rId18"/>
    <p:sldId id="1167" r:id="rId19"/>
    <p:sldId id="1168" r:id="rId20"/>
    <p:sldId id="1164" r:id="rId21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8D4B1F-D1D2-4892-AC90-0F1C73CC5FC5}">
          <p14:sldIdLst>
            <p14:sldId id="947"/>
          </p14:sldIdLst>
        </p14:section>
        <p14:section name="지시내용/의사결정/리스크/이슈현황" id="{5588297A-0314-480D-89DF-96CA41CC583D}">
          <p14:sldIdLst>
            <p14:sldId id="1137"/>
            <p14:sldId id="1170"/>
            <p14:sldId id="1171"/>
          </p14:sldIdLst>
        </p14:section>
        <p14:section name="Air PTC" id="{B956D88F-70E2-4349-B8DC-375A4283FAA0}">
          <p14:sldIdLst>
            <p14:sldId id="1151"/>
            <p14:sldId id="1152"/>
            <p14:sldId id="1153"/>
            <p14:sldId id="1163"/>
            <p14:sldId id="1155"/>
            <p14:sldId id="1156"/>
            <p14:sldId id="1158"/>
            <p14:sldId id="1159"/>
            <p14:sldId id="1160"/>
            <p14:sldId id="1161"/>
            <p14:sldId id="1162"/>
          </p14:sldIdLst>
        </p14:section>
        <p14:section name="모터" id="{05E9A145-F0BD-4F31-BAA2-C9351D4631C5}">
          <p14:sldIdLst>
            <p14:sldId id="1165"/>
            <p14:sldId id="1166"/>
            <p14:sldId id="1167"/>
            <p14:sldId id="1168"/>
          </p14:sldIdLst>
        </p14:section>
        <p14:section name="공유 및 공지내용" id="{7B3D5BD4-254A-43C9-9404-EC10D85B8375}">
          <p14:sldIdLst>
            <p14:sldId id="11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7" autoAdjust="0"/>
    <p:restoredTop sz="96378" autoAdjust="0"/>
  </p:normalViewPr>
  <p:slideViewPr>
    <p:cSldViewPr snapToObjects="1">
      <p:cViewPr varScale="1">
        <p:scale>
          <a:sx n="107" d="100"/>
          <a:sy n="107" d="100"/>
        </p:scale>
        <p:origin x="1776" y="96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60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070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090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368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435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64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50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6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865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2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6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24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993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96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4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2222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8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package" Target="../embeddings/Microsoft_PowerPoint_______.pptx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____.xlsx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S/W 1</a:t>
            </a:r>
            <a:r>
              <a:rPr lang="ko-KR" altLang="en-US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팀 </a:t>
            </a:r>
            <a:r>
              <a:rPr kumimoji="1" lang="ko-KR" altLang="en-US" sz="28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주간보고</a:t>
            </a:r>
            <a:r>
              <a:rPr kumimoji="1" lang="ko-KR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자료</a:t>
            </a:r>
            <a:endParaRPr kumimoji="1" lang="en-US" altLang="ko-KR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6512" y="6232046"/>
            <a:ext cx="914400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Heater S/W 1</a:t>
            </a:r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55211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2026.01.28</a:t>
            </a:r>
          </a:p>
        </p:txBody>
      </p:sp>
    </p:spTree>
    <p:extLst>
      <p:ext uri="{BB962C8B-B14F-4D97-AF65-F5344CB8AC3E}">
        <p14:creationId xmlns:p14="http://schemas.microsoft.com/office/powerpoint/2010/main" val="24541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50698"/>
              </p:ext>
            </p:extLst>
          </p:nvPr>
        </p:nvGraphicFramePr>
        <p:xfrm>
          <a:off x="251520" y="980728"/>
          <a:ext cx="8676581" cy="5783612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월초 예정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PTC &lt;-&gt; ATCU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신호 정합성 합동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스위치를 연결하여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하여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(H/W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제작 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IGBT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 Current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위험성에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P1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(~1/30)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및 전체 기능 시험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재진행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완료 후 차주 진행 일정 조율 예정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Proto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NX5E HEV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따른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협의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동작 중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냉각수 온도에 따른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Core 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안전상 동작 되어야함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의견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Local CAN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하이브리드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차량 정보를 추가하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상황에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전송 여부 검토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설계 담당자 미 회신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매일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차례 전화 하였으나 통화불가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는 안전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 동작 되도록 적용 후 납품 한다는 메일 송부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(1/25)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All Tool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공정감사에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1/29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혜인시스템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및 직원 교육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시험 의뢰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(~01/30)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기관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현대차 사이버 보안 품질 연구팀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시료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PCB 1EA, Signal Connector 1EA, E2 Pin Connector 1EA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제출일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ES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무풍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표면온도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140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도 이하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사양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만족을 위해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Soft Start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적용 시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분이상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소요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171450" marR="0" lvl="0" indent="-17145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  <a:sym typeface="Wingdings" panose="05000000000000000000" pitchFamily="2" charset="2"/>
                        </a:rPr>
                        <a:t>EOL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  <a:sym typeface="Wingdings" panose="05000000000000000000" pitchFamily="2" charset="2"/>
                        </a:rPr>
                        <a:t>검증 시간 단축을 위해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  <a:sym typeface="Wingdings" panose="05000000000000000000" pitchFamily="2" charset="2"/>
                        </a:rPr>
                        <a:t>EOL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  <a:sym typeface="Wingdings" panose="05000000000000000000" pitchFamily="2" charset="2"/>
                        </a:rPr>
                        <a:t>검증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  <a:sym typeface="Wingdings" panose="05000000000000000000" pitchFamily="2" charset="2"/>
                        </a:rPr>
                        <a:t>모드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  <a:sym typeface="Wingdings" panose="05000000000000000000" pitchFamily="2" charset="2"/>
                        </a:rPr>
                        <a:t> 추가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  <a:sym typeface="Wingdings" panose="05000000000000000000" pitchFamily="2" charset="2"/>
                        </a:rPr>
                        <a:t>(1/29)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577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3117"/>
              </p:ext>
            </p:extLst>
          </p:nvPr>
        </p:nvGraphicFramePr>
        <p:xfrm>
          <a:off x="251520" y="980728"/>
          <a:ext cx="8676581" cy="3553104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83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토크 감소 측정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 - </a:t>
                      </a:r>
                      <a:r>
                        <a:rPr lang="ko-KR" altLang="en-US" sz="1000" dirty="0"/>
                        <a:t>전압별 </a:t>
                      </a:r>
                      <a:r>
                        <a:rPr lang="en-US" altLang="ko-KR" sz="1000" dirty="0"/>
                        <a:t>(9V</a:t>
                      </a:r>
                      <a:r>
                        <a:rPr lang="en-US" altLang="ko-KR" sz="1000" baseline="0" dirty="0"/>
                        <a:t> ~ 16V)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/ </a:t>
                      </a:r>
                      <a:r>
                        <a:rPr lang="ko-KR" altLang="en-US" sz="1000" dirty="0"/>
                        <a:t>온도별 </a:t>
                      </a:r>
                      <a:r>
                        <a:rPr lang="en-US" altLang="ko-KR" sz="1000" dirty="0"/>
                        <a:t>(-40</a:t>
                      </a:r>
                      <a:r>
                        <a:rPr lang="ko-KR" altLang="en-US" sz="1000" dirty="0"/>
                        <a:t>도 </a:t>
                      </a:r>
                      <a:r>
                        <a:rPr lang="en-US" altLang="ko-KR" sz="1000" dirty="0"/>
                        <a:t>~ 80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에서 동작 토크 변경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</a:t>
                      </a:r>
                      <a:r>
                        <a:rPr lang="ko-KR" altLang="en-US" sz="1000" baseline="0" dirty="0"/>
                        <a:t>상온</a:t>
                      </a:r>
                      <a:r>
                        <a:rPr lang="en-US" altLang="ko-KR" sz="1000" baseline="0" dirty="0"/>
                        <a:t>, 0</a:t>
                      </a:r>
                      <a:r>
                        <a:rPr lang="ko-KR" altLang="en-US" sz="1000" baseline="0" dirty="0"/>
                        <a:t>도</a:t>
                      </a:r>
                      <a:r>
                        <a:rPr lang="en-US" altLang="ko-KR" sz="1000" baseline="0" dirty="0"/>
                        <a:t>, -45</a:t>
                      </a:r>
                      <a:r>
                        <a:rPr lang="ko-KR" altLang="en-US" sz="1000" baseline="0" dirty="0"/>
                        <a:t>도 </a:t>
                      </a:r>
                      <a:r>
                        <a:rPr lang="en-US" altLang="ko-KR" sz="1000" baseline="0" dirty="0"/>
                        <a:t>Min torque : 7.5,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85</a:t>
                      </a:r>
                      <a:r>
                        <a:rPr lang="ko-KR" altLang="en-US" sz="1000" baseline="0" dirty="0"/>
                        <a:t>도 </a:t>
                      </a:r>
                      <a:r>
                        <a:rPr lang="en-US" altLang="ko-KR" sz="1000" baseline="0" dirty="0"/>
                        <a:t>Min torque : 4.5,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- Step </a:t>
                      </a:r>
                      <a:r>
                        <a:rPr lang="ko-KR" altLang="en-US" sz="1000" baseline="0" dirty="0"/>
                        <a:t>모터 최소 동작 전류 </a:t>
                      </a:r>
                      <a:r>
                        <a:rPr lang="en-US" altLang="ko-KR" sz="1000" baseline="0" dirty="0"/>
                        <a:t>160mA </a:t>
                      </a:r>
                      <a:r>
                        <a:rPr lang="ko-KR" altLang="en-US" sz="1000" baseline="0" dirty="0"/>
                        <a:t>기준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튜닝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aseline="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-40</a:t>
                      </a:r>
                      <a:r>
                        <a:rPr lang="ko-KR" altLang="en-US" sz="1000" baseline="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도 구간 </a:t>
                      </a:r>
                      <a:r>
                        <a:rPr lang="en-US" altLang="ko-KR" sz="1000" baseline="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14.5 </a:t>
                      </a:r>
                      <a:r>
                        <a:rPr lang="ko-KR" altLang="en-US" sz="1000" baseline="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토크 특정 시료에서 발생으로 </a:t>
                      </a:r>
                      <a:r>
                        <a:rPr lang="ko-KR" altLang="en-US" sz="1000" baseline="0" dirty="0" err="1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한온과</a:t>
                      </a:r>
                      <a:r>
                        <a:rPr lang="ko-KR" altLang="en-US" sz="1000" baseline="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 크로스 평</a:t>
                      </a:r>
                      <a:endParaRPr lang="en-US" altLang="ko-KR" sz="1000" baseline="0" dirty="0">
                        <a:solidFill>
                          <a:srgbClr val="0000FF"/>
                        </a:solidFill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ko-KR" altLang="en-US" sz="1000" baseline="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가 진행</a:t>
                      </a:r>
                      <a:endParaRPr lang="en-US" altLang="ko-KR" sz="1000" baseline="0" dirty="0">
                        <a:solidFill>
                          <a:srgbClr val="0000FF"/>
                        </a:solidFill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 (~1/30)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/>
                        <a:t>정확도 튜닝 진행 </a:t>
                      </a:r>
                      <a:r>
                        <a:rPr lang="en-US" altLang="ko-KR" sz="1000" dirty="0"/>
                        <a:t>(~1/29)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 - 50%</a:t>
                      </a:r>
                      <a:r>
                        <a:rPr lang="ko-KR" altLang="en-US" sz="1000" dirty="0"/>
                        <a:t>구간 약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도 틀어짐에 따른 튜닝 진행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오차률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Spec</a:t>
                      </a:r>
                      <a:r>
                        <a:rPr lang="en-US" altLang="ko-KR" sz="1000" baseline="0" dirty="0"/>
                        <a:t> : </a:t>
                      </a:r>
                      <a:r>
                        <a:rPr lang="en-US" altLang="ko-KR" sz="1000" dirty="0"/>
                        <a:t>±1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최은혁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이자효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9E336B1C-92CD-BD71-EBE6-5938944DD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00605"/>
              </p:ext>
            </p:extLst>
          </p:nvPr>
        </p:nvGraphicFramePr>
        <p:xfrm>
          <a:off x="5126038" y="2035175"/>
          <a:ext cx="381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워크시트" showAsIcon="1" r:id="rId4" imgW="380920" imgH="774743" progId="Excel.Sheet.12">
                  <p:embed/>
                </p:oleObj>
              </mc:Choice>
              <mc:Fallback>
                <p:oleObj name="워크시트" showAsIcon="1" r:id="rId4" imgW="380920" imgH="774743" progId="Excel.Sheet.12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92FD1576-9AA2-42C7-2F9B-B4D8827ED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26038" y="2035175"/>
                        <a:ext cx="381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개체 2">
            <a:hlinkClick r:id="" action="ppaction://ole?verb=0"/>
            <a:extLst>
              <a:ext uri="{FF2B5EF4-FFF2-40B4-BE49-F238E27FC236}">
                <a16:creationId xmlns:a16="http://schemas.microsoft.com/office/drawing/2014/main" id="{9A0FF7D8-003B-78C0-4F9C-810E4BBA31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686631"/>
              </p:ext>
            </p:extLst>
          </p:nvPr>
        </p:nvGraphicFramePr>
        <p:xfrm>
          <a:off x="2520950" y="3043238"/>
          <a:ext cx="76835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프레젠테이션" showAsIcon="1" r:id="rId6" imgW="914400" imgH="774720" progId="PowerPoint.Show.12">
                  <p:embed/>
                </p:oleObj>
              </mc:Choice>
              <mc:Fallback>
                <p:oleObj name="프레젠테이션" showAsIcon="1" r:id="rId6" imgW="914400" imgH="774720" progId="PowerPoint.Show.12">
                  <p:embed/>
                  <p:pic>
                    <p:nvPicPr>
                      <p:cNvPr id="4" name="개체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77B5920C-B371-3DA9-0AB7-1BC855665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20950" y="3043238"/>
                        <a:ext cx="768350" cy="652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5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872853"/>
              </p:ext>
            </p:extLst>
          </p:nvPr>
        </p:nvGraphicFramePr>
        <p:xfrm>
          <a:off x="251520" y="980728"/>
          <a:ext cx="8676581" cy="3614300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4WayValve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1. 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</a:rPr>
                        <a:t>Over</a:t>
                      </a:r>
                      <a:r>
                        <a:rPr lang="en-US" altLang="ko-KR" sz="1000" baseline="0" dirty="0">
                          <a:solidFill>
                            <a:srgbClr val="0000FF"/>
                          </a:solidFill>
                        </a:rPr>
                        <a:t> Current </a:t>
                      </a:r>
                      <a:r>
                        <a:rPr lang="ko-KR" altLang="en-US" sz="1000" baseline="0" dirty="0">
                          <a:solidFill>
                            <a:srgbClr val="0000FF"/>
                          </a:solidFill>
                        </a:rPr>
                        <a:t>발생 이슈 분석</a:t>
                      </a:r>
                      <a:endParaRPr lang="en-US" altLang="ko-KR" sz="1000" baseline="0" dirty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olidFill>
                            <a:srgbClr val="0000FF"/>
                          </a:solidFill>
                        </a:rPr>
                        <a:t>   - OC Fault </a:t>
                      </a:r>
                      <a:r>
                        <a:rPr lang="ko-KR" altLang="en-US" sz="1000" baseline="0" dirty="0">
                          <a:solidFill>
                            <a:srgbClr val="0000FF"/>
                          </a:solidFill>
                        </a:rPr>
                        <a:t>스펙 </a:t>
                      </a:r>
                      <a:r>
                        <a:rPr lang="en-US" altLang="ko-KR" sz="1000" baseline="0" dirty="0">
                          <a:solidFill>
                            <a:srgbClr val="0000FF"/>
                          </a:solidFill>
                        </a:rPr>
                        <a:t>: 2A, 500ms</a:t>
                      </a:r>
                      <a:endParaRPr lang="en-US" altLang="ko-KR" sz="1000" dirty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2. </a:t>
                      </a:r>
                      <a:r>
                        <a:rPr lang="ko-KR" altLang="en-US" sz="1000" baseline="0" dirty="0"/>
                        <a:t>고장 진단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모듈화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Protection </a:t>
                      </a:r>
                      <a:r>
                        <a:rPr lang="ko-KR" altLang="en-US" sz="1000" baseline="0" dirty="0"/>
                        <a:t>진행 완료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Fault </a:t>
                      </a:r>
                      <a:r>
                        <a:rPr lang="ko-KR" altLang="en-US" sz="1000" baseline="0" dirty="0"/>
                        <a:t>진행 중 </a:t>
                      </a:r>
                      <a:r>
                        <a:rPr lang="en-US" altLang="ko-KR" sz="1000" baseline="0" dirty="0"/>
                        <a:t>(20%, 2/5)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모듈화 진행 후</a:t>
                      </a:r>
                      <a:r>
                        <a:rPr lang="en-US" altLang="ko-KR" sz="1000" baseline="0" dirty="0"/>
                        <a:t>, ES253EE </a:t>
                      </a:r>
                      <a:r>
                        <a:rPr lang="ko-KR" altLang="en-US" sz="1000" baseline="0" dirty="0"/>
                        <a:t>전면 재 수정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3.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교체 요청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 err="1"/>
                        <a:t>구리스</a:t>
                      </a:r>
                      <a:r>
                        <a:rPr lang="ko-KR" altLang="en-US" sz="1000" baseline="0" dirty="0"/>
                        <a:t> 교체 시료 입수 후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 err="1"/>
                        <a:t>전류치</a:t>
                      </a:r>
                      <a:r>
                        <a:rPr lang="ko-KR" altLang="en-US" sz="1000" baseline="0" dirty="0"/>
                        <a:t> 재 확인 필요 </a:t>
                      </a:r>
                      <a:r>
                        <a:rPr lang="en-US" altLang="ko-KR" sz="1000" baseline="0" dirty="0"/>
                        <a:t>(</a:t>
                      </a:r>
                      <a:r>
                        <a:rPr lang="ko-KR" altLang="en-US" sz="1000" baseline="0" dirty="0"/>
                        <a:t>긴급</a:t>
                      </a:r>
                      <a:r>
                        <a:rPr lang="en-US" altLang="ko-KR" sz="1000" baseline="0" dirty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시료 입수 일정 </a:t>
                      </a:r>
                      <a:r>
                        <a:rPr lang="en-US" altLang="ko-KR" sz="1000" baseline="0" dirty="0"/>
                        <a:t>: 2/3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교체 일정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 : </a:t>
                      </a:r>
                      <a:r>
                        <a:rPr lang="ko-KR" altLang="en-US" sz="1000" baseline="0" dirty="0"/>
                        <a:t>명화 납품 일 </a:t>
                      </a:r>
                      <a:r>
                        <a:rPr lang="en-US" altLang="ko-KR" sz="1000" baseline="0" dirty="0"/>
                        <a:t>: 2/13</a:t>
                      </a:r>
                      <a:r>
                        <a:rPr lang="ko-KR" altLang="en-US" sz="1000" baseline="0" dirty="0"/>
                        <a:t>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4. PPM </a:t>
                      </a:r>
                      <a:r>
                        <a:rPr lang="ko-KR" altLang="en-US" sz="1000" baseline="0" dirty="0"/>
                        <a:t>프로토콜을 활용한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업데이트 툴 개발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재 검토 결과 </a:t>
                      </a:r>
                      <a:r>
                        <a:rPr lang="en-US" altLang="ko-KR" sz="1000" baseline="0" dirty="0"/>
                        <a:t>PTC Heater </a:t>
                      </a:r>
                      <a:r>
                        <a:rPr lang="ko-KR" altLang="en-US" sz="1000" baseline="0" dirty="0"/>
                        <a:t>에서 사용중인 지그 활용 가능</a:t>
                      </a:r>
                      <a:endParaRPr lang="en-US" altLang="ko-KR" sz="1000" baseline="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김강일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301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524092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25.07.05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25.03.15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Pre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9062195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260025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ISIR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작성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ES90700-00 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ES95411-00 (90%)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ES95480-00 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ES95489-21 (90%)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ES95489-24 (90%)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294714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57000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월초 예정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&lt;-&gt; ATCU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신호 정합성 합동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스위치를 연결하여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하여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(H/W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제작 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IGBT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 Current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위험성에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4857021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45158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성능 미달로 인한 성능 증대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완료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작동 전압 범위 변경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MVa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MX5)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268V ~ 640V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Linear MAX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전력 변경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 Zone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4100W  4,300W, Total 8,200W  8,600W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최종 개선 시료 성능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증대에 따른 변경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HVAC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성능 증대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입수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(1/20)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시험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1/30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재진행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한온으로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2EA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795" y="665550"/>
            <a:ext cx="2787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T2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450943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6914051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7" name="그룹 20"/>
          <p:cNvGrpSpPr>
            <a:grpSpLocks noChangeAspect="1"/>
          </p:cNvGrpSpPr>
          <p:nvPr/>
        </p:nvGrpSpPr>
        <p:grpSpPr bwMode="auto">
          <a:xfrm>
            <a:off x="7623287" y="555242"/>
            <a:ext cx="1030567" cy="503686"/>
            <a:chOff x="0" y="137478"/>
            <a:chExt cx="604837" cy="480818"/>
          </a:xfrm>
        </p:grpSpPr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</a:t>
              </a:r>
            </a:p>
          </p:txBody>
        </p:sp>
      </p:grpSp>
      <p:sp>
        <p:nvSpPr>
          <p:cNvPr id="31" name="위쪽 화살표 30"/>
          <p:cNvSpPr>
            <a:spLocks noChangeArrowheads="1"/>
          </p:cNvSpPr>
          <p:nvPr/>
        </p:nvSpPr>
        <p:spPr bwMode="auto">
          <a:xfrm rot="10800000">
            <a:off x="8077937" y="725422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509120"/>
            <a:ext cx="8123750" cy="94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081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6113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50498338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6001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따른 고객사 협의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동작 중 냉각수 온도에 따른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Core 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안전상 동작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되어야함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의견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의견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Local CAN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하이브리드 차량 정보를 추가하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상황에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전송 여부 검토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설계 담당자 미 회신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매일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차례 전화 하였으나 통화불가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는 안전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 동작 되도록 적용 후 납품 한다는 메일 송부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All Tool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공정감사에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1/28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혜인시스템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시험 의뢰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(~01/30)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기관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현대차 사이버 보안 품질 연구팀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시료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PCB 1EA, Signal Connector 1EA, E2 Pin Connector 1EA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제출일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1/30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27.05.01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3954439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318064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26.02.01</a:t>
              </a: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70199735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50332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1. Lin </a:t>
                      </a:r>
                      <a:r>
                        <a:rPr lang="en-US" altLang="ko-KR" sz="1050" dirty="0" err="1"/>
                        <a:t>CheckList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작성 완료 </a:t>
                      </a:r>
                      <a:r>
                        <a:rPr lang="en-US" altLang="ko-KR" sz="1050" dirty="0"/>
                        <a:t>(100%)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2. </a:t>
                      </a:r>
                      <a:r>
                        <a:rPr lang="ko-KR" altLang="en-US" sz="1050" dirty="0"/>
                        <a:t>원가 절감에 따른 </a:t>
                      </a:r>
                      <a:r>
                        <a:rPr lang="en-US" altLang="ko-KR" sz="1050" dirty="0"/>
                        <a:t>MCU </a:t>
                      </a:r>
                      <a:r>
                        <a:rPr lang="ko-KR" altLang="en-US" sz="1050" dirty="0"/>
                        <a:t>변경 검토 건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- 1</a:t>
                      </a:r>
                      <a:r>
                        <a:rPr lang="ko-KR" altLang="en-US" sz="1050" dirty="0"/>
                        <a:t>순위 </a:t>
                      </a:r>
                      <a:r>
                        <a:rPr lang="en-US" altLang="ko-KR" sz="1050" dirty="0"/>
                        <a:t>: Ind (iND87501T)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- 1</a:t>
                      </a:r>
                      <a:r>
                        <a:rPr lang="ko-KR" altLang="en-US" sz="1050" dirty="0"/>
                        <a:t>순위 </a:t>
                      </a:r>
                      <a:r>
                        <a:rPr lang="en-US" altLang="ko-KR" sz="1050" dirty="0"/>
                        <a:t>: ST (STM8AF5288TCY)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- 3</a:t>
                      </a:r>
                      <a:r>
                        <a:rPr lang="ko-KR" altLang="en-US" sz="1050" dirty="0"/>
                        <a:t>순위 </a:t>
                      </a:r>
                      <a:r>
                        <a:rPr lang="en-US" altLang="ko-KR" sz="1050" dirty="0"/>
                        <a:t>: Renesas (RL78/F13_R5F10BGGCKFB)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 ST </a:t>
                      </a:r>
                      <a:r>
                        <a:rPr lang="ko-KR" altLang="en-US" sz="1050" dirty="0">
                          <a:sym typeface="Wingdings" panose="05000000000000000000" pitchFamily="2" charset="2"/>
                        </a:rPr>
                        <a:t>사용 불가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(Lin 2.x </a:t>
                      </a:r>
                      <a:r>
                        <a:rPr lang="ko-KR" altLang="en-US" sz="1050" dirty="0">
                          <a:sym typeface="Wingdings" panose="05000000000000000000" pitchFamily="2" charset="2"/>
                        </a:rPr>
                        <a:t>미지원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050" dirty="0">
                          <a:sym typeface="Wingdings" panose="05000000000000000000" pitchFamily="2" charset="2"/>
                        </a:rPr>
                        <a:t>제조사별 상세 비교 분석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(~2/2)</a:t>
                      </a:r>
                      <a:endParaRPr lang="en-US" altLang="ko-KR" sz="1050" dirty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6D4922-17B3-0003-3245-AAA72A063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493" y="1442153"/>
            <a:ext cx="3939851" cy="48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7191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59442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모듈화 설계에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SRS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검토 진행 중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(~2/6)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0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kumimoji="0" lang="ko-KR" alt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 전임</a:t>
            </a:r>
            <a:r>
              <a:rPr kumimoji="0" lang="en-US" altLang="ko-KR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66103298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707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(2/10)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HVAC 2EA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수령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(01/19)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2/11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26.5.15</a:t>
              </a: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26.10.15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27.1.2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26.3.31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5351969" y="970381"/>
            <a:ext cx="100891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26.5.15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6766636" y="970381"/>
            <a:ext cx="1045724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26.10.15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221953" y="963155"/>
            <a:ext cx="1030567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27.1.2</a:t>
            </a:r>
          </a:p>
        </p:txBody>
      </p:sp>
    </p:spTree>
    <p:extLst>
      <p:ext uri="{BB962C8B-B14F-4D97-AF65-F5344CB8AC3E}">
        <p14:creationId xmlns:p14="http://schemas.microsoft.com/office/powerpoint/2010/main" val="31226334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59837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 변경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HS 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CAN FD (</a:t>
                      </a:r>
                      <a:r>
                        <a:rPr lang="ko-KR" altLang="en-US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차량 바디 개발팀 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10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이용범</a:t>
                      </a:r>
                      <a:r>
                        <a:rPr lang="ko-KR" altLang="en-US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CAN DBC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(~12/19)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H/W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입수 예정일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완료 예정일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3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CAN FD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사양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Driver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검토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(~2/4)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24463722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942920"/>
              </p:ext>
            </p:extLst>
          </p:nvPr>
        </p:nvGraphicFramePr>
        <p:xfrm>
          <a:off x="11059" y="536956"/>
          <a:ext cx="9097445" cy="595626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토크 감소 측정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 - </a:t>
                      </a:r>
                      <a:r>
                        <a:rPr lang="ko-KR" altLang="en-US" sz="1000" dirty="0"/>
                        <a:t>전압별 </a:t>
                      </a:r>
                      <a:r>
                        <a:rPr lang="en-US" altLang="ko-KR" sz="1000" dirty="0"/>
                        <a:t>(9V</a:t>
                      </a:r>
                      <a:r>
                        <a:rPr lang="en-US" altLang="ko-KR" sz="1000" baseline="0" dirty="0"/>
                        <a:t> ~ 16V)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/ </a:t>
                      </a:r>
                      <a:r>
                        <a:rPr lang="ko-KR" altLang="en-US" sz="1000" dirty="0"/>
                        <a:t>온도별 </a:t>
                      </a:r>
                      <a:r>
                        <a:rPr lang="en-US" altLang="ko-KR" sz="1000" dirty="0"/>
                        <a:t>(-40</a:t>
                      </a:r>
                      <a:r>
                        <a:rPr lang="ko-KR" altLang="en-US" sz="1000" dirty="0"/>
                        <a:t>도 </a:t>
                      </a:r>
                      <a:r>
                        <a:rPr lang="en-US" altLang="ko-KR" sz="1000" dirty="0"/>
                        <a:t>~ 80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에서 동작 토크 변경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</a:t>
                      </a:r>
                      <a:r>
                        <a:rPr lang="ko-KR" altLang="en-US" sz="1000" baseline="0" dirty="0"/>
                        <a:t>상온</a:t>
                      </a:r>
                      <a:r>
                        <a:rPr lang="en-US" altLang="ko-KR" sz="1000" baseline="0" dirty="0"/>
                        <a:t>, 0</a:t>
                      </a:r>
                      <a:r>
                        <a:rPr lang="ko-KR" altLang="en-US" sz="1000" baseline="0" dirty="0"/>
                        <a:t>도</a:t>
                      </a:r>
                      <a:r>
                        <a:rPr lang="en-US" altLang="ko-KR" sz="1000" baseline="0" dirty="0"/>
                        <a:t>, -45</a:t>
                      </a:r>
                      <a:r>
                        <a:rPr lang="ko-KR" altLang="en-US" sz="1000" baseline="0" dirty="0"/>
                        <a:t>도 </a:t>
                      </a:r>
                      <a:r>
                        <a:rPr lang="en-US" altLang="ko-KR" sz="1000" baseline="0" dirty="0"/>
                        <a:t>Min torque : 7.5,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85</a:t>
                      </a:r>
                      <a:r>
                        <a:rPr lang="ko-KR" altLang="en-US" sz="1000" baseline="0" dirty="0"/>
                        <a:t>도 </a:t>
                      </a:r>
                      <a:r>
                        <a:rPr lang="en-US" altLang="ko-KR" sz="1000" baseline="0" dirty="0"/>
                        <a:t>Min torque : 4.5,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- Step </a:t>
                      </a:r>
                      <a:r>
                        <a:rPr lang="ko-KR" altLang="en-US" sz="1000" baseline="0" dirty="0"/>
                        <a:t>모터 최소 동작 전류 </a:t>
                      </a:r>
                      <a:r>
                        <a:rPr lang="en-US" altLang="ko-KR" sz="1000" baseline="0" dirty="0"/>
                        <a:t>160mA </a:t>
                      </a:r>
                      <a:r>
                        <a:rPr lang="ko-KR" altLang="en-US" sz="1000" baseline="0" dirty="0"/>
                        <a:t>기준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튜닝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-40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도 구간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14.5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토크 특정 시료에서 발생으로 </a:t>
                      </a:r>
                      <a:r>
                        <a:rPr lang="ko-KR" altLang="en-US" sz="1000" baseline="0" dirty="0" err="1">
                          <a:sym typeface="Wingdings" panose="05000000000000000000" pitchFamily="2" charset="2"/>
                        </a:rPr>
                        <a:t>한온과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 크로스 평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가 진행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 (~1/30)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/>
                        <a:t>정확도 튜닝 진행 </a:t>
                      </a:r>
                      <a:r>
                        <a:rPr lang="en-US" altLang="ko-KR" sz="1000" dirty="0"/>
                        <a:t>(~1/29)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 - 50%</a:t>
                      </a:r>
                      <a:r>
                        <a:rPr lang="ko-KR" altLang="en-US" sz="1000" dirty="0"/>
                        <a:t>구간 약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도 틀어짐에 따른 튜닝 진행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오차률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Spec</a:t>
                      </a:r>
                      <a:r>
                        <a:rPr lang="en-US" altLang="ko-KR" sz="1000" baseline="0" dirty="0"/>
                        <a:t> : </a:t>
                      </a:r>
                      <a:r>
                        <a:rPr lang="en-US" altLang="ko-KR" sz="1000" dirty="0"/>
                        <a:t>±1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ym typeface="Wingdings" panose="05000000000000000000" pitchFamily="2" charset="2"/>
                        </a:rPr>
                        <a:t>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 공정 감사 출장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일정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2/9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이정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2/6~2/10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2/6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출발 후 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일요일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준비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성능검사기 설비 환경을 본적이 없어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성능검사기 사전 점검 및 예상 질문 사항 파악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예정자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팀장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665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최은혁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책임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0009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464400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5364088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3.1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7941410" y="528347"/>
            <a:ext cx="1030567" cy="530581"/>
            <a:chOff x="0" y="111804"/>
            <a:chExt cx="604837" cy="506492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11804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07605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5827196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395913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452320" y="524823"/>
            <a:ext cx="1045724" cy="537093"/>
            <a:chOff x="0" y="118616"/>
            <a:chExt cx="604837" cy="512708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18616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15428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47" name="그룹 16"/>
          <p:cNvGrpSpPr>
            <a:grpSpLocks noChangeAspect="1"/>
          </p:cNvGrpSpPr>
          <p:nvPr/>
        </p:nvGrpSpPr>
        <p:grpSpPr bwMode="auto">
          <a:xfrm>
            <a:off x="6190572" y="541559"/>
            <a:ext cx="1045724" cy="519163"/>
            <a:chOff x="0" y="135732"/>
            <a:chExt cx="604837" cy="49559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4.30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Post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1" name="위쪽 화살표 50"/>
          <p:cNvSpPr>
            <a:spLocks noChangeArrowheads="1"/>
          </p:cNvSpPr>
          <p:nvPr/>
        </p:nvSpPr>
        <p:spPr bwMode="auto">
          <a:xfrm rot="10800000">
            <a:off x="6653680" y="716425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92FD1576-9AA2-42C7-2F9B-B4D8827ED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856862"/>
              </p:ext>
            </p:extLst>
          </p:nvPr>
        </p:nvGraphicFramePr>
        <p:xfrm>
          <a:off x="3695650" y="206084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Worksheet" showAsIcon="1" r:id="rId4" imgW="914400" imgH="771792" progId="Excel.Sheet.12">
                  <p:embed/>
                </p:oleObj>
              </mc:Choice>
              <mc:Fallback>
                <p:oleObj name="Worksheet" showAsIcon="1" r:id="rId4" imgW="914400" imgH="77179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95650" y="206084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hlinkClick r:id="" action="ppaction://ole?verb=0"/>
            <a:extLst>
              <a:ext uri="{FF2B5EF4-FFF2-40B4-BE49-F238E27FC236}">
                <a16:creationId xmlns:a16="http://schemas.microsoft.com/office/drawing/2014/main" id="{77B5920C-B371-3DA9-0AB7-1BC855665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839776"/>
              </p:ext>
            </p:extLst>
          </p:nvPr>
        </p:nvGraphicFramePr>
        <p:xfrm>
          <a:off x="1356942" y="3068960"/>
          <a:ext cx="768085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Presentation" showAsIcon="1" r:id="rId6" imgW="914400" imgH="771792" progId="PowerPoint.Show.12">
                  <p:embed/>
                </p:oleObj>
              </mc:Choice>
              <mc:Fallback>
                <p:oleObj name="Presentation" showAsIcon="1" r:id="rId6" imgW="914400" imgH="771792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56942" y="3068960"/>
                        <a:ext cx="768085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804248" y="533573"/>
            <a:ext cx="1045724" cy="519163"/>
            <a:chOff x="0" y="135732"/>
            <a:chExt cx="604837" cy="495592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55" name="위쪽 화살표 54"/>
          <p:cNvSpPr>
            <a:spLocks noChangeArrowheads="1"/>
          </p:cNvSpPr>
          <p:nvPr/>
        </p:nvSpPr>
        <p:spPr bwMode="auto">
          <a:xfrm rot="10800000">
            <a:off x="7267356" y="70843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89997193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801332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1. Over</a:t>
                      </a:r>
                      <a:r>
                        <a:rPr lang="en-US" altLang="ko-KR" sz="1000" baseline="0" dirty="0"/>
                        <a:t> Current </a:t>
                      </a:r>
                      <a:r>
                        <a:rPr lang="ko-KR" altLang="en-US" sz="1000" baseline="0" dirty="0"/>
                        <a:t>발생 이슈 분석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OC Fault </a:t>
                      </a:r>
                      <a:r>
                        <a:rPr lang="ko-KR" altLang="en-US" sz="1000" baseline="0" dirty="0"/>
                        <a:t>스펙 </a:t>
                      </a:r>
                      <a:r>
                        <a:rPr lang="en-US" altLang="ko-KR" sz="1000" baseline="0" dirty="0"/>
                        <a:t>: 2A, 500ms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2. </a:t>
                      </a:r>
                      <a:r>
                        <a:rPr lang="ko-KR" altLang="en-US" sz="1000" baseline="0" dirty="0"/>
                        <a:t>고장 진단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모듈화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Protection </a:t>
                      </a:r>
                      <a:r>
                        <a:rPr lang="ko-KR" altLang="en-US" sz="1000" baseline="0" dirty="0"/>
                        <a:t>진행 완료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Fault </a:t>
                      </a:r>
                      <a:r>
                        <a:rPr lang="ko-KR" altLang="en-US" sz="1000" baseline="0" dirty="0"/>
                        <a:t>진행 중 </a:t>
                      </a:r>
                      <a:r>
                        <a:rPr lang="en-US" altLang="ko-KR" sz="1000" baseline="0" dirty="0"/>
                        <a:t>(20%, 2/5)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모듈화 진행 후</a:t>
                      </a:r>
                      <a:r>
                        <a:rPr lang="en-US" altLang="ko-KR" sz="1000" baseline="0" dirty="0"/>
                        <a:t>, ES253EE </a:t>
                      </a:r>
                      <a:r>
                        <a:rPr lang="ko-KR" altLang="en-US" sz="1000" baseline="0" dirty="0"/>
                        <a:t>전면 재 수정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3.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교체 요청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 err="1"/>
                        <a:t>구리스</a:t>
                      </a:r>
                      <a:r>
                        <a:rPr lang="ko-KR" altLang="en-US" sz="1000" baseline="0" dirty="0"/>
                        <a:t> 교체 시료 입수 후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 err="1"/>
                        <a:t>전류치</a:t>
                      </a:r>
                      <a:r>
                        <a:rPr lang="ko-KR" altLang="en-US" sz="1000" baseline="0" dirty="0"/>
                        <a:t> 재 확인 필요 </a:t>
                      </a:r>
                      <a:r>
                        <a:rPr lang="en-US" altLang="ko-KR" sz="1000" baseline="0" dirty="0"/>
                        <a:t>(</a:t>
                      </a:r>
                      <a:r>
                        <a:rPr lang="ko-KR" altLang="en-US" sz="1000" baseline="0" dirty="0"/>
                        <a:t>긴급</a:t>
                      </a:r>
                      <a:r>
                        <a:rPr lang="en-US" altLang="ko-KR" sz="1000" baseline="0" dirty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시료 입수 일정 </a:t>
                      </a:r>
                      <a:r>
                        <a:rPr lang="en-US" altLang="ko-KR" sz="1000" baseline="0" dirty="0"/>
                        <a:t>: 2/3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교체 일정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 : </a:t>
                      </a:r>
                      <a:r>
                        <a:rPr lang="ko-KR" altLang="en-US" sz="1000" baseline="0" dirty="0"/>
                        <a:t>명화 납품 일 </a:t>
                      </a:r>
                      <a:r>
                        <a:rPr lang="en-US" altLang="ko-KR" sz="1000" baseline="0" dirty="0"/>
                        <a:t>: 2/13</a:t>
                      </a:r>
                      <a:r>
                        <a:rPr lang="ko-KR" altLang="en-US" sz="1000" baseline="0" dirty="0"/>
                        <a:t>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4. PPM </a:t>
                      </a:r>
                      <a:r>
                        <a:rPr lang="ko-KR" altLang="en-US" sz="1000" baseline="0" dirty="0"/>
                        <a:t>프로토콜을 활용한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업데이트 툴 개발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재 검토 결과 </a:t>
                      </a:r>
                      <a:r>
                        <a:rPr lang="en-US" altLang="ko-KR" sz="1000" baseline="0" dirty="0"/>
                        <a:t>PTC Heater </a:t>
                      </a:r>
                      <a:r>
                        <a:rPr lang="ko-KR" altLang="en-US" sz="1000" baseline="0" dirty="0"/>
                        <a:t>에서 사용중인 지그 활용 가능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30067124-8453-5C6A-93B2-0084155B4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775" y="890142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9pPr>
          </a:lstStyle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05588E-37E0-DA9C-9E52-6EF1AD7529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56238" y="568922"/>
            <a:ext cx="3187913" cy="537127"/>
            <a:chOff x="-1281992" y="105555"/>
            <a:chExt cx="1886829" cy="512741"/>
          </a:xfrm>
        </p:grpSpPr>
        <p:sp>
          <p:nvSpPr>
            <p:cNvPr id="24" name="위쪽 화살표 43">
              <a:extLst>
                <a:ext uri="{FF2B5EF4-FFF2-40B4-BE49-F238E27FC236}">
                  <a16:creationId xmlns:a16="http://schemas.microsoft.com/office/drawing/2014/main" id="{E0709667-4385-E76D-9399-32558DCAC5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C7EBFE63-D8F4-B105-5A57-623F85F0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6" name="Rectangle 46">
              <a:extLst>
                <a:ext uri="{FF2B5EF4-FFF2-40B4-BE49-F238E27FC236}">
                  <a16:creationId xmlns:a16="http://schemas.microsoft.com/office/drawing/2014/main" id="{56F80903-B688-9B8F-CD2A-3FA145339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SP#1/26.4.15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B6762560-C205-27BD-75DA-9C3AADCEA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81992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HKMC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0F4A86-8683-956B-19DD-FCF2D5434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7919" y="922850"/>
            <a:ext cx="1201051" cy="505237"/>
            <a:chOff x="-106029" y="135997"/>
            <a:chExt cx="710866" cy="482299"/>
          </a:xfrm>
        </p:grpSpPr>
        <p:sp>
          <p:nvSpPr>
            <p:cNvPr id="21" name="위쪽 화살표 16">
              <a:extLst>
                <a:ext uri="{FF2B5EF4-FFF2-40B4-BE49-F238E27FC236}">
                  <a16:creationId xmlns:a16="http://schemas.microsoft.com/office/drawing/2014/main" id="{BE46A58D-A4FB-0A8B-1DE9-DB373B00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FEB624E9-40A7-DF0A-4C48-AF6444BE6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3" name="Rectangle 46">
              <a:extLst>
                <a:ext uri="{FF2B5EF4-FFF2-40B4-BE49-F238E27FC236}">
                  <a16:creationId xmlns:a16="http://schemas.microsoft.com/office/drawing/2014/main" id="{A777D1AD-0636-E4C5-BA30-133A00D4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LP#1/26.4.10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00DEF4-8788-57FF-DA2B-594C005446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6450" y="922850"/>
            <a:ext cx="2030699" cy="505237"/>
            <a:chOff x="-597073" y="135997"/>
            <a:chExt cx="1201910" cy="482299"/>
          </a:xfrm>
        </p:grpSpPr>
        <p:sp>
          <p:nvSpPr>
            <p:cNvPr id="17" name="위쪽 화살표 20">
              <a:extLst>
                <a:ext uri="{FF2B5EF4-FFF2-40B4-BE49-F238E27FC236}">
                  <a16:creationId xmlns:a16="http://schemas.microsoft.com/office/drawing/2014/main" id="{BDEA3A61-615E-7F7B-2003-F6DCF40C0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8" name="Rectangle 46">
              <a:extLst>
                <a:ext uri="{FF2B5EF4-FFF2-40B4-BE49-F238E27FC236}">
                  <a16:creationId xmlns:a16="http://schemas.microsoft.com/office/drawing/2014/main" id="{17C6086D-B563-6D54-C0D0-E3D777FF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9" name="Rectangle 46">
              <a:extLst>
                <a:ext uri="{FF2B5EF4-FFF2-40B4-BE49-F238E27FC236}">
                  <a16:creationId xmlns:a16="http://schemas.microsoft.com/office/drawing/2014/main" id="{361C656E-746F-00CB-1497-7C289E59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SP#1/26.3.01</a:t>
              </a: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DB98EFF7-86FD-6B88-B74F-7C09154D5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err="1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FB415B-A012-7F7B-8FDD-5D1E5CE2E5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4142" y="922850"/>
            <a:ext cx="1201051" cy="505237"/>
            <a:chOff x="-106029" y="135997"/>
            <a:chExt cx="710866" cy="482299"/>
          </a:xfrm>
        </p:grpSpPr>
        <p:sp>
          <p:nvSpPr>
            <p:cNvPr id="14" name="위쪽 화살표 24">
              <a:extLst>
                <a:ext uri="{FF2B5EF4-FFF2-40B4-BE49-F238E27FC236}">
                  <a16:creationId xmlns:a16="http://schemas.microsoft.com/office/drawing/2014/main" id="{496F9014-A832-7626-E95A-4B7FF4B8D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5" name="Rectangle 46">
              <a:extLst>
                <a:ext uri="{FF2B5EF4-FFF2-40B4-BE49-F238E27FC236}">
                  <a16:creationId xmlns:a16="http://schemas.microsoft.com/office/drawing/2014/main" id="{2A839B0E-1738-90BC-7A56-3F578FEE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6" name="Rectangle 46">
              <a:extLst>
                <a:ext uri="{FF2B5EF4-FFF2-40B4-BE49-F238E27FC236}">
                  <a16:creationId xmlns:a16="http://schemas.microsoft.com/office/drawing/2014/main" id="{8154AC2C-6E7A-ED2F-3AC5-B3BE349FB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LP#2/26.6.20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0FD3B4-B1FA-26CD-0359-89AA4F8696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06955" y="568922"/>
            <a:ext cx="1021909" cy="537127"/>
            <a:chOff x="0" y="105555"/>
            <a:chExt cx="604837" cy="512741"/>
          </a:xfrm>
        </p:grpSpPr>
        <p:sp>
          <p:nvSpPr>
            <p:cNvPr id="9" name="위쪽 화살표 29">
              <a:extLst>
                <a:ext uri="{FF2B5EF4-FFF2-40B4-BE49-F238E27FC236}">
                  <a16:creationId xmlns:a16="http://schemas.microsoft.com/office/drawing/2014/main" id="{DD48BA24-C629-D4F8-CC84-F0BFDA6CEA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1" name="Rectangle 46">
              <a:extLst>
                <a:ext uri="{FF2B5EF4-FFF2-40B4-BE49-F238E27FC236}">
                  <a16:creationId xmlns:a16="http://schemas.microsoft.com/office/drawing/2014/main" id="{8C695C70-0F44-8284-77CD-DE748120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3" name="Rectangle 46">
              <a:extLst>
                <a:ext uri="{FF2B5EF4-FFF2-40B4-BE49-F238E27FC236}">
                  <a16:creationId xmlns:a16="http://schemas.microsoft.com/office/drawing/2014/main" id="{B7F64395-E7FC-5293-E3BD-68B19339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LP#1/26.7.15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69622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914303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/>
                        <a:t>1. </a:t>
                      </a:r>
                      <a:r>
                        <a:rPr lang="en-US" altLang="ko-KR" sz="1000" dirty="0" err="1"/>
                        <a:t>Novosense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개발 환경 </a:t>
                      </a:r>
                      <a:r>
                        <a:rPr lang="ko-KR" altLang="en-US" sz="1000" baseline="0" dirty="0" err="1"/>
                        <a:t>셋팅완료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en-US" altLang="ko-KR" sz="1000" baseline="0" dirty="0"/>
                        <a:t>(1/21)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지기 제공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분석 위한 계획 일정 수립 </a:t>
                      </a:r>
                      <a:r>
                        <a:rPr lang="en-US" altLang="ko-KR" sz="1000" baseline="0" dirty="0"/>
                        <a:t>: 1/23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CI30 Stepper Act’r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11855902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055737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/>
                        <a:t>1. </a:t>
                      </a:r>
                      <a:r>
                        <a:rPr lang="ko-KR" altLang="en-US" sz="1000"/>
                        <a:t>개발 계획서</a:t>
                      </a:r>
                      <a:r>
                        <a:rPr lang="en-US" altLang="ko-KR" sz="1000" baseline="0"/>
                        <a:t> </a:t>
                      </a:r>
                      <a:r>
                        <a:rPr lang="ko-KR" altLang="en-US" sz="1000" baseline="0"/>
                        <a:t>기반</a:t>
                      </a:r>
                      <a:r>
                        <a:rPr lang="ko-KR" altLang="en-US" sz="1000"/>
                        <a:t> 개발 일정 초안 작성 </a:t>
                      </a:r>
                      <a:r>
                        <a:rPr lang="en-US" altLang="ko-KR" sz="1000"/>
                        <a:t>(with </a:t>
                      </a:r>
                      <a:r>
                        <a:rPr lang="ko-KR" altLang="en-US" sz="1000"/>
                        <a:t>시스템팀 김용진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/>
                        <a:t>   -</a:t>
                      </a:r>
                      <a:r>
                        <a:rPr lang="en-US" altLang="ko-KR" sz="1000" baseline="0"/>
                        <a:t> </a:t>
                      </a:r>
                      <a:r>
                        <a:rPr lang="ko-KR" altLang="en-US" sz="1000" baseline="0"/>
                        <a:t>프로모션 일정 수립 시 일정 확정</a:t>
                      </a:r>
                      <a:endParaRPr lang="en-US" altLang="ko-KR" sz="100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/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BLDC Motor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90413797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53132"/>
              </p:ext>
            </p:extLst>
          </p:nvPr>
        </p:nvGraphicFramePr>
        <p:xfrm>
          <a:off x="3203848" y="790125"/>
          <a:ext cx="25922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0259"/>
              </p:ext>
            </p:extLst>
          </p:nvPr>
        </p:nvGraphicFramePr>
        <p:xfrm>
          <a:off x="1122973" y="372245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1145"/>
              </p:ext>
            </p:extLst>
          </p:nvPr>
        </p:nvGraphicFramePr>
        <p:xfrm>
          <a:off x="5863244" y="3721993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18298"/>
              </p:ext>
            </p:extLst>
          </p:nvPr>
        </p:nvGraphicFramePr>
        <p:xfrm>
          <a:off x="5863244" y="4839008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83099"/>
              </p:ext>
            </p:extLst>
          </p:nvPr>
        </p:nvGraphicFramePr>
        <p:xfrm>
          <a:off x="3558879" y="372245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87824" y="6381908"/>
            <a:ext cx="332975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* 26</a:t>
            </a:r>
            <a:r>
              <a:rPr lang="ko-KR" altLang="en-US" sz="800" b="1" dirty="0"/>
              <a:t>년 현대 </a:t>
            </a:r>
            <a:r>
              <a:rPr lang="en-US" altLang="ko-KR" sz="800" b="1" dirty="0"/>
              <a:t>2</a:t>
            </a:r>
            <a:r>
              <a:rPr lang="ko-KR" altLang="en-US" sz="800" b="1" dirty="0" err="1"/>
              <a:t>챔버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수가열</a:t>
            </a:r>
            <a:r>
              <a:rPr lang="ko-KR" altLang="en-US" sz="800" b="1" dirty="0"/>
              <a:t> 히터</a:t>
            </a:r>
            <a:r>
              <a:rPr lang="en-US" altLang="ko-KR" sz="800" b="1" dirty="0"/>
              <a:t>/ Ford Air PTC </a:t>
            </a:r>
            <a:r>
              <a:rPr lang="ko-KR" altLang="en-US" sz="800" b="1" dirty="0"/>
              <a:t>수주 시 충원 </a:t>
            </a:r>
            <a:r>
              <a:rPr lang="en-US" altLang="ko-KR" sz="800" b="1" dirty="0"/>
              <a:t>2</a:t>
            </a:r>
            <a:r>
              <a:rPr lang="ko-KR" altLang="en-US" sz="800" b="1" dirty="0"/>
              <a:t>명 계획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30583" y="4980630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863244" y="6058276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54859" y="4899174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52669"/>
              </p:ext>
            </p:extLst>
          </p:nvPr>
        </p:nvGraphicFramePr>
        <p:xfrm>
          <a:off x="5868144" y="2521662"/>
          <a:ext cx="1907290" cy="108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02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이자효 책임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306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CI30 Stepper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Act’r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2. BLDC Motor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3. Act’r/Valve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94486"/>
              </p:ext>
            </p:extLst>
          </p:nvPr>
        </p:nvGraphicFramePr>
        <p:xfrm>
          <a:off x="3558879" y="251691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VIGNESH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1. Motor Control Zig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2. S/W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동적 검증 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506531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25641</TotalTime>
  <Words>2443</Words>
  <Application>Microsoft Office PowerPoint</Application>
  <PresentationFormat>화면 슬라이드 쇼(4:3)</PresentationFormat>
  <Paragraphs>608</Paragraphs>
  <Slides>20</Slides>
  <Notes>19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4</vt:i4>
      </vt:variant>
      <vt:variant>
        <vt:lpstr>슬라이드 제목</vt:lpstr>
      </vt:variant>
      <vt:variant>
        <vt:i4>20</vt:i4>
      </vt:variant>
    </vt:vector>
  </HeadingPairs>
  <TitlesOfParts>
    <vt:vector size="32" baseType="lpstr">
      <vt:lpstr>굴림</vt:lpstr>
      <vt:lpstr>맑은 고딕</vt:lpstr>
      <vt:lpstr>현대하모니 M</vt:lpstr>
      <vt:lpstr>Arial</vt:lpstr>
      <vt:lpstr>Lucida Sans Unicode</vt:lpstr>
      <vt:lpstr>Verdana</vt:lpstr>
      <vt:lpstr>Wingdings</vt:lpstr>
      <vt:lpstr>제안서 템플릿</vt:lpstr>
      <vt:lpstr>워크시트</vt:lpstr>
      <vt:lpstr>Microsoft PowerPoint 프레젠테이션</vt:lpstr>
      <vt:lpstr>Worksheet</vt:lpstr>
      <vt:lpstr>Presentation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6298</cp:revision>
  <dcterms:created xsi:type="dcterms:W3CDTF">2019-10-24T04:42:23Z</dcterms:created>
  <dcterms:modified xsi:type="dcterms:W3CDTF">2026-01-29T09:58:18Z</dcterms:modified>
  <cp:version/>
</cp:coreProperties>
</file>