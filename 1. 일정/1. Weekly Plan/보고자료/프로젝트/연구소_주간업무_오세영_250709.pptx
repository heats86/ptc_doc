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>
  <p:sldMasterIdLst>
    <p:sldMasterId id="2147483709" r:id="rId1"/>
  </p:sldMasterIdLst>
  <p:notesMasterIdLst>
    <p:notesMasterId r:id="rId12"/>
  </p:notesMasterIdLst>
  <p:handoutMasterIdLst>
    <p:handoutMasterId r:id="rId13"/>
  </p:handoutMasterIdLst>
  <p:sldIdLst>
    <p:sldId id="1005" r:id="rId2"/>
    <p:sldId id="958" r:id="rId3"/>
    <p:sldId id="997" r:id="rId4"/>
    <p:sldId id="998" r:id="rId5"/>
    <p:sldId id="994" r:id="rId6"/>
    <p:sldId id="1004" r:id="rId7"/>
    <p:sldId id="1000" r:id="rId8"/>
    <p:sldId id="1001" r:id="rId9"/>
    <p:sldId id="1002" r:id="rId10"/>
    <p:sldId id="1003" r:id="rId11"/>
  </p:sldIdLst>
  <p:sldSz cx="9144000" cy="6858000" type="screen4x3"/>
  <p:notesSz cx="6802438" cy="993457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02" autoAdjust="0"/>
    <p:restoredTop sz="96400" autoAdjust="0"/>
  </p:normalViewPr>
  <p:slideViewPr>
    <p:cSldViewPr snapToObjects="1">
      <p:cViewPr varScale="1">
        <p:scale>
          <a:sx n="157" d="100"/>
          <a:sy n="157" d="100"/>
        </p:scale>
        <p:origin x="4668" y="150"/>
      </p:cViewPr>
      <p:guideLst>
        <p:guide orient="horz" pos="2159"/>
        <p:guide pos="2879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40" d="100"/>
        <a:sy n="140" d="100"/>
      </p:scale>
      <p:origin x="0" y="-5916"/>
    </p:cViewPr>
  </p:sorterViewPr>
  <p:notesViewPr>
    <p:cSldViewPr snapToObjects="1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4F0EACC-29E1-4123-AB74-F69792B7420C}" type="datetime1">
              <a:rPr lang="ko-KR" altLang="en-US"/>
              <a:pPr>
                <a:defRPr/>
              </a:pPr>
              <a:t>2025-07-08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C5AD38E4-52FB-405C-8E19-6A254CCE20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B67648E-ACAE-4A84-9CB2-88D8D686B020}" type="datetime1">
              <a:rPr lang="ko-KR" altLang="en-US"/>
              <a:pPr>
                <a:defRPr/>
              </a:pPr>
              <a:t>2025-07-08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66813" y="1241425"/>
            <a:ext cx="4468812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81550"/>
            <a:ext cx="5441950" cy="39116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29ED2F5D-67AF-441D-A814-CF7ACE32B2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27975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7067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38732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89101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3768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61575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09390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30979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3152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475004-9454-4C07-A18A-CD2DC04A4F75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38767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>
            <a:extLst>
              <a:ext uri="{FF2B5EF4-FFF2-40B4-BE49-F238E27FC236}">
                <a16:creationId xmlns:a16="http://schemas.microsoft.com/office/drawing/2014/main" id="{FAD228E9-8FB4-4FE0-8960-343D0C70C809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-26988"/>
            <a:ext cx="9144000" cy="230346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" name="Freeform 38">
            <a:extLst>
              <a:ext uri="{FF2B5EF4-FFF2-40B4-BE49-F238E27FC236}">
                <a16:creationId xmlns:a16="http://schemas.microsoft.com/office/drawing/2014/main" id="{FE218359-3438-4B51-8D6A-457052163E4C}"/>
              </a:ext>
            </a:extLst>
          </p:cNvPr>
          <p:cNvSpPr>
            <a:spLocks/>
          </p:cNvSpPr>
          <p:nvPr userDrawn="1"/>
        </p:nvSpPr>
        <p:spPr bwMode="gray">
          <a:xfrm>
            <a:off x="0" y="3284538"/>
            <a:ext cx="1911350" cy="4619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04" y="0"/>
              </a:cxn>
              <a:cxn ang="0">
                <a:pos x="1041" y="291"/>
              </a:cxn>
              <a:cxn ang="0">
                <a:pos x="0" y="286"/>
              </a:cxn>
              <a:cxn ang="0">
                <a:pos x="0" y="0"/>
              </a:cxn>
            </a:cxnLst>
            <a:rect l="0" t="0" r="r" b="b"/>
            <a:pathLst>
              <a:path w="1204" h="291">
                <a:moveTo>
                  <a:pt x="0" y="0"/>
                </a:moveTo>
                <a:lnTo>
                  <a:pt x="1204" y="0"/>
                </a:lnTo>
                <a:lnTo>
                  <a:pt x="1041" y="291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" name="Freeform 44">
            <a:extLst>
              <a:ext uri="{FF2B5EF4-FFF2-40B4-BE49-F238E27FC236}">
                <a16:creationId xmlns:a16="http://schemas.microsoft.com/office/drawing/2014/main" id="{17CFAC85-6B30-4974-950D-358A0033D0C3}"/>
              </a:ext>
            </a:extLst>
          </p:cNvPr>
          <p:cNvSpPr>
            <a:spLocks/>
          </p:cNvSpPr>
          <p:nvPr userDrawn="1"/>
        </p:nvSpPr>
        <p:spPr bwMode="gray">
          <a:xfrm>
            <a:off x="1908175" y="2276475"/>
            <a:ext cx="7240588" cy="1008063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solidFill>
            <a:srgbClr val="CC0000">
              <a:alpha val="74902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5" name="Picture 46">
            <a:extLst>
              <a:ext uri="{FF2B5EF4-FFF2-40B4-BE49-F238E27FC236}">
                <a16:creationId xmlns:a16="http://schemas.microsoft.com/office/drawing/2014/main" id="{B53297AF-6519-407B-867F-AC4F2608A2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75" b="-2045"/>
          <a:stretch>
            <a:fillRect/>
          </a:stretch>
        </p:blipFill>
        <p:spPr bwMode="auto">
          <a:xfrm>
            <a:off x="252413" y="2655888"/>
            <a:ext cx="1498600" cy="52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">
            <a:extLst>
              <a:ext uri="{FF2B5EF4-FFF2-40B4-BE49-F238E27FC236}">
                <a16:creationId xmlns:a16="http://schemas.microsoft.com/office/drawing/2014/main" id="{9EED3C8E-3CDE-4D79-A4EB-DE256320E9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2349500"/>
            <a:ext cx="1728787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1543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2575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260494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285890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26578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081637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BE6FF5E-07DA-4B89-B715-6E19F831BEA3}"/>
              </a:ext>
            </a:extLst>
          </p:cNvPr>
          <p:cNvSpPr/>
          <p:nvPr userDrawn="1"/>
        </p:nvSpPr>
        <p:spPr>
          <a:xfrm>
            <a:off x="323850" y="6604000"/>
            <a:ext cx="6769100" cy="230188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en-US" sz="900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+mn-ea"/>
                <a:cs typeface="Arial" charset="0"/>
              </a:rPr>
              <a:t>The information contained in this document may be privileged and confidential and thus protected from disclosure</a:t>
            </a:r>
            <a:endParaRPr kumimoji="0" lang="ko-KR" altLang="en-US" sz="900" dirty="0">
              <a:solidFill>
                <a:schemeClr val="bg1">
                  <a:lumMod val="6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24118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229523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541450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83178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39921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그림 1">
            <a:extLst>
              <a:ext uri="{FF2B5EF4-FFF2-40B4-BE49-F238E27FC236}">
                <a16:creationId xmlns:a16="http://schemas.microsoft.com/office/drawing/2014/main" id="{BB67A7F6-BFFB-4832-B11C-31A3C3558AE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75" t="20592" r="33426" b="72507"/>
          <a:stretch>
            <a:fillRect/>
          </a:stretch>
        </p:blipFill>
        <p:spPr bwMode="auto">
          <a:xfrm>
            <a:off x="7766050" y="6584950"/>
            <a:ext cx="13684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6">
            <a:extLst>
              <a:ext uri="{FF2B5EF4-FFF2-40B4-BE49-F238E27FC236}">
                <a16:creationId xmlns:a16="http://schemas.microsoft.com/office/drawing/2014/main" id="{04234A19-3EAB-4D32-A573-4A01376C44D8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481013"/>
            <a:ext cx="542925" cy="60325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solidFill>
                <a:prstClr val="black"/>
              </a:solidFill>
              <a:latin typeface="Lucida Sans Unicode"/>
              <a:ea typeface="+mn-ea"/>
            </a:endParaRPr>
          </a:p>
        </p:txBody>
      </p:sp>
      <p:sp>
        <p:nvSpPr>
          <p:cNvPr id="8" name="Rectangle 36">
            <a:extLst>
              <a:ext uri="{FF2B5EF4-FFF2-40B4-BE49-F238E27FC236}">
                <a16:creationId xmlns:a16="http://schemas.microsoft.com/office/drawing/2014/main" id="{071F7991-6104-4317-9C80-4574C36DA0D5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628650" y="481013"/>
            <a:ext cx="8515350" cy="6032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latinLnBrk="0" hangingPunct="1">
              <a:defRPr/>
            </a:pPr>
            <a:endParaRPr kumimoji="0" lang="ko-KR" altLang="en-US" sz="1100" dirty="0">
              <a:solidFill>
                <a:srgbClr val="FFFFFF"/>
              </a:solidFill>
              <a:latin typeface="Verdana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CF50959-B8E2-4238-A88F-6395F53E7E37}"/>
              </a:ext>
            </a:extLst>
          </p:cNvPr>
          <p:cNvSpPr/>
          <p:nvPr userDrawn="1"/>
        </p:nvSpPr>
        <p:spPr>
          <a:xfrm>
            <a:off x="9525" y="6516688"/>
            <a:ext cx="6769100" cy="374650"/>
          </a:xfrm>
          <a:prstGeom prst="rect">
            <a:avLst/>
          </a:prstGeom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00"/>
              </a:lnSpc>
            </a:pPr>
            <a:r>
              <a:rPr kumimoji="0" lang="ko-KR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본 문서는 우리산업㈜의 자산으로 회사의 승인없이 외부 유포 및 공개가 금지 됩니다</a:t>
            </a:r>
            <a:r>
              <a:rPr kumimoji="0" lang="en-US" altLang="ko-KR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endParaRPr kumimoji="0" lang="en-US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eaLnBrk="1" hangingPunct="1">
              <a:lnSpc>
                <a:spcPts val="1100"/>
              </a:lnSpc>
            </a:pPr>
            <a:r>
              <a:rPr kumimoji="0" lang="en-US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The information contained in this document may be privileged and confidential and thus protected from disclosure.</a:t>
            </a:r>
            <a:endParaRPr kumimoji="0" lang="ko-KR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8" r:id="rId7"/>
    <p:sldLayoutId id="2147483693" r:id="rId8"/>
    <p:sldLayoutId id="2147483694" r:id="rId9"/>
    <p:sldLayoutId id="2147483695" r:id="rId10"/>
    <p:sldLayoutId id="2147483696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j-lt"/>
          <a:ea typeface="맑은 고딕" pitchFamily="50" charset="-127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j-lt"/>
          <a:ea typeface="맑은 고딕" pitchFamily="50" charset="-127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ea typeface="맑은 고딕" pitchFamily="50" charset="-127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  <a:ea typeface="맑은 고딕" pitchFamily="50" charset="-127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4105509"/>
              </p:ext>
            </p:extLst>
          </p:nvPr>
        </p:nvGraphicFramePr>
        <p:xfrm>
          <a:off x="215899" y="692696"/>
          <a:ext cx="8748588" cy="1605354"/>
        </p:xfrm>
        <a:graphic>
          <a:graphicData uri="http://schemas.openxmlformats.org/drawingml/2006/table">
            <a:tbl>
              <a:tblPr/>
              <a:tblGrid>
                <a:gridCol w="494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071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2707220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1320595">
                  <a:extLst>
                    <a:ext uri="{9D8B030D-6E8A-4147-A177-3AD203B41FA5}">
                      <a16:colId xmlns:a16="http://schemas.microsoft.com/office/drawing/2014/main" val="2350242535"/>
                    </a:ext>
                  </a:extLst>
                </a:gridCol>
                <a:gridCol w="924415">
                  <a:extLst>
                    <a:ext uri="{9D8B030D-6E8A-4147-A177-3AD203B41FA5}">
                      <a16:colId xmlns:a16="http://schemas.microsoft.com/office/drawing/2014/main" val="631944199"/>
                    </a:ext>
                  </a:extLst>
                </a:gridCol>
                <a:gridCol w="9244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2658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2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순서</a:t>
                      </a:r>
                      <a:endParaRPr lang="ko-KR" altLang="en-US" sz="12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  <a:endParaRPr lang="ko-KR" altLang="en-US" sz="14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  <a:endParaRPr lang="ko-KR" altLang="en-US" sz="14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진행</a:t>
                      </a:r>
                      <a:r>
                        <a:rPr lang="en-US" altLang="ko-KR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/</a:t>
                      </a: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종료</a:t>
                      </a:r>
                      <a:endParaRPr lang="ko-KR" altLang="en-US" sz="14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유형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4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1542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4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4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4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QV </a:t>
                      </a:r>
                      <a:r>
                        <a:rPr lang="ko-KR" altLang="en-US" sz="14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좌우 온도 편차</a:t>
                      </a:r>
                      <a:r>
                        <a:rPr lang="ko-KR" altLang="en-US" sz="1400" b="0" kern="1200" baseline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 </a:t>
                      </a:r>
                      <a:endParaRPr lang="en-US" altLang="ko-KR" sz="1400" b="0" kern="1200" baseline="0" smtClean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400" b="0" kern="1200" baseline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SPEC </a:t>
                      </a:r>
                      <a:r>
                        <a:rPr lang="ko-KR" altLang="en-US" sz="1400" b="0" kern="1200" baseline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미달</a:t>
                      </a:r>
                      <a:endParaRPr lang="ko-KR" altLang="en-US" sz="14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5783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두가지 안건 평가 후 평가 결과 고객사 전달</a:t>
                      </a:r>
                      <a:endParaRPr kumimoji="0" lang="en-US" altLang="ko-KR" sz="105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  <a:p>
                      <a:pPr marL="361950" marR="0" lvl="1" indent="-180975" algn="l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0" lang="ko-KR" altLang="en-US" sz="105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안</a:t>
                      </a:r>
                      <a:r>
                        <a:rPr kumimoji="0" lang="en-US" altLang="ko-KR" sz="105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) S/W </a:t>
                      </a:r>
                      <a:r>
                        <a:rPr kumimoji="0" lang="ko-KR" altLang="en-US" sz="105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전력제어를 통한 좌우 온도 편차 개선 </a:t>
                      </a:r>
                      <a:endParaRPr kumimoji="0" lang="en-US" altLang="ko-KR" sz="105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  <a:p>
                      <a:pPr marL="180975" marR="0" lvl="1" indent="0" algn="l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105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   </a:t>
                      </a:r>
                      <a:r>
                        <a:rPr kumimoji="0" lang="en-US" altLang="ko-KR" sz="105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: </a:t>
                      </a:r>
                      <a:r>
                        <a:rPr kumimoji="0" lang="ko-KR" altLang="en-US" sz="105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합동 평가 진행 </a:t>
                      </a:r>
                      <a:r>
                        <a:rPr kumimoji="0" lang="en-US" altLang="ko-KR" sz="105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(7/10~7/11)</a:t>
                      </a:r>
                    </a:p>
                    <a:p>
                      <a:pPr marL="361950" marR="0" lvl="1" indent="-180975" algn="l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2</a:t>
                      </a:r>
                      <a:r>
                        <a:rPr kumimoji="0" lang="ko-KR" altLang="en-US" sz="105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안</a:t>
                      </a:r>
                      <a:r>
                        <a:rPr kumimoji="0" lang="en-US" altLang="ko-KR" sz="105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) PTC STONE </a:t>
                      </a:r>
                      <a:r>
                        <a:rPr kumimoji="0" lang="ko-KR" altLang="en-US" sz="105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배치 및 </a:t>
                      </a:r>
                      <a:r>
                        <a:rPr kumimoji="0" lang="en-US" altLang="ko-KR" sz="105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S/W</a:t>
                      </a:r>
                      <a:r>
                        <a:rPr kumimoji="0" lang="ko-KR" altLang="en-US" sz="105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전력 제어를 통한 좌우 온도 편차 개선</a:t>
                      </a:r>
                      <a:endParaRPr lang="ko-KR" altLang="en-US" sz="1050" b="0" kern="1200" baseline="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4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25/4/15</a:t>
                      </a:r>
                      <a:r>
                        <a:rPr lang="en-US" altLang="ko-KR" sz="1400" b="0" kern="1200" baseline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 ~</a:t>
                      </a:r>
                      <a:endParaRPr lang="ko-KR" altLang="en-US" sz="14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SV / QV</a:t>
                      </a:r>
                      <a:r>
                        <a:rPr lang="en-US" altLang="ko-KR" sz="1000" b="0" kern="1200" baseline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차종 시험 평가 중 접수</a:t>
                      </a:r>
                      <a:endParaRPr lang="en-US" altLang="ko-KR" sz="1000" b="0" kern="1200" smtClean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4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315568"/>
                  </a:ext>
                </a:extLst>
              </a:tr>
            </a:tbl>
          </a:graphicData>
        </a:graphic>
      </p:graphicFrame>
      <p:sp>
        <p:nvSpPr>
          <p:cNvPr id="5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 </a:t>
            </a:r>
            <a:r>
              <a:rPr lang="ko-KR" altLang="en-US" sz="2100" b="1" dirty="0" smtClean="0">
                <a:latin typeface="+mn-ea"/>
                <a:ea typeface="+mn-ea"/>
              </a:rPr>
              <a:t>지시내용</a:t>
            </a:r>
            <a:r>
              <a:rPr lang="en-US" altLang="ko-KR" sz="2100" b="1" dirty="0" smtClean="0">
                <a:latin typeface="+mn-ea"/>
                <a:ea typeface="+mn-ea"/>
              </a:rPr>
              <a:t>/</a:t>
            </a:r>
            <a:r>
              <a:rPr lang="ko-KR" altLang="en-US" sz="2100" b="1" dirty="0" smtClean="0">
                <a:latin typeface="+mn-ea"/>
                <a:ea typeface="+mn-ea"/>
              </a:rPr>
              <a:t>의사결정</a:t>
            </a:r>
            <a:r>
              <a:rPr lang="en-US" altLang="ko-KR" sz="2100" b="1" dirty="0" smtClean="0">
                <a:latin typeface="+mn-ea"/>
                <a:ea typeface="+mn-ea"/>
              </a:rPr>
              <a:t>/</a:t>
            </a:r>
            <a:r>
              <a:rPr lang="ko-KR" altLang="en-US" sz="2100" b="1" dirty="0" smtClean="0">
                <a:latin typeface="+mn-ea"/>
                <a:ea typeface="+mn-ea"/>
              </a:rPr>
              <a:t>리스크</a:t>
            </a:r>
            <a:r>
              <a:rPr lang="en-US" altLang="ko-KR" sz="2100" b="1" dirty="0" smtClean="0">
                <a:latin typeface="+mn-ea"/>
                <a:ea typeface="+mn-ea"/>
              </a:rPr>
              <a:t>/</a:t>
            </a:r>
            <a:r>
              <a:rPr lang="ko-KR" altLang="en-US" sz="2100" b="1" dirty="0" err="1" smtClean="0">
                <a:latin typeface="+mn-ea"/>
                <a:ea typeface="+mn-ea"/>
              </a:rPr>
              <a:t>이슈현황</a:t>
            </a:r>
            <a:endParaRPr lang="ko-KR" altLang="en-US" sz="21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2329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3497019"/>
              </p:ext>
            </p:extLst>
          </p:nvPr>
        </p:nvGraphicFramePr>
        <p:xfrm>
          <a:off x="11059" y="536956"/>
          <a:ext cx="9097445" cy="6031698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(7/4~7/10)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(7/11~7/17)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39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좌우 온도 편차 업무 대응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80975" marR="0" lvl="1" indent="0" algn="l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 typeface="Arial" panose="020B0604020202020204" pitchFamily="34" charset="0"/>
                        <a:buNone/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kumimoji="0" lang="en-US" altLang="ko-KR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0" lang="ko-KR" altLang="en-US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안</a:t>
                      </a:r>
                      <a:r>
                        <a:rPr kumimoji="0" lang="en-US" altLang="ko-KR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) S/W </a:t>
                      </a:r>
                      <a:r>
                        <a:rPr kumimoji="0" lang="ko-KR" altLang="en-US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전력제어를 통한 좌우 온도 편차 개선</a:t>
                      </a:r>
                      <a:endParaRPr kumimoji="0" lang="en-US" altLang="ko-KR" sz="1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  <a:p>
                      <a:pPr marL="180975" marR="0" lvl="1" indent="0" algn="l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  : </a:t>
                      </a:r>
                      <a:r>
                        <a:rPr kumimoji="0" lang="ko-KR" altLang="en-US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합동 평가 진행 </a:t>
                      </a:r>
                      <a:r>
                        <a:rPr kumimoji="0" lang="en-US" altLang="ko-KR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(7/10~7/11)</a:t>
                      </a:r>
                    </a:p>
                    <a:p>
                      <a:pPr marL="180975" marR="0" lvl="1" indent="0" algn="l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 typeface="Arial" panose="020B0604020202020204" pitchFamily="34" charset="0"/>
                        <a:buNone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- 2</a:t>
                      </a:r>
                      <a:r>
                        <a:rPr kumimoji="0" lang="ko-KR" altLang="en-US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안</a:t>
                      </a:r>
                      <a:r>
                        <a:rPr kumimoji="0" lang="en-US" altLang="ko-KR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) PTC STONE </a:t>
                      </a:r>
                      <a:r>
                        <a:rPr kumimoji="0" lang="ko-KR" altLang="en-US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배치 및 </a:t>
                      </a:r>
                      <a:r>
                        <a:rPr kumimoji="0" lang="en-US" altLang="ko-KR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S/W</a:t>
                      </a:r>
                      <a:r>
                        <a:rPr kumimoji="0" lang="ko-KR" altLang="en-US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전력 제어를 통한 좌우 온도 편차 개</a:t>
                      </a:r>
                      <a:endParaRPr kumimoji="0" lang="en-US" altLang="ko-KR" sz="1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  <a:p>
                      <a:pPr marL="180975" marR="0" lvl="1" indent="0" algn="l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 typeface="Arial" panose="020B0604020202020204" pitchFamily="34" charset="0"/>
                        <a:buNone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  </a:t>
                      </a:r>
                      <a:r>
                        <a:rPr kumimoji="0" lang="ko-KR" altLang="en-US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선</a:t>
                      </a:r>
                      <a:endParaRPr kumimoji="0" lang="en-US" altLang="ko-KR" sz="1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  <a:p>
                      <a:pPr marL="180975" marR="0" lvl="1" indent="0" algn="l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   </a:t>
                      </a:r>
                      <a:r>
                        <a:rPr kumimoji="0" lang="en-US" altLang="ko-KR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: </a:t>
                      </a:r>
                      <a:r>
                        <a:rPr kumimoji="0" lang="ko-KR" altLang="en-US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좌우 온도 편차 발생의 근본 적인 원인 </a:t>
                      </a:r>
                      <a:r>
                        <a:rPr kumimoji="0" lang="ko-KR" altLang="en-US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시험</a:t>
                      </a:r>
                      <a:endParaRPr kumimoji="0" lang="en-US" altLang="ko-KR" sz="1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180975" marR="0" lvl="1" indent="0" algn="l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      </a:t>
                      </a:r>
                      <a:r>
                        <a:rPr kumimoji="0" lang="ko-KR" altLang="en-US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제어부에 따른 온도 편차 미발생</a:t>
                      </a:r>
                      <a:endParaRPr kumimoji="0" lang="en-US" altLang="ko-KR" sz="1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180975" marR="0" lvl="1" indent="0" algn="l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ko-KR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      HVAC Inlet </a:t>
                      </a:r>
                      <a:r>
                        <a:rPr kumimoji="0" lang="ko-KR" altLang="en-US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부터 좌우 온도 편차 발생</a:t>
                      </a:r>
                      <a:endParaRPr kumimoji="0" lang="en-US" altLang="ko-KR" sz="1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180975" marR="0" lvl="1" indent="0" algn="l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 typeface="Wingdings" panose="05000000000000000000" pitchFamily="2" charset="2"/>
                        <a:buNone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SPQA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육성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프로젝트 진행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altLang="ko-KR" sz="1000" b="0" smtClean="0">
                          <a:solidFill>
                            <a:srgbClr val="0000FF"/>
                          </a:solidFill>
                        </a:rPr>
                        <a:t>3.4.2.3.1 Component Interface Design </a:t>
                      </a:r>
                      <a:r>
                        <a:rPr lang="ko-KR" altLang="en-US" sz="1000" b="0" smtClean="0">
                          <a:solidFill>
                            <a:srgbClr val="0000FF"/>
                          </a:solidFill>
                        </a:rPr>
                        <a:t>작성</a:t>
                      </a:r>
                      <a:r>
                        <a:rPr lang="ko-KR" altLang="en-US" sz="1000" b="0" baseline="0" smtClean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en-US" altLang="ko-KR" sz="1000" b="0" baseline="0" smtClean="0">
                          <a:solidFill>
                            <a:srgbClr val="0000FF"/>
                          </a:solidFill>
                        </a:rPr>
                        <a:t>(7/8)</a:t>
                      </a:r>
                      <a:endParaRPr lang="ko-KR" altLang="en-US" sz="1000" b="0" smtClean="0">
                        <a:solidFill>
                          <a:srgbClr val="0000FF"/>
                        </a:solidFill>
                      </a:endParaRPr>
                    </a:p>
                    <a:p>
                      <a:r>
                        <a:rPr lang="en-US" altLang="ko-KR" sz="1000" b="0" smtClean="0">
                          <a:solidFill>
                            <a:srgbClr val="0000FF"/>
                          </a:solidFill>
                        </a:rPr>
                        <a:t>    3.4.2.4.2 Component attributes </a:t>
                      </a:r>
                      <a:r>
                        <a:rPr lang="ko-KR" altLang="en-US" sz="1000" b="0" smtClean="0">
                          <a:solidFill>
                            <a:srgbClr val="0000FF"/>
                          </a:solidFill>
                        </a:rPr>
                        <a:t>작성 </a:t>
                      </a:r>
                      <a:r>
                        <a:rPr lang="en-US" altLang="ko-KR" sz="1000" b="0" baseline="0" smtClean="0">
                          <a:solidFill>
                            <a:srgbClr val="0000FF"/>
                          </a:solidFill>
                        </a:rPr>
                        <a:t>(7/8)</a:t>
                      </a:r>
                      <a:endParaRPr lang="ko-KR" altLang="en-US" sz="1000" b="0" smtClean="0">
                        <a:solidFill>
                          <a:srgbClr val="0000FF"/>
                        </a:solidFill>
                      </a:endParaRPr>
                    </a:p>
                    <a:p>
                      <a:r>
                        <a:rPr lang="en-US" altLang="ko-KR" sz="1000" b="0" smtClean="0">
                          <a:solidFill>
                            <a:srgbClr val="0000FF"/>
                          </a:solidFill>
                        </a:rPr>
                        <a:t>    4.1.1.1 LV Sensor Protection </a:t>
                      </a:r>
                      <a:r>
                        <a:rPr lang="ko-KR" altLang="en-US" sz="1000" b="0" smtClean="0">
                          <a:solidFill>
                            <a:srgbClr val="0000FF"/>
                          </a:solidFill>
                        </a:rPr>
                        <a:t>동적 동작 작성 </a:t>
                      </a:r>
                      <a:r>
                        <a:rPr lang="en-US" altLang="ko-KR" sz="1000" b="0" baseline="0" smtClean="0">
                          <a:solidFill>
                            <a:srgbClr val="0000FF"/>
                          </a:solidFill>
                        </a:rPr>
                        <a:t>(7/8)</a:t>
                      </a:r>
                      <a:endParaRPr lang="ko-KR" altLang="en-US" sz="1000" b="0" smtClean="0">
                        <a:solidFill>
                          <a:srgbClr val="0000FF"/>
                        </a:solidFill>
                      </a:endParaRPr>
                    </a:p>
                    <a:p>
                      <a:r>
                        <a:rPr lang="en-US" altLang="ko-KR" sz="1000" b="0" smtClean="0">
                          <a:solidFill>
                            <a:srgbClr val="0000FF"/>
                          </a:solidFill>
                        </a:rPr>
                        <a:t>    4.1.1.2 Low Voltage Battery Protection </a:t>
                      </a:r>
                      <a:r>
                        <a:rPr lang="ko-KR" altLang="en-US" sz="1000" b="0" smtClean="0">
                          <a:solidFill>
                            <a:srgbClr val="0000FF"/>
                          </a:solidFill>
                        </a:rPr>
                        <a:t>동적 동작 작성 </a:t>
                      </a:r>
                      <a:r>
                        <a:rPr lang="en-US" altLang="ko-KR" sz="1000" b="0" baseline="0" smtClean="0">
                          <a:solidFill>
                            <a:srgbClr val="0000FF"/>
                          </a:solidFill>
                        </a:rPr>
                        <a:t>(7/8)</a:t>
                      </a:r>
                      <a:endParaRPr lang="ko-KR" altLang="en-US" sz="1000" b="0" smtClean="0">
                        <a:solidFill>
                          <a:srgbClr val="0000FF"/>
                        </a:solidFill>
                      </a:endParaRPr>
                    </a:p>
                    <a:p>
                      <a:r>
                        <a:rPr lang="en-US" altLang="ko-KR" sz="1000" b="0" smtClean="0">
                          <a:solidFill>
                            <a:srgbClr val="0000FF"/>
                          </a:solidFill>
                        </a:rPr>
                        <a:t>    4.1.1.3 HV Sensor Protection </a:t>
                      </a:r>
                      <a:r>
                        <a:rPr lang="ko-KR" altLang="en-US" sz="1000" b="0" smtClean="0">
                          <a:solidFill>
                            <a:srgbClr val="0000FF"/>
                          </a:solidFill>
                        </a:rPr>
                        <a:t>동적 동작 작성 </a:t>
                      </a:r>
                      <a:r>
                        <a:rPr lang="en-US" altLang="ko-KR" sz="1000" b="0" baseline="0" smtClean="0">
                          <a:solidFill>
                            <a:srgbClr val="0000FF"/>
                          </a:solidFill>
                        </a:rPr>
                        <a:t>(7/8)</a:t>
                      </a:r>
                      <a:endParaRPr lang="ko-KR" altLang="en-US" sz="1000" b="0" smtClean="0">
                        <a:solidFill>
                          <a:srgbClr val="0000FF"/>
                        </a:solidFill>
                      </a:endParaRPr>
                    </a:p>
                    <a:p>
                      <a:r>
                        <a:rPr lang="en-US" altLang="ko-KR" sz="1000" b="0" smtClean="0">
                          <a:solidFill>
                            <a:srgbClr val="0000FF"/>
                          </a:solidFill>
                        </a:rPr>
                        <a:t>    4.1.1.4 High Voltage Battery Protection </a:t>
                      </a:r>
                      <a:r>
                        <a:rPr lang="ko-KR" altLang="en-US" sz="1000" b="0" smtClean="0">
                          <a:solidFill>
                            <a:srgbClr val="0000FF"/>
                          </a:solidFill>
                        </a:rPr>
                        <a:t>동적 동작 작성 </a:t>
                      </a:r>
                      <a:r>
                        <a:rPr lang="en-US" altLang="ko-KR" sz="1000" b="0" baseline="0" smtClean="0">
                          <a:solidFill>
                            <a:srgbClr val="0000FF"/>
                          </a:solidFill>
                        </a:rPr>
                        <a:t>(7/8)</a:t>
                      </a:r>
                      <a:endParaRPr lang="ko-KR" altLang="en-US" sz="1000" b="0">
                        <a:solidFill>
                          <a:srgbClr val="0000FF"/>
                        </a:solidFill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좌우 온도 편차 업무 대응</a:t>
                      </a:r>
                      <a:endParaRPr kumimoji="1" lang="en-US" altLang="ko-KR" sz="1000" b="1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SPQA </a:t>
                      </a:r>
                      <a:r>
                        <a:rPr kumimoji="1" lang="ko-KR" altLang="en-US" sz="10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육성 프로젝트 진행</a:t>
                      </a:r>
                      <a:endParaRPr kumimoji="1" lang="en-US" altLang="ko-KR" sz="1000" b="1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</a:t>
                      </a: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실차 합동 평가 진행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장소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한온 시스템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(7/10~7/11)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참석자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기아 품질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한온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우리산업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평가 내용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80975" marR="0" lvl="1" indent="0" algn="l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     7/11 : 0</a:t>
                      </a:r>
                      <a:r>
                        <a:rPr kumimoji="0" lang="ko-KR" altLang="en-US" sz="105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℃</a:t>
                      </a:r>
                      <a:r>
                        <a:rPr kumimoji="0" lang="en-US" altLang="ko-KR" sz="105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0" lang="en-US" altLang="ko-KR" sz="105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10</a:t>
                      </a:r>
                      <a:r>
                        <a:rPr kumimoji="0" lang="ko-KR" altLang="en-US" sz="105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℃ </a:t>
                      </a:r>
                      <a:r>
                        <a:rPr kumimoji="0" lang="ko-KR" altLang="en-US" sz="105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좌우 온도 편차 검증 </a:t>
                      </a:r>
                      <a:r>
                        <a:rPr kumimoji="0" lang="en-US" altLang="ko-KR" sz="105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(S/W </a:t>
                      </a:r>
                      <a:r>
                        <a:rPr kumimoji="0" lang="ko-KR" altLang="en-US" sz="105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전력제어 </a:t>
                      </a:r>
                      <a:r>
                        <a:rPr kumimoji="0" lang="en-US" altLang="ko-KR" sz="105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3.65%)</a:t>
                      </a:r>
                    </a:p>
                    <a:p>
                      <a:pPr marL="180975" marR="0" lvl="1" indent="0" algn="l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     7/12 : -20</a:t>
                      </a:r>
                      <a:r>
                        <a:rPr kumimoji="0" lang="ko-KR" altLang="en-US" sz="105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℃ 최대 난방평가 진행</a:t>
                      </a:r>
                      <a:r>
                        <a:rPr kumimoji="0" lang="en-US" altLang="ko-KR" sz="105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, </a:t>
                      </a:r>
                    </a:p>
                    <a:p>
                      <a:pPr marL="180975" marR="0" lvl="1" indent="0" algn="l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ko-KR" sz="105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               </a:t>
                      </a:r>
                      <a:r>
                        <a:rPr kumimoji="0" lang="ko-KR" altLang="en-US" sz="105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최대 성능 </a:t>
                      </a:r>
                      <a:r>
                        <a:rPr kumimoji="0" lang="en-US" altLang="ko-KR" sz="105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6.1KW </a:t>
                      </a:r>
                      <a:r>
                        <a:rPr kumimoji="0" lang="en-US" altLang="ko-KR" sz="105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 5.5~6.0KW </a:t>
                      </a:r>
                      <a:r>
                        <a:rPr kumimoji="0" lang="ko-KR" altLang="en-US" sz="105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  <a:sym typeface="Wingdings" panose="05000000000000000000" pitchFamily="2" charset="2"/>
                        </a:rPr>
                        <a:t>변경 여부 검증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348644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1024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QV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24.09.01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25.07.05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25.12.01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26.02.15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25.03.15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379517707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0289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(7/4~7/10)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(7/11~7/17)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최대 난방 성능 평가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NG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고객사 요청 사항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 요구사항 이었던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5.5KW Spec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 증대 요청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         (</a:t>
                      </a:r>
                      <a:r>
                        <a:rPr kumimoji="1" lang="ko-KR" altLang="en-US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기구팀 검토 진행 중</a:t>
                      </a:r>
                      <a:r>
                        <a:rPr kumimoji="1" lang="en-US" altLang="ko-KR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)</a:t>
                      </a: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좌우 온도 편차 업무 대응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80975" marR="0" lvl="1" indent="0" algn="l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 typeface="Arial" panose="020B0604020202020204" pitchFamily="34" charset="0"/>
                        <a:buNone/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kumimoji="1" lang="ko-KR" altLang="en-US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고객사 요청 사항</a:t>
                      </a:r>
                      <a:endParaRPr kumimoji="1" lang="en-US" altLang="ko-KR" sz="1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80975" marR="0" lvl="1" indent="0" algn="l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 typeface="Arial" panose="020B0604020202020204" pitchFamily="34" charset="0"/>
                        <a:buNone/>
                        <a:defRPr/>
                      </a:pPr>
                      <a:r>
                        <a:rPr kumimoji="1" lang="en-US" altLang="ko-KR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   : </a:t>
                      </a:r>
                      <a:r>
                        <a:rPr kumimoji="1" lang="ko-KR" altLang="en-US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한온 시스템으로 </a:t>
                      </a:r>
                      <a:r>
                        <a:rPr kumimoji="1" lang="en-US" altLang="ko-KR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SVm </a:t>
                      </a:r>
                      <a:r>
                        <a:rPr kumimoji="1" lang="ko-KR" altLang="en-US" sz="10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차량 입고하여 합동 평가 진행 요청</a:t>
                      </a:r>
                      <a:endParaRPr kumimoji="1" lang="en-US" altLang="ko-KR" sz="1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  <a:p>
                      <a:pPr marL="180975" marR="0" lvl="1" indent="0" algn="l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 typeface="Arial" panose="020B0604020202020204" pitchFamily="34" charset="0"/>
                        <a:buNone/>
                        <a:defRPr/>
                      </a:pPr>
                      <a:endParaRPr kumimoji="1" lang="en-US" altLang="ko-KR" sz="10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348644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1024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dirty="0" err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SVm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24.09.01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25.08.15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26.03.30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26.06.30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25.06.30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414886683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5750518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(7/4~7/10)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(7/11~7/17)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1. BJ1 PTC Heater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샘플 및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QV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개선 내역 리스트 제출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: ~7/7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현재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QV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개선 진행 중으로 샘플제출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itchFamily="2" charset="2"/>
                        </a:rPr>
                        <a:t>Delay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348644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1024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BJ1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25.04.15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25.11.01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26.04.15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26.08.01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25.09.15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397359304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3784584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(7/4~7/10)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(7/11~7/17)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Proto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납품 준비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한온 샘플 입고일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7/16 (75EA)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로직 점검 진행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(~7/15)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QV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및 칼로리 예약 불가에 따른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Delay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로직 점검 체크리스트에 따른 평가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(~7/15)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: MVa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실차 평가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데이터를 활용한 시뮬레이션 평가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(~7/15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영하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40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℃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조건에서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로직 검증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7/15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0" i="0" kern="120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-</a:t>
                      </a:r>
                      <a:r>
                        <a:rPr lang="en-US" altLang="ko-KR" sz="1000" b="0" i="0" kern="1200" baseline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i="0" kern="1200" baseline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적용 </a:t>
                      </a:r>
                      <a:r>
                        <a:rPr lang="en-US" altLang="ko-KR" sz="1000" b="0" i="0" kern="1200" baseline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SW Version : V01.13.01 (MVa </a:t>
                      </a:r>
                      <a:r>
                        <a:rPr lang="ko-KR" altLang="en-US" sz="1000" b="0" i="0" kern="1200" baseline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차종</a:t>
                      </a:r>
                      <a:r>
                        <a:rPr lang="en-US" altLang="ko-KR" sz="1000" b="0" i="0" kern="1200" baseline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000" b="0" i="0" kern="1200" smtClean="0"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R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로직 튜닝에 따른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HVAC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요청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(To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기구팀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- 8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월 중순 입고 예정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Proto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납품 준비 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한온 샘플 입고일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7/16 (75EA)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-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로직 점검 진행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(~7/15)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로직 점검 체크리스트에 따른 평가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: MVa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실차 평가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Law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데이터를 활용한 시뮬레이션 평가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: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영하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40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℃ 조건에서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로직 검증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443221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1024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MX5a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25.08.15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26.04.01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26.10.01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27.04.15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26.02.15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379752229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5967813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(7/4~7/10)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(7/11~7/17)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0"/>
                      <a:r>
                        <a:rPr lang="en-US" altLang="ko-KR" sz="1000" b="0" i="0" kern="120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Proto</a:t>
                      </a:r>
                      <a:r>
                        <a:rPr lang="en-US" altLang="ko-KR" sz="1000" b="0" i="0" kern="1200" baseline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i="0" kern="1200" baseline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납품</a:t>
                      </a:r>
                      <a:r>
                        <a:rPr lang="ko-KR" altLang="en-US" sz="1000" b="0" i="0" kern="120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en-US" altLang="ko-KR" sz="1000" b="0" i="0" kern="1200" smtClean="0"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/>
                      <a:r>
                        <a:rPr lang="en-US" altLang="ko-KR" sz="1000" b="0" i="0" kern="120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1000" b="0" i="0" kern="120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북미법인 생산 및 항공편 국내 입고 </a:t>
                      </a:r>
                      <a:r>
                        <a:rPr lang="en-US" altLang="ko-KR" sz="1000" b="0" i="0" kern="120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~7/1</a:t>
                      </a:r>
                      <a:endParaRPr lang="ko-KR" altLang="en-US" sz="1000" b="0" i="0" kern="1200" smtClean="0"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/>
                      <a:r>
                        <a:rPr lang="ko-KR" altLang="en-US" sz="1000" b="0" i="0" kern="120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altLang="ko-KR" sz="1000" b="0" i="0" kern="120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b="0" i="0" kern="120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기능검사 및 외관검사 </a:t>
                      </a:r>
                      <a:r>
                        <a:rPr lang="en-US" altLang="ko-KR" sz="1000" b="0" i="0" kern="120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~7/3</a:t>
                      </a:r>
                      <a:endParaRPr lang="ko-KR" altLang="en-US" sz="1000" b="0" i="0" kern="1200" smtClean="0"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/>
                      <a:r>
                        <a:rPr lang="ko-KR" altLang="en-US" sz="1000" b="0" i="0" kern="120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altLang="ko-KR" sz="1000" b="0" i="0" kern="120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b="0" i="0" kern="120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한온 납품 </a:t>
                      </a:r>
                      <a:r>
                        <a:rPr lang="en-US" altLang="ko-KR" sz="1000" b="0" i="0" kern="120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7/4 (83</a:t>
                      </a:r>
                      <a:r>
                        <a:rPr lang="ko-KR" altLang="en-US" sz="1000" b="0" i="0" kern="120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대</a:t>
                      </a:r>
                      <a:r>
                        <a:rPr lang="en-US" altLang="ko-KR" sz="1000" b="0" i="0" kern="120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latinLnBrk="0"/>
                      <a:r>
                        <a:rPr lang="en-US" altLang="ko-KR" sz="1000" b="0" i="0" kern="120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-</a:t>
                      </a:r>
                      <a:r>
                        <a:rPr lang="en-US" altLang="ko-KR" sz="1000" b="0" i="0" kern="1200" baseline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i="0" kern="1200" baseline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적용 </a:t>
                      </a:r>
                      <a:r>
                        <a:rPr lang="en-US" altLang="ko-KR" sz="1000" b="0" i="0" kern="1200" baseline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SW Version : V01.13.01 (NEa </a:t>
                      </a:r>
                      <a:r>
                        <a:rPr lang="ko-KR" altLang="en-US" sz="1000" b="0" i="0" kern="1200" baseline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차종</a:t>
                      </a:r>
                      <a:r>
                        <a:rPr lang="en-US" altLang="ko-KR" sz="1000" b="0" i="0" kern="1200" baseline="0" smtClean="0"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000" b="0" i="0" kern="1200" smtClean="0"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443221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1024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NEaW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solidFill>
                    <a:srgbClr val="FF0000"/>
                  </a:solidFill>
                  <a:latin typeface="+mn-ea"/>
                </a:rPr>
                <a:t>25.08.01</a:t>
              </a:r>
            </a:p>
            <a:p>
              <a:pPr algn="ctr">
                <a:defRPr sz="1000"/>
              </a:pP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solidFill>
                    <a:srgbClr val="FF0000"/>
                  </a:solidFill>
                  <a:latin typeface="+mn-ea"/>
                </a:rPr>
                <a:t>26.07.15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solidFill>
                    <a:srgbClr val="FF0000"/>
                  </a:solidFill>
                  <a:latin typeface="+mn-ea"/>
                </a:rPr>
                <a:t>LP#1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solidFill>
                    <a:srgbClr val="FF0000"/>
                  </a:solidFill>
                  <a:latin typeface="+mn-ea"/>
                </a:rPr>
                <a:t>TBD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solidFill>
                    <a:srgbClr val="FF0000"/>
                  </a:solidFill>
                  <a:latin typeface="+mn-ea"/>
                </a:rPr>
                <a:t>27.01.15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solidFill>
                    <a:srgbClr val="FF0000"/>
                  </a:solidFill>
                  <a:latin typeface="+mn-ea"/>
                </a:rPr>
                <a:t>M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solidFill>
                    <a:srgbClr val="FF0000"/>
                  </a:solidFill>
                  <a:latin typeface="+mn-ea"/>
                </a:rPr>
                <a:t>26.04.15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solidFill>
                    <a:srgbClr val="FF0000"/>
                  </a:solidFill>
                  <a:latin typeface="+mn-ea"/>
                </a:rPr>
                <a:t>SP#1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13476302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5768246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(7/4~7/10)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(7/11~7/17)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R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로직 튜닝에 따른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HVAC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요청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(To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기구팀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- 7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월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 입고 예정</a:t>
                      </a: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443221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1024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N</a:t>
            </a:r>
            <a:r>
              <a:rPr lang="en-US" altLang="ko-KR" sz="1600" b="1" noProof="0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X5e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25.06.01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26.02.15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26.08.15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27.05.01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-</a:t>
              </a: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51970254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5390873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(7/4~7/10)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(7/11~7/17)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443221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1024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noProof="0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KY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3" y="555241"/>
            <a:ext cx="1021910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25.06.01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24.10.15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25.05.01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25.07.15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24.08.31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79909156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3728722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(7/4~7/10)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(7/11~7/17)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443221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1024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A</a:t>
            </a:r>
            <a:r>
              <a:rPr lang="en-US" altLang="ko-KR" sz="1600" b="1" dirty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Y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1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102" name="그룹 7"/>
          <p:cNvGrpSpPr>
            <a:grpSpLocks noChangeAspect="1"/>
          </p:cNvGrpSpPr>
          <p:nvPr/>
        </p:nvGrpSpPr>
        <p:grpSpPr bwMode="auto">
          <a:xfrm>
            <a:off x="3025337" y="555241"/>
            <a:ext cx="1023786" cy="689376"/>
            <a:chOff x="-1110" y="134593"/>
            <a:chExt cx="605947" cy="658079"/>
          </a:xfrm>
        </p:grpSpPr>
        <p:sp>
          <p:nvSpPr>
            <p:cNvPr id="103" name="위쪽 화살표 102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104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24.12.15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105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P#0</a:t>
              </a:r>
            </a:p>
          </p:txBody>
        </p:sp>
        <p:sp>
          <p:nvSpPr>
            <p:cNvPr id="106" name="Rectangle 46"/>
            <p:cNvSpPr>
              <a:spLocks noChangeArrowheads="1"/>
            </p:cNvSpPr>
            <p:nvPr/>
          </p:nvSpPr>
          <p:spPr bwMode="auto">
            <a:xfrm>
              <a:off x="-1110" y="538080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25.08.15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</p:grpSp>
      <p:grpSp>
        <p:nvGrpSpPr>
          <p:cNvPr id="107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706808"/>
            <a:chOff x="0" y="134593"/>
            <a:chExt cx="604837" cy="674720"/>
          </a:xfrm>
        </p:grpSpPr>
        <p:sp>
          <p:nvSpPr>
            <p:cNvPr id="108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25.09.30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109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P#1</a:t>
              </a:r>
            </a:p>
          </p:txBody>
        </p:sp>
        <p:sp>
          <p:nvSpPr>
            <p:cNvPr id="110" name="Rectangle 46"/>
            <p:cNvSpPr>
              <a:spLocks noChangeArrowheads="1"/>
            </p:cNvSpPr>
            <p:nvPr/>
          </p:nvSpPr>
          <p:spPr bwMode="auto">
            <a:xfrm>
              <a:off x="0" y="554721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solidFill>
                    <a:srgbClr val="FF0000"/>
                  </a:solidFill>
                  <a:latin typeface="+mn-ea"/>
                </a:rPr>
                <a:t>26.02.15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</p:grpSp>
      <p:grpSp>
        <p:nvGrpSpPr>
          <p:cNvPr id="111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708267"/>
            <a:chOff x="0" y="135732"/>
            <a:chExt cx="604837" cy="676111"/>
          </a:xfrm>
        </p:grpSpPr>
        <p:sp>
          <p:nvSpPr>
            <p:cNvPr id="112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26.02.01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113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P#2</a:t>
              </a:r>
            </a:p>
          </p:txBody>
        </p:sp>
        <p:sp>
          <p:nvSpPr>
            <p:cNvPr id="114" name="Rectangle 46"/>
            <p:cNvSpPr>
              <a:spLocks noChangeArrowheads="1"/>
            </p:cNvSpPr>
            <p:nvPr/>
          </p:nvSpPr>
          <p:spPr bwMode="auto">
            <a:xfrm>
              <a:off x="0" y="557251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solidFill>
                    <a:srgbClr val="FF0000"/>
                  </a:solidFill>
                  <a:latin typeface="+mn-ea"/>
                </a:rPr>
                <a:t>26.05.01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</p:grpSp>
      <p:grpSp>
        <p:nvGrpSpPr>
          <p:cNvPr id="11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693556"/>
            <a:chOff x="0" y="137478"/>
            <a:chExt cx="604837" cy="662068"/>
          </a:xfrm>
        </p:grpSpPr>
        <p:sp>
          <p:nvSpPr>
            <p:cNvPr id="11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26.04.20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117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SOP</a:t>
              </a:r>
            </a:p>
          </p:txBody>
        </p:sp>
        <p:sp>
          <p:nvSpPr>
            <p:cNvPr id="118" name="Rectangle 46"/>
            <p:cNvSpPr>
              <a:spLocks noChangeArrowheads="1"/>
            </p:cNvSpPr>
            <p:nvPr/>
          </p:nvSpPr>
          <p:spPr bwMode="auto">
            <a:xfrm>
              <a:off x="0" y="54495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smtClean="0">
                  <a:solidFill>
                    <a:srgbClr val="FF0000"/>
                  </a:solidFill>
                  <a:latin typeface="+mn-ea"/>
                </a:rPr>
                <a:t>26.7.15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</p:grpSp>
      <p:sp>
        <p:nvSpPr>
          <p:cNvPr id="119" name="위쪽 화살표 118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0" name="위쪽 화살표 119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21" name="위쪽 화살표 120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122" name="그룹 12"/>
          <p:cNvGrpSpPr>
            <a:grpSpLocks noChangeAspect="1"/>
          </p:cNvGrpSpPr>
          <p:nvPr/>
        </p:nvGrpSpPr>
        <p:grpSpPr bwMode="auto">
          <a:xfrm>
            <a:off x="4105591" y="548680"/>
            <a:ext cx="1016448" cy="700430"/>
            <a:chOff x="-4514" y="134593"/>
            <a:chExt cx="609351" cy="668631"/>
          </a:xfrm>
        </p:grpSpPr>
        <p:sp>
          <p:nvSpPr>
            <p:cNvPr id="12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25.05.01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12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MCAR</a:t>
              </a:r>
            </a:p>
          </p:txBody>
        </p:sp>
        <p:sp>
          <p:nvSpPr>
            <p:cNvPr id="125" name="Rectangle 46"/>
            <p:cNvSpPr>
              <a:spLocks noChangeArrowheads="1"/>
            </p:cNvSpPr>
            <p:nvPr/>
          </p:nvSpPr>
          <p:spPr bwMode="auto">
            <a:xfrm>
              <a:off x="-4514" y="548632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25.11.15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</p:grpSp>
      <p:sp>
        <p:nvSpPr>
          <p:cNvPr id="126" name="위쪽 화살표 125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3" name="TextBox 2"/>
          <p:cNvSpPr txBox="1"/>
          <p:nvPr/>
        </p:nvSpPr>
        <p:spPr>
          <a:xfrm>
            <a:off x="2734758" y="801357"/>
            <a:ext cx="450764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ko-KR" sz="1000" b="1" smtClean="0"/>
              <a:t>RHD</a:t>
            </a:r>
            <a:endParaRPr lang="ko-KR" altLang="en-US" sz="1000" b="1"/>
          </a:p>
        </p:txBody>
      </p:sp>
      <p:sp>
        <p:nvSpPr>
          <p:cNvPr id="34" name="TextBox 33"/>
          <p:cNvSpPr txBox="1"/>
          <p:nvPr/>
        </p:nvSpPr>
        <p:spPr>
          <a:xfrm>
            <a:off x="2734758" y="980621"/>
            <a:ext cx="439544" cy="246221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ko-KR" sz="1000" b="1" smtClean="0"/>
              <a:t>LHD</a:t>
            </a:r>
            <a:endParaRPr lang="ko-KR" altLang="en-US" sz="1000" b="1"/>
          </a:p>
        </p:txBody>
      </p:sp>
    </p:spTree>
    <p:extLst>
      <p:ext uri="{BB962C8B-B14F-4D97-AF65-F5344CB8AC3E}">
        <p14:creationId xmlns:p14="http://schemas.microsoft.com/office/powerpoint/2010/main" val="300561612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7431546"/>
              </p:ext>
            </p:extLst>
          </p:nvPr>
        </p:nvGraphicFramePr>
        <p:xfrm>
          <a:off x="11059" y="536956"/>
          <a:ext cx="9097445" cy="5916380"/>
        </p:xfrm>
        <a:graphic>
          <a:graphicData uri="http://schemas.openxmlformats.org/drawingml/2006/table">
            <a:tbl>
              <a:tblPr/>
              <a:tblGrid>
                <a:gridCol w="622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1021">
                  <a:extLst>
                    <a:ext uri="{9D8B030D-6E8A-4147-A177-3AD203B41FA5}">
                      <a16:colId xmlns:a16="http://schemas.microsoft.com/office/drawing/2014/main" val="2584085298"/>
                    </a:ext>
                  </a:extLst>
                </a:gridCol>
                <a:gridCol w="4443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757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실적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(7/4~7/10)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계획</a:t>
                      </a:r>
                      <a:r>
                        <a:rPr kumimoji="1" lang="en-US" altLang="ko-KR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(7/11~7/17)</a:t>
                      </a:r>
                      <a:endParaRPr kumimoji="1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6400" marR="86400" marT="43172" marB="43172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9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주요</a:t>
                      </a:r>
                      <a:endParaRPr kumimoji="1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업무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Kick-Off 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회의 진행 </a:t>
                      </a:r>
                      <a:r>
                        <a:rPr kumimoji="1" lang="en-US" altLang="ko-KR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7</a:t>
                      </a:r>
                      <a:r>
                        <a:rPr kumimoji="1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월 중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itchFamily="2" charset="2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20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200" b="1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출장내용</a:t>
                      </a:r>
                      <a:endParaRPr kumimoji="1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en-US" altLang="ko-KR" sz="10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172" marB="4317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0" y="44624"/>
            <a:ext cx="5443221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>
            <a:defPPr>
              <a:defRPr lang="ko-KR"/>
            </a:defPPr>
            <a:lvl1pPr>
              <a:spcBef>
                <a:spcPct val="50000"/>
              </a:spcBef>
              <a:buFont typeface="Wingdings" pitchFamily="2" charset="2"/>
              <a:buChar char="v"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Y헤드라인M" pitchFamily="18" charset="-127"/>
                <a:ea typeface="HY헤드라인M" pitchFamily="18" charset="-127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lang="en-US" altLang="ko-KR" sz="2100" b="1" dirty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PTC </a:t>
            </a:r>
            <a:r>
              <a:rPr lang="en-US" altLang="ko-KR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S/W</a:t>
            </a:r>
            <a:r>
              <a:rPr lang="ko-KR" altLang="en-US" sz="2100" b="1" dirty="0" smtClean="0">
                <a:solidFill>
                  <a:prstClr val="black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팀 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주간 업무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</a:t>
            </a:r>
            <a:r>
              <a:rPr kumimoji="1" lang="ko-KR" altLang="en-US" sz="21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차종별</a:t>
            </a:r>
            <a:r>
              <a:rPr kumimoji="1" lang="ko-KR" altLang="en-US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업데이트</a:t>
            </a:r>
            <a:r>
              <a:rPr kumimoji="1" lang="en-US" altLang="ko-KR" sz="21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1" lang="en-US" altLang="ko-KR" sz="2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Line 10"/>
          <p:cNvSpPr>
            <a:spLocks noChangeShapeType="1"/>
          </p:cNvSpPr>
          <p:nvPr/>
        </p:nvSpPr>
        <p:spPr bwMode="auto">
          <a:xfrm>
            <a:off x="2412134" y="795248"/>
            <a:ext cx="6362305" cy="24866"/>
          </a:xfrm>
          <a:prstGeom prst="line">
            <a:avLst/>
          </a:prstGeom>
          <a:noFill/>
          <a:ln w="38100">
            <a:solidFill>
              <a:srgbClr val="376092"/>
            </a:solidFill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7E68D9-DFCD-D490-2C1D-1B13D1698110}"/>
              </a:ext>
            </a:extLst>
          </p:cNvPr>
          <p:cNvSpPr txBox="1"/>
          <p:nvPr/>
        </p:nvSpPr>
        <p:spPr>
          <a:xfrm>
            <a:off x="378983" y="692696"/>
            <a:ext cx="10246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b="1" dirty="0" err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Maruti</a:t>
            </a:r>
            <a:r>
              <a:rPr lang="en-US" altLang="ko-KR" sz="16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Suzuki</a:t>
            </a:r>
            <a:endParaRPr kumimoji="0" lang="ko-KR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4FBE7328-7139-5DFD-A85E-7B6F4FF19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8454" y="538120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endParaRPr kumimoji="0" lang="ko-KR" altLang="ko-KR" sz="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3" name="그룹 7"/>
          <p:cNvGrpSpPr>
            <a:grpSpLocks noChangeAspect="1"/>
          </p:cNvGrpSpPr>
          <p:nvPr/>
        </p:nvGrpSpPr>
        <p:grpSpPr bwMode="auto">
          <a:xfrm>
            <a:off x="3027212" y="555241"/>
            <a:ext cx="1021911" cy="506707"/>
            <a:chOff x="0" y="134593"/>
            <a:chExt cx="604837" cy="483703"/>
          </a:xfrm>
        </p:grpSpPr>
        <p:sp>
          <p:nvSpPr>
            <p:cNvPr id="44" name="위쪽 화살표 43"/>
            <p:cNvSpPr>
              <a:spLocks noChangeArrowheads="1"/>
            </p:cNvSpPr>
            <p:nvPr/>
          </p:nvSpPr>
          <p:spPr bwMode="auto">
            <a:xfrm rot="10800000">
              <a:off x="257391" y="287605"/>
              <a:ext cx="71370" cy="92137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 sz="2400"/>
            </a:p>
          </p:txBody>
        </p:sp>
        <p:sp>
          <p:nvSpPr>
            <p:cNvPr id="4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-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P#0</a:t>
              </a:r>
            </a:p>
          </p:txBody>
        </p:sp>
      </p:grpSp>
      <p:grpSp>
        <p:nvGrpSpPr>
          <p:cNvPr id="48" name="그룹 12"/>
          <p:cNvGrpSpPr>
            <a:grpSpLocks noChangeAspect="1"/>
          </p:cNvGrpSpPr>
          <p:nvPr/>
        </p:nvGrpSpPr>
        <p:grpSpPr bwMode="auto">
          <a:xfrm>
            <a:off x="5364088" y="548680"/>
            <a:ext cx="1008918" cy="506707"/>
            <a:chOff x="0" y="134593"/>
            <a:chExt cx="604837" cy="483703"/>
          </a:xfrm>
        </p:grpSpPr>
        <p:sp>
          <p:nvSpPr>
            <p:cNvPr id="50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-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51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P#1</a:t>
              </a:r>
            </a:p>
          </p:txBody>
        </p:sp>
      </p:grpSp>
      <p:grpSp>
        <p:nvGrpSpPr>
          <p:cNvPr id="52" name="그룹 16"/>
          <p:cNvGrpSpPr>
            <a:grpSpLocks noChangeAspect="1"/>
          </p:cNvGrpSpPr>
          <p:nvPr/>
        </p:nvGrpSpPr>
        <p:grpSpPr bwMode="auto">
          <a:xfrm>
            <a:off x="6766636" y="547221"/>
            <a:ext cx="1045724" cy="505515"/>
            <a:chOff x="0" y="135732"/>
            <a:chExt cx="604837" cy="482564"/>
          </a:xfrm>
        </p:grpSpPr>
        <p:sp>
          <p:nvSpPr>
            <p:cNvPr id="5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-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54" name="Rectangle 46"/>
            <p:cNvSpPr>
              <a:spLocks noChangeArrowheads="1"/>
            </p:cNvSpPr>
            <p:nvPr/>
          </p:nvSpPr>
          <p:spPr bwMode="auto">
            <a:xfrm>
              <a:off x="26297" y="135732"/>
              <a:ext cx="54347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P#2</a:t>
              </a:r>
            </a:p>
          </p:txBody>
        </p:sp>
      </p:grpSp>
      <p:grpSp>
        <p:nvGrpSpPr>
          <p:cNvPr id="55" name="그룹 20"/>
          <p:cNvGrpSpPr>
            <a:grpSpLocks noChangeAspect="1"/>
          </p:cNvGrpSpPr>
          <p:nvPr/>
        </p:nvGrpSpPr>
        <p:grpSpPr bwMode="auto">
          <a:xfrm>
            <a:off x="8221953" y="555242"/>
            <a:ext cx="1030567" cy="503686"/>
            <a:chOff x="0" y="137478"/>
            <a:chExt cx="604837" cy="480818"/>
          </a:xfrm>
        </p:grpSpPr>
        <p:sp>
          <p:nvSpPr>
            <p:cNvPr id="56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-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61" name="Rectangle 46"/>
            <p:cNvSpPr>
              <a:spLocks noChangeArrowheads="1"/>
            </p:cNvSpPr>
            <p:nvPr/>
          </p:nvSpPr>
          <p:spPr bwMode="auto">
            <a:xfrm>
              <a:off x="26684" y="137478"/>
              <a:ext cx="542574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SOP</a:t>
              </a:r>
            </a:p>
          </p:txBody>
        </p:sp>
      </p:grpSp>
      <p:sp>
        <p:nvSpPr>
          <p:cNvPr id="63" name="위쪽 화살표 62"/>
          <p:cNvSpPr>
            <a:spLocks noChangeArrowheads="1"/>
          </p:cNvSpPr>
          <p:nvPr/>
        </p:nvSpPr>
        <p:spPr bwMode="auto">
          <a:xfrm rot="10800000">
            <a:off x="5796136" y="70277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65" name="위쪽 화살표 64"/>
          <p:cNvSpPr>
            <a:spLocks noChangeArrowheads="1"/>
          </p:cNvSpPr>
          <p:nvPr/>
        </p:nvSpPr>
        <p:spPr bwMode="auto">
          <a:xfrm rot="10800000">
            <a:off x="7229744" y="722087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70" name="위쪽 화살표 69"/>
          <p:cNvSpPr>
            <a:spLocks noChangeArrowheads="1"/>
          </p:cNvSpPr>
          <p:nvPr/>
        </p:nvSpPr>
        <p:spPr bwMode="auto">
          <a:xfrm rot="10800000">
            <a:off x="8676456" y="715530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  <p:grpSp>
        <p:nvGrpSpPr>
          <p:cNvPr id="72" name="그룹 12"/>
          <p:cNvGrpSpPr>
            <a:grpSpLocks noChangeAspect="1"/>
          </p:cNvGrpSpPr>
          <p:nvPr/>
        </p:nvGrpSpPr>
        <p:grpSpPr bwMode="auto">
          <a:xfrm>
            <a:off x="4113121" y="548680"/>
            <a:ext cx="1008918" cy="506707"/>
            <a:chOff x="0" y="134593"/>
            <a:chExt cx="604837" cy="483703"/>
          </a:xfrm>
        </p:grpSpPr>
        <p:sp>
          <p:nvSpPr>
            <p:cNvPr id="73" name="Rectangle 46"/>
            <p:cNvSpPr>
              <a:spLocks noChangeArrowheads="1"/>
            </p:cNvSpPr>
            <p:nvPr/>
          </p:nvSpPr>
          <p:spPr bwMode="auto">
            <a:xfrm>
              <a:off x="0" y="363704"/>
              <a:ext cx="604837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 smtClean="0">
                  <a:solidFill>
                    <a:srgbClr val="FF0000"/>
                  </a:solidFill>
                  <a:latin typeface="+mn-ea"/>
                </a:rPr>
                <a:t>-</a:t>
              </a:r>
              <a:endParaRPr lang="en-US" altLang="ko-KR" sz="1000" dirty="0">
                <a:solidFill>
                  <a:srgbClr val="FF0000"/>
                </a:solidFill>
                <a:latin typeface="+mn-ea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27082" y="134593"/>
              <a:ext cx="541645" cy="2545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upright="1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 sz="1000"/>
              </a:pPr>
              <a:r>
                <a:rPr lang="en-US" altLang="ko-KR" sz="1000" dirty="0">
                  <a:solidFill>
                    <a:srgbClr val="FF0000"/>
                  </a:solidFill>
                  <a:latin typeface="+mn-ea"/>
                </a:rPr>
                <a:t>MCAR</a:t>
              </a:r>
            </a:p>
          </p:txBody>
        </p:sp>
      </p:grpSp>
      <p:sp>
        <p:nvSpPr>
          <p:cNvPr id="75" name="위쪽 화살표 74"/>
          <p:cNvSpPr>
            <a:spLocks noChangeArrowheads="1"/>
          </p:cNvSpPr>
          <p:nvPr/>
        </p:nvSpPr>
        <p:spPr bwMode="auto">
          <a:xfrm rot="10800000">
            <a:off x="4523423" y="708969"/>
            <a:ext cx="120585" cy="96519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216305398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제안서 템플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>
        <a:noFill/>
        <a:ln w="9525" cap="flat" cmpd="sng" algn="ctr">
          <a:noFill/>
          <a:prstDash val="solid"/>
          <a:round/>
          <a:headEnd w="med" len="med"/>
          <a:tailEnd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100" b="0" i="0" u="none" strike="noStrike" cap="none" normalizeH="0" baseline="0" smtClean="0">
            <a:solidFill>
              <a:schemeClr val="bg1"/>
            </a:solidFill>
            <a:effectLst/>
            <a:latin typeface="Verdana"/>
            <a:ea typeface="굴림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13107</TotalTime>
  <Words>935</Words>
  <Application>Microsoft Office PowerPoint</Application>
  <PresentationFormat>화면 슬라이드 쇼(4:3)</PresentationFormat>
  <Paragraphs>285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8" baseType="lpstr">
      <vt:lpstr>굴림</vt:lpstr>
      <vt:lpstr>맑은 고딕</vt:lpstr>
      <vt:lpstr>현대하모니 L</vt:lpstr>
      <vt:lpstr>Arial</vt:lpstr>
      <vt:lpstr>Lucida Sans Unicode</vt:lpstr>
      <vt:lpstr>Verdana</vt:lpstr>
      <vt:lpstr>Wingdings</vt:lpstr>
      <vt:lpstr>제안서 템플릿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Simon Jun</dc:creator>
  <cp:lastModifiedBy>Windows 사용자</cp:lastModifiedBy>
  <cp:revision>5899</cp:revision>
  <dcterms:created xsi:type="dcterms:W3CDTF">2019-10-24T04:42:23Z</dcterms:created>
  <dcterms:modified xsi:type="dcterms:W3CDTF">2025-07-08T06:20:32Z</dcterms:modified>
  <cp:version/>
</cp:coreProperties>
</file>