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saveSubsetFonts="1">
  <p:sldMasterIdLst>
    <p:sldMasterId id="2147483709" r:id="rId1"/>
  </p:sldMasterIdLst>
  <p:notesMasterIdLst>
    <p:notesMasterId r:id="rId15"/>
  </p:notesMasterIdLst>
  <p:handoutMasterIdLst>
    <p:handoutMasterId r:id="rId16"/>
  </p:handoutMasterIdLst>
  <p:sldIdLst>
    <p:sldId id="1005" r:id="rId2"/>
    <p:sldId id="1008" r:id="rId3"/>
    <p:sldId id="958" r:id="rId4"/>
    <p:sldId id="997" r:id="rId5"/>
    <p:sldId id="998" r:id="rId6"/>
    <p:sldId id="994" r:id="rId7"/>
    <p:sldId id="1004" r:id="rId8"/>
    <p:sldId id="1000" r:id="rId9"/>
    <p:sldId id="1001" r:id="rId10"/>
    <p:sldId id="1002" r:id="rId11"/>
    <p:sldId id="1003" r:id="rId12"/>
    <p:sldId id="1006" r:id="rId13"/>
    <p:sldId id="1007" r:id="rId14"/>
  </p:sldIdLst>
  <p:sldSz cx="9144000" cy="6858000" type="screen4x3"/>
  <p:notesSz cx="6802438" cy="9934575"/>
  <p:embeddedFontLst>
    <p:embeddedFont>
      <p:font typeface="맑은 고딕" panose="020B0503020000020004" pitchFamily="50" charset="-127"/>
      <p:regular r:id="rId17"/>
      <p:bold r:id="rId18"/>
    </p:embeddedFont>
    <p:embeddedFont>
      <p:font typeface="Lucida Sans Unicode" panose="020B0602030504020204" pitchFamily="34" charset="0"/>
      <p:regular r:id="rId19"/>
    </p:embeddedFont>
    <p:embeddedFont>
      <p:font typeface="굴림" panose="020B0600000101010101" pitchFamily="50" charset="-127"/>
      <p:regular r:id="rId20"/>
    </p:embeddedFont>
    <p:embeddedFont>
      <p:font typeface="Verdana" panose="020B0604030504040204" pitchFamily="34" charset="0"/>
      <p:regular r:id="rId21"/>
      <p:bold r:id="rId22"/>
      <p:italic r:id="rId23"/>
      <p:boldItalic r:id="rId24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02" autoAdjust="0"/>
    <p:restoredTop sz="96400" autoAdjust="0"/>
  </p:normalViewPr>
  <p:slideViewPr>
    <p:cSldViewPr snapToObjects="1">
      <p:cViewPr varScale="1">
        <p:scale>
          <a:sx n="111" d="100"/>
          <a:sy n="111" d="100"/>
        </p:scale>
        <p:origin x="1908" y="102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2025-09-26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2025-09-26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2797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9398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70678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38732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89101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3768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61575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09390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30979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3152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38767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70401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5949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1.bin"/><Relationship Id="rId4" Type="http://schemas.openxmlformats.org/officeDocument/2006/relationships/hyperlink" Target="https://gw.woory.com/app/approval/document/886113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5.e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806425"/>
              </p:ext>
            </p:extLst>
          </p:nvPr>
        </p:nvGraphicFramePr>
        <p:xfrm>
          <a:off x="215899" y="692696"/>
          <a:ext cx="8748589" cy="6068773"/>
        </p:xfrm>
        <a:graphic>
          <a:graphicData uri="http://schemas.openxmlformats.org/drawingml/2006/table">
            <a:tbl>
              <a:tblPr/>
              <a:tblGrid>
                <a:gridCol w="494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6973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032448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1008113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720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2658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진행</a:t>
                      </a:r>
                      <a:r>
                        <a:rPr lang="en-US" altLang="ko-KR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유형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4334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QV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QV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항속형 차량 실차 합동 평가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일자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9/30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현대 남양 연구소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환경시험동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ES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항목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성적서 제출일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10/17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  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ES90700-02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제어기 고속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시험방법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  ES95480-00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고속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CAN(HSCAN)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설계 사양서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  ES95411-00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소프트웨어 평가 사양서  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 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ES95489-24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오픈소스 보안 취약점 검증 요구사항</a:t>
                      </a:r>
                    </a:p>
                    <a:p>
                      <a:pPr latinLnBrk="0"/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  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ES95489-21 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제어기 일반 보안 사양서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슬로바키아 법인 공정 감사 지원 요청 건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공정 감사 일정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25/10/29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목적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EOL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공정 상 사이버 보안 및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PTC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기능 문의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 일정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25/10/26 ~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25/11/3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smtClean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15568"/>
                  </a:ext>
                </a:extLst>
              </a:tr>
              <a:tr h="1179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BJ1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좌우 온도 편차 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SPEC </a:t>
                      </a: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미달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좌우 온도 편차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FAIL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따른 합동 평가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(9/22)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한온시스템 실험실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결과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QV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와 비슷한 양상으로 측정 되었으며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지난 실차 평가의 세팅 문제라고 판단되어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실차 재평가 진행 예정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미정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25/7/15 ~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BJ1 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차종 시험 평가 중 접수</a:t>
                      </a:r>
                      <a:endParaRPr lang="en-US" altLang="ko-KR" sz="1000" b="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056622"/>
                  </a:ext>
                </a:extLst>
              </a:tr>
              <a:tr h="5515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noProof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</a:rPr>
                        <a:t>HE1i</a:t>
                      </a:r>
                      <a:endParaRPr kumimoji="0" lang="ko-KR" altLang="en-US" sz="1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고전압 범위 변경에 따른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이원화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Wire Car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에서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PTC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동작 안됨 접수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분석 결과 고전압 작동 범위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Fault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확인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HMI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공조 담당 확인 결과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Su2i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와 전압 범위 다름 확인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-&gt; SU2i, Ay, Ky Carry Over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제품으로 최초 접수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(25/4)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-&gt; Wire-Car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용 납품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: 25/8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월말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Proto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두원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ESIR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용 납품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(90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: 25/8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월초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전압 범위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변경 후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ReWriting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요청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(9/26)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(180V ~ 379V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168V ~ 445V)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-&gt;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칵핏모듈업체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(Smart DNS) : 10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두원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80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558990"/>
                  </a:ext>
                </a:extLst>
              </a:tr>
            </a:tbl>
          </a:graphicData>
        </a:graphic>
      </p:graphicFrame>
      <p:sp>
        <p:nvSpPr>
          <p:cNvPr id="5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 smtClean="0">
                <a:latin typeface="+mn-ea"/>
                <a:ea typeface="+mn-ea"/>
              </a:rPr>
              <a:t>지시내용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smtClean="0">
                <a:latin typeface="+mn-ea"/>
                <a:ea typeface="+mn-ea"/>
              </a:rPr>
              <a:t>의사결정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smtClean="0">
                <a:latin typeface="+mn-ea"/>
                <a:ea typeface="+mn-ea"/>
              </a:rPr>
              <a:t>리스크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err="1" smtClean="0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  <p:graphicFrame>
        <p:nvGraphicFramePr>
          <p:cNvPr id="2" name="개체 1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6138758"/>
              </p:ext>
            </p:extLst>
          </p:nvPr>
        </p:nvGraphicFramePr>
        <p:xfrm>
          <a:off x="8202631" y="2367283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" name="프레젠테이션" showAsIcon="1" r:id="rId5" imgW="914400" imgH="771480" progId="PowerPoint.Show.12">
                  <p:embed/>
                </p:oleObj>
              </mc:Choice>
              <mc:Fallback>
                <p:oleObj name="프레젠테이션" showAsIcon="1" r:id="rId5" imgW="914400" imgH="771480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202631" y="2367283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2329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4170946"/>
              </p:ext>
            </p:extLst>
          </p:nvPr>
        </p:nvGraphicFramePr>
        <p:xfrm>
          <a:off x="215899" y="692696"/>
          <a:ext cx="8748589" cy="2623700"/>
        </p:xfrm>
        <a:graphic>
          <a:graphicData uri="http://schemas.openxmlformats.org/drawingml/2006/table">
            <a:tbl>
              <a:tblPr/>
              <a:tblGrid>
                <a:gridCol w="494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6973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1008113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720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2658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진행</a:t>
                      </a:r>
                      <a:r>
                        <a:rPr lang="en-US" altLang="ko-KR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유형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4334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4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Tool 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구매건</a:t>
                      </a: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.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ES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 위한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Stress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장비 구매의 건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제품명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VH6501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1EA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5,720,000</a:t>
                      </a:r>
                      <a:r>
                        <a:rPr kumimoji="1" lang="ko-KR" altLang="en-US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 </a:t>
                      </a: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부가세 별도</a:t>
                      </a: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보유 현황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없음</a:t>
                      </a:r>
                      <a:endParaRPr kumimoji="1" lang="en-US" altLang="ko-KR" sz="1000" b="0" i="1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Renesas Debug Tool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구매의 건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제품명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E2 Emulator / 10EA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570,000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부가세 별도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ko-KR" altLang="en-US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총계 </a:t>
                      </a: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5,700,000 </a:t>
                      </a:r>
                      <a:r>
                        <a:rPr kumimoji="1" lang="ko-KR" altLang="en-US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원 </a:t>
                      </a: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부가세 별도</a:t>
                      </a: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보유 현황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총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 중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3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 사용 중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1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 일렉스 대여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6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 고장으로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A/S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의뢰하였으나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불가하다는 통보받음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smtClean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15568"/>
                  </a:ext>
                </a:extLst>
              </a:tr>
            </a:tbl>
          </a:graphicData>
        </a:graphic>
      </p:graphicFrame>
      <p:sp>
        <p:nvSpPr>
          <p:cNvPr id="5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 smtClean="0">
                <a:latin typeface="+mn-ea"/>
                <a:ea typeface="+mn-ea"/>
              </a:rPr>
              <a:t>지시내용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smtClean="0">
                <a:latin typeface="+mn-ea"/>
                <a:ea typeface="+mn-ea"/>
              </a:rPr>
              <a:t>의사결정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smtClean="0">
                <a:latin typeface="+mn-ea"/>
                <a:ea typeface="+mn-ea"/>
              </a:rPr>
              <a:t>리스크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err="1" smtClean="0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  <p:graphicFrame>
        <p:nvGraphicFramePr>
          <p:cNvPr id="3" name="개체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9923039"/>
              </p:ext>
            </p:extLst>
          </p:nvPr>
        </p:nvGraphicFramePr>
        <p:xfrm>
          <a:off x="7884368" y="1467631"/>
          <a:ext cx="17716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2" name="포장기 셸 개체" showAsIcon="1" r:id="rId4" imgW="1771745" imgH="514555" progId="Package">
                  <p:embed/>
                </p:oleObj>
              </mc:Choice>
              <mc:Fallback>
                <p:oleObj name="포장기 셸 개체" showAsIcon="1" r:id="rId4" imgW="1771745" imgH="514555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884368" y="1467631"/>
                        <a:ext cx="177165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개체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087580"/>
              </p:ext>
            </p:extLst>
          </p:nvPr>
        </p:nvGraphicFramePr>
        <p:xfrm>
          <a:off x="7169993" y="2661542"/>
          <a:ext cx="32004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3" name="포장기 셸 개체" showAsIcon="1" r:id="rId6" imgW="3200228" imgH="514555" progId="Package">
                  <p:embed/>
                </p:oleObj>
              </mc:Choice>
              <mc:Fallback>
                <p:oleObj name="포장기 셸 개체" showAsIcon="1" r:id="rId6" imgW="3200228" imgH="514555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169993" y="2661542"/>
                        <a:ext cx="320040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5267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6855981"/>
              </p:ext>
            </p:extLst>
          </p:nvPr>
        </p:nvGraphicFramePr>
        <p:xfrm>
          <a:off x="47211" y="536957"/>
          <a:ext cx="9073008" cy="5809339"/>
        </p:xfrm>
        <a:graphic>
          <a:graphicData uri="http://schemas.openxmlformats.org/drawingml/2006/table">
            <a:tbl>
              <a:tblPr/>
              <a:tblGrid>
                <a:gridCol w="621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0193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31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1543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(9/19~9/25)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(9/26~10/2)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83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QV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항속형 차량 실차 합동 평가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일자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9/30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현대 남양 연구소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환경시험동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ES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항목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성적서 제출일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10/17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  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ES90700-02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제어기 고속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시험방법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  ES95480-00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고속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CAN(HSCAN)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설계 사양서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  ES95411-00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소프트웨어 평가 사양서  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 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ES95489-24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오픈소스 보안 취약점 검증 요구사항</a:t>
                      </a:r>
                    </a:p>
                    <a:p>
                      <a:pPr latinLnBrk="0"/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  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ES95489-21 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제어기 일반 보안 사양서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슬로바키아 법인 공정 감사 지원 요청 건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공정 감사 일정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25/10/29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목적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 EOL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공정 상 사이버 보안 및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PTC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기능 문의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 SPQA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SPQA Architecture Design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작성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Heating Control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SPQA Unit &amp; Integration Test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Heating Control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SPQA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육성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프로젝트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ES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항목 진행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90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34864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QV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24.09.01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25.07.05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25.12.01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25.03.15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29" name="그룹 16"/>
          <p:cNvGrpSpPr>
            <a:grpSpLocks noChangeAspect="1"/>
          </p:cNvGrpSpPr>
          <p:nvPr/>
        </p:nvGrpSpPr>
        <p:grpSpPr bwMode="auto">
          <a:xfrm>
            <a:off x="6089818" y="553413"/>
            <a:ext cx="1045724" cy="505515"/>
            <a:chOff x="0" y="135732"/>
            <a:chExt cx="604837" cy="482564"/>
          </a:xfrm>
        </p:grpSpPr>
        <p:sp>
          <p:nvSpPr>
            <p:cNvPr id="3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25.11.15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Pre P#2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32" name="위쪽 화살표 31"/>
          <p:cNvSpPr>
            <a:spLocks noChangeArrowheads="1"/>
          </p:cNvSpPr>
          <p:nvPr/>
        </p:nvSpPr>
        <p:spPr bwMode="auto">
          <a:xfrm rot="10800000">
            <a:off x="6552926" y="72827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7951770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9637351"/>
              </p:ext>
            </p:extLst>
          </p:nvPr>
        </p:nvGraphicFramePr>
        <p:xfrm>
          <a:off x="11059" y="536956"/>
          <a:ext cx="9097445" cy="5841504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6101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7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(9/19~9/25)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(9/26~10/2)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59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전력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선형 구간 재정립 회의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공조설계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일자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9/23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결과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시료 측정 진행 후 역 제안 요청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17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34864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err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SVm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24.09.01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25.08.15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26.03.30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26.06.30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25.06.30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41488668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8640484"/>
              </p:ext>
            </p:extLst>
          </p:nvPr>
        </p:nvGraphicFramePr>
        <p:xfrm>
          <a:off x="11059" y="536956"/>
          <a:ext cx="9097445" cy="5340316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(9/19~9/25)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(9/26~10/2)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19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좌우 온도 편차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FAIL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따른 합동 평가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(9/22)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한온시스템 실험실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결과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QV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와 비슷한 양상으로 측정 되었으며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지난 실차 평가의 세팅 문제라고 판단되어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실차 재평가 진행 예정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34864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BJ1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25.04.15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25.10.15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26.04.15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26.08.01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9735930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3350821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(9/19~9/25)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(9/26~10/2)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MX5a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25.08.15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26.04.01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26.10.01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27.04.15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7975222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652746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(9/19~9/25)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(9/26~10/2)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ko-KR" altLang="en-US" sz="1000" b="0" i="0" kern="1200" smtClean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NEaW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25.08.01</a:t>
              </a:r>
            </a:p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26.07.15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LP#1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TBD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27.01.15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M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26.04.15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SP#1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347630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565142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(9/19~9/25)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(9/26~10/2)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담당자 지정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임제훈 사원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ES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항목 진행 여부 확인 요청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(To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공조설계팀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  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ES90700-02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제어기 고속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시험방법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  ES95480-00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고속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CAN(HSCAN)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설계 사양서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  ES95411-00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소프트웨어 평가 사양서  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 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ES95489-24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오픈소스 보안 취약점 검증 요구사항</a:t>
                      </a:r>
                    </a:p>
                    <a:p>
                      <a:pPr latinLnBrk="0"/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  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ES95489-21 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제어기 일반 보안 사양서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</a:t>
            </a:r>
            <a:r>
              <a:rPr lang="en-US" altLang="ko-KR" sz="1600" b="1" noProof="0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X5e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25.06.01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26.08.15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27.05.01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5197025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51309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(9/19~9/25)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(9/26~10/2)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KY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24.06.01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24.10.15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25.05.01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25.07.15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24.08.31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7990915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3618725"/>
              </p:ext>
            </p:extLst>
          </p:nvPr>
        </p:nvGraphicFramePr>
        <p:xfrm>
          <a:off x="11059" y="536956"/>
          <a:ext cx="9097445" cy="5920605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80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(9/19~9/25)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(9/26~10/2)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A</a:t>
            </a: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Y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1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02" name="그룹 7"/>
          <p:cNvGrpSpPr>
            <a:grpSpLocks noChangeAspect="1"/>
          </p:cNvGrpSpPr>
          <p:nvPr/>
        </p:nvGrpSpPr>
        <p:grpSpPr bwMode="auto">
          <a:xfrm>
            <a:off x="3025337" y="555241"/>
            <a:ext cx="1023786" cy="689376"/>
            <a:chOff x="-1110" y="134593"/>
            <a:chExt cx="605947" cy="658079"/>
          </a:xfrm>
        </p:grpSpPr>
        <p:sp>
          <p:nvSpPr>
            <p:cNvPr id="103" name="위쪽 화살표 102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10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24.12.15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0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  <p:sp>
          <p:nvSpPr>
            <p:cNvPr id="106" name="Rectangle 46"/>
            <p:cNvSpPr>
              <a:spLocks noChangeArrowheads="1"/>
            </p:cNvSpPr>
            <p:nvPr/>
          </p:nvSpPr>
          <p:spPr bwMode="auto">
            <a:xfrm>
              <a:off x="-1110" y="538080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25.08.15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07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706808"/>
            <a:chOff x="0" y="134593"/>
            <a:chExt cx="604837" cy="674720"/>
          </a:xfrm>
        </p:grpSpPr>
        <p:sp>
          <p:nvSpPr>
            <p:cNvPr id="10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25.09.30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0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  <p:sp>
          <p:nvSpPr>
            <p:cNvPr id="110" name="Rectangle 46"/>
            <p:cNvSpPr>
              <a:spLocks noChangeArrowheads="1"/>
            </p:cNvSpPr>
            <p:nvPr/>
          </p:nvSpPr>
          <p:spPr bwMode="auto">
            <a:xfrm>
              <a:off x="0" y="55472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11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708267"/>
            <a:chOff x="0" y="135732"/>
            <a:chExt cx="604837" cy="676111"/>
          </a:xfrm>
        </p:grpSpPr>
        <p:sp>
          <p:nvSpPr>
            <p:cNvPr id="112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26.02.01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13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  <p:sp>
          <p:nvSpPr>
            <p:cNvPr id="114" name="Rectangle 46"/>
            <p:cNvSpPr>
              <a:spLocks noChangeArrowheads="1"/>
            </p:cNvSpPr>
            <p:nvPr/>
          </p:nvSpPr>
          <p:spPr bwMode="auto">
            <a:xfrm>
              <a:off x="0" y="55725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26.05.01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1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693556"/>
            <a:chOff x="0" y="137478"/>
            <a:chExt cx="604837" cy="662068"/>
          </a:xfrm>
        </p:grpSpPr>
        <p:sp>
          <p:nvSpPr>
            <p:cNvPr id="11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26.04.20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17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  <p:sp>
          <p:nvSpPr>
            <p:cNvPr id="118" name="Rectangle 46"/>
            <p:cNvSpPr>
              <a:spLocks noChangeArrowheads="1"/>
            </p:cNvSpPr>
            <p:nvPr/>
          </p:nvSpPr>
          <p:spPr bwMode="auto">
            <a:xfrm>
              <a:off x="0" y="54495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26.7.15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119" name="위쪽 화살표 118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0" name="위쪽 화살표 119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1" name="위쪽 화살표 120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122" name="그룹 12"/>
          <p:cNvGrpSpPr>
            <a:grpSpLocks noChangeAspect="1"/>
          </p:cNvGrpSpPr>
          <p:nvPr/>
        </p:nvGrpSpPr>
        <p:grpSpPr bwMode="auto">
          <a:xfrm>
            <a:off x="4105591" y="548680"/>
            <a:ext cx="1016448" cy="700430"/>
            <a:chOff x="-4514" y="134593"/>
            <a:chExt cx="609351" cy="668631"/>
          </a:xfrm>
        </p:grpSpPr>
        <p:sp>
          <p:nvSpPr>
            <p:cNvPr id="12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25.05.01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12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  <p:sp>
          <p:nvSpPr>
            <p:cNvPr id="125" name="Rectangle 46"/>
            <p:cNvSpPr>
              <a:spLocks noChangeArrowheads="1"/>
            </p:cNvSpPr>
            <p:nvPr/>
          </p:nvSpPr>
          <p:spPr bwMode="auto">
            <a:xfrm>
              <a:off x="-4514" y="5486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25.11.15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126" name="위쪽 화살표 125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Box 2"/>
          <p:cNvSpPr txBox="1"/>
          <p:nvPr/>
        </p:nvSpPr>
        <p:spPr>
          <a:xfrm>
            <a:off x="2734758" y="801357"/>
            <a:ext cx="45076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smtClean="0"/>
              <a:t>RHD</a:t>
            </a:r>
            <a:endParaRPr lang="ko-KR" altLang="en-US" sz="1000" b="1"/>
          </a:p>
        </p:txBody>
      </p:sp>
      <p:sp>
        <p:nvSpPr>
          <p:cNvPr id="34" name="TextBox 33"/>
          <p:cNvSpPr txBox="1"/>
          <p:nvPr/>
        </p:nvSpPr>
        <p:spPr>
          <a:xfrm>
            <a:off x="2734758" y="980621"/>
            <a:ext cx="43954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smtClean="0"/>
              <a:t>LHD</a:t>
            </a:r>
            <a:endParaRPr lang="ko-KR" altLang="en-US" sz="1000" b="1"/>
          </a:p>
        </p:txBody>
      </p:sp>
    </p:spTree>
    <p:extLst>
      <p:ext uri="{BB962C8B-B14F-4D97-AF65-F5344CB8AC3E}">
        <p14:creationId xmlns:p14="http://schemas.microsoft.com/office/powerpoint/2010/main" val="30056161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1566846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(9/19~9/25)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(9/26~10/2)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 err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Maruti</a:t>
            </a: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Suzuki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2" y="555241"/>
            <a:ext cx="1021911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-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1630539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5237598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(9/19~9/25)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(9/26~10/2)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담당자 선정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조현진 전임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ASPICE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프로세스에 따른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Kick-Off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회의 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(10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주차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SX3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solidFill>
                    <a:srgbClr val="FF0000"/>
                  </a:solidFill>
                  <a:latin typeface="+mn-ea"/>
                </a:rPr>
                <a:t>26.08.01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27.4.1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27.06.15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27.09.15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1772754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8602616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(9/19~9/25)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(9/26~10/2)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고전압 범위 변경에 따른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이원화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: SU2i, Ay, Ky Carry Over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제품으로 최초 접수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(25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/4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: Wire-Car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용 납품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: 25/8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월말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: Proto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두원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ESIR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용 납품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(90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: 25/8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월초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칵핏모듈업체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(Smart DNS) : 10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두원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80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: SW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전압 범위 변경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180V ~ 379V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168V ~ 445V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HE1i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solidFill>
                    <a:srgbClr val="FF0000"/>
                  </a:solidFill>
                  <a:latin typeface="+mn-ea"/>
                </a:rPr>
                <a:t>25.10.15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26.5.15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26.10.15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26.11.1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97098580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15306</TotalTime>
  <Words>1301</Words>
  <Application>Microsoft Office PowerPoint</Application>
  <PresentationFormat>화면 슬라이드 쇼(4:3)</PresentationFormat>
  <Paragraphs>384</Paragraphs>
  <Slides>13</Slides>
  <Notes>13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13</vt:i4>
      </vt:variant>
    </vt:vector>
  </HeadingPairs>
  <TitlesOfParts>
    <vt:vector size="22" baseType="lpstr">
      <vt:lpstr>맑은 고딕</vt:lpstr>
      <vt:lpstr>Lucida Sans Unicode</vt:lpstr>
      <vt:lpstr>Wingdings</vt:lpstr>
      <vt:lpstr>Arial</vt:lpstr>
      <vt:lpstr>굴림</vt:lpstr>
      <vt:lpstr>Verdana</vt:lpstr>
      <vt:lpstr>제안서 템플릿</vt:lpstr>
      <vt:lpstr>프레젠테이션</vt:lpstr>
      <vt:lpstr>포장기 셸 개체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Windows 사용자</cp:lastModifiedBy>
  <cp:revision>6096</cp:revision>
  <dcterms:created xsi:type="dcterms:W3CDTF">2019-10-24T04:42:23Z</dcterms:created>
  <dcterms:modified xsi:type="dcterms:W3CDTF">2025-09-26T00:07:00Z</dcterms:modified>
  <cp:version/>
</cp:coreProperties>
</file>