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embedTrueTypeFonts="1" saveSubsetFonts="1">
  <p:sldMasterIdLst>
    <p:sldMasterId id="2147483709" r:id="rId1"/>
  </p:sldMasterIdLst>
  <p:notesMasterIdLst>
    <p:notesMasterId r:id="rId14"/>
  </p:notesMasterIdLst>
  <p:handoutMasterIdLst>
    <p:handoutMasterId r:id="rId15"/>
  </p:handoutMasterIdLst>
  <p:sldIdLst>
    <p:sldId id="1005" r:id="rId2"/>
    <p:sldId id="958" r:id="rId3"/>
    <p:sldId id="997" r:id="rId4"/>
    <p:sldId id="998" r:id="rId5"/>
    <p:sldId id="994" r:id="rId6"/>
    <p:sldId id="1004" r:id="rId7"/>
    <p:sldId id="1000" r:id="rId8"/>
    <p:sldId id="1001" r:id="rId9"/>
    <p:sldId id="1002" r:id="rId10"/>
    <p:sldId id="1003" r:id="rId11"/>
    <p:sldId id="1006" r:id="rId12"/>
    <p:sldId id="1007" r:id="rId13"/>
  </p:sldIdLst>
  <p:sldSz cx="9144000" cy="6858000" type="screen4x3"/>
  <p:notesSz cx="6802438" cy="9934575"/>
  <p:embeddedFontLst>
    <p:embeddedFont>
      <p:font typeface="맑은 고딕" panose="020B0503020000020004" pitchFamily="50" charset="-127"/>
      <p:regular r:id="rId16"/>
      <p:bold r:id="rId17"/>
    </p:embeddedFont>
    <p:embeddedFont>
      <p:font typeface="Lucida Sans Unicode" panose="020B0602030504020204" pitchFamily="34" charset="0"/>
      <p:regular r:id="rId18"/>
    </p:embeddedFont>
    <p:embeddedFont>
      <p:font typeface="굴림" panose="020B0600000101010101" pitchFamily="50" charset="-127"/>
      <p:regular r:id="rId19"/>
    </p:embeddedFont>
    <p:embeddedFont>
      <p:font typeface="Verdana" panose="020B0604030504040204" pitchFamily="34" charset="0"/>
      <p:regular r:id="rId20"/>
      <p:bold r:id="rId21"/>
      <p:italic r:id="rId22"/>
      <p:boldItalic r:id="rId23"/>
    </p:embeddedFont>
  </p:embeddedFontLst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/>
        <a:ea typeface="굴림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/>
        <a:ea typeface="굴림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287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/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TxStyle/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TxStyle/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502" autoAdjust="0"/>
    <p:restoredTop sz="96400" autoAdjust="0"/>
  </p:normalViewPr>
  <p:slideViewPr>
    <p:cSldViewPr snapToObjects="1">
      <p:cViewPr varScale="1">
        <p:scale>
          <a:sx n="159" d="100"/>
          <a:sy n="159" d="100"/>
        </p:scale>
        <p:origin x="4608" y="150"/>
      </p:cViewPr>
      <p:guideLst>
        <p:guide orient="horz" pos="2159"/>
        <p:guide pos="2879"/>
      </p:guideLst>
    </p:cSldViewPr>
  </p:slid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40" d="100"/>
        <a:sy n="140" d="100"/>
      </p:scale>
      <p:origin x="0" y="-5916"/>
    </p:cViewPr>
  </p:sorterViewPr>
  <p:notesViewPr>
    <p:cSldViewPr snapToObjects="1">
      <p:cViewPr varScale="1">
        <p:scale>
          <a:sx n="85" d="100"/>
          <a:sy n="85" d="100"/>
        </p:scale>
        <p:origin x="3804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23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988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2863" y="0"/>
            <a:ext cx="2947987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14F0EACC-29E1-4123-AB74-F69792B7420C}" type="datetime1">
              <a:rPr lang="ko-KR" altLang="en-US"/>
              <a:pPr>
                <a:defRPr/>
              </a:pPr>
              <a:t>2025-09-23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436100"/>
            <a:ext cx="2947988" cy="498475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2863" y="9436100"/>
            <a:ext cx="2947987" cy="498475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 algn="r">
              <a:defRPr kumimoji="0"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fld id="{C5AD38E4-52FB-405C-8E19-6A254CCE2067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7988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2863" y="0"/>
            <a:ext cx="2947987" cy="498475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0B67648E-ACAE-4A84-9CB2-88D8D686B020}" type="datetime1">
              <a:rPr lang="ko-KR" altLang="en-US"/>
              <a:pPr>
                <a:defRPr/>
              </a:pPr>
              <a:t>2025-09-23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166813" y="1241425"/>
            <a:ext cx="4468812" cy="3352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1038" y="4781550"/>
            <a:ext cx="5441950" cy="391160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36100"/>
            <a:ext cx="2947988" cy="498475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2863" y="9436100"/>
            <a:ext cx="2947987" cy="498475"/>
          </a:xfrm>
          <a:prstGeom prst="rect">
            <a:avLst/>
          </a:prstGeom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 algn="r">
              <a:defRPr kumimoji="0" sz="1200">
                <a:latin typeface="맑은 고딕"/>
                <a:ea typeface="맑은 고딕"/>
              </a:defRPr>
            </a:lvl1pPr>
          </a:lstStyle>
          <a:p>
            <a:pPr lvl="0">
              <a:defRPr/>
            </a:pPr>
            <a:fld id="{29ED2F5D-67AF-441D-A814-CF7ACE32B267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lvl="0">
              <a:defRPr/>
            </a:pPr>
            <a:fld id="{29ED2F5D-67AF-441D-A814-CF7ACE32B267}" type="slidenum">
              <a:rPr lang="en-US" altLang="en-US"/>
              <a:pPr lvl="0">
                <a:defRPr/>
              </a:pPr>
              <a:t>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027975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70678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338732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89101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3768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561575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09390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30979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3152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387672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70401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4475004-9454-4C07-A18A-CD2DC04A4F75}" type="slidenum">
              <a:rPr kumimoji="0" lang="en-US" altLang="ko-K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altLang="ko-K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59497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6">
            <a:extLst>
              <a:ext uri="{FF2B5EF4-FFF2-40B4-BE49-F238E27FC236}">
                <a16:creationId xmlns:a16="http://schemas.microsoft.com/office/drawing/2014/main" id="{FAD228E9-8FB4-4FE0-8960-343D0C70C809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0" y="-26988"/>
            <a:ext cx="9144000" cy="2303463"/>
          </a:xfrm>
          <a:prstGeom prst="rect">
            <a:avLst/>
          </a:prstGeom>
          <a:gradFill flip="none" rotWithShape="1">
            <a:gsLst>
              <a:gs pos="0">
                <a:schemeClr val="bg1">
                  <a:lumMod val="50000"/>
                </a:schemeClr>
              </a:gs>
              <a:gs pos="100000">
                <a:schemeClr val="bg1">
                  <a:lumMod val="85000"/>
                </a:schemeClr>
              </a:gs>
            </a:gsLst>
            <a:lin ang="0" scaled="1"/>
            <a:tileRect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3" name="Freeform 38">
            <a:extLst>
              <a:ext uri="{FF2B5EF4-FFF2-40B4-BE49-F238E27FC236}">
                <a16:creationId xmlns:a16="http://schemas.microsoft.com/office/drawing/2014/main" id="{FE218359-3438-4B51-8D6A-457052163E4C}"/>
              </a:ext>
            </a:extLst>
          </p:cNvPr>
          <p:cNvSpPr>
            <a:spLocks/>
          </p:cNvSpPr>
          <p:nvPr userDrawn="1"/>
        </p:nvSpPr>
        <p:spPr bwMode="gray">
          <a:xfrm>
            <a:off x="0" y="3284538"/>
            <a:ext cx="1911350" cy="461962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1204" y="0"/>
              </a:cxn>
              <a:cxn ang="0">
                <a:pos x="1041" y="291"/>
              </a:cxn>
              <a:cxn ang="0">
                <a:pos x="0" y="286"/>
              </a:cxn>
              <a:cxn ang="0">
                <a:pos x="0" y="0"/>
              </a:cxn>
            </a:cxnLst>
            <a:rect l="0" t="0" r="r" b="b"/>
            <a:pathLst>
              <a:path w="1204" h="291">
                <a:moveTo>
                  <a:pt x="0" y="0"/>
                </a:moveTo>
                <a:lnTo>
                  <a:pt x="1204" y="0"/>
                </a:lnTo>
                <a:lnTo>
                  <a:pt x="1041" y="291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9525" cap="flat" cmpd="sng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4" name="Freeform 44">
            <a:extLst>
              <a:ext uri="{FF2B5EF4-FFF2-40B4-BE49-F238E27FC236}">
                <a16:creationId xmlns:a16="http://schemas.microsoft.com/office/drawing/2014/main" id="{17CFAC85-6B30-4974-950D-358A0033D0C3}"/>
              </a:ext>
            </a:extLst>
          </p:cNvPr>
          <p:cNvSpPr>
            <a:spLocks/>
          </p:cNvSpPr>
          <p:nvPr userDrawn="1"/>
        </p:nvSpPr>
        <p:spPr bwMode="gray">
          <a:xfrm>
            <a:off x="1908175" y="2276475"/>
            <a:ext cx="7240588" cy="1008063"/>
          </a:xfrm>
          <a:custGeom>
            <a:avLst/>
            <a:gdLst/>
            <a:ahLst/>
            <a:cxnLst>
              <a:cxn ang="0">
                <a:pos x="0" y="573"/>
              </a:cxn>
              <a:cxn ang="0">
                <a:pos x="4134" y="573"/>
              </a:cxn>
              <a:cxn ang="0">
                <a:pos x="4134" y="1"/>
              </a:cxn>
              <a:cxn ang="0">
                <a:pos x="322" y="0"/>
              </a:cxn>
              <a:cxn ang="0">
                <a:pos x="0" y="573"/>
              </a:cxn>
            </a:cxnLst>
            <a:rect l="0" t="0" r="r" b="b"/>
            <a:pathLst>
              <a:path w="4134" h="573">
                <a:moveTo>
                  <a:pt x="0" y="573"/>
                </a:moveTo>
                <a:lnTo>
                  <a:pt x="4134" y="573"/>
                </a:lnTo>
                <a:lnTo>
                  <a:pt x="4134" y="1"/>
                </a:lnTo>
                <a:lnTo>
                  <a:pt x="322" y="0"/>
                </a:lnTo>
                <a:lnTo>
                  <a:pt x="0" y="573"/>
                </a:lnTo>
                <a:close/>
              </a:path>
            </a:pathLst>
          </a:custGeom>
          <a:solidFill>
            <a:srgbClr val="CC0000">
              <a:alpha val="74902"/>
            </a:srgbClr>
          </a:solidFill>
          <a:ln w="9525">
            <a:noFill/>
            <a:round/>
            <a:headEnd/>
            <a:tailEnd/>
          </a:ln>
          <a:effectLst/>
        </p:spPr>
        <p:txBody>
          <a:bodyPr/>
          <a:lstStyle/>
          <a:p>
            <a:pPr algn="ctr" latinLnBrk="0">
              <a:defRPr/>
            </a:pPr>
            <a:endParaRPr kumimoji="0" lang="ko-KR" altLang="en-US" sz="1100" dirty="0">
              <a:solidFill>
                <a:srgbClr val="FFFFFF"/>
              </a:solidFill>
              <a:latin typeface="+mn-lt"/>
            </a:endParaRPr>
          </a:p>
        </p:txBody>
      </p:sp>
      <p:pic>
        <p:nvPicPr>
          <p:cNvPr id="5" name="Picture 46">
            <a:extLst>
              <a:ext uri="{FF2B5EF4-FFF2-40B4-BE49-F238E27FC236}">
                <a16:creationId xmlns:a16="http://schemas.microsoft.com/office/drawing/2014/main" id="{B53297AF-6519-407B-867F-AC4F2608A24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575" b="-2045"/>
          <a:stretch>
            <a:fillRect/>
          </a:stretch>
        </p:blipFill>
        <p:spPr bwMode="auto">
          <a:xfrm>
            <a:off x="252413" y="2655888"/>
            <a:ext cx="1498600" cy="528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1">
            <a:extLst>
              <a:ext uri="{FF2B5EF4-FFF2-40B4-BE49-F238E27FC236}">
                <a16:creationId xmlns:a16="http://schemas.microsoft.com/office/drawing/2014/main" id="{9EED3C8E-3CDE-4D79-A4EB-DE256320E9E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388" y="2349500"/>
            <a:ext cx="1728787" cy="2968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41543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2575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260494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2858905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626578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081637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7BE6FF5E-07DA-4B89-B715-6E19F831BEA3}"/>
              </a:ext>
            </a:extLst>
          </p:cNvPr>
          <p:cNvSpPr/>
          <p:nvPr userDrawn="1"/>
        </p:nvSpPr>
        <p:spPr>
          <a:xfrm>
            <a:off x="323850" y="6604000"/>
            <a:ext cx="6769100" cy="230188"/>
          </a:xfrm>
          <a:prstGeom prst="rect">
            <a:avLst/>
          </a:prstGeom>
        </p:spPr>
        <p:txBody>
          <a:bodyPr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en-US" sz="900" dirty="0">
                <a:solidFill>
                  <a:schemeClr val="bg1">
                    <a:lumMod val="65000"/>
                  </a:schemeClr>
                </a:solidFill>
                <a:latin typeface="Arial" charset="0"/>
                <a:ea typeface="+mn-ea"/>
                <a:cs typeface="Arial" charset="0"/>
              </a:rPr>
              <a:t>The information contained in this document may be privileged and confidential and thus protected from disclosure</a:t>
            </a:r>
            <a:endParaRPr kumimoji="0" lang="ko-KR" altLang="en-US" sz="900" dirty="0">
              <a:solidFill>
                <a:schemeClr val="bg1">
                  <a:lumMod val="65000"/>
                </a:schemeClr>
              </a:solidFill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24118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42295236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5414501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683178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39921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그림 1">
            <a:extLst>
              <a:ext uri="{FF2B5EF4-FFF2-40B4-BE49-F238E27FC236}">
                <a16:creationId xmlns:a16="http://schemas.microsoft.com/office/drawing/2014/main" id="{BB67A7F6-BFFB-4832-B11C-31A3C3558AE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75" t="20592" r="33426" b="72507"/>
          <a:stretch>
            <a:fillRect/>
          </a:stretch>
        </p:blipFill>
        <p:spPr bwMode="auto">
          <a:xfrm>
            <a:off x="7766050" y="6584950"/>
            <a:ext cx="1368425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Rectangle 36">
            <a:extLst>
              <a:ext uri="{FF2B5EF4-FFF2-40B4-BE49-F238E27FC236}">
                <a16:creationId xmlns:a16="http://schemas.microsoft.com/office/drawing/2014/main" id="{04234A19-3EAB-4D32-A573-4A01376C44D8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0" y="481013"/>
            <a:ext cx="542925" cy="60325"/>
          </a:xfrm>
          <a:prstGeom prst="rect">
            <a:avLst/>
          </a:prstGeom>
          <a:solidFill>
            <a:srgbClr val="FF0000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 fontAlgn="auto" latinLnBrk="0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solidFill>
                <a:prstClr val="black"/>
              </a:solidFill>
              <a:latin typeface="Lucida Sans Unicode"/>
              <a:ea typeface="+mn-ea"/>
            </a:endParaRPr>
          </a:p>
        </p:txBody>
      </p:sp>
      <p:sp>
        <p:nvSpPr>
          <p:cNvPr id="8" name="Rectangle 36">
            <a:extLst>
              <a:ext uri="{FF2B5EF4-FFF2-40B4-BE49-F238E27FC236}">
                <a16:creationId xmlns:a16="http://schemas.microsoft.com/office/drawing/2014/main" id="{071F7991-6104-4317-9C80-4574C36DA0D5}"/>
              </a:ext>
            </a:extLst>
          </p:cNvPr>
          <p:cNvSpPr>
            <a:spLocks noChangeArrowheads="1"/>
          </p:cNvSpPr>
          <p:nvPr userDrawn="1"/>
        </p:nvSpPr>
        <p:spPr bwMode="white">
          <a:xfrm>
            <a:off x="628650" y="481013"/>
            <a:ext cx="8515350" cy="6032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txBody>
          <a:bodyPr wrap="none" anchor="ctr"/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charset="-127"/>
              </a:defRPr>
            </a:lvl9pPr>
          </a:lstStyle>
          <a:p>
            <a:pPr eaLnBrk="1" latinLnBrk="0" hangingPunct="1">
              <a:defRPr/>
            </a:pPr>
            <a:endParaRPr kumimoji="0" lang="ko-KR" altLang="en-US" sz="1100" dirty="0">
              <a:solidFill>
                <a:srgbClr val="FFFFFF"/>
              </a:solidFill>
              <a:latin typeface="Verdana" pitchFamily="34" charset="0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CF50959-B8E2-4238-A88F-6395F53E7E37}"/>
              </a:ext>
            </a:extLst>
          </p:cNvPr>
          <p:cNvSpPr/>
          <p:nvPr userDrawn="1"/>
        </p:nvSpPr>
        <p:spPr>
          <a:xfrm>
            <a:off x="9525" y="6516688"/>
            <a:ext cx="6769100" cy="374650"/>
          </a:xfrm>
          <a:prstGeom prst="rect">
            <a:avLst/>
          </a:prstGeom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eaLnBrk="1" hangingPunct="1">
              <a:lnSpc>
                <a:spcPts val="1100"/>
              </a:lnSpc>
            </a:pPr>
            <a:r>
              <a:rPr kumimoji="0" lang="ko-KR" altLang="en-US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본 문서는 우리산업㈜의 자산으로 회사의 승인없이 외부 유포 및 공개가 금지 됩니다</a:t>
            </a:r>
            <a:r>
              <a:rPr kumimoji="0" lang="en-US" altLang="ko-KR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. </a:t>
            </a:r>
            <a:endParaRPr kumimoji="0" lang="en-US" altLang="en-US" sz="800">
              <a:solidFill>
                <a:srgbClr val="D9D9D9"/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eaLnBrk="1" hangingPunct="1">
              <a:lnSpc>
                <a:spcPts val="1100"/>
              </a:lnSpc>
            </a:pPr>
            <a:r>
              <a:rPr kumimoji="0" lang="en-US" altLang="en-US" sz="800">
                <a:solidFill>
                  <a:srgbClr val="D9D9D9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The information contained in this document may be privileged and confidential and thus protected from disclosure.</a:t>
            </a:r>
            <a:endParaRPr kumimoji="0" lang="ko-KR" altLang="en-US" sz="800">
              <a:solidFill>
                <a:srgbClr val="D9D9D9"/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8" r:id="rId7"/>
    <p:sldLayoutId id="2147483693" r:id="rId8"/>
    <p:sldLayoutId id="2147483694" r:id="rId9"/>
    <p:sldLayoutId id="2147483695" r:id="rId10"/>
    <p:sldLayoutId id="2147483696" r:id="rId11"/>
  </p:sldLayoutIdLst>
  <p:hf sldNum="0"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맑은 고딕" pitchFamily="50" charset="-127"/>
          <a:ea typeface="맑은 고딕" pitchFamily="50" charset="-127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v"/>
        <a:defRPr sz="28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§"/>
        <a:defRPr sz="2800">
          <a:solidFill>
            <a:schemeClr val="tx1"/>
          </a:solidFill>
          <a:latin typeface="+mj-lt"/>
          <a:ea typeface="맑은 고딕" pitchFamily="50" charset="-127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+mj-lt"/>
          <a:ea typeface="맑은 고딕" pitchFamily="50" charset="-127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j-lt"/>
          <a:ea typeface="맑은 고딕" pitchFamily="50" charset="-127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  <a:ea typeface="맑은 고딕" pitchFamily="50" charset="-127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j-lt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01" name="Group 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6720932"/>
              </p:ext>
            </p:extLst>
          </p:nvPr>
        </p:nvGraphicFramePr>
        <p:xfrm>
          <a:off x="215899" y="692696"/>
          <a:ext cx="8748589" cy="4574240"/>
        </p:xfrm>
        <a:graphic>
          <a:graphicData uri="http://schemas.openxmlformats.org/drawingml/2006/table">
            <a:tbl>
              <a:tblPr/>
              <a:tblGrid>
                <a:gridCol w="4948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6973">
                  <a:extLst>
                    <a:ext uri="{9D8B030D-6E8A-4147-A177-3AD203B41FA5}">
                      <a16:colId xmlns:a16="http://schemas.microsoft.com/office/drawing/2014/main" val="3009445602"/>
                    </a:ext>
                  </a:extLst>
                </a:gridCol>
                <a:gridCol w="4032448">
                  <a:extLst>
                    <a:ext uri="{9D8B030D-6E8A-4147-A177-3AD203B41FA5}">
                      <a16:colId xmlns:a16="http://schemas.microsoft.com/office/drawing/2014/main" val="644301783"/>
                    </a:ext>
                  </a:extLst>
                </a:gridCol>
                <a:gridCol w="1008113">
                  <a:extLst>
                    <a:ext uri="{9D8B030D-6E8A-4147-A177-3AD203B41FA5}">
                      <a16:colId xmlns:a16="http://schemas.microsoft.com/office/drawing/2014/main" val="2350242535"/>
                    </a:ext>
                  </a:extLst>
                </a:gridCol>
                <a:gridCol w="936104">
                  <a:extLst>
                    <a:ext uri="{9D8B030D-6E8A-4147-A177-3AD203B41FA5}">
                      <a16:colId xmlns:a16="http://schemas.microsoft.com/office/drawing/2014/main" val="631944199"/>
                    </a:ext>
                  </a:extLst>
                </a:gridCol>
                <a:gridCol w="7200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2658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순서</a:t>
                      </a:r>
                      <a:endParaRPr lang="ko-KR" altLang="en-US" sz="12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주요내용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조치내용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진행</a:t>
                      </a:r>
                      <a:r>
                        <a:rPr lang="en-US" altLang="ko-KR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/</a:t>
                      </a: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종료</a:t>
                      </a:r>
                      <a:endParaRPr lang="ko-KR" altLang="en-US" sz="14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유형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 b="0" kern="1200" dirty="0" smtClean="0">
                          <a:solidFill>
                            <a:schemeClr val="tx1"/>
                          </a:solidFill>
                          <a:latin typeface="맑은 고딕"/>
                          <a:ea typeface="+mn-ea"/>
                          <a:cs typeface="+mn-cs"/>
                        </a:rPr>
                        <a:t>비고</a:t>
                      </a:r>
                      <a:endParaRPr lang="en-US" altLang="ko-KR" sz="14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1542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1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QV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설계 변경 기안 완료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(9/12)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온도 편차 개선 위한 전력 제어 로직 적용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Dr :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95% (3,100W -&gt; 3,215W), Ps : 95% (3,100W -&gt; 2,987W)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코어 과열 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Limit 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제어 구간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Limit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제어 구간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90℃ ~ 105℃,</a:t>
                      </a:r>
                      <a:r>
                        <a:rPr lang="en-US" altLang="ko-KR" sz="1000" b="0" i="0" kern="1200" baseline="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Cut : 105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℃, Recovery : 90℃</a:t>
                      </a: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사이버 보안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사이버 보안 적용 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UPDATE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안되는 부분 공조 설계팀으로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이슈 제기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 PTC Heater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업데이트 시 차량 단위 시험이 복잡해져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,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기존 안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anose="05000000000000000000" pitchFamily="2" charset="2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   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대로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Bootloader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제거 하는 것으로 회신 받음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Wingdings" panose="05000000000000000000" pitchFamily="2" charset="2"/>
                        </a:rPr>
                        <a:t>.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 SPQA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육성 프로젝트 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SPQA 2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차 육성 프로젝트 심사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(09/16~09/19)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 ES95411 SPQA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성적서 제출일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10/17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25/9/10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 ~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smtClean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315568"/>
                  </a:ext>
                </a:extLst>
              </a:tr>
              <a:tr h="551542"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  <a:cs typeface="+mn-cs"/>
                        </a:rPr>
                        <a:t>2</a:t>
                      </a:r>
                      <a:endParaRPr lang="ko-KR" altLang="en-US" sz="1000" b="0" kern="120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SVm Limit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전력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LIMIT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및 선형 구간 재정립 하기 위한 문의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공조설계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전력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LIMIT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및 선형 구간 정립 시 실차조건에서 좌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우 편차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튜닝 진행 필요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고객사에 챔버 일정 요청 중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25/4/15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 ~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SVm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000" b="0" kern="120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차종 시험 평가 중 접수</a:t>
                      </a:r>
                      <a:endParaRPr lang="en-US" altLang="ko-KR" sz="1000" b="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717662"/>
                  </a:ext>
                </a:extLst>
              </a:tr>
              <a:tr h="55154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3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BJ1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 </a:t>
                      </a:r>
                      <a:r>
                        <a:rPr lang="ko-KR" altLang="en-US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좌우 온도 편차 </a:t>
                      </a: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SPEC </a:t>
                      </a:r>
                      <a:r>
                        <a:rPr lang="ko-KR" altLang="en-US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미달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온도 편차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FAIL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에 따른 합동 평가 예정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(9/22)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한온시스템 실험실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온도 편차 원인 분석 및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튜닝 예정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smtClean="0">
                          <a:solidFill>
                            <a:schemeClr val="tx1"/>
                          </a:solidFill>
                          <a:latin typeface="+mn-lt"/>
                          <a:ea typeface="맑은 고딕"/>
                          <a:cs typeface="+mn-cs"/>
                        </a:rPr>
                        <a:t>25/7/15 ~</a:t>
                      </a:r>
                      <a:endParaRPr lang="ko-KR" altLang="en-US" sz="1000" b="0" kern="1200" smtClean="0">
                        <a:solidFill>
                          <a:schemeClr val="tx1"/>
                        </a:solidFill>
                        <a:latin typeface="+mn-lt"/>
                        <a:ea typeface="맑은 고딕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kern="1200" baseline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BJ1 </a:t>
                      </a:r>
                      <a:r>
                        <a:rPr lang="ko-KR" altLang="en-US" sz="1000" b="0" kern="120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차종 시험 평가 중 접수</a:t>
                      </a:r>
                      <a:endParaRPr lang="en-US" altLang="ko-KR" sz="1000" b="0" kern="120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1" hangingPunct="1">
                        <a:lnSpc>
                          <a:spcPct val="11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000" b="0" kern="1200" dirty="0">
                        <a:solidFill>
                          <a:schemeClr val="tx1"/>
                        </a:solidFill>
                        <a:latin typeface="맑은 고딕"/>
                        <a:ea typeface="+mn-ea"/>
                        <a:cs typeface="+mn-cs"/>
                      </a:endParaRPr>
                    </a:p>
                  </a:txBody>
                  <a:tcPr marL="86400" marR="86400" marT="43277" marB="43277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056622"/>
                  </a:ext>
                </a:extLst>
              </a:tr>
            </a:tbl>
          </a:graphicData>
        </a:graphic>
      </p:graphicFrame>
      <p:sp>
        <p:nvSpPr>
          <p:cNvPr id="5" name="Text Box 3"/>
          <p:cNvSpPr txBox="1">
            <a:spLocks noChangeArrowheads="1"/>
          </p:cNvSpPr>
          <p:nvPr/>
        </p:nvSpPr>
        <p:spPr>
          <a:xfrm>
            <a:off x="191" y="50111"/>
            <a:ext cx="5003857" cy="41549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wrap="square" anchor="ctr">
            <a:spAutoFit/>
          </a:bodyPr>
          <a:lstStyle>
            <a:lvl1pPr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1pPr>
            <a:lvl2pPr marL="742950" indent="-28575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2pPr>
            <a:lvl3pPr marL="11430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3pPr>
            <a:lvl4pPr marL="16002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4pPr>
            <a:lvl5pPr marL="2057400" indent="-228600" eaLnBrk="0" hangingPunct="0"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1400">
                <a:solidFill>
                  <a:schemeClr val="tx1"/>
                </a:solidFill>
                <a:latin typeface="Impact"/>
                <a:ea typeface="굴림"/>
              </a:defRPr>
            </a:lvl9pPr>
          </a:lstStyle>
          <a:p>
            <a:pPr eaLnBrk="1" hangingPunct="1">
              <a:spcBef>
                <a:spcPct val="50000"/>
              </a:spcBef>
              <a:spcAft>
                <a:spcPts val="0"/>
              </a:spcAft>
              <a:buFont typeface="Wingdings"/>
              <a:buChar char="v"/>
              <a:defRPr/>
            </a:pPr>
            <a:r>
              <a:rPr lang="en-US" altLang="ko-KR" sz="2100" b="1" dirty="0">
                <a:latin typeface="+mn-ea"/>
                <a:ea typeface="+mn-ea"/>
              </a:rPr>
              <a:t>  </a:t>
            </a:r>
            <a:r>
              <a:rPr lang="ko-KR" altLang="en-US" sz="2100" b="1" dirty="0" smtClean="0">
                <a:latin typeface="+mn-ea"/>
                <a:ea typeface="+mn-ea"/>
              </a:rPr>
              <a:t>지시내용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smtClean="0">
                <a:latin typeface="+mn-ea"/>
                <a:ea typeface="+mn-ea"/>
              </a:rPr>
              <a:t>의사결정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smtClean="0">
                <a:latin typeface="+mn-ea"/>
                <a:ea typeface="+mn-ea"/>
              </a:rPr>
              <a:t>리스크</a:t>
            </a:r>
            <a:r>
              <a:rPr lang="en-US" altLang="ko-KR" sz="2100" b="1" dirty="0" smtClean="0">
                <a:latin typeface="+mn-ea"/>
                <a:ea typeface="+mn-ea"/>
              </a:rPr>
              <a:t>/</a:t>
            </a:r>
            <a:r>
              <a:rPr lang="ko-KR" altLang="en-US" sz="2100" b="1" dirty="0" err="1" smtClean="0">
                <a:latin typeface="+mn-ea"/>
                <a:ea typeface="+mn-ea"/>
              </a:rPr>
              <a:t>이슈현황</a:t>
            </a:r>
            <a:endParaRPr lang="ko-KR" altLang="en-US" sz="2100" b="1" dirty="0"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2329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6855981"/>
              </p:ext>
            </p:extLst>
          </p:nvPr>
        </p:nvGraphicFramePr>
        <p:xfrm>
          <a:off x="47211" y="536957"/>
          <a:ext cx="9073008" cy="5809339"/>
        </p:xfrm>
        <a:graphic>
          <a:graphicData uri="http://schemas.openxmlformats.org/drawingml/2006/table">
            <a:tbl>
              <a:tblPr/>
              <a:tblGrid>
                <a:gridCol w="6210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20193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318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61543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37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(9/19~9/25)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(9/26~10/2)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8357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QV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항속형 차량 실차 합동 평가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일자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9/30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현대 남양 연구소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환경시험동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ES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항목 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성적서 제출일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10/17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  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ES90700-02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제어기 고속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CAN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통신 시험방법</a:t>
                      </a:r>
                      <a:endParaRPr lang="en-US" altLang="ko-KR" sz="10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   ES95480-00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고속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CAN(HSCAN)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통신 설계 사양서</a:t>
                      </a:r>
                      <a:endParaRPr lang="en-US" altLang="ko-KR" sz="10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   ES95411-00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소프트웨어 평가 사양서  </a:t>
                      </a:r>
                      <a:endParaRPr lang="en-US" altLang="ko-KR" sz="10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  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ES95489-24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오픈소스 보안 취약점 검증 요구사항</a:t>
                      </a:r>
                    </a:p>
                    <a:p>
                      <a:pPr latinLnBrk="0"/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    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ES95489-21 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제어기 일반 보안 사양서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슬로바키아 법인 공정 감사 지원 요청 건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공정 감사 일정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25/10/29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목적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 EOL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공정 상 사이버 보안 및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PTC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기능 문의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 SPQA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SPQA Architecture Design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작성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Heating Control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SPQA Unit &amp; Integration Test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: Heating Control</a:t>
                      </a: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SPQA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육성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프로젝트 진행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ES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항목 진행 </a:t>
                      </a: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b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906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0" lang="en-US" altLang="ko-KR" sz="1000" b="0" i="0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j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348644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QV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24.09.01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25.07.05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25.12.01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25.03.15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29" name="그룹 16"/>
          <p:cNvGrpSpPr>
            <a:grpSpLocks noChangeAspect="1"/>
          </p:cNvGrpSpPr>
          <p:nvPr/>
        </p:nvGrpSpPr>
        <p:grpSpPr bwMode="auto">
          <a:xfrm>
            <a:off x="6089818" y="553413"/>
            <a:ext cx="1045724" cy="505515"/>
            <a:chOff x="0" y="135732"/>
            <a:chExt cx="604837" cy="482564"/>
          </a:xfrm>
        </p:grpSpPr>
        <p:sp>
          <p:nvSpPr>
            <p:cNvPr id="3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25.11.15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Pre P#2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32" name="위쪽 화살표 31"/>
          <p:cNvSpPr>
            <a:spLocks noChangeArrowheads="1"/>
          </p:cNvSpPr>
          <p:nvPr/>
        </p:nvSpPr>
        <p:spPr bwMode="auto">
          <a:xfrm rot="10800000">
            <a:off x="6552926" y="72827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79517707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9637351"/>
              </p:ext>
            </p:extLst>
          </p:nvPr>
        </p:nvGraphicFramePr>
        <p:xfrm>
          <a:off x="11059" y="536956"/>
          <a:ext cx="9097445" cy="5841504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96101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775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(9/19~9/25)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(9/26~10/2)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1590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S/W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전력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LIMIT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및 선형 구간 재정립 회의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공조설계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일자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9/23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결과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시료 측정 진행 후 역 제안 요청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spc="0" normalizeH="0" baseline="0" noProof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61746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 sz="1000" b="0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348644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 err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SVm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24.09.01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25.08.15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26.03.30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26.06.30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25.06.30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4148866831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8640484"/>
              </p:ext>
            </p:extLst>
          </p:nvPr>
        </p:nvGraphicFramePr>
        <p:xfrm>
          <a:off x="11059" y="536956"/>
          <a:ext cx="9097445" cy="5340316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(9/19~9/25)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(9/26~10/2)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8193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좌우 온도 편차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FAIL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에 따른 합동 평가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9/22)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장소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한온시스템 실험실 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결과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QV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와 비슷한 양상으로 측정 되었으며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지난 실차 평가의 세팅 문제라고 판단되어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       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실차 재평가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진행 예정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최대 난방 및 좌우 편차 대응</a:t>
                      </a:r>
                      <a:endParaRPr kumimoji="1" lang="en-US" altLang="ko-KR" sz="1000" b="0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</a:t>
                      </a: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348644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 typeface="Wingdings" pitchFamily="2" charset="2"/>
              <a:buChar char="v"/>
              <a:tabLst/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BJ1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25.04.15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25.10.15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26.04.15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26.08.01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25.09.15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973593047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3350821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(9/19~9/25)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(9/26~10/2)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MX5a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25.08.15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26.04.01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26.10.01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27.04.15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79752229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0652746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(9/19~9/25)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(9/26~10/2)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0"/>
                      <a:endParaRPr lang="ko-KR" altLang="en-US" sz="1000" b="0" i="0" kern="1200" smtClean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NEaW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25.08.01</a:t>
              </a:r>
            </a:p>
            <a:p>
              <a:pPr algn="ctr">
                <a:defRPr sz="1000"/>
              </a:pP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26.07.15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LP#1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TBD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27.01.15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M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26.04.15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SP#1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13476302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9565142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(9/19~9/25)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(9/26~10/2)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담당자 지정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-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임제훈 사원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 ES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항목 진행 여부 확인 요청 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(To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공조설계팀</a:t>
                      </a: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  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ES90700-02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제어기 고속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CAN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통신 시험방법</a:t>
                      </a:r>
                      <a:endParaRPr lang="en-US" altLang="ko-KR" sz="10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   ES95480-00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고속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CAN(HSCAN)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통신 설계 사양서</a:t>
                      </a:r>
                      <a:endParaRPr lang="en-US" altLang="ko-KR" sz="10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   ES95411-00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소프트웨어 평가 사양서  </a:t>
                      </a:r>
                      <a:endParaRPr lang="en-US" altLang="ko-KR" sz="1000" b="0" i="0" kern="1200" smtClean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latinLnBrk="0"/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    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ES95489-24 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오픈소스 보안 취약점 검증 요구사항</a:t>
                      </a:r>
                    </a:p>
                    <a:p>
                      <a:pPr latinLnBrk="0"/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     </a:t>
                      </a:r>
                      <a:r>
                        <a:rPr lang="en-US" altLang="ko-KR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ES95489-21 </a:t>
                      </a:r>
                      <a:r>
                        <a:rPr lang="ko-KR" altLang="en-US" sz="1000" b="0" i="0" kern="1200" smtClean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제어기 일반 보안 사양서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N</a:t>
            </a:r>
            <a:r>
              <a:rPr lang="en-US" altLang="ko-KR" sz="1600" b="1" noProof="0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X5e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25.06.01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26.08.15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27.05.01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-</a:t>
              </a: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51970254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351309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(9/19~9/25)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(9/26~10/2)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KY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24.06.01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24.10.15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25.05.01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25.07.15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24.08.31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79909156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3618725"/>
              </p:ext>
            </p:extLst>
          </p:nvPr>
        </p:nvGraphicFramePr>
        <p:xfrm>
          <a:off x="11059" y="536956"/>
          <a:ext cx="9097445" cy="5920605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31804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(9/19~9/25)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(9/26~10/2)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A</a:t>
            </a:r>
            <a:r>
              <a:rPr lang="en-US" altLang="ko-KR" sz="1600" b="1" dirty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Y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1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102" name="그룹 7"/>
          <p:cNvGrpSpPr>
            <a:grpSpLocks noChangeAspect="1"/>
          </p:cNvGrpSpPr>
          <p:nvPr/>
        </p:nvGrpSpPr>
        <p:grpSpPr bwMode="auto">
          <a:xfrm>
            <a:off x="3025337" y="555241"/>
            <a:ext cx="1023786" cy="689376"/>
            <a:chOff x="-1110" y="134593"/>
            <a:chExt cx="605947" cy="658079"/>
          </a:xfrm>
        </p:grpSpPr>
        <p:sp>
          <p:nvSpPr>
            <p:cNvPr id="103" name="위쪽 화살표 102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10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24.12.15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10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  <p:sp>
          <p:nvSpPr>
            <p:cNvPr id="106" name="Rectangle 46"/>
            <p:cNvSpPr>
              <a:spLocks noChangeArrowheads="1"/>
            </p:cNvSpPr>
            <p:nvPr/>
          </p:nvSpPr>
          <p:spPr bwMode="auto">
            <a:xfrm>
              <a:off x="-1110" y="538080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25.08.15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107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706808"/>
            <a:chOff x="0" y="134593"/>
            <a:chExt cx="604837" cy="674720"/>
          </a:xfrm>
        </p:grpSpPr>
        <p:sp>
          <p:nvSpPr>
            <p:cNvPr id="10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25.09.30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10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  <p:sp>
          <p:nvSpPr>
            <p:cNvPr id="110" name="Rectangle 46"/>
            <p:cNvSpPr>
              <a:spLocks noChangeArrowheads="1"/>
            </p:cNvSpPr>
            <p:nvPr/>
          </p:nvSpPr>
          <p:spPr bwMode="auto">
            <a:xfrm>
              <a:off x="0" y="554721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26.02.15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111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708267"/>
            <a:chOff x="0" y="135732"/>
            <a:chExt cx="604837" cy="676111"/>
          </a:xfrm>
        </p:grpSpPr>
        <p:sp>
          <p:nvSpPr>
            <p:cNvPr id="112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26.02.01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113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  <p:sp>
          <p:nvSpPr>
            <p:cNvPr id="114" name="Rectangle 46"/>
            <p:cNvSpPr>
              <a:spLocks noChangeArrowheads="1"/>
            </p:cNvSpPr>
            <p:nvPr/>
          </p:nvSpPr>
          <p:spPr bwMode="auto">
            <a:xfrm>
              <a:off x="0" y="557251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26.05.01</a:t>
              </a:r>
              <a:endParaRPr lang="en-US" altLang="ko-KR" sz="1000" dirty="0">
                <a:latin typeface="+mn-ea"/>
              </a:endParaRPr>
            </a:p>
          </p:txBody>
        </p:sp>
      </p:grpSp>
      <p:grpSp>
        <p:nvGrpSpPr>
          <p:cNvPr id="11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693556"/>
            <a:chOff x="0" y="137478"/>
            <a:chExt cx="604837" cy="662068"/>
          </a:xfrm>
        </p:grpSpPr>
        <p:sp>
          <p:nvSpPr>
            <p:cNvPr id="11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26.04.20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117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  <p:sp>
          <p:nvSpPr>
            <p:cNvPr id="118" name="Rectangle 46"/>
            <p:cNvSpPr>
              <a:spLocks noChangeArrowheads="1"/>
            </p:cNvSpPr>
            <p:nvPr/>
          </p:nvSpPr>
          <p:spPr bwMode="auto">
            <a:xfrm>
              <a:off x="0" y="54495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26.7.15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119" name="위쪽 화살표 118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0" name="위쪽 화살표 119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121" name="위쪽 화살표 120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122" name="그룹 12"/>
          <p:cNvGrpSpPr>
            <a:grpSpLocks noChangeAspect="1"/>
          </p:cNvGrpSpPr>
          <p:nvPr/>
        </p:nvGrpSpPr>
        <p:grpSpPr bwMode="auto">
          <a:xfrm>
            <a:off x="4105591" y="548680"/>
            <a:ext cx="1016448" cy="700430"/>
            <a:chOff x="-4514" y="134593"/>
            <a:chExt cx="609351" cy="668631"/>
          </a:xfrm>
        </p:grpSpPr>
        <p:sp>
          <p:nvSpPr>
            <p:cNvPr id="12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25.05.01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12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  <p:sp>
          <p:nvSpPr>
            <p:cNvPr id="125" name="Rectangle 46"/>
            <p:cNvSpPr>
              <a:spLocks noChangeArrowheads="1"/>
            </p:cNvSpPr>
            <p:nvPr/>
          </p:nvSpPr>
          <p:spPr bwMode="auto">
            <a:xfrm>
              <a:off x="-4514" y="548632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25.11.15</a:t>
              </a:r>
              <a:endParaRPr lang="en-US" altLang="ko-KR" sz="1000" dirty="0">
                <a:latin typeface="+mn-ea"/>
              </a:endParaRPr>
            </a:p>
          </p:txBody>
        </p:sp>
      </p:grpSp>
      <p:sp>
        <p:nvSpPr>
          <p:cNvPr id="126" name="위쪽 화살표 125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3" name="TextBox 2"/>
          <p:cNvSpPr txBox="1"/>
          <p:nvPr/>
        </p:nvSpPr>
        <p:spPr>
          <a:xfrm>
            <a:off x="2734758" y="801357"/>
            <a:ext cx="45076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 smtClean="0"/>
              <a:t>RHD</a:t>
            </a:r>
            <a:endParaRPr lang="ko-KR" altLang="en-US" sz="1000" b="1"/>
          </a:p>
        </p:txBody>
      </p:sp>
      <p:sp>
        <p:nvSpPr>
          <p:cNvPr id="34" name="TextBox 33"/>
          <p:cNvSpPr txBox="1"/>
          <p:nvPr/>
        </p:nvSpPr>
        <p:spPr>
          <a:xfrm>
            <a:off x="2734758" y="980621"/>
            <a:ext cx="439544" cy="246221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r>
              <a:rPr lang="en-US" altLang="ko-KR" sz="1000" b="1" smtClean="0"/>
              <a:t>LHD</a:t>
            </a:r>
            <a:endParaRPr lang="ko-KR" altLang="en-US" sz="1000" b="1"/>
          </a:p>
        </p:txBody>
      </p:sp>
    </p:spTree>
    <p:extLst>
      <p:ext uri="{BB962C8B-B14F-4D97-AF65-F5344CB8AC3E}">
        <p14:creationId xmlns:p14="http://schemas.microsoft.com/office/powerpoint/2010/main" val="3005616124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1566846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(9/19~9/25)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(9/26~10/2)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dirty="0" err="1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Maruti</a:t>
            </a:r>
            <a:r>
              <a:rPr lang="en-US" altLang="ko-KR" sz="1600" b="1" dirty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 Suzuki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43" name="그룹 7"/>
          <p:cNvGrpSpPr>
            <a:grpSpLocks noChangeAspect="1"/>
          </p:cNvGrpSpPr>
          <p:nvPr/>
        </p:nvGrpSpPr>
        <p:grpSpPr bwMode="auto">
          <a:xfrm>
            <a:off x="3027212" y="555241"/>
            <a:ext cx="1021911" cy="506707"/>
            <a:chOff x="0" y="134593"/>
            <a:chExt cx="604837" cy="483703"/>
          </a:xfrm>
        </p:grpSpPr>
        <p:sp>
          <p:nvSpPr>
            <p:cNvPr id="44" name="위쪽 화살표 43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4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solidFill>
                    <a:srgbClr val="FF0000"/>
                  </a:solidFill>
                  <a:latin typeface="+mn-ea"/>
                </a:rPr>
                <a:t>-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47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P#0</a:t>
              </a:r>
            </a:p>
          </p:txBody>
        </p:sp>
      </p:grpSp>
      <p:grpSp>
        <p:nvGrpSpPr>
          <p:cNvPr id="48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5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1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52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5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4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55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56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6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63" name="위쪽 화살표 62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65" name="위쪽 화살표 6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70" name="위쪽 화살표 69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72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73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 smtClean="0">
                  <a:latin typeface="+mn-ea"/>
                </a:rPr>
                <a:t>-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74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75" name="위쪽 화살표 74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163053982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433725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(9/19~9/25)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(9/26~10/2)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담당자 선정</a:t>
                      </a:r>
                      <a:endParaRPr kumimoji="1" lang="en-US" altLang="ko-KR" sz="1000" b="0" i="0" u="none" strike="noStrike" kern="1200" cap="none" normalizeH="0" baseline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: </a:t>
                      </a:r>
                      <a:r>
                        <a:rPr kumimoji="1" lang="ko-KR" altLang="en-US" sz="1000" b="0" i="0" u="none" strike="noStrike" kern="1200" cap="none" normalizeH="0" baseline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조현진 전임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SX3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26.08.01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32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3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27.4.1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36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37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27.06.15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8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39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27.09.15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5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60" name="위쪽 화살표 59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3177275448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3515088"/>
              </p:ext>
            </p:extLst>
          </p:nvPr>
        </p:nvGraphicFramePr>
        <p:xfrm>
          <a:off x="11059" y="536956"/>
          <a:ext cx="9097445" cy="5916380"/>
        </p:xfrm>
        <a:graphic>
          <a:graphicData uri="http://schemas.openxmlformats.org/drawingml/2006/table">
            <a:tbl>
              <a:tblPr/>
              <a:tblGrid>
                <a:gridCol w="6226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1021">
                  <a:extLst>
                    <a:ext uri="{9D8B030D-6E8A-4147-A177-3AD203B41FA5}">
                      <a16:colId xmlns:a16="http://schemas.microsoft.com/office/drawing/2014/main" val="2584085298"/>
                    </a:ext>
                  </a:extLst>
                </a:gridCol>
                <a:gridCol w="44437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757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71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구분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실적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(9/19~9/25)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1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1" lang="ko-KR" altLang="en-US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계획</a:t>
                      </a:r>
                      <a:r>
                        <a:rPr kumimoji="1" lang="en-US" altLang="ko-KR" sz="1400" b="1" i="0" u="none" strike="noStrike" cap="none" normalizeH="0" baseline="0" smtClean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(9/26~10/2)</a:t>
                      </a:r>
                      <a:endParaRPr kumimoji="1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6400" marR="86400" marT="43172" marB="43172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57994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주요</a:t>
                      </a:r>
                      <a:endParaRPr kumimoji="1" lang="en-US" altLang="ko-KR" sz="12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업무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1" i="0" u="none" strike="noStrike" kern="1200" cap="none" normalizeH="0" baseline="0" dirty="0" smtClean="0">
                        <a:ln>
                          <a:noFill/>
                        </a:ln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en-US" altLang="ko-KR" sz="1000" b="1" i="0" u="none" strike="noStrike" kern="1200" cap="none" normalizeH="0" baseline="0" smtClean="0">
                          <a:ln>
                            <a:noFill/>
                          </a:ln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  </a:t>
                      </a:r>
                      <a:endParaRPr kumimoji="1" lang="en-US" altLang="ko-KR" sz="1000" b="0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  <a:sym typeface="Wingdings" pitchFamily="2" charset="2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kumimoji="1" lang="ko-KR" altLang="en-US" sz="1200" b="1" i="0" u="none" strike="noStrike" kern="1200" cap="none" normalizeH="0" baseline="0" dirty="0" err="1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출장내용</a:t>
                      </a:r>
                      <a:endParaRPr kumimoji="1" lang="en-US" altLang="ko-KR" sz="12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anchor="ctr" horzOverflow="overflow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  <a:defRPr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FF0000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endParaRPr kumimoji="1" lang="en-US" altLang="ko-KR" sz="1000" b="1" i="0" u="none" strike="noStrike" kern="1200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86400" marR="86400" marT="43172" marB="4317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 Box 3"/>
          <p:cNvSpPr txBox="1">
            <a:spLocks noChangeArrowheads="1"/>
          </p:cNvSpPr>
          <p:nvPr/>
        </p:nvSpPr>
        <p:spPr bwMode="auto">
          <a:xfrm>
            <a:off x="0" y="44624"/>
            <a:ext cx="5443221" cy="415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spAutoFit/>
          </a:bodyPr>
          <a:lstStyle>
            <a:defPPr>
              <a:defRPr lang="ko-KR"/>
            </a:defPPr>
            <a:lvl1pPr>
              <a:spcBef>
                <a:spcPct val="50000"/>
              </a:spcBef>
              <a:buFont typeface="Wingdings" pitchFamily="2" charset="2"/>
              <a:buChar char="v"/>
              <a:defRPr sz="320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HY헤드라인M" pitchFamily="18" charset="-127"/>
                <a:ea typeface="HY헤드라인M" pitchFamily="18" charset="-127"/>
              </a:defRPr>
            </a:lvl1pPr>
          </a:lstStyle>
          <a:p>
            <a:pPr lvl="0" fontAlgn="auto">
              <a:spcAft>
                <a:spcPts val="0"/>
              </a:spcAft>
              <a:defRPr/>
            </a:pP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lang="en-US" altLang="ko-KR" sz="2100" b="1" dirty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PTC </a:t>
            </a:r>
            <a:r>
              <a:rPr lang="en-US" altLang="ko-KR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S/W</a:t>
            </a:r>
            <a:r>
              <a:rPr lang="ko-KR" altLang="en-US" sz="2100" b="1" dirty="0" smtClean="0">
                <a:solidFill>
                  <a:prstClr val="black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팀 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주간 업무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(</a:t>
            </a:r>
            <a:r>
              <a:rPr kumimoji="1" lang="ko-KR" altLang="en-US" sz="2100" b="1" i="0" u="none" strike="noStrike" kern="1200" cap="none" spc="0" normalizeH="0" baseline="0" noProof="0" dirty="0" err="1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차종별</a:t>
            </a:r>
            <a:r>
              <a:rPr kumimoji="1" lang="ko-KR" altLang="en-US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업데이트</a:t>
            </a:r>
            <a:r>
              <a:rPr kumimoji="1" lang="en-US" altLang="ko-KR" sz="2100" b="1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)</a:t>
            </a:r>
            <a:endParaRPr kumimoji="1" lang="en-US" altLang="ko-KR" sz="21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7E68D9-DFCD-D490-2C1D-1B13D1698110}"/>
              </a:ext>
            </a:extLst>
          </p:cNvPr>
          <p:cNvSpPr txBox="1"/>
          <p:nvPr/>
        </p:nvSpPr>
        <p:spPr>
          <a:xfrm>
            <a:off x="378983" y="692696"/>
            <a:ext cx="102466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600" b="1" noProof="0" smtClean="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t>HE1i</a:t>
            </a:r>
            <a:endParaRPr kumimoji="0" lang="ko-KR" altLang="en-US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</a:endParaRP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4FBE7328-7139-5DFD-A85E-7B6F4FF199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8454" y="5381204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/>
            </a:r>
            <a:br>
              <a:rPr kumimoji="0" lang="ko-KR" altLang="ko-K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0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endParaRPr kumimoji="0" lang="ko-KR" altLang="ko-KR" sz="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7" name="Line 10"/>
          <p:cNvSpPr>
            <a:spLocks noChangeShapeType="1"/>
          </p:cNvSpPr>
          <p:nvPr/>
        </p:nvSpPr>
        <p:spPr bwMode="auto">
          <a:xfrm>
            <a:off x="2412134" y="795248"/>
            <a:ext cx="6362305" cy="24866"/>
          </a:xfrm>
          <a:prstGeom prst="line">
            <a:avLst/>
          </a:prstGeom>
          <a:noFill/>
          <a:ln w="38100">
            <a:solidFill>
              <a:srgbClr val="376092"/>
            </a:solidFill>
            <a:round/>
            <a:headEnd type="oval" w="med" len="med"/>
            <a:tailEnd type="oval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ko-KR" altLang="en-US"/>
          </a:p>
        </p:txBody>
      </p:sp>
      <p:grpSp>
        <p:nvGrpSpPr>
          <p:cNvPr id="29" name="그룹 7"/>
          <p:cNvGrpSpPr>
            <a:grpSpLocks noChangeAspect="1"/>
          </p:cNvGrpSpPr>
          <p:nvPr/>
        </p:nvGrpSpPr>
        <p:grpSpPr bwMode="auto">
          <a:xfrm>
            <a:off x="3027213" y="555241"/>
            <a:ext cx="1021910" cy="506707"/>
            <a:chOff x="0" y="134593"/>
            <a:chExt cx="604837" cy="483703"/>
          </a:xfrm>
        </p:grpSpPr>
        <p:sp>
          <p:nvSpPr>
            <p:cNvPr id="30" name="위쪽 화살표 29"/>
            <p:cNvSpPr>
              <a:spLocks noChangeArrowheads="1"/>
            </p:cNvSpPr>
            <p:nvPr/>
          </p:nvSpPr>
          <p:spPr bwMode="auto">
            <a:xfrm rot="10800000">
              <a:off x="257391" y="287605"/>
              <a:ext cx="71370" cy="92137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400"/>
            </a:p>
          </p:txBody>
        </p:sp>
        <p:sp>
          <p:nvSpPr>
            <p:cNvPr id="31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solidFill>
                    <a:srgbClr val="FF0000"/>
                  </a:solidFill>
                  <a:latin typeface="+mn-ea"/>
                </a:rPr>
                <a:t>26.08.01</a:t>
              </a:r>
              <a:endParaRPr lang="en-US" altLang="ko-KR" sz="1000" dirty="0">
                <a:solidFill>
                  <a:srgbClr val="FF0000"/>
                </a:solidFill>
                <a:latin typeface="+mn-ea"/>
              </a:endParaRPr>
            </a:p>
          </p:txBody>
        </p:sp>
        <p:sp>
          <p:nvSpPr>
            <p:cNvPr id="32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solidFill>
                    <a:srgbClr val="FF0000"/>
                  </a:solidFill>
                  <a:latin typeface="+mn-ea"/>
                </a:rPr>
                <a:t>P#0</a:t>
              </a:r>
            </a:p>
          </p:txBody>
        </p:sp>
      </p:grpSp>
      <p:grpSp>
        <p:nvGrpSpPr>
          <p:cNvPr id="33" name="그룹 12"/>
          <p:cNvGrpSpPr>
            <a:grpSpLocks noChangeAspect="1"/>
          </p:cNvGrpSpPr>
          <p:nvPr/>
        </p:nvGrpSpPr>
        <p:grpSpPr bwMode="auto">
          <a:xfrm>
            <a:off x="5364088" y="548680"/>
            <a:ext cx="1008918" cy="506707"/>
            <a:chOff x="0" y="134593"/>
            <a:chExt cx="604837" cy="483703"/>
          </a:xfrm>
        </p:grpSpPr>
        <p:sp>
          <p:nvSpPr>
            <p:cNvPr id="34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27.4.1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5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P#1</a:t>
              </a:r>
            </a:p>
          </p:txBody>
        </p:sp>
      </p:grpSp>
      <p:grpSp>
        <p:nvGrpSpPr>
          <p:cNvPr id="36" name="그룹 16"/>
          <p:cNvGrpSpPr>
            <a:grpSpLocks noChangeAspect="1"/>
          </p:cNvGrpSpPr>
          <p:nvPr/>
        </p:nvGrpSpPr>
        <p:grpSpPr bwMode="auto">
          <a:xfrm>
            <a:off x="6766636" y="547221"/>
            <a:ext cx="1045724" cy="505515"/>
            <a:chOff x="0" y="135732"/>
            <a:chExt cx="604837" cy="482564"/>
          </a:xfrm>
        </p:grpSpPr>
        <p:sp>
          <p:nvSpPr>
            <p:cNvPr id="37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27.06.15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38" name="Rectangle 46"/>
            <p:cNvSpPr>
              <a:spLocks noChangeArrowheads="1"/>
            </p:cNvSpPr>
            <p:nvPr/>
          </p:nvSpPr>
          <p:spPr bwMode="auto">
            <a:xfrm>
              <a:off x="26297" y="135732"/>
              <a:ext cx="54347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P#2</a:t>
              </a:r>
            </a:p>
          </p:txBody>
        </p:sp>
      </p:grpSp>
      <p:grpSp>
        <p:nvGrpSpPr>
          <p:cNvPr id="39" name="그룹 20"/>
          <p:cNvGrpSpPr>
            <a:grpSpLocks noChangeAspect="1"/>
          </p:cNvGrpSpPr>
          <p:nvPr/>
        </p:nvGrpSpPr>
        <p:grpSpPr bwMode="auto">
          <a:xfrm>
            <a:off x="8221953" y="555242"/>
            <a:ext cx="1030567" cy="503686"/>
            <a:chOff x="0" y="137478"/>
            <a:chExt cx="604837" cy="480818"/>
          </a:xfrm>
        </p:grpSpPr>
        <p:sp>
          <p:nvSpPr>
            <p:cNvPr id="40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27.09.15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41" name="Rectangle 46"/>
            <p:cNvSpPr>
              <a:spLocks noChangeArrowheads="1"/>
            </p:cNvSpPr>
            <p:nvPr/>
          </p:nvSpPr>
          <p:spPr bwMode="auto">
            <a:xfrm>
              <a:off x="26684" y="137478"/>
              <a:ext cx="542574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SOP</a:t>
              </a:r>
            </a:p>
          </p:txBody>
        </p:sp>
      </p:grpSp>
      <p:sp>
        <p:nvSpPr>
          <p:cNvPr id="42" name="위쪽 화살표 41"/>
          <p:cNvSpPr>
            <a:spLocks noChangeArrowheads="1"/>
          </p:cNvSpPr>
          <p:nvPr/>
        </p:nvSpPr>
        <p:spPr bwMode="auto">
          <a:xfrm rot="10800000">
            <a:off x="5796136" y="70277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5" name="위쪽 화살표 44"/>
          <p:cNvSpPr>
            <a:spLocks noChangeArrowheads="1"/>
          </p:cNvSpPr>
          <p:nvPr/>
        </p:nvSpPr>
        <p:spPr bwMode="auto">
          <a:xfrm rot="10800000">
            <a:off x="7229744" y="722087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sp>
        <p:nvSpPr>
          <p:cNvPr id="49" name="위쪽 화살표 48"/>
          <p:cNvSpPr>
            <a:spLocks noChangeArrowheads="1"/>
          </p:cNvSpPr>
          <p:nvPr/>
        </p:nvSpPr>
        <p:spPr bwMode="auto">
          <a:xfrm rot="10800000">
            <a:off x="8676456" y="715530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  <p:grpSp>
        <p:nvGrpSpPr>
          <p:cNvPr id="57" name="그룹 12"/>
          <p:cNvGrpSpPr>
            <a:grpSpLocks noChangeAspect="1"/>
          </p:cNvGrpSpPr>
          <p:nvPr/>
        </p:nvGrpSpPr>
        <p:grpSpPr bwMode="auto">
          <a:xfrm>
            <a:off x="4113121" y="548680"/>
            <a:ext cx="1008918" cy="506707"/>
            <a:chOff x="0" y="134593"/>
            <a:chExt cx="604837" cy="483703"/>
          </a:xfrm>
        </p:grpSpPr>
        <p:sp>
          <p:nvSpPr>
            <p:cNvPr id="58" name="Rectangle 46"/>
            <p:cNvSpPr>
              <a:spLocks noChangeArrowheads="1"/>
            </p:cNvSpPr>
            <p:nvPr/>
          </p:nvSpPr>
          <p:spPr bwMode="auto">
            <a:xfrm>
              <a:off x="0" y="363704"/>
              <a:ext cx="604837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smtClean="0">
                  <a:latin typeface="+mn-ea"/>
                </a:rPr>
                <a:t>27.02.15</a:t>
              </a:r>
              <a:endParaRPr lang="en-US" altLang="ko-KR" sz="1000" dirty="0">
                <a:latin typeface="+mn-ea"/>
              </a:endParaRPr>
            </a:p>
          </p:txBody>
        </p:sp>
        <p:sp>
          <p:nvSpPr>
            <p:cNvPr id="59" name="Rectangle 46"/>
            <p:cNvSpPr>
              <a:spLocks noChangeArrowheads="1"/>
            </p:cNvSpPr>
            <p:nvPr/>
          </p:nvSpPr>
          <p:spPr bwMode="auto">
            <a:xfrm>
              <a:off x="27082" y="134593"/>
              <a:ext cx="541645" cy="2545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upright="1"/>
            <a:lstStyle>
              <a:lvl1pPr marL="0" indent="0">
                <a:defRPr sz="1100">
                  <a:latin typeface="+mn-lt"/>
                  <a:ea typeface="+mn-ea"/>
                  <a:cs typeface="+mn-cs"/>
                </a:defRPr>
              </a:lvl1pPr>
              <a:lvl2pPr marL="457200" indent="0">
                <a:defRPr sz="1100">
                  <a:latin typeface="+mn-lt"/>
                  <a:ea typeface="+mn-ea"/>
                  <a:cs typeface="+mn-cs"/>
                </a:defRPr>
              </a:lvl2pPr>
              <a:lvl3pPr marL="914400" indent="0">
                <a:defRPr sz="1100">
                  <a:latin typeface="+mn-lt"/>
                  <a:ea typeface="+mn-ea"/>
                  <a:cs typeface="+mn-cs"/>
                </a:defRPr>
              </a:lvl3pPr>
              <a:lvl4pPr marL="1371600" indent="0">
                <a:defRPr sz="1100">
                  <a:latin typeface="+mn-lt"/>
                  <a:ea typeface="+mn-ea"/>
                  <a:cs typeface="+mn-cs"/>
                </a:defRPr>
              </a:lvl4pPr>
              <a:lvl5pPr marL="1828800" indent="0">
                <a:defRPr sz="1100">
                  <a:latin typeface="+mn-lt"/>
                  <a:ea typeface="+mn-ea"/>
                  <a:cs typeface="+mn-cs"/>
                </a:defRPr>
              </a:lvl5pPr>
              <a:lvl6pPr marL="2286000" indent="0">
                <a:defRPr sz="1100">
                  <a:latin typeface="+mn-lt"/>
                  <a:ea typeface="+mn-ea"/>
                  <a:cs typeface="+mn-cs"/>
                </a:defRPr>
              </a:lvl6pPr>
              <a:lvl7pPr marL="2743200" indent="0">
                <a:defRPr sz="1100">
                  <a:latin typeface="+mn-lt"/>
                  <a:ea typeface="+mn-ea"/>
                  <a:cs typeface="+mn-cs"/>
                </a:defRPr>
              </a:lvl7pPr>
              <a:lvl8pPr marL="3200400" indent="0">
                <a:defRPr sz="1100">
                  <a:latin typeface="+mn-lt"/>
                  <a:ea typeface="+mn-ea"/>
                  <a:cs typeface="+mn-cs"/>
                </a:defRPr>
              </a:lvl8pPr>
              <a:lvl9pPr marL="3657600" indent="0">
                <a:defRPr sz="1100"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defRPr sz="1000"/>
              </a:pPr>
              <a:r>
                <a:rPr lang="en-US" altLang="ko-KR" sz="1000" dirty="0">
                  <a:latin typeface="+mn-ea"/>
                </a:rPr>
                <a:t>MCAR</a:t>
              </a:r>
            </a:p>
          </p:txBody>
        </p:sp>
      </p:grpSp>
      <p:sp>
        <p:nvSpPr>
          <p:cNvPr id="60" name="위쪽 화살표 59"/>
          <p:cNvSpPr>
            <a:spLocks noChangeArrowheads="1"/>
          </p:cNvSpPr>
          <p:nvPr/>
        </p:nvSpPr>
        <p:spPr bwMode="auto">
          <a:xfrm rot="10800000">
            <a:off x="4523423" y="708969"/>
            <a:ext cx="120585" cy="96519"/>
          </a:xfrm>
          <a:prstGeom prst="up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 w="9525" algn="ctr">
            <a:solidFill>
              <a:srgbClr val="FF0000"/>
            </a:solidFill>
            <a:round/>
            <a:headEnd/>
            <a:tailEnd/>
          </a:ln>
        </p:spPr>
        <p:txBody>
          <a:bodyPr/>
          <a:lstStyle/>
          <a:p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197098580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제안서 템플릿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a:style>
    </a:spDef>
    <a:lnDef>
      <a:spPr>
        <a:noFill/>
        <a:ln w="9525" cap="flat" cmpd="sng" algn="ctr">
          <a:noFill/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FontTx/>
          <a:buNone/>
          <a:defRPr kumimoji="0" lang="en-US" sz="1100" b="0" i="0" u="none" strike="noStrike" cap="none" normalizeH="0" baseline="0" smtClean="0">
            <a:solidFill>
              <a:schemeClr val="bg1"/>
            </a:solidFill>
            <a:effectLst/>
            <a:latin typeface="Verdana"/>
            <a:ea typeface="굴림"/>
          </a:defRPr>
        </a:defPPr>
      </a:lstStyle>
    </a:lnDef>
    <a:txDef>
      <a:spPr/>
      <a:bodyPr/>
      <a:lstStyle/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15253</TotalTime>
  <Words>1032</Words>
  <Application>Microsoft Office PowerPoint</Application>
  <PresentationFormat>화면 슬라이드 쇼(4:3)</PresentationFormat>
  <Paragraphs>345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9" baseType="lpstr">
      <vt:lpstr>맑은 고딕</vt:lpstr>
      <vt:lpstr>Lucida Sans Unicode</vt:lpstr>
      <vt:lpstr>Wingdings</vt:lpstr>
      <vt:lpstr>Arial</vt:lpstr>
      <vt:lpstr>굴림</vt:lpstr>
      <vt:lpstr>Verdana</vt:lpstr>
      <vt:lpstr>제안서 템플릿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Simon Jun</dc:creator>
  <cp:lastModifiedBy>Windows 사용자</cp:lastModifiedBy>
  <cp:revision>6079</cp:revision>
  <dcterms:created xsi:type="dcterms:W3CDTF">2019-10-24T04:42:23Z</dcterms:created>
  <dcterms:modified xsi:type="dcterms:W3CDTF">2025-09-23T10:51:14Z</dcterms:modified>
  <cp:version/>
</cp:coreProperties>
</file>