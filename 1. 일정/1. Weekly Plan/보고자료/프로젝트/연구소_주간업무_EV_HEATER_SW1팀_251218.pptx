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709" r:id="rId1"/>
  </p:sldMasterIdLst>
  <p:notesMasterIdLst>
    <p:notesMasterId r:id="rId22"/>
  </p:notesMasterIdLst>
  <p:handoutMasterIdLst>
    <p:handoutMasterId r:id="rId23"/>
  </p:handoutMasterIdLst>
  <p:sldIdLst>
    <p:sldId id="1014" r:id="rId2"/>
    <p:sldId id="1017" r:id="rId3"/>
    <p:sldId id="1012" r:id="rId4"/>
    <p:sldId id="1010" r:id="rId5"/>
    <p:sldId id="958" r:id="rId6"/>
    <p:sldId id="997" r:id="rId7"/>
    <p:sldId id="998" r:id="rId8"/>
    <p:sldId id="994" r:id="rId9"/>
    <p:sldId id="1004" r:id="rId10"/>
    <p:sldId id="1000" r:id="rId11"/>
    <p:sldId id="1001" r:id="rId12"/>
    <p:sldId id="1002" r:id="rId13"/>
    <p:sldId id="1003" r:id="rId14"/>
    <p:sldId id="1006" r:id="rId15"/>
    <p:sldId id="1007" r:id="rId16"/>
    <p:sldId id="1016" r:id="rId17"/>
    <p:sldId id="1008" r:id="rId18"/>
    <p:sldId id="1009" r:id="rId19"/>
    <p:sldId id="1011" r:id="rId20"/>
    <p:sldId id="1015" r:id="rId21"/>
  </p:sldIdLst>
  <p:sldSz cx="9144000" cy="6858000" type="screen4x3"/>
  <p:notesSz cx="6802438" cy="9934575"/>
  <p:embeddedFontLst>
    <p:embeddedFont>
      <p:font typeface="맑은 고딕" panose="020B0503020000020004" pitchFamily="34" charset="-127"/>
      <p:regular r:id="rId24"/>
      <p:bold r:id="rId25"/>
    </p:embeddedFont>
    <p:embeddedFont>
      <p:font typeface="Lucida Sans Unicode" panose="020B0602030504020204" pitchFamily="34" charset="0"/>
      <p:regular r:id="rId26"/>
    </p:embeddedFont>
    <p:embeddedFont>
      <p:font typeface="굴림" panose="020B0600000101010101" pitchFamily="34" charset="-127"/>
      <p:regular r:id="rId27"/>
    </p:embeddedFont>
    <p:embeddedFont>
      <p:font typeface="Verdana" panose="020B0604030504040204" pitchFamily="34" charset="0"/>
      <p:regular r:id="rId28"/>
      <p:bold r:id="rId29"/>
      <p:italic r:id="rId30"/>
      <p:boldItalic r:id="rId31"/>
    </p:embeddedFont>
    <p:embeddedFont>
      <p:font typeface="현대하모니 M" panose="02020603020101020101" pitchFamily="18" charset="-127"/>
      <p:regular r:id="rId32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02" autoAdjust="0"/>
    <p:restoredTop sz="94813" autoAdjust="0"/>
  </p:normalViewPr>
  <p:slideViewPr>
    <p:cSldViewPr snapToObjects="1">
      <p:cViewPr varScale="1">
        <p:scale>
          <a:sx n="154" d="100"/>
          <a:sy n="154" d="100"/>
        </p:scale>
        <p:origin x="144" y="300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2025-12-17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2025-12-17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093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1491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30998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7067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3873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8910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768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6157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09390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30979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152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8767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70401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9497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C59A-F5DC-19E0-116D-4EFA545EA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769912-A69A-B719-FC57-4020CA55E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6215D0-E3CA-9443-5CB4-E21E3F6B2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51B6E8-7393-65A7-39FB-126D5B93C1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15805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5637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49694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55839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C94E65-097A-4CA0-B953-83BB7887CD73}" type="slidenum">
              <a:rPr lang="ko-KR" altLang="en-US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331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547056"/>
              </p:ext>
            </p:extLst>
          </p:nvPr>
        </p:nvGraphicFramePr>
        <p:xfrm>
          <a:off x="215899" y="616619"/>
          <a:ext cx="8676581" cy="4275088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030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34305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999815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714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유형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MX5a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난방 성능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 튜닝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기구 변경 사항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: Stone (190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R/T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커브 기울기 조정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핀 산수 최대 증대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S/W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 시료 입수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12/17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Linear Rated / Max Watt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변경</a:t>
                      </a:r>
                      <a:endParaRPr lang="en-US" altLang="ko-KR" sz="1000" b="0" i="0" kern="1200" baseline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Linear Rated Watt : 6,200W  6,300W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Max Watt : 7200W  8200W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10/31 ~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>
                          <a:solidFill>
                            <a:srgbClr val="0000FF"/>
                          </a:solidFill>
                          <a:latin typeface="맑은 고딕"/>
                          <a:ea typeface="+mn-ea"/>
                          <a:cs typeface="+mn-cs"/>
                        </a:rPr>
                        <a:t>HMC </a:t>
                      </a: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err="1">
                          <a:solidFill>
                            <a:srgbClr val="0000FF"/>
                          </a:solidFill>
                          <a:latin typeface="맑은 고딕"/>
                          <a:ea typeface="+mn-ea"/>
                          <a:cs typeface="+mn-cs"/>
                        </a:rPr>
                        <a:t>사양배포</a:t>
                      </a: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맑은 고딕"/>
                          <a:ea typeface="+mn-ea"/>
                          <a:cs typeface="+mn-cs"/>
                        </a:rPr>
                        <a:t>오류</a:t>
                      </a: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>
                          <a:solidFill>
                            <a:srgbClr val="0000FF"/>
                          </a:solidFill>
                          <a:latin typeface="맑은 고딕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000" b="0" kern="1200" dirty="0" err="1">
                          <a:solidFill>
                            <a:srgbClr val="0000FF"/>
                          </a:solidFill>
                          <a:latin typeface="맑은 고딕"/>
                          <a:ea typeface="+mn-ea"/>
                          <a:cs typeface="+mn-cs"/>
                        </a:rPr>
                        <a:t>MVa</a:t>
                      </a:r>
                      <a:r>
                        <a:rPr lang="en-US" altLang="ko-KR" sz="1000" b="0" kern="1200" baseline="0" dirty="0">
                          <a:solidFill>
                            <a:srgbClr val="0000FF"/>
                          </a:solidFill>
                          <a:latin typeface="맑은 고딕"/>
                          <a:ea typeface="+mn-ea"/>
                          <a:cs typeface="+mn-cs"/>
                        </a:rPr>
                        <a:t> CO)</a:t>
                      </a: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solidFill>
                            <a:prstClr val="black"/>
                          </a:solidFill>
                          <a:latin typeface="+mn-lt"/>
                          <a:ea typeface="맑은 고딕" panose="020B0503020000020004" pitchFamily="50" charset="-127"/>
                        </a:rPr>
                        <a:t>Y2V (Suzuki)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1.</a:t>
                      </a:r>
                      <a:r>
                        <a:rPr lang="en-US" altLang="ko-KR" sz="1000" baseline="0" smtClean="0"/>
                        <a:t> LIN </a:t>
                      </a:r>
                      <a:r>
                        <a:rPr lang="ko-KR" altLang="en-US" sz="1000" baseline="0" smtClean="0"/>
                        <a:t>통신 체크리스트 접수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- </a:t>
                      </a:r>
                      <a:r>
                        <a:rPr lang="en-US" altLang="ko-KR" sz="1000" smtClean="0"/>
                        <a:t>SMC_LIN_CheckList_PL_V2.0 (26</a:t>
                      </a:r>
                      <a:r>
                        <a:rPr lang="ko-KR" altLang="en-US" sz="1000" smtClean="0"/>
                        <a:t>년 </a:t>
                      </a:r>
                      <a:r>
                        <a:rPr lang="en-US" altLang="ko-KR" sz="1000" smtClean="0"/>
                        <a:t>1</a:t>
                      </a:r>
                      <a:r>
                        <a:rPr lang="ko-KR" altLang="en-US" sz="1000" smtClean="0"/>
                        <a:t>월 중순까지 회신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 : 26</a:t>
                      </a:r>
                      <a:r>
                        <a:rPr lang="ko-KR" altLang="en-US" sz="1000" smtClean="0"/>
                        <a:t>년 </a:t>
                      </a:r>
                      <a:r>
                        <a:rPr lang="en-US" altLang="ko-KR" sz="1000" smtClean="0"/>
                        <a:t>1</a:t>
                      </a:r>
                      <a:r>
                        <a:rPr lang="ko-KR" altLang="en-US" sz="1000" smtClean="0"/>
                        <a:t>월 말일까지 회신 하도록 협의 完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- SMC_LIN_CheckList_Aplication_Ver1.0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 : 26</a:t>
                      </a:r>
                      <a:r>
                        <a:rPr lang="ko-KR" altLang="en-US" sz="1000" smtClean="0"/>
                        <a:t>년 </a:t>
                      </a:r>
                      <a:r>
                        <a:rPr lang="en-US" altLang="ko-KR" sz="1000" smtClean="0"/>
                        <a:t>1</a:t>
                      </a:r>
                      <a:r>
                        <a:rPr lang="ko-KR" altLang="en-US" sz="1000" smtClean="0"/>
                        <a:t>월 말일까지 회신 하도록 협의 完</a:t>
                      </a:r>
                      <a:endParaRPr lang="en-US" altLang="ko-KR" sz="1000" smtClean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032441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XV1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사양 변경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HS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CAN FD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: CAN DBc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입수 후 약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개월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개발 기간 필요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 SW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기본 설계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(1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개월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 CAN FD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적용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PCB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및 전체 시나리오 설계 및 시험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(1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개월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: 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설계 완료 일자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월 말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5492291"/>
                  </a:ext>
                </a:extLst>
              </a:tr>
            </a:tbl>
          </a:graphicData>
        </a:graphic>
      </p:graphicFrame>
      <p:sp>
        <p:nvSpPr>
          <p:cNvPr id="5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ko-KR" altLang="en-US" sz="2100" b="1" dirty="0">
                <a:latin typeface="+mn-ea"/>
                <a:ea typeface="+mn-ea"/>
              </a:rPr>
              <a:t> 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19879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ko-KR" altLang="en-US" sz="2100" b="1" dirty="0">
                <a:latin typeface="+mn-ea"/>
                <a:ea typeface="+mn-ea"/>
              </a:rPr>
              <a:t> 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  <p:graphicFrame>
        <p:nvGraphicFramePr>
          <p:cNvPr id="4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647795"/>
              </p:ext>
            </p:extLst>
          </p:nvPr>
        </p:nvGraphicFramePr>
        <p:xfrm>
          <a:off x="215899" y="556175"/>
          <a:ext cx="8676581" cy="3842900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4158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337368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726008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714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473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유형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12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4Way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Valve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1. ES253EE </a:t>
                      </a:r>
                      <a:r>
                        <a:rPr lang="ko-KR" altLang="en-US" sz="1000" smtClean="0"/>
                        <a:t>심사 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2</a:t>
                      </a:r>
                      <a:r>
                        <a:rPr lang="ko-KR" altLang="en-US" sz="1000" smtClean="0"/>
                        <a:t>차 심사 진행 </a:t>
                      </a:r>
                      <a:r>
                        <a:rPr lang="en-US" altLang="ko-KR" sz="1000" smtClean="0"/>
                        <a:t>: 26</a:t>
                      </a:r>
                      <a:r>
                        <a:rPr lang="ko-KR" altLang="en-US" sz="1000" smtClean="0"/>
                        <a:t>년 </a:t>
                      </a:r>
                      <a:r>
                        <a:rPr lang="en-US" altLang="ko-KR" sz="1000" smtClean="0"/>
                        <a:t>1</a:t>
                      </a:r>
                      <a:r>
                        <a:rPr lang="ko-KR" altLang="en-US" sz="1000" smtClean="0"/>
                        <a:t>월 초 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</a:t>
                      </a:r>
                      <a:r>
                        <a:rPr lang="ko-KR" altLang="en-US" sz="1000" baseline="0" smtClean="0"/>
                        <a:t>산출물 제출 일정 </a:t>
                      </a:r>
                      <a:r>
                        <a:rPr lang="en-US" altLang="ko-KR" sz="1000" baseline="0" smtClean="0"/>
                        <a:t>: 25</a:t>
                      </a:r>
                      <a:r>
                        <a:rPr lang="ko-KR" altLang="en-US" sz="1000" baseline="0" smtClean="0"/>
                        <a:t>년 </a:t>
                      </a:r>
                      <a:r>
                        <a:rPr lang="en-US" altLang="ko-KR" sz="1000" baseline="0" smtClean="0"/>
                        <a:t>12</a:t>
                      </a:r>
                      <a:r>
                        <a:rPr lang="ko-KR" altLang="en-US" sz="1000" baseline="0" smtClean="0"/>
                        <a:t>월 </a:t>
                      </a:r>
                      <a:r>
                        <a:rPr lang="en-US" altLang="ko-KR" sz="1000" baseline="0" smtClean="0"/>
                        <a:t>26</a:t>
                      </a:r>
                      <a:r>
                        <a:rPr lang="ko-KR" altLang="en-US" sz="1000" baseline="0" smtClean="0"/>
                        <a:t>일 </a:t>
                      </a:r>
                      <a:r>
                        <a:rPr lang="en-US" altLang="ko-KR" sz="1000" baseline="0" smtClean="0"/>
                        <a:t>(ES </a:t>
                      </a:r>
                      <a:r>
                        <a:rPr lang="ko-KR" altLang="en-US" sz="1000" baseline="0" smtClean="0"/>
                        <a:t>성적서 포함</a:t>
                      </a:r>
                      <a:r>
                        <a:rPr lang="en-US" altLang="ko-KR" sz="1000" baseline="0" smtClean="0"/>
                        <a:t>)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</a:t>
                      </a:r>
                      <a:r>
                        <a:rPr lang="ko-KR" altLang="en-US" sz="1000" baseline="0" smtClean="0"/>
                        <a:t>장소 </a:t>
                      </a:r>
                      <a:r>
                        <a:rPr lang="en-US" altLang="ko-KR" sz="1000" baseline="0" smtClean="0"/>
                        <a:t>: </a:t>
                      </a:r>
                      <a:r>
                        <a:rPr lang="ko-KR" altLang="en-US" sz="1000" baseline="0" smtClean="0"/>
                        <a:t>명화공업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000" b="0" baseline="0" smtClean="0"/>
                        <a:t>   진행 사항 </a:t>
                      </a:r>
                      <a:r>
                        <a:rPr lang="en-US" altLang="ko-KR" sz="1000" b="0" baseline="0" smtClean="0"/>
                        <a:t>: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- Sys </a:t>
                      </a:r>
                      <a:r>
                        <a:rPr lang="ko-KR" altLang="en-US" sz="1000" baseline="0" smtClean="0"/>
                        <a:t>산출물 </a:t>
                      </a:r>
                      <a:r>
                        <a:rPr lang="en-US" altLang="ko-KR" sz="1000" baseline="0" smtClean="0"/>
                        <a:t>1</a:t>
                      </a:r>
                      <a:r>
                        <a:rPr lang="ko-KR" altLang="en-US" sz="1000" baseline="0" smtClean="0"/>
                        <a:t>차 완료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- SW </a:t>
                      </a:r>
                      <a:r>
                        <a:rPr lang="ko-KR" altLang="en-US" sz="1000" baseline="0" smtClean="0"/>
                        <a:t>산출물 요구사항 대비 방향성 확립 </a:t>
                      </a:r>
                      <a:r>
                        <a:rPr lang="en-US" altLang="ko-KR" sz="1000" baseline="0" smtClean="0"/>
                        <a:t>: 12</a:t>
                      </a:r>
                      <a:r>
                        <a:rPr lang="ko-KR" altLang="en-US" sz="1000" baseline="0" smtClean="0"/>
                        <a:t>월</a:t>
                      </a:r>
                      <a:r>
                        <a:rPr lang="en-US" altLang="ko-KR" sz="1000" baseline="0" smtClean="0"/>
                        <a:t>17</a:t>
                      </a:r>
                      <a:r>
                        <a:rPr lang="ko-KR" altLang="en-US" sz="1000" baseline="0" smtClean="0"/>
                        <a:t>일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- SW </a:t>
                      </a:r>
                      <a:r>
                        <a:rPr lang="ko-KR" altLang="en-US" sz="1000" baseline="0" smtClean="0"/>
                        <a:t>산출물 </a:t>
                      </a:r>
                      <a:r>
                        <a:rPr lang="en-US" altLang="ko-KR" sz="1000" baseline="0" smtClean="0"/>
                        <a:t>1</a:t>
                      </a:r>
                      <a:r>
                        <a:rPr lang="ko-KR" altLang="en-US" sz="1000" baseline="0" smtClean="0"/>
                        <a:t>차 완료 </a:t>
                      </a:r>
                      <a:r>
                        <a:rPr lang="en-US" altLang="ko-KR" sz="1000" baseline="0" smtClean="0"/>
                        <a:t>: 12</a:t>
                      </a:r>
                      <a:r>
                        <a:rPr lang="ko-KR" altLang="en-US" sz="1000" baseline="0" smtClean="0"/>
                        <a:t>월 </a:t>
                      </a:r>
                      <a:r>
                        <a:rPr lang="en-US" altLang="ko-KR" sz="1000" baseline="0" smtClean="0"/>
                        <a:t>19</a:t>
                      </a:r>
                      <a:r>
                        <a:rPr lang="ko-KR" altLang="en-US" sz="1000" baseline="0" smtClean="0"/>
                        <a:t>일</a:t>
                      </a:r>
                      <a:r>
                        <a:rPr lang="en-US" altLang="ko-KR" sz="1000" baseline="0" smtClean="0"/>
                        <a:t>(</a:t>
                      </a:r>
                      <a:r>
                        <a:rPr lang="ko-KR" altLang="en-US" sz="1000" baseline="0" smtClean="0"/>
                        <a:t>건우</a:t>
                      </a:r>
                      <a:r>
                        <a:rPr lang="en-US" altLang="ko-KR" sz="1000" baseline="0" smtClean="0"/>
                        <a:t>)</a:t>
                      </a:r>
                      <a:r>
                        <a:rPr lang="ko-KR" altLang="en-US" sz="1000" baseline="0" smtClean="0"/>
                        <a:t> </a:t>
                      </a:r>
                      <a:r>
                        <a:rPr lang="en-US" altLang="ko-KR" sz="1000" baseline="0" smtClean="0">
                          <a:sym typeface="Wingdings" panose="05000000000000000000" pitchFamily="2" charset="2"/>
                        </a:rPr>
                        <a:t> Review </a:t>
                      </a:r>
                      <a:r>
                        <a:rPr lang="ko-KR" altLang="en-US" sz="1000" baseline="0" smtClean="0">
                          <a:sym typeface="Wingdings" panose="05000000000000000000" pitchFamily="2" charset="2"/>
                        </a:rPr>
                        <a:t>진행 </a:t>
                      </a:r>
                      <a:r>
                        <a:rPr lang="en-US" altLang="ko-KR" sz="1000" baseline="0" smtClean="0"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1000" baseline="0" smtClean="0">
                          <a:sym typeface="Wingdings" panose="05000000000000000000" pitchFamily="2" charset="2"/>
                        </a:rPr>
                        <a:t>우리산업</a:t>
                      </a:r>
                      <a:r>
                        <a:rPr lang="en-US" altLang="ko-KR" sz="1000" baseline="0" smtClean="0">
                          <a:sym typeface="Wingdings" panose="05000000000000000000" pitchFamily="2" charset="2"/>
                        </a:rPr>
                        <a:t>)</a:t>
                      </a:r>
                      <a:r>
                        <a:rPr lang="en-US" altLang="ko-KR" sz="1000" baseline="0" smtClean="0"/>
                        <a:t> 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- ES253EE </a:t>
                      </a:r>
                      <a:r>
                        <a:rPr lang="ko-KR" altLang="en-US" sz="1000" baseline="0" smtClean="0"/>
                        <a:t>성적서내의 산출물 작성 요청 </a:t>
                      </a:r>
                      <a:r>
                        <a:rPr lang="en-US" altLang="ko-KR" sz="1000" baseline="0" smtClean="0"/>
                        <a:t>(</a:t>
                      </a:r>
                      <a:r>
                        <a:rPr lang="ko-KR" altLang="en-US" sz="1000" baseline="0" smtClean="0"/>
                        <a:t>건우</a:t>
                      </a:r>
                      <a:r>
                        <a:rPr lang="en-US" altLang="ko-KR" sz="1000" baseline="0" smtClean="0"/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2. </a:t>
                      </a:r>
                      <a:r>
                        <a:rPr lang="ko-KR" altLang="en-US" sz="1000" smtClean="0"/>
                        <a:t>고장 </a:t>
                      </a:r>
                      <a:r>
                        <a:rPr lang="en-US" altLang="ko-KR" sz="1000" smtClean="0"/>
                        <a:t>Log </a:t>
                      </a:r>
                      <a:r>
                        <a:rPr lang="ko-KR" altLang="en-US" sz="1000" smtClean="0"/>
                        <a:t>저장 </a:t>
                      </a:r>
                      <a:r>
                        <a:rPr lang="en-US" altLang="ko-KR" sz="1000" smtClean="0"/>
                        <a:t>1</a:t>
                      </a:r>
                      <a:r>
                        <a:rPr lang="ko-KR" altLang="en-US" sz="1000" smtClean="0"/>
                        <a:t>차 설계 완료 </a:t>
                      </a:r>
                      <a:r>
                        <a:rPr lang="en-US" altLang="ko-KR" sz="1000" smtClean="0"/>
                        <a:t>(12/17) </a:t>
                      </a:r>
                      <a:r>
                        <a:rPr lang="en-US" altLang="ko-KR" sz="1000" smtClean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smtClean="0">
                          <a:sym typeface="Wingdings" panose="05000000000000000000" pitchFamily="2" charset="2"/>
                        </a:rPr>
                        <a:t>시험 진행 </a:t>
                      </a:r>
                      <a:r>
                        <a:rPr lang="en-US" altLang="ko-KR" sz="1000" smtClean="0">
                          <a:sym typeface="Wingdings" panose="05000000000000000000" pitchFamily="2" charset="2"/>
                        </a:rPr>
                        <a:t>(12/27)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3.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현 상태 이슈 사항 </a:t>
                      </a:r>
                      <a:r>
                        <a:rPr lang="en-US" altLang="ko-KR" sz="1000" baseline="0" smtClean="0"/>
                        <a:t>7</a:t>
                      </a:r>
                      <a:r>
                        <a:rPr lang="ko-KR" altLang="en-US" sz="1000" baseline="0" smtClean="0"/>
                        <a:t>건 수정 및 시험 완료 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- </a:t>
                      </a:r>
                      <a:r>
                        <a:rPr lang="ko-KR" altLang="en-US" sz="1000" baseline="0" smtClean="0"/>
                        <a:t>명화공업으로 대책서 송부 </a:t>
                      </a:r>
                      <a:r>
                        <a:rPr lang="en-US" altLang="ko-KR" sz="1000" baseline="0" smtClean="0"/>
                        <a:t>(12/17)</a:t>
                      </a:r>
                      <a:endParaRPr lang="en-US" altLang="ko-KR" sz="1000" smtClean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056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7254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115120"/>
              </p:ext>
            </p:extLst>
          </p:nvPr>
        </p:nvGraphicFramePr>
        <p:xfrm>
          <a:off x="215899" y="556175"/>
          <a:ext cx="8676581" cy="5505227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4158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193352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726008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714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473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유형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51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5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JG1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1. E</a:t>
                      </a:r>
                      <a:r>
                        <a:rPr lang="en-US" altLang="ko-KR" sz="1000" smtClean="0"/>
                        <a:t>OL </a:t>
                      </a:r>
                      <a:r>
                        <a:rPr lang="ko-KR" altLang="en-US" sz="1000" smtClean="0"/>
                        <a:t>성능 검사 시 </a:t>
                      </a:r>
                      <a:r>
                        <a:rPr lang="en-US" altLang="ko-KR" sz="1000" smtClean="0"/>
                        <a:t>NAD ID Read </a:t>
                      </a:r>
                      <a:r>
                        <a:rPr lang="ko-KR" altLang="en-US" sz="1000" smtClean="0"/>
                        <a:t>기능 추가 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2. </a:t>
                      </a:r>
                      <a:r>
                        <a:rPr lang="ko-KR" altLang="en-US" sz="1000" smtClean="0"/>
                        <a:t>크랭킹 시 전압 </a:t>
                      </a:r>
                      <a:r>
                        <a:rPr lang="en-US" altLang="ko-KR" sz="1000" smtClean="0"/>
                        <a:t>Drop </a:t>
                      </a:r>
                      <a:r>
                        <a:rPr lang="ko-KR" altLang="en-US" sz="1000" smtClean="0"/>
                        <a:t>에 따른 로직 추가 및 검증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- </a:t>
                      </a:r>
                      <a:r>
                        <a:rPr lang="ko-KR" altLang="en-US" sz="1000" smtClean="0"/>
                        <a:t>실차 평가 진행 </a:t>
                      </a:r>
                      <a:r>
                        <a:rPr lang="en-US" altLang="ko-KR" sz="1000" smtClean="0"/>
                        <a:t>(25.12.10)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  </a:t>
                      </a:r>
                      <a:r>
                        <a:rPr lang="ko-KR" altLang="en-US" sz="1000" smtClean="0"/>
                        <a:t>참석자 </a:t>
                      </a:r>
                      <a:r>
                        <a:rPr lang="en-US" altLang="ko-KR" sz="1000" smtClean="0"/>
                        <a:t>: </a:t>
                      </a:r>
                      <a:r>
                        <a:rPr lang="ko-KR" altLang="en-US" sz="1000" smtClean="0"/>
                        <a:t>오세영 수석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최은혁 전임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김진겸 사원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- </a:t>
                      </a:r>
                      <a:r>
                        <a:rPr lang="ko-KR" altLang="en-US" sz="1000" smtClean="0"/>
                        <a:t>실차 평가 후 문제 없을 시 </a:t>
                      </a:r>
                      <a:r>
                        <a:rPr lang="en-US" altLang="ko-KR" sz="1000" smtClean="0"/>
                        <a:t>RS4PE </a:t>
                      </a:r>
                      <a:r>
                        <a:rPr lang="ko-KR" altLang="en-US" sz="1000" smtClean="0"/>
                        <a:t>및 </a:t>
                      </a:r>
                      <a:r>
                        <a:rPr lang="en-US" altLang="ko-KR" sz="1000" smtClean="0"/>
                        <a:t>JG1 </a:t>
                      </a:r>
                      <a:r>
                        <a:rPr lang="ko-KR" altLang="en-US" sz="1000" smtClean="0"/>
                        <a:t>의 업데이트 진행   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  (</a:t>
                      </a:r>
                      <a:r>
                        <a:rPr lang="ko-KR" altLang="en-US" sz="1000" smtClean="0"/>
                        <a:t>업데이트 수량 및 위치는 확인 필요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- JG1 P2 </a:t>
                      </a:r>
                      <a:r>
                        <a:rPr lang="ko-KR" altLang="en-US" sz="1000" smtClean="0"/>
                        <a:t>물량 업데이트 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  12/17</a:t>
                      </a:r>
                      <a:r>
                        <a:rPr lang="en-US" altLang="ko-KR" sz="1000" baseline="0" smtClean="0"/>
                        <a:t> : </a:t>
                      </a:r>
                      <a:r>
                        <a:rPr lang="ko-KR" altLang="en-US" sz="1000" baseline="0" smtClean="0"/>
                        <a:t>한온 단품 </a:t>
                      </a:r>
                      <a:r>
                        <a:rPr lang="en-US" altLang="ko-KR" sz="1000" baseline="0" smtClean="0"/>
                        <a:t>(580EA), </a:t>
                      </a:r>
                      <a:r>
                        <a:rPr lang="ko-KR" altLang="en-US" sz="1000" baseline="0" smtClean="0"/>
                        <a:t>한국 산업 모형 담품 </a:t>
                      </a:r>
                      <a:r>
                        <a:rPr lang="en-US" altLang="ko-KR" sz="1000" baseline="0" smtClean="0"/>
                        <a:t>(60EA)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            </a:t>
                      </a:r>
                      <a:r>
                        <a:rPr lang="ko-KR" altLang="en-US" sz="1000" baseline="0" smtClean="0"/>
                        <a:t>스마트 </a:t>
                      </a:r>
                      <a:r>
                        <a:rPr lang="en-US" altLang="ko-KR" sz="1000" baseline="0" smtClean="0"/>
                        <a:t>DNS (60EA)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  12/18 : </a:t>
                      </a:r>
                      <a:r>
                        <a:rPr lang="ko-KR" altLang="en-US" sz="1000" baseline="0" smtClean="0"/>
                        <a:t>한온 단품 </a:t>
                      </a:r>
                      <a:r>
                        <a:rPr lang="en-US" altLang="ko-KR" sz="1000" baseline="0" smtClean="0"/>
                        <a:t>(580EA) </a:t>
                      </a:r>
                      <a:r>
                        <a:rPr lang="ko-KR" altLang="en-US" sz="1000" baseline="0" smtClean="0"/>
                        <a:t>정상 업데이트 여부 전수 검사 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  </a:t>
                      </a:r>
                      <a:r>
                        <a:rPr lang="ko-KR" altLang="en-US" sz="1000" baseline="0" smtClean="0"/>
                        <a:t>실차 조립 상태 </a:t>
                      </a:r>
                      <a:r>
                        <a:rPr lang="en-US" altLang="ko-KR" sz="1000" baseline="0" smtClean="0"/>
                        <a:t>(9</a:t>
                      </a:r>
                      <a:r>
                        <a:rPr lang="ko-KR" altLang="en-US" sz="1000" baseline="0" smtClean="0"/>
                        <a:t>대</a:t>
                      </a:r>
                      <a:r>
                        <a:rPr lang="en-US" altLang="ko-KR" sz="1000" baseline="0" smtClean="0"/>
                        <a:t> / 120EA)</a:t>
                      </a:r>
                      <a:r>
                        <a:rPr lang="ko-KR" altLang="en-US" sz="1000" baseline="0" smtClean="0"/>
                        <a:t>는 요청 시 업데이트 진행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3.</a:t>
                      </a:r>
                      <a:r>
                        <a:rPr lang="ko-KR" altLang="en-US" sz="1000" smtClean="0"/>
                        <a:t> 악의 파형 </a:t>
                      </a:r>
                      <a:r>
                        <a:rPr lang="en-US" altLang="ko-KR" sz="1000" smtClean="0"/>
                        <a:t>23</a:t>
                      </a:r>
                      <a:r>
                        <a:rPr lang="ko-KR" altLang="en-US" sz="1000" smtClean="0"/>
                        <a:t>개 테스트 진행 </a:t>
                      </a:r>
                      <a:r>
                        <a:rPr lang="en-US" altLang="ko-KR" sz="1000" smtClean="0"/>
                        <a:t>(~12/26)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4.</a:t>
                      </a:r>
                      <a:r>
                        <a:rPr lang="ko-KR" altLang="en-US" sz="1000" smtClean="0"/>
                        <a:t> 정상 동작 중 전압 </a:t>
                      </a:r>
                      <a:r>
                        <a:rPr lang="en-US" altLang="ko-KR" sz="1000" smtClean="0"/>
                        <a:t>Drop </a:t>
                      </a:r>
                      <a:r>
                        <a:rPr lang="ko-KR" altLang="en-US" sz="1000" smtClean="0"/>
                        <a:t>발생에 따른 </a:t>
                      </a:r>
                      <a:r>
                        <a:rPr lang="en-US" altLang="ko-KR" sz="1000" smtClean="0"/>
                        <a:t>Stall Fault </a:t>
                      </a:r>
                      <a:r>
                        <a:rPr lang="ko-KR" altLang="en-US" sz="1000" smtClean="0"/>
                        <a:t>우회 로직 설계</a:t>
                      </a:r>
                      <a:r>
                        <a:rPr lang="en-US" altLang="ko-KR" sz="1000" smtClean="0"/>
                        <a:t>        </a:t>
                      </a:r>
                      <a:r>
                        <a:rPr lang="ko-KR" altLang="en-US" sz="1000" smtClean="0"/>
                        <a:t> 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(~12/26)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: </a:t>
                      </a:r>
                      <a:r>
                        <a:rPr lang="ko-KR" altLang="en-US" sz="1000" smtClean="0"/>
                        <a:t>전압 </a:t>
                      </a:r>
                      <a:r>
                        <a:rPr lang="en-US" altLang="ko-KR" sz="1000" smtClean="0"/>
                        <a:t>Drop </a:t>
                      </a:r>
                      <a:r>
                        <a:rPr lang="ko-KR" altLang="en-US" sz="1000" smtClean="0"/>
                        <a:t>확인 시 모터 움직임 일시 정지 후 전압 정상으로 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 </a:t>
                      </a:r>
                      <a:r>
                        <a:rPr lang="ko-KR" altLang="en-US" sz="1000" smtClean="0"/>
                        <a:t>복귀 시 모터 동작 로직 가능 여부 확인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: </a:t>
                      </a:r>
                      <a:r>
                        <a:rPr lang="ko-KR" altLang="en-US" sz="1000" smtClean="0"/>
                        <a:t>모터 동작 시작 전 전압 대비 동작 중 전압 </a:t>
                      </a:r>
                      <a:r>
                        <a:rPr lang="en-US" altLang="ko-KR" sz="1000" smtClean="0"/>
                        <a:t>Drop </a:t>
                      </a:r>
                      <a:r>
                        <a:rPr lang="ko-KR" altLang="en-US" sz="1000" smtClean="0"/>
                        <a:t>확인 시 </a:t>
                      </a:r>
                      <a:r>
                        <a:rPr lang="en-US" altLang="ko-KR" sz="1000" smtClean="0"/>
                        <a:t>Stall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Fault </a:t>
                      </a:r>
                      <a:r>
                        <a:rPr lang="ko-KR" altLang="en-US" sz="1000" smtClean="0"/>
                        <a:t>처리 하지 않고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다음 시동시 </a:t>
                      </a:r>
                      <a:r>
                        <a:rPr lang="en-US" altLang="ko-KR" sz="1000" smtClean="0"/>
                        <a:t>2P Cal </a:t>
                      </a:r>
                      <a:r>
                        <a:rPr lang="ko-KR" altLang="en-US" sz="1000" smtClean="0"/>
                        <a:t>로직 가능 여부 확인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5.</a:t>
                      </a:r>
                      <a:r>
                        <a:rPr lang="ko-KR" altLang="en-US" sz="1000" smtClean="0"/>
                        <a:t> 토크 감소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    : </a:t>
                      </a:r>
                      <a:r>
                        <a:rPr lang="ko-KR" altLang="en-US" sz="1000" smtClean="0"/>
                        <a:t>토크 감소 후 </a:t>
                      </a:r>
                      <a:r>
                        <a:rPr lang="en-US" altLang="ko-KR" sz="1000" smtClean="0"/>
                        <a:t>Stall </a:t>
                      </a:r>
                      <a:r>
                        <a:rPr lang="ko-KR" altLang="en-US" sz="1000" smtClean="0"/>
                        <a:t>감지 튜닝 및 </a:t>
                      </a:r>
                      <a:r>
                        <a:rPr lang="en-US" altLang="ko-KR" sz="1000" smtClean="0"/>
                        <a:t>Side Effect </a:t>
                      </a:r>
                      <a:r>
                        <a:rPr lang="ko-KR" altLang="en-US" sz="1000" smtClean="0"/>
                        <a:t>점검 </a:t>
                      </a:r>
                      <a:r>
                        <a:rPr lang="en-US" altLang="ko-KR" sz="1000" smtClean="0"/>
                        <a:t>(~12/31)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6.</a:t>
                      </a:r>
                      <a:r>
                        <a:rPr lang="ko-KR" altLang="en-US" sz="1000" smtClean="0"/>
                        <a:t> 정확도 튜닝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    :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정확도 </a:t>
                      </a:r>
                      <a:r>
                        <a:rPr lang="en-US" altLang="ko-KR" sz="1000" baseline="0" smtClean="0"/>
                        <a:t>1</a:t>
                      </a:r>
                      <a:r>
                        <a:rPr lang="ko-KR" altLang="en-US" sz="1000" baseline="0" smtClean="0"/>
                        <a:t>도 틀어짐에 따른 튜닝 진행 </a:t>
                      </a:r>
                      <a:r>
                        <a:rPr lang="en-US" altLang="ko-KR" sz="1000" baseline="0" smtClean="0"/>
                        <a:t>(~12/31)</a:t>
                      </a:r>
                      <a:endParaRPr lang="en-US" altLang="ko-KR" sz="1000" smtClean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960066"/>
                  </a:ext>
                </a:extLst>
              </a:tr>
            </a:tbl>
          </a:graphicData>
        </a:graphic>
      </p:graphicFrame>
      <p:sp>
        <p:nvSpPr>
          <p:cNvPr id="5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>
                <a:latin typeface="+mn-ea"/>
                <a:ea typeface="+mn-ea"/>
              </a:rPr>
              <a:t>지시내용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의사결정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리스크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99991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2816709" y="3068960"/>
            <a:ext cx="380597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buNone/>
              <a:defRPr/>
            </a:pPr>
            <a:r>
              <a:rPr lang="en-US" altLang="ko-KR" sz="4000" b="1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Air PTC Heater</a:t>
            </a:r>
            <a:endParaRPr kumimoji="1" lang="en-US" altLang="ko-KR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6329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577501"/>
              </p:ext>
            </p:extLst>
          </p:nvPr>
        </p:nvGraphicFramePr>
        <p:xfrm>
          <a:off x="47211" y="764704"/>
          <a:ext cx="9073008" cy="5575299"/>
        </p:xfrm>
        <a:graphic>
          <a:graphicData uri="http://schemas.openxmlformats.org/drawingml/2006/table">
            <a:tbl>
              <a:tblPr/>
              <a:tblGrid>
                <a:gridCol w="621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0193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31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76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(12/12~12/18)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6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SPQA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후속 진행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타 프로젝트 진행에 따른 지연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SPQA Unit Detail Design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97%)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SWE2, SWE3, S/W TEST Result ALM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병행 등록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(~11/21)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SX3 Forword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진행에 따른 업무 과부하로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QV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프로젝트는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미흡한 내용 작성 및 최종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기준으로 작업 진행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SPQA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후속 진행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95536" y="725795"/>
            <a:ext cx="24729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QV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24.09.01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25.07.05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25.12.01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26.02.15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25.03.15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9" name="그룹 16"/>
          <p:cNvGrpSpPr>
            <a:grpSpLocks noChangeAspect="1"/>
          </p:cNvGrpSpPr>
          <p:nvPr/>
        </p:nvGrpSpPr>
        <p:grpSpPr bwMode="auto">
          <a:xfrm>
            <a:off x="6089818" y="553413"/>
            <a:ext cx="1045724" cy="505515"/>
            <a:chOff x="0" y="135732"/>
            <a:chExt cx="604837" cy="482564"/>
          </a:xfrm>
        </p:grpSpPr>
        <p:sp>
          <p:nvSpPr>
            <p:cNvPr id="3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25.11.15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Pre P#2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32" name="위쪽 화살표 31"/>
          <p:cNvSpPr>
            <a:spLocks noChangeArrowheads="1"/>
          </p:cNvSpPr>
          <p:nvPr/>
        </p:nvSpPr>
        <p:spPr bwMode="auto">
          <a:xfrm rot="10800000">
            <a:off x="6552926" y="72827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7951770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994770"/>
              </p:ext>
            </p:extLst>
          </p:nvPr>
        </p:nvGraphicFramePr>
        <p:xfrm>
          <a:off x="11059" y="536956"/>
          <a:ext cx="9097445" cy="577236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978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(12/12~12/18)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7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49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6653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SVm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24.09.01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25.08.15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26.03.30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26.06.30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25.06.30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41488668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451819"/>
              </p:ext>
            </p:extLst>
          </p:nvPr>
        </p:nvGraphicFramePr>
        <p:xfrm>
          <a:off x="11059" y="536956"/>
          <a:ext cx="9097445" cy="5340316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(12/12~12/18)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19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71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BJ1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25.04.15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25.10.15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26.08.01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25.09.15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9735930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768196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(12/12~12/18)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난방 성능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 튜닝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기구 변경 사항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: Stone (190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R/T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커브 기울기 조정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핀 산수 최대 증대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S/W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 시료 입수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12/17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Linear Rated / Max Watt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변경</a:t>
                      </a:r>
                      <a:endParaRPr lang="en-US" altLang="ko-KR" sz="1000" b="0" i="0" kern="1200" baseline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Linear Rated Watt : 6,200W  6,300W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Max Watt : 7200W  8200W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87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MX5a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25.08.15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26.04.01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26.10.01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27.04.15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26.02.15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7975222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317141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(12/12~12/18)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1000" b="0" i="0" kern="120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35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NEaW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25.08.01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TBD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26.04.15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SP#1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3476302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100223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(12/12~12/18)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ES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항목 진행</a:t>
                      </a:r>
                      <a:endParaRPr kumimoji="1" lang="en-US" altLang="ko-KR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ES90700-02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고속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시험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12/19)</a:t>
                      </a:r>
                      <a:endParaRPr lang="en-US" altLang="ko-KR" sz="1000" b="0" i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- ES95480-00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고속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CAN(HSCAN)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사양서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12/19)</a:t>
                      </a:r>
                      <a:endParaRPr lang="en-US" altLang="ko-KR" sz="1000" b="0" i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ES95411-00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소프트웨어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 사양서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(12/19)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ES95489-24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오픈소스 보안 취약점 검증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요구사항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완료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ES95489-21 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일반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보안 사양서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완료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0"/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사양 변경 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PTC Stone TC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160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165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</a:t>
                      </a:r>
                      <a:endParaRPr lang="en-US" altLang="ko-KR" sz="1000" b="0" i="0" kern="1200" baseline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latinLnBrk="0"/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-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정격 전압 변경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360V  351V</a:t>
                      </a:r>
                    </a:p>
                    <a:p>
                      <a:pPr latinLnBrk="0"/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- HV OV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변경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403.2V  413V</a:t>
                      </a:r>
                    </a:p>
                    <a:p>
                      <a:pPr latinLnBrk="0"/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- Linear Max Watt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변경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7,200W  7,000W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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변경 시료 입수 일자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12/12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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기구 사양 변경에 따른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P1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납품용 제작시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S/W Rewriting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진행</a:t>
                      </a:r>
                      <a:endParaRPr lang="en-US" altLang="ko-KR" sz="1000" b="0" i="0" kern="1200" baseline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: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수량 총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300EA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(LHD 150EA, RHD 150EA)</a:t>
                      </a:r>
                    </a:p>
                    <a:p>
                      <a:pPr latinLnBrk="0"/>
                      <a:endParaRPr lang="en-US" altLang="ko-KR" sz="1000" b="0" i="0" kern="1200" baseline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latinLnBrk="0"/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</a:t>
                      </a:r>
                    </a:p>
                    <a:p>
                      <a:pPr latinLnBrk="0"/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</a:t>
                      </a:r>
                      <a:endParaRPr lang="en-US" altLang="ko-KR" sz="1000" b="0" i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endParaRPr lang="en-US" altLang="ko-KR" sz="1000" b="0" i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w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40838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</a:t>
            </a: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X5e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25.06.01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26.02.15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26.08.15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27.05.01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5197025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499635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(12/12~12/18)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019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KY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24.06.01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24.10.15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25.05.01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25.07.15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24.08.31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79909156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006212"/>
              </p:ext>
            </p:extLst>
          </p:nvPr>
        </p:nvGraphicFramePr>
        <p:xfrm>
          <a:off x="11059" y="536956"/>
          <a:ext cx="9097445" cy="592060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80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(12/12~12/18)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2843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AY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1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" name="그룹 7"/>
          <p:cNvGrpSpPr>
            <a:grpSpLocks noChangeAspect="1"/>
          </p:cNvGrpSpPr>
          <p:nvPr/>
        </p:nvGrpSpPr>
        <p:grpSpPr bwMode="auto">
          <a:xfrm>
            <a:off x="3025337" y="555241"/>
            <a:ext cx="1023786" cy="689376"/>
            <a:chOff x="-1110" y="134593"/>
            <a:chExt cx="605947" cy="658079"/>
          </a:xfrm>
        </p:grpSpPr>
        <p:sp>
          <p:nvSpPr>
            <p:cNvPr id="103" name="위쪽 화살표 102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0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24.12.15</a:t>
              </a:r>
            </a:p>
          </p:txBody>
        </p:sp>
        <p:sp>
          <p:nvSpPr>
            <p:cNvPr id="10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  <p:sp>
          <p:nvSpPr>
            <p:cNvPr id="106" name="Rectangle 46"/>
            <p:cNvSpPr>
              <a:spLocks noChangeArrowheads="1"/>
            </p:cNvSpPr>
            <p:nvPr/>
          </p:nvSpPr>
          <p:spPr bwMode="auto">
            <a:xfrm>
              <a:off x="-1110" y="538080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25.08.15</a:t>
              </a:r>
            </a:p>
          </p:txBody>
        </p:sp>
      </p:grpSp>
      <p:grpSp>
        <p:nvGrpSpPr>
          <p:cNvPr id="107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706808"/>
            <a:chOff x="0" y="134593"/>
            <a:chExt cx="604837" cy="674720"/>
          </a:xfrm>
        </p:grpSpPr>
        <p:sp>
          <p:nvSpPr>
            <p:cNvPr id="10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25.09.30</a:t>
              </a:r>
            </a:p>
          </p:txBody>
        </p:sp>
        <p:sp>
          <p:nvSpPr>
            <p:cNvPr id="10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  <p:sp>
          <p:nvSpPr>
            <p:cNvPr id="110" name="Rectangle 46"/>
            <p:cNvSpPr>
              <a:spLocks noChangeArrowheads="1"/>
            </p:cNvSpPr>
            <p:nvPr/>
          </p:nvSpPr>
          <p:spPr bwMode="auto">
            <a:xfrm>
              <a:off x="0" y="55472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1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708267"/>
            <a:chOff x="0" y="135732"/>
            <a:chExt cx="604837" cy="676111"/>
          </a:xfrm>
        </p:grpSpPr>
        <p:sp>
          <p:nvSpPr>
            <p:cNvPr id="112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26.02.01</a:t>
              </a:r>
            </a:p>
          </p:txBody>
        </p:sp>
        <p:sp>
          <p:nvSpPr>
            <p:cNvPr id="113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  <p:sp>
          <p:nvSpPr>
            <p:cNvPr id="114" name="Rectangle 46"/>
            <p:cNvSpPr>
              <a:spLocks noChangeArrowheads="1"/>
            </p:cNvSpPr>
            <p:nvPr/>
          </p:nvSpPr>
          <p:spPr bwMode="auto">
            <a:xfrm>
              <a:off x="0" y="55725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26.05.01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693556"/>
            <a:chOff x="0" y="137478"/>
            <a:chExt cx="604837" cy="662068"/>
          </a:xfrm>
        </p:grpSpPr>
        <p:sp>
          <p:nvSpPr>
            <p:cNvPr id="11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26.04.20</a:t>
              </a:r>
            </a:p>
          </p:txBody>
        </p:sp>
        <p:sp>
          <p:nvSpPr>
            <p:cNvPr id="117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  <p:sp>
          <p:nvSpPr>
            <p:cNvPr id="118" name="Rectangle 46"/>
            <p:cNvSpPr>
              <a:spLocks noChangeArrowheads="1"/>
            </p:cNvSpPr>
            <p:nvPr/>
          </p:nvSpPr>
          <p:spPr bwMode="auto">
            <a:xfrm>
              <a:off x="0" y="54495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26.7.15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119" name="위쪽 화살표 118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0" name="위쪽 화살표 119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1" name="위쪽 화살표 120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122" name="그룹 12"/>
          <p:cNvGrpSpPr>
            <a:grpSpLocks noChangeAspect="1"/>
          </p:cNvGrpSpPr>
          <p:nvPr/>
        </p:nvGrpSpPr>
        <p:grpSpPr bwMode="auto">
          <a:xfrm>
            <a:off x="4105591" y="548680"/>
            <a:ext cx="1016448" cy="700430"/>
            <a:chOff x="-4514" y="134593"/>
            <a:chExt cx="609351" cy="668631"/>
          </a:xfrm>
        </p:grpSpPr>
        <p:sp>
          <p:nvSpPr>
            <p:cNvPr id="12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25.05.01</a:t>
              </a:r>
            </a:p>
          </p:txBody>
        </p:sp>
        <p:sp>
          <p:nvSpPr>
            <p:cNvPr id="12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  <p:sp>
          <p:nvSpPr>
            <p:cNvPr id="125" name="Rectangle 46"/>
            <p:cNvSpPr>
              <a:spLocks noChangeArrowheads="1"/>
            </p:cNvSpPr>
            <p:nvPr/>
          </p:nvSpPr>
          <p:spPr bwMode="auto">
            <a:xfrm>
              <a:off x="-4514" y="5486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25.11.15</a:t>
              </a:r>
            </a:p>
          </p:txBody>
        </p:sp>
      </p:grpSp>
      <p:sp>
        <p:nvSpPr>
          <p:cNvPr id="126" name="위쪽 화살표 125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Box 2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/>
              <a:t>RHD</a:t>
            </a:r>
            <a:endParaRPr lang="ko-KR" altLang="en-US" sz="1000" b="1"/>
          </a:p>
        </p:txBody>
      </p:sp>
      <p:sp>
        <p:nvSpPr>
          <p:cNvPr id="34" name="TextBox 33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/>
              <a:t>LHD</a:t>
            </a:r>
            <a:endParaRPr lang="ko-KR" altLang="en-US" sz="1000" b="1"/>
          </a:p>
        </p:txBody>
      </p:sp>
    </p:spTree>
    <p:extLst>
      <p:ext uri="{BB962C8B-B14F-4D97-AF65-F5344CB8AC3E}">
        <p14:creationId xmlns:p14="http://schemas.microsoft.com/office/powerpoint/2010/main" val="300561612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246914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(12/12~12/18)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1.</a:t>
                      </a:r>
                      <a:r>
                        <a:rPr lang="en-US" altLang="ko-KR" sz="1000" baseline="0" smtClean="0"/>
                        <a:t> LIN </a:t>
                      </a:r>
                      <a:r>
                        <a:rPr lang="ko-KR" altLang="en-US" sz="1000" baseline="0" smtClean="0"/>
                        <a:t>통신 체크리스트 접수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- </a:t>
                      </a:r>
                      <a:r>
                        <a:rPr lang="en-US" altLang="ko-KR" sz="1000" smtClean="0"/>
                        <a:t>SMC_LIN_CheckList_PL_V2.0 (26</a:t>
                      </a:r>
                      <a:r>
                        <a:rPr lang="ko-KR" altLang="en-US" sz="1000" smtClean="0"/>
                        <a:t>년 </a:t>
                      </a:r>
                      <a:r>
                        <a:rPr lang="en-US" altLang="ko-KR" sz="1000" smtClean="0"/>
                        <a:t>1</a:t>
                      </a:r>
                      <a:r>
                        <a:rPr lang="ko-KR" altLang="en-US" sz="1000" smtClean="0"/>
                        <a:t>월 중순까지 회신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 : 26</a:t>
                      </a:r>
                      <a:r>
                        <a:rPr lang="ko-KR" altLang="en-US" sz="1000" smtClean="0"/>
                        <a:t>년 </a:t>
                      </a:r>
                      <a:r>
                        <a:rPr lang="en-US" altLang="ko-KR" sz="1000" smtClean="0"/>
                        <a:t>1</a:t>
                      </a:r>
                      <a:r>
                        <a:rPr lang="ko-KR" altLang="en-US" sz="1000" smtClean="0"/>
                        <a:t>월 말일까지 회신 하도록 협의 完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- SMC_LIN_CheckList_Aplication_Ver1.0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 : 26</a:t>
                      </a:r>
                      <a:r>
                        <a:rPr lang="ko-KR" altLang="en-US" sz="1000" smtClean="0"/>
                        <a:t>년 </a:t>
                      </a:r>
                      <a:r>
                        <a:rPr lang="en-US" altLang="ko-KR" sz="1000" smtClean="0"/>
                        <a:t>1</a:t>
                      </a:r>
                      <a:r>
                        <a:rPr lang="ko-KR" altLang="en-US" sz="1000" smtClean="0"/>
                        <a:t>월 말일까지 회신 하도록 협의 完</a:t>
                      </a:r>
                      <a:endParaRPr lang="en-US" altLang="ko-KR" sz="1000" smtClean="0"/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8421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Y2V (Suzuki)</a:t>
            </a:r>
            <a:endParaRPr lang="en-US" altLang="ko-KR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2" y="555241"/>
            <a:ext cx="1021911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-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16305398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316482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(12/12~12/18)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45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SX3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kumimoji="0" lang="ko-KR" altLang="en-US" sz="16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kumimoji="0" lang="en-US" altLang="ko-KR" sz="16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26.08.01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27.4.1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17727544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046134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(12/12~12/18)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HE1i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25.10.15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26.5.15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26.11.1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97098580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7C1C4-A3C9-668F-8BD4-A4EFBA02C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EC9F43-DC7A-B554-0027-7324B6D81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351898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(12/12~12/18)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사양 변경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HS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CAN FD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: CAN DBc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입수 후 약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개월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개발 기간 필요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 SW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기본 설계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(1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개월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 CAN FD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적용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PCB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및 전체 시나리오 설계 및 시험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(1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개월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: 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설계 완료 일자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월 말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>
            <a:extLst>
              <a:ext uri="{FF2B5EF4-FFF2-40B4-BE49-F238E27FC236}">
                <a16:creationId xmlns:a16="http://schemas.microsoft.com/office/drawing/2014/main" id="{CB876340-F09E-504A-0DE6-114696226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2CF65C-1B93-0A3B-5E44-8AFA81767C77}"/>
              </a:ext>
            </a:extLst>
          </p:cNvPr>
          <p:cNvSpPr txBox="1"/>
          <p:nvPr/>
        </p:nvSpPr>
        <p:spPr>
          <a:xfrm>
            <a:off x="378983" y="692696"/>
            <a:ext cx="34920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XV1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66AB7CCE-AC66-EE6E-395C-571BC498E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>
            <a:extLst>
              <a:ext uri="{FF2B5EF4-FFF2-40B4-BE49-F238E27FC236}">
                <a16:creationId xmlns:a16="http://schemas.microsoft.com/office/drawing/2014/main" id="{42209463-6C29-0498-9738-0B38AC6B0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>
            <a:extLst>
              <a:ext uri="{FF2B5EF4-FFF2-40B4-BE49-F238E27FC236}">
                <a16:creationId xmlns:a16="http://schemas.microsoft.com/office/drawing/2014/main" id="{3B6089FB-B4EB-1309-6C6C-FED38C4B602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>
              <a:extLst>
                <a:ext uri="{FF2B5EF4-FFF2-40B4-BE49-F238E27FC236}">
                  <a16:creationId xmlns:a16="http://schemas.microsoft.com/office/drawing/2014/main" id="{AAE4A6DE-BB43-36E7-DE06-5E054232AE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>
              <a:extLst>
                <a:ext uri="{FF2B5EF4-FFF2-40B4-BE49-F238E27FC236}">
                  <a16:creationId xmlns:a16="http://schemas.microsoft.com/office/drawing/2014/main" id="{F51CE518-D8CE-56D1-343E-27D125A2A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2" name="Rectangle 46">
              <a:extLst>
                <a:ext uri="{FF2B5EF4-FFF2-40B4-BE49-F238E27FC236}">
                  <a16:creationId xmlns:a16="http://schemas.microsoft.com/office/drawing/2014/main" id="{F3A4B264-7845-009C-FF8C-557C315E6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>
            <a:extLst>
              <a:ext uri="{FF2B5EF4-FFF2-40B4-BE49-F238E27FC236}">
                <a16:creationId xmlns:a16="http://schemas.microsoft.com/office/drawing/2014/main" id="{7E0CAE91-9272-F3B5-CD0D-3AFB7A1CE1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>
              <a:extLst>
                <a:ext uri="{FF2B5EF4-FFF2-40B4-BE49-F238E27FC236}">
                  <a16:creationId xmlns:a16="http://schemas.microsoft.com/office/drawing/2014/main" id="{F8ABE3AE-D061-7541-EAD2-43767972A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5" name="Rectangle 46">
              <a:extLst>
                <a:ext uri="{FF2B5EF4-FFF2-40B4-BE49-F238E27FC236}">
                  <a16:creationId xmlns:a16="http://schemas.microsoft.com/office/drawing/2014/main" id="{FFA98DA7-63D9-A7D1-041A-EFEFAF440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>
            <a:extLst>
              <a:ext uri="{FF2B5EF4-FFF2-40B4-BE49-F238E27FC236}">
                <a16:creationId xmlns:a16="http://schemas.microsoft.com/office/drawing/2014/main" id="{750DF511-D71D-F326-17B2-0EE47CB64A0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>
              <a:extLst>
                <a:ext uri="{FF2B5EF4-FFF2-40B4-BE49-F238E27FC236}">
                  <a16:creationId xmlns:a16="http://schemas.microsoft.com/office/drawing/2014/main" id="{E0A6356D-33B1-90F5-B763-DD783D8E3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8" name="Rectangle 46">
              <a:extLst>
                <a:ext uri="{FF2B5EF4-FFF2-40B4-BE49-F238E27FC236}">
                  <a16:creationId xmlns:a16="http://schemas.microsoft.com/office/drawing/2014/main" id="{BEACA4F1-757A-2F05-2660-65AA94460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>
            <a:extLst>
              <a:ext uri="{FF2B5EF4-FFF2-40B4-BE49-F238E27FC236}">
                <a16:creationId xmlns:a16="http://schemas.microsoft.com/office/drawing/2014/main" id="{C5BF8B83-4345-6C57-8E1F-BFDCBAA0A7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>
              <a:extLst>
                <a:ext uri="{FF2B5EF4-FFF2-40B4-BE49-F238E27FC236}">
                  <a16:creationId xmlns:a16="http://schemas.microsoft.com/office/drawing/2014/main" id="{E9CBA838-F613-EBE3-A3C2-BF909FA0D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41" name="Rectangle 46">
              <a:extLst>
                <a:ext uri="{FF2B5EF4-FFF2-40B4-BE49-F238E27FC236}">
                  <a16:creationId xmlns:a16="http://schemas.microsoft.com/office/drawing/2014/main" id="{D1A4D78E-BAE4-C1A1-6328-D02A354D9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>
            <a:extLst>
              <a:ext uri="{FF2B5EF4-FFF2-40B4-BE49-F238E27FC236}">
                <a16:creationId xmlns:a16="http://schemas.microsoft.com/office/drawing/2014/main" id="{B49122A4-88BD-0054-D8CF-A93D750E9C3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>
            <a:extLst>
              <a:ext uri="{FF2B5EF4-FFF2-40B4-BE49-F238E27FC236}">
                <a16:creationId xmlns:a16="http://schemas.microsoft.com/office/drawing/2014/main" id="{F46E8ED4-9848-0689-4E79-EB131E9CE3E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>
            <a:extLst>
              <a:ext uri="{FF2B5EF4-FFF2-40B4-BE49-F238E27FC236}">
                <a16:creationId xmlns:a16="http://schemas.microsoft.com/office/drawing/2014/main" id="{E05634CE-AE3B-D45F-21FE-DBFF0A3F527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>
            <a:extLst>
              <a:ext uri="{FF2B5EF4-FFF2-40B4-BE49-F238E27FC236}">
                <a16:creationId xmlns:a16="http://schemas.microsoft.com/office/drawing/2014/main" id="{3EB16624-EBF9-0AB7-9CC9-079849BA10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>
              <a:extLst>
                <a:ext uri="{FF2B5EF4-FFF2-40B4-BE49-F238E27FC236}">
                  <a16:creationId xmlns:a16="http://schemas.microsoft.com/office/drawing/2014/main" id="{C15B97AA-D88E-1E3C-FBEE-4ECBD07CF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>
              <a:extLst>
                <a:ext uri="{FF2B5EF4-FFF2-40B4-BE49-F238E27FC236}">
                  <a16:creationId xmlns:a16="http://schemas.microsoft.com/office/drawing/2014/main" id="{E6EAD7CF-A9FE-431C-DB9B-3DB87A1CB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>
            <a:extLst>
              <a:ext uri="{FF2B5EF4-FFF2-40B4-BE49-F238E27FC236}">
                <a16:creationId xmlns:a16="http://schemas.microsoft.com/office/drawing/2014/main" id="{4F775F6C-7A60-7FEA-0734-E5152504240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980658366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3707904" y="3140968"/>
            <a:ext cx="206492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buNone/>
              <a:defRPr/>
            </a:pPr>
            <a:r>
              <a:rPr lang="en-US" altLang="ko-KR" sz="4000" b="1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MOTOR</a:t>
            </a:r>
            <a:endParaRPr kumimoji="1" lang="en-US" altLang="ko-KR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135979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794695"/>
              </p:ext>
            </p:extLst>
          </p:nvPr>
        </p:nvGraphicFramePr>
        <p:xfrm>
          <a:off x="11059" y="536956"/>
          <a:ext cx="9097445" cy="697393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(12/12~12/18)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1. E</a:t>
                      </a:r>
                      <a:r>
                        <a:rPr lang="en-US" altLang="ko-KR" sz="1000" smtClean="0"/>
                        <a:t>OL </a:t>
                      </a:r>
                      <a:r>
                        <a:rPr lang="ko-KR" altLang="en-US" sz="1000" smtClean="0"/>
                        <a:t>성능 검사 시 </a:t>
                      </a:r>
                      <a:r>
                        <a:rPr lang="en-US" altLang="ko-KR" sz="1000" smtClean="0"/>
                        <a:t>NAD ID Read </a:t>
                      </a:r>
                      <a:r>
                        <a:rPr lang="ko-KR" altLang="en-US" sz="1000" smtClean="0"/>
                        <a:t>기능 추가 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2. </a:t>
                      </a:r>
                      <a:r>
                        <a:rPr lang="ko-KR" altLang="en-US" sz="1000" smtClean="0"/>
                        <a:t>크랭킹 시 전압 </a:t>
                      </a:r>
                      <a:r>
                        <a:rPr lang="en-US" altLang="ko-KR" sz="1000" smtClean="0"/>
                        <a:t>Drop </a:t>
                      </a:r>
                      <a:r>
                        <a:rPr lang="ko-KR" altLang="en-US" sz="1000" smtClean="0"/>
                        <a:t>에 따른 로직 추가 및 검증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- </a:t>
                      </a:r>
                      <a:r>
                        <a:rPr lang="ko-KR" altLang="en-US" sz="1000" smtClean="0"/>
                        <a:t>실차 평가 진행 </a:t>
                      </a:r>
                      <a:r>
                        <a:rPr lang="en-US" altLang="ko-KR" sz="1000" smtClean="0"/>
                        <a:t>(25.12.10)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  </a:t>
                      </a:r>
                      <a:r>
                        <a:rPr lang="ko-KR" altLang="en-US" sz="1000" smtClean="0"/>
                        <a:t>참석자 </a:t>
                      </a:r>
                      <a:r>
                        <a:rPr lang="en-US" altLang="ko-KR" sz="1000" smtClean="0"/>
                        <a:t>: </a:t>
                      </a:r>
                      <a:r>
                        <a:rPr lang="ko-KR" altLang="en-US" sz="1000" smtClean="0"/>
                        <a:t>오세영 수석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최은혁 전임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김진겸 사원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- </a:t>
                      </a:r>
                      <a:r>
                        <a:rPr lang="ko-KR" altLang="en-US" sz="1000" smtClean="0"/>
                        <a:t>실차 평가 후 문제 없을 시 </a:t>
                      </a:r>
                      <a:r>
                        <a:rPr lang="en-US" altLang="ko-KR" sz="1000" smtClean="0"/>
                        <a:t>RS4PE </a:t>
                      </a:r>
                      <a:r>
                        <a:rPr lang="ko-KR" altLang="en-US" sz="1000" smtClean="0"/>
                        <a:t>및 </a:t>
                      </a:r>
                      <a:r>
                        <a:rPr lang="en-US" altLang="ko-KR" sz="1000" smtClean="0"/>
                        <a:t>JG1 </a:t>
                      </a:r>
                      <a:r>
                        <a:rPr lang="ko-KR" altLang="en-US" sz="1000" smtClean="0"/>
                        <a:t>의 업데이트 진행   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  (</a:t>
                      </a:r>
                      <a:r>
                        <a:rPr lang="ko-KR" altLang="en-US" sz="1000" smtClean="0"/>
                        <a:t>업데이트 수량 및 위치는 확인 필요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- JG1 P2 </a:t>
                      </a:r>
                      <a:r>
                        <a:rPr lang="ko-KR" altLang="en-US" sz="1000" smtClean="0"/>
                        <a:t>물량 업데이트 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  12/17</a:t>
                      </a:r>
                      <a:r>
                        <a:rPr lang="en-US" altLang="ko-KR" sz="1000" baseline="0" smtClean="0"/>
                        <a:t> : </a:t>
                      </a:r>
                      <a:r>
                        <a:rPr lang="ko-KR" altLang="en-US" sz="1000" baseline="0" smtClean="0"/>
                        <a:t>한온 단품 </a:t>
                      </a:r>
                      <a:r>
                        <a:rPr lang="en-US" altLang="ko-KR" sz="1000" baseline="0" smtClean="0"/>
                        <a:t>(580EA), </a:t>
                      </a:r>
                      <a:r>
                        <a:rPr lang="ko-KR" altLang="en-US" sz="1000" baseline="0" smtClean="0"/>
                        <a:t>한국 산업 모형 담품 </a:t>
                      </a:r>
                      <a:r>
                        <a:rPr lang="en-US" altLang="ko-KR" sz="1000" baseline="0" smtClean="0"/>
                        <a:t>(60EA)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            </a:t>
                      </a:r>
                      <a:r>
                        <a:rPr lang="ko-KR" altLang="en-US" sz="1000" baseline="0" smtClean="0"/>
                        <a:t>스마트 </a:t>
                      </a:r>
                      <a:r>
                        <a:rPr lang="en-US" altLang="ko-KR" sz="1000" baseline="0" smtClean="0"/>
                        <a:t>DNS (60EA)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  12/18 : </a:t>
                      </a:r>
                      <a:r>
                        <a:rPr lang="ko-KR" altLang="en-US" sz="1000" baseline="0" smtClean="0"/>
                        <a:t>한온 단품 </a:t>
                      </a:r>
                      <a:r>
                        <a:rPr lang="en-US" altLang="ko-KR" sz="1000" baseline="0" smtClean="0"/>
                        <a:t>(580EA) </a:t>
                      </a:r>
                      <a:r>
                        <a:rPr lang="ko-KR" altLang="en-US" sz="1000" baseline="0" smtClean="0"/>
                        <a:t>정상 업데이트 여부 전수 검사 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  </a:t>
                      </a:r>
                      <a:r>
                        <a:rPr lang="ko-KR" altLang="en-US" sz="1000" baseline="0" smtClean="0"/>
                        <a:t>실차 조립 상태 </a:t>
                      </a:r>
                      <a:r>
                        <a:rPr lang="en-US" altLang="ko-KR" sz="1000" baseline="0" smtClean="0"/>
                        <a:t>(9</a:t>
                      </a:r>
                      <a:r>
                        <a:rPr lang="ko-KR" altLang="en-US" sz="1000" baseline="0" smtClean="0"/>
                        <a:t>대</a:t>
                      </a:r>
                      <a:r>
                        <a:rPr lang="en-US" altLang="ko-KR" sz="1000" baseline="0" smtClean="0"/>
                        <a:t> / 120EA)</a:t>
                      </a:r>
                      <a:r>
                        <a:rPr lang="ko-KR" altLang="en-US" sz="1000" baseline="0" smtClean="0"/>
                        <a:t>는 요청 시 업데이트 진행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3.</a:t>
                      </a:r>
                      <a:r>
                        <a:rPr lang="ko-KR" altLang="en-US" sz="1000" smtClean="0"/>
                        <a:t> 악의 파형 </a:t>
                      </a:r>
                      <a:r>
                        <a:rPr lang="en-US" altLang="ko-KR" sz="1000" smtClean="0"/>
                        <a:t>23</a:t>
                      </a:r>
                      <a:r>
                        <a:rPr lang="ko-KR" altLang="en-US" sz="1000" smtClean="0"/>
                        <a:t>개 테스트 진행 </a:t>
                      </a:r>
                      <a:r>
                        <a:rPr lang="en-US" altLang="ko-KR" sz="1000" smtClean="0"/>
                        <a:t>(~12/26)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4.</a:t>
                      </a:r>
                      <a:r>
                        <a:rPr lang="ko-KR" altLang="en-US" sz="1000" smtClean="0"/>
                        <a:t> 정상 동작 중 전압 </a:t>
                      </a:r>
                      <a:r>
                        <a:rPr lang="en-US" altLang="ko-KR" sz="1000" smtClean="0"/>
                        <a:t>Drop </a:t>
                      </a:r>
                      <a:r>
                        <a:rPr lang="ko-KR" altLang="en-US" sz="1000" smtClean="0"/>
                        <a:t>발생에 따른 </a:t>
                      </a:r>
                      <a:r>
                        <a:rPr lang="en-US" altLang="ko-KR" sz="1000" smtClean="0"/>
                        <a:t>Stall Fault </a:t>
                      </a:r>
                      <a:r>
                        <a:rPr lang="ko-KR" altLang="en-US" sz="1000" smtClean="0"/>
                        <a:t>우회 로직 설계</a:t>
                      </a:r>
                      <a:r>
                        <a:rPr lang="en-US" altLang="ko-KR" sz="1000" smtClean="0"/>
                        <a:t>        </a:t>
                      </a:r>
                      <a:r>
                        <a:rPr lang="ko-KR" altLang="en-US" sz="1000" smtClean="0"/>
                        <a:t> 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(~12/26)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: </a:t>
                      </a:r>
                      <a:r>
                        <a:rPr lang="ko-KR" altLang="en-US" sz="1000" smtClean="0"/>
                        <a:t>전압 </a:t>
                      </a:r>
                      <a:r>
                        <a:rPr lang="en-US" altLang="ko-KR" sz="1000" smtClean="0"/>
                        <a:t>Drop </a:t>
                      </a:r>
                      <a:r>
                        <a:rPr lang="ko-KR" altLang="en-US" sz="1000" smtClean="0"/>
                        <a:t>확인 시 모터 움직임 일시 정지 후 전압 정상으로 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 </a:t>
                      </a:r>
                      <a:r>
                        <a:rPr lang="ko-KR" altLang="en-US" sz="1000" smtClean="0"/>
                        <a:t>복귀 시 모터 동작 로직 가능 여부 확인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: </a:t>
                      </a:r>
                      <a:r>
                        <a:rPr lang="ko-KR" altLang="en-US" sz="1000" smtClean="0"/>
                        <a:t>모터 동작 시작 전 전압 대비 동작 중 전압 </a:t>
                      </a:r>
                      <a:r>
                        <a:rPr lang="en-US" altLang="ko-KR" sz="1000" smtClean="0"/>
                        <a:t>Drop </a:t>
                      </a:r>
                      <a:r>
                        <a:rPr lang="ko-KR" altLang="en-US" sz="1000" smtClean="0"/>
                        <a:t>확인 시 </a:t>
                      </a:r>
                      <a:r>
                        <a:rPr lang="en-US" altLang="ko-KR" sz="1000" smtClean="0"/>
                        <a:t>Stall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Fault </a:t>
                      </a:r>
                      <a:r>
                        <a:rPr lang="ko-KR" altLang="en-US" sz="1000" smtClean="0"/>
                        <a:t>처리 하지 않고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다음 시동시 </a:t>
                      </a:r>
                      <a:r>
                        <a:rPr lang="en-US" altLang="ko-KR" sz="1000" smtClean="0"/>
                        <a:t>2P Cal </a:t>
                      </a:r>
                      <a:r>
                        <a:rPr lang="ko-KR" altLang="en-US" sz="1000" smtClean="0"/>
                        <a:t>로직 가능 여부 확인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5.</a:t>
                      </a:r>
                      <a:r>
                        <a:rPr lang="ko-KR" altLang="en-US" sz="1000" smtClean="0"/>
                        <a:t> 토크 감소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    : </a:t>
                      </a:r>
                      <a:r>
                        <a:rPr lang="ko-KR" altLang="en-US" sz="1000" smtClean="0"/>
                        <a:t>토크 감소 후 </a:t>
                      </a:r>
                      <a:r>
                        <a:rPr lang="en-US" altLang="ko-KR" sz="1000" smtClean="0"/>
                        <a:t>Stall </a:t>
                      </a:r>
                      <a:r>
                        <a:rPr lang="ko-KR" altLang="en-US" sz="1000" smtClean="0"/>
                        <a:t>감지 튜닝 및 </a:t>
                      </a:r>
                      <a:r>
                        <a:rPr lang="en-US" altLang="ko-KR" sz="1000" smtClean="0"/>
                        <a:t>Side Effect </a:t>
                      </a:r>
                      <a:r>
                        <a:rPr lang="ko-KR" altLang="en-US" sz="1000" smtClean="0"/>
                        <a:t>점검 </a:t>
                      </a:r>
                      <a:r>
                        <a:rPr lang="en-US" altLang="ko-KR" sz="1000" smtClean="0"/>
                        <a:t>(~12/31)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6.</a:t>
                      </a:r>
                      <a:r>
                        <a:rPr lang="ko-KR" altLang="en-US" sz="1000" smtClean="0"/>
                        <a:t> 정확도 튜닝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     :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정확도 </a:t>
                      </a:r>
                      <a:r>
                        <a:rPr lang="en-US" altLang="ko-KR" sz="1000" baseline="0" smtClean="0"/>
                        <a:t>1</a:t>
                      </a:r>
                      <a:r>
                        <a:rPr lang="ko-KR" altLang="en-US" sz="1000" baseline="0" smtClean="0"/>
                        <a:t>도 틀어짐에 따른 튜닝 진행 </a:t>
                      </a:r>
                      <a:r>
                        <a:rPr lang="en-US" altLang="ko-KR" sz="1000" baseline="0" smtClean="0"/>
                        <a:t>(~12/31)</a:t>
                      </a:r>
                      <a:endParaRPr lang="en-US" altLang="ko-KR" sz="1000" smtClean="0"/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 요청에 따른 시험 진행</a:t>
                      </a:r>
                      <a:endParaRPr kumimoji="1" lang="en-US" altLang="ko-KR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JG</a:t>
            </a:r>
            <a:endParaRPr lang="en-US" altLang="ko-KR" sz="1600" b="1" noProof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최은혁 전임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24.10.15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20355"/>
            <a:chOff x="0" y="134593"/>
            <a:chExt cx="604837" cy="496731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19163"/>
            <a:chOff x="0" y="135732"/>
            <a:chExt cx="604837" cy="495592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26.1.15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P#2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13531"/>
            <a:chOff x="0" y="134593"/>
            <a:chExt cx="604837" cy="490217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70218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MCAR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8" name="그룹 16"/>
          <p:cNvGrpSpPr>
            <a:grpSpLocks noChangeAspect="1"/>
          </p:cNvGrpSpPr>
          <p:nvPr/>
        </p:nvGrpSpPr>
        <p:grpSpPr bwMode="auto">
          <a:xfrm>
            <a:off x="7516839" y="542753"/>
            <a:ext cx="1045724" cy="519163"/>
            <a:chOff x="0" y="135732"/>
            <a:chExt cx="604837" cy="495592"/>
          </a:xfrm>
        </p:grpSpPr>
        <p:sp>
          <p:nvSpPr>
            <p:cNvPr id="43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26.3.15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46" name="위쪽 화살표 45"/>
          <p:cNvSpPr>
            <a:spLocks noChangeArrowheads="1"/>
          </p:cNvSpPr>
          <p:nvPr/>
        </p:nvSpPr>
        <p:spPr bwMode="auto">
          <a:xfrm rot="10800000">
            <a:off x="7979947" y="71761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7285038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898326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297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(12/12~12/18)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1. ES253EE </a:t>
                      </a:r>
                      <a:r>
                        <a:rPr lang="ko-KR" altLang="en-US" sz="1000" smtClean="0"/>
                        <a:t>심사 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  2</a:t>
                      </a:r>
                      <a:r>
                        <a:rPr lang="ko-KR" altLang="en-US" sz="1000" smtClean="0"/>
                        <a:t>차 심사 진행 </a:t>
                      </a:r>
                      <a:r>
                        <a:rPr lang="en-US" altLang="ko-KR" sz="1000" smtClean="0"/>
                        <a:t>: 26</a:t>
                      </a:r>
                      <a:r>
                        <a:rPr lang="ko-KR" altLang="en-US" sz="1000" smtClean="0"/>
                        <a:t>년 </a:t>
                      </a:r>
                      <a:r>
                        <a:rPr lang="en-US" altLang="ko-KR" sz="1000" smtClean="0"/>
                        <a:t>1</a:t>
                      </a:r>
                      <a:r>
                        <a:rPr lang="ko-KR" altLang="en-US" sz="1000" smtClean="0"/>
                        <a:t>월 초 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</a:t>
                      </a:r>
                      <a:r>
                        <a:rPr lang="ko-KR" altLang="en-US" sz="1000" baseline="0" smtClean="0"/>
                        <a:t>산출물 제출 일정 </a:t>
                      </a:r>
                      <a:r>
                        <a:rPr lang="en-US" altLang="ko-KR" sz="1000" baseline="0" smtClean="0"/>
                        <a:t>: 25</a:t>
                      </a:r>
                      <a:r>
                        <a:rPr lang="ko-KR" altLang="en-US" sz="1000" baseline="0" smtClean="0"/>
                        <a:t>년 </a:t>
                      </a:r>
                      <a:r>
                        <a:rPr lang="en-US" altLang="ko-KR" sz="1000" baseline="0" smtClean="0"/>
                        <a:t>12</a:t>
                      </a:r>
                      <a:r>
                        <a:rPr lang="ko-KR" altLang="en-US" sz="1000" baseline="0" smtClean="0"/>
                        <a:t>월 </a:t>
                      </a:r>
                      <a:r>
                        <a:rPr lang="en-US" altLang="ko-KR" sz="1000" baseline="0" smtClean="0"/>
                        <a:t>26</a:t>
                      </a:r>
                      <a:r>
                        <a:rPr lang="ko-KR" altLang="en-US" sz="1000" baseline="0" smtClean="0"/>
                        <a:t>일 </a:t>
                      </a:r>
                      <a:r>
                        <a:rPr lang="en-US" altLang="ko-KR" sz="1000" baseline="0" smtClean="0"/>
                        <a:t>(ES </a:t>
                      </a:r>
                      <a:r>
                        <a:rPr lang="ko-KR" altLang="en-US" sz="1000" baseline="0" smtClean="0"/>
                        <a:t>성적서 포함</a:t>
                      </a:r>
                      <a:r>
                        <a:rPr lang="en-US" altLang="ko-KR" sz="1000" baseline="0" smtClean="0"/>
                        <a:t>)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</a:t>
                      </a:r>
                      <a:r>
                        <a:rPr lang="ko-KR" altLang="en-US" sz="1000" baseline="0" smtClean="0"/>
                        <a:t>장소 </a:t>
                      </a:r>
                      <a:r>
                        <a:rPr lang="en-US" altLang="ko-KR" sz="1000" baseline="0" smtClean="0"/>
                        <a:t>: </a:t>
                      </a:r>
                      <a:r>
                        <a:rPr lang="ko-KR" altLang="en-US" sz="1000" baseline="0" smtClean="0"/>
                        <a:t>명화공업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000" b="0" baseline="0" smtClean="0"/>
                        <a:t>   진행 사항 </a:t>
                      </a:r>
                      <a:r>
                        <a:rPr lang="en-US" altLang="ko-KR" sz="1000" b="0" baseline="0" smtClean="0"/>
                        <a:t>: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- Sys </a:t>
                      </a:r>
                      <a:r>
                        <a:rPr lang="ko-KR" altLang="en-US" sz="1000" baseline="0" smtClean="0"/>
                        <a:t>산출물 </a:t>
                      </a:r>
                      <a:r>
                        <a:rPr lang="en-US" altLang="ko-KR" sz="1000" baseline="0" smtClean="0"/>
                        <a:t>1</a:t>
                      </a:r>
                      <a:r>
                        <a:rPr lang="ko-KR" altLang="en-US" sz="1000" baseline="0" smtClean="0"/>
                        <a:t>차 완료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- SW </a:t>
                      </a:r>
                      <a:r>
                        <a:rPr lang="ko-KR" altLang="en-US" sz="1000" baseline="0" smtClean="0"/>
                        <a:t>산출물 요구사항 대비 방향성 확립 </a:t>
                      </a:r>
                      <a:r>
                        <a:rPr lang="en-US" altLang="ko-KR" sz="1000" baseline="0" smtClean="0"/>
                        <a:t>: 12</a:t>
                      </a:r>
                      <a:r>
                        <a:rPr lang="ko-KR" altLang="en-US" sz="1000" baseline="0" smtClean="0"/>
                        <a:t>월</a:t>
                      </a:r>
                      <a:r>
                        <a:rPr lang="en-US" altLang="ko-KR" sz="1000" baseline="0" smtClean="0"/>
                        <a:t>17</a:t>
                      </a:r>
                      <a:r>
                        <a:rPr lang="ko-KR" altLang="en-US" sz="1000" baseline="0" smtClean="0"/>
                        <a:t>일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- SW </a:t>
                      </a:r>
                      <a:r>
                        <a:rPr lang="ko-KR" altLang="en-US" sz="1000" baseline="0" smtClean="0"/>
                        <a:t>산출물 </a:t>
                      </a:r>
                      <a:r>
                        <a:rPr lang="en-US" altLang="ko-KR" sz="1000" baseline="0" smtClean="0"/>
                        <a:t>1</a:t>
                      </a:r>
                      <a:r>
                        <a:rPr lang="ko-KR" altLang="en-US" sz="1000" baseline="0" smtClean="0"/>
                        <a:t>차 완료 </a:t>
                      </a:r>
                      <a:r>
                        <a:rPr lang="en-US" altLang="ko-KR" sz="1000" baseline="0" smtClean="0"/>
                        <a:t>: 12</a:t>
                      </a:r>
                      <a:r>
                        <a:rPr lang="ko-KR" altLang="en-US" sz="1000" baseline="0" smtClean="0"/>
                        <a:t>월 </a:t>
                      </a:r>
                      <a:r>
                        <a:rPr lang="en-US" altLang="ko-KR" sz="1000" baseline="0" smtClean="0"/>
                        <a:t>19</a:t>
                      </a:r>
                      <a:r>
                        <a:rPr lang="ko-KR" altLang="en-US" sz="1000" baseline="0" smtClean="0"/>
                        <a:t>일</a:t>
                      </a:r>
                      <a:r>
                        <a:rPr lang="en-US" altLang="ko-KR" sz="1000" baseline="0" smtClean="0"/>
                        <a:t>(</a:t>
                      </a:r>
                      <a:r>
                        <a:rPr lang="ko-KR" altLang="en-US" sz="1000" baseline="0" smtClean="0"/>
                        <a:t>건우</a:t>
                      </a:r>
                      <a:r>
                        <a:rPr lang="en-US" altLang="ko-KR" sz="1000" baseline="0" smtClean="0"/>
                        <a:t>)</a:t>
                      </a:r>
                      <a:r>
                        <a:rPr lang="ko-KR" altLang="en-US" sz="1000" baseline="0" smtClean="0"/>
                        <a:t> </a:t>
                      </a:r>
                      <a:r>
                        <a:rPr lang="en-US" altLang="ko-KR" sz="1000" baseline="0" smtClean="0">
                          <a:sym typeface="Wingdings" panose="05000000000000000000" pitchFamily="2" charset="2"/>
                        </a:rPr>
                        <a:t> Review </a:t>
                      </a:r>
                      <a:r>
                        <a:rPr lang="ko-KR" altLang="en-US" sz="1000" baseline="0" smtClean="0">
                          <a:sym typeface="Wingdings" panose="05000000000000000000" pitchFamily="2" charset="2"/>
                        </a:rPr>
                        <a:t>진행 </a:t>
                      </a:r>
                      <a:r>
                        <a:rPr lang="en-US" altLang="ko-KR" sz="1000" baseline="0" smtClean="0"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1000" baseline="0" smtClean="0">
                          <a:sym typeface="Wingdings" panose="05000000000000000000" pitchFamily="2" charset="2"/>
                        </a:rPr>
                        <a:t>우리산업</a:t>
                      </a:r>
                      <a:r>
                        <a:rPr lang="en-US" altLang="ko-KR" sz="1000" baseline="0" smtClean="0">
                          <a:sym typeface="Wingdings" panose="05000000000000000000" pitchFamily="2" charset="2"/>
                        </a:rPr>
                        <a:t>)</a:t>
                      </a:r>
                      <a:r>
                        <a:rPr lang="en-US" altLang="ko-KR" sz="1000" baseline="0" smtClean="0"/>
                        <a:t> 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- ES253EE </a:t>
                      </a:r>
                      <a:r>
                        <a:rPr lang="ko-KR" altLang="en-US" sz="1000" baseline="0" smtClean="0"/>
                        <a:t>성적서내의 산출물 작성 요청 </a:t>
                      </a:r>
                      <a:r>
                        <a:rPr lang="en-US" altLang="ko-KR" sz="1000" baseline="0" smtClean="0"/>
                        <a:t>(</a:t>
                      </a:r>
                      <a:r>
                        <a:rPr lang="ko-KR" altLang="en-US" sz="1000" baseline="0" smtClean="0"/>
                        <a:t>건우</a:t>
                      </a:r>
                      <a:r>
                        <a:rPr lang="en-US" altLang="ko-KR" sz="1000" baseline="0" smtClean="0"/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2. </a:t>
                      </a:r>
                      <a:r>
                        <a:rPr lang="ko-KR" altLang="en-US" sz="1000" smtClean="0"/>
                        <a:t>고장 </a:t>
                      </a:r>
                      <a:r>
                        <a:rPr lang="en-US" altLang="ko-KR" sz="1000" smtClean="0"/>
                        <a:t>Log </a:t>
                      </a:r>
                      <a:r>
                        <a:rPr lang="ko-KR" altLang="en-US" sz="1000" smtClean="0"/>
                        <a:t>저장 </a:t>
                      </a:r>
                      <a:r>
                        <a:rPr lang="en-US" altLang="ko-KR" sz="1000" smtClean="0"/>
                        <a:t>1</a:t>
                      </a:r>
                      <a:r>
                        <a:rPr lang="ko-KR" altLang="en-US" sz="1000" smtClean="0"/>
                        <a:t>차 설계 완료 </a:t>
                      </a:r>
                      <a:r>
                        <a:rPr lang="en-US" altLang="ko-KR" sz="1000" smtClean="0"/>
                        <a:t>(12/17) </a:t>
                      </a:r>
                      <a:r>
                        <a:rPr lang="en-US" altLang="ko-KR" sz="1000" smtClean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smtClean="0">
                          <a:sym typeface="Wingdings" panose="05000000000000000000" pitchFamily="2" charset="2"/>
                        </a:rPr>
                        <a:t>시험 진행 </a:t>
                      </a:r>
                      <a:r>
                        <a:rPr lang="en-US" altLang="ko-KR" sz="1000" smtClean="0">
                          <a:sym typeface="Wingdings" panose="05000000000000000000" pitchFamily="2" charset="2"/>
                        </a:rPr>
                        <a:t>(12/27)</a:t>
                      </a:r>
                      <a:endParaRPr lang="en-US" altLang="ko-KR" sz="100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3.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현 상태 이슈 사항 </a:t>
                      </a:r>
                      <a:r>
                        <a:rPr lang="en-US" altLang="ko-KR" sz="1000" baseline="0" smtClean="0"/>
                        <a:t>7</a:t>
                      </a:r>
                      <a:r>
                        <a:rPr lang="ko-KR" altLang="en-US" sz="1000" baseline="0" smtClean="0"/>
                        <a:t>건 수정 및 시험 완료 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- </a:t>
                      </a:r>
                      <a:r>
                        <a:rPr lang="ko-KR" altLang="en-US" sz="1000" baseline="0" smtClean="0"/>
                        <a:t>명화공업으로 대책서 송부 </a:t>
                      </a:r>
                      <a:r>
                        <a:rPr lang="en-US" altLang="ko-KR" sz="1000" baseline="0" smtClean="0"/>
                        <a:t>(12/17)</a:t>
                      </a:r>
                      <a:endParaRPr lang="en-US" altLang="ko-KR" sz="1000" smtClean="0"/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4WayValve</a:t>
            </a:r>
            <a:endParaRPr lang="en-US" altLang="ko-KR" sz="1600" b="1" noProof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김강일 사원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25.8.1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SP#1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27.2.1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2" name="위쪽 화살표 6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4" name="위쪽 화살표 63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65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13531"/>
            <a:chOff x="0" y="134593"/>
            <a:chExt cx="604837" cy="490217"/>
          </a:xfrm>
        </p:grpSpPr>
        <p:sp>
          <p:nvSpPr>
            <p:cNvPr id="66" name="Rectangle 46"/>
            <p:cNvSpPr>
              <a:spLocks noChangeArrowheads="1"/>
            </p:cNvSpPr>
            <p:nvPr/>
          </p:nvSpPr>
          <p:spPr bwMode="auto">
            <a:xfrm>
              <a:off x="0" y="370218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MCAR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8" name="위쪽 화살표 67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3261085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/>
          </p:cNvSpPr>
          <p:nvPr/>
        </p:nvSpPr>
        <p:spPr bwMode="auto">
          <a:xfrm>
            <a:off x="176506" y="7775"/>
            <a:ext cx="6879981" cy="468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8400" tIns="44200" rIns="88400" bIns="44200" anchor="ctr"/>
          <a:lstStyle/>
          <a:p>
            <a:pPr algn="l">
              <a:spcBef>
                <a:spcPct val="0"/>
              </a:spcBef>
            </a:pPr>
            <a:r>
              <a:rPr lang="en-US" altLang="ko-KR" sz="2400" dirty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EV Heater SW2</a:t>
            </a:r>
            <a:r>
              <a:rPr lang="ko-KR" altLang="en-US" sz="2400" dirty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팀 업무분장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73478"/>
              </p:ext>
            </p:extLst>
          </p:nvPr>
        </p:nvGraphicFramePr>
        <p:xfrm>
          <a:off x="3203848" y="639727"/>
          <a:ext cx="2592288" cy="99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288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오세영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팀장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1.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팀 관리 업무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2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. Air PTC SW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 개발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및 관리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 - Suzuki, VX3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3. Act’r/Valve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및 관리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328500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513406"/>
              </p:ext>
            </p:extLst>
          </p:nvPr>
        </p:nvGraphicFramePr>
        <p:xfrm>
          <a:off x="1122973" y="3854911"/>
          <a:ext cx="1907290" cy="1193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865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임제훈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842166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Air PTC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SVm, BJ1, NX5e, HE1i,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  AY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고품 분석 및 대응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SU2i, KY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448762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240663"/>
              </p:ext>
            </p:extLst>
          </p:nvPr>
        </p:nvGraphicFramePr>
        <p:xfrm>
          <a:off x="1122973" y="2530955"/>
          <a:ext cx="1907290" cy="1126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859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조현진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전임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840622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Air PTC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SX3e, NEaW, MX5a, QV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2.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고품 분석 및 대응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MVa, Nea, Mea, Cva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952399"/>
              </p:ext>
            </p:extLst>
          </p:nvPr>
        </p:nvGraphicFramePr>
        <p:xfrm>
          <a:off x="5977078" y="2516911"/>
          <a:ext cx="1907290" cy="100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795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최은혁 전임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22984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ko-KR" altLang="en-US" sz="105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Actuator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</a:t>
                      </a: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- JG1, RS4PE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cxnSp>
        <p:nvCxnSpPr>
          <p:cNvPr id="17" name="꺾인 연결선 16"/>
          <p:cNvCxnSpPr>
            <a:stCxn id="8" idx="0"/>
            <a:endCxn id="7" idx="2"/>
          </p:cNvCxnSpPr>
          <p:nvPr/>
        </p:nvCxnSpPr>
        <p:spPr bwMode="auto">
          <a:xfrm rot="5400000" flipH="1" flipV="1">
            <a:off x="4049548" y="2075948"/>
            <a:ext cx="900635" cy="5245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꺾인 연결선 17"/>
          <p:cNvCxnSpPr>
            <a:stCxn id="14" idx="0"/>
            <a:endCxn id="7" idx="2"/>
          </p:cNvCxnSpPr>
          <p:nvPr/>
        </p:nvCxnSpPr>
        <p:spPr bwMode="auto">
          <a:xfrm rot="16200000" flipV="1">
            <a:off x="5272277" y="858464"/>
            <a:ext cx="888659" cy="2428235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꺾인 연결선 18"/>
          <p:cNvCxnSpPr>
            <a:stCxn id="13" idx="0"/>
            <a:endCxn id="7" idx="2"/>
          </p:cNvCxnSpPr>
          <p:nvPr/>
        </p:nvCxnSpPr>
        <p:spPr bwMode="auto">
          <a:xfrm rot="5400000" flipH="1" flipV="1">
            <a:off x="2838201" y="866669"/>
            <a:ext cx="902704" cy="2425870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274422"/>
              </p:ext>
            </p:extLst>
          </p:nvPr>
        </p:nvGraphicFramePr>
        <p:xfrm>
          <a:off x="5977078" y="3854911"/>
          <a:ext cx="1907290" cy="1169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572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김강일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912057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ko-KR" altLang="en-US" sz="105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Valve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</a:t>
                      </a: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- 4Way/6Way Valve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831328"/>
              </p:ext>
            </p:extLst>
          </p:nvPr>
        </p:nvGraphicFramePr>
        <p:xfrm>
          <a:off x="3537752" y="2531619"/>
          <a:ext cx="1907290" cy="1104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3146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김진겸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89519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 Air PTC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2. Motor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3. ES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수행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27916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987824" y="6381908"/>
            <a:ext cx="3329758" cy="21544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800" b="1" dirty="0"/>
              <a:t>* 26</a:t>
            </a:r>
            <a:r>
              <a:rPr lang="ko-KR" altLang="en-US" sz="800" b="1" dirty="0"/>
              <a:t>년 현대 </a:t>
            </a:r>
            <a:r>
              <a:rPr lang="en-US" altLang="ko-KR" sz="800" b="1" dirty="0"/>
              <a:t>2</a:t>
            </a:r>
            <a:r>
              <a:rPr lang="ko-KR" altLang="en-US" sz="800" b="1" dirty="0" err="1"/>
              <a:t>챔버</a:t>
            </a:r>
            <a:r>
              <a:rPr lang="ko-KR" altLang="en-US" sz="800" b="1" dirty="0"/>
              <a:t> </a:t>
            </a:r>
            <a:r>
              <a:rPr lang="ko-KR" altLang="en-US" sz="800" b="1" dirty="0" err="1"/>
              <a:t>수가열</a:t>
            </a:r>
            <a:r>
              <a:rPr lang="ko-KR" altLang="en-US" sz="800" b="1" dirty="0"/>
              <a:t> 히터</a:t>
            </a:r>
            <a:r>
              <a:rPr lang="en-US" altLang="ko-KR" sz="800" b="1" dirty="0"/>
              <a:t>/ Ford Air PTC </a:t>
            </a:r>
            <a:r>
              <a:rPr lang="ko-KR" altLang="en-US" sz="800" b="1" dirty="0"/>
              <a:t>수주 시 충원 </a:t>
            </a:r>
            <a:r>
              <a:rPr lang="en-US" altLang="ko-KR" sz="800" b="1" dirty="0"/>
              <a:t>2</a:t>
            </a:r>
            <a:r>
              <a:rPr lang="ko-KR" altLang="en-US" sz="800" b="1" dirty="0"/>
              <a:t>명 계획 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122973" y="5121559"/>
            <a:ext cx="189968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PTC</a:t>
            </a:r>
            <a:endParaRPr lang="ko-KR" altLang="en-US" sz="1200"/>
          </a:p>
        </p:txBody>
      </p:sp>
      <p:sp>
        <p:nvSpPr>
          <p:cNvPr id="20" name="직사각형 19"/>
          <p:cNvSpPr/>
          <p:nvPr/>
        </p:nvSpPr>
        <p:spPr>
          <a:xfrm>
            <a:off x="5977078" y="5113551"/>
            <a:ext cx="190729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3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Motor</a:t>
            </a:r>
            <a:endParaRPr lang="ko-KR" altLang="en-US" sz="1200"/>
          </a:p>
        </p:txBody>
      </p:sp>
      <p:sp>
        <p:nvSpPr>
          <p:cNvPr id="21" name="직사각형 20"/>
          <p:cNvSpPr/>
          <p:nvPr/>
        </p:nvSpPr>
        <p:spPr>
          <a:xfrm>
            <a:off x="3537752" y="5117903"/>
            <a:ext cx="190729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공통업무</a:t>
            </a:r>
            <a:endParaRPr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2793394040"/>
      </p:ext>
    </p:extLst>
  </p:cSld>
  <p:clrMapOvr>
    <a:masterClrMapping/>
  </p:clrMapOvr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17416</TotalTime>
  <Words>2168</Words>
  <Application>Microsoft Office PowerPoint</Application>
  <PresentationFormat>화면 슬라이드 쇼(4:3)</PresentationFormat>
  <Paragraphs>551</Paragraphs>
  <Slides>20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8" baseType="lpstr">
      <vt:lpstr>맑은 고딕</vt:lpstr>
      <vt:lpstr>Lucida Sans Unicode</vt:lpstr>
      <vt:lpstr>Wingdings</vt:lpstr>
      <vt:lpstr>Arial</vt:lpstr>
      <vt:lpstr>굴림</vt:lpstr>
      <vt:lpstr>Verdana</vt:lpstr>
      <vt:lpstr>현대하모니 M</vt:lpstr>
      <vt:lpstr>제안서 템플릿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6340</cp:revision>
  <dcterms:created xsi:type="dcterms:W3CDTF">2019-10-24T04:42:23Z</dcterms:created>
  <dcterms:modified xsi:type="dcterms:W3CDTF">2025-12-17T04:57:08Z</dcterms:modified>
  <cp:version/>
</cp:coreProperties>
</file>