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25"/>
  </p:notesMasterIdLst>
  <p:handoutMasterIdLst>
    <p:handoutMasterId r:id="rId26"/>
  </p:handoutMasterIdLst>
  <p:sldIdLst>
    <p:sldId id="947" r:id="rId2"/>
    <p:sldId id="1137" r:id="rId3"/>
    <p:sldId id="1175" r:id="rId4"/>
    <p:sldId id="1170" r:id="rId5"/>
    <p:sldId id="1171" r:id="rId6"/>
    <p:sldId id="1151" r:id="rId7"/>
    <p:sldId id="1152" r:id="rId8"/>
    <p:sldId id="1153" r:id="rId9"/>
    <p:sldId id="1163" r:id="rId10"/>
    <p:sldId id="1155" r:id="rId11"/>
    <p:sldId id="1156" r:id="rId12"/>
    <p:sldId id="1158" r:id="rId13"/>
    <p:sldId id="1159" r:id="rId14"/>
    <p:sldId id="1160" r:id="rId15"/>
    <p:sldId id="1161" r:id="rId16"/>
    <p:sldId id="1162" r:id="rId17"/>
    <p:sldId id="1172" r:id="rId18"/>
    <p:sldId id="1173" r:id="rId19"/>
    <p:sldId id="1165" r:id="rId20"/>
    <p:sldId id="1166" r:id="rId21"/>
    <p:sldId id="1167" r:id="rId22"/>
    <p:sldId id="1174" r:id="rId23"/>
    <p:sldId id="1164" r:id="rId24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08D4B1F-D1D2-4892-AC90-0F1C73CC5FC5}">
          <p14:sldIdLst>
            <p14:sldId id="947"/>
          </p14:sldIdLst>
        </p14:section>
        <p14:section name="지시내용/의사결정/리스크/이슈현황" id="{5588297A-0314-480D-89DF-96CA41CC583D}">
          <p14:sldIdLst>
            <p14:sldId id="1137"/>
            <p14:sldId id="1175"/>
            <p14:sldId id="1170"/>
            <p14:sldId id="1171"/>
          </p14:sldIdLst>
        </p14:section>
        <p14:section name="Air PTC" id="{B956D88F-70E2-4349-B8DC-375A4283FAA0}">
          <p14:sldIdLst>
            <p14:sldId id="1151"/>
            <p14:sldId id="1152"/>
            <p14:sldId id="1153"/>
            <p14:sldId id="1163"/>
            <p14:sldId id="1155"/>
            <p14:sldId id="1156"/>
            <p14:sldId id="1158"/>
            <p14:sldId id="1159"/>
            <p14:sldId id="1160"/>
            <p14:sldId id="1161"/>
            <p14:sldId id="1162"/>
            <p14:sldId id="1172"/>
            <p14:sldId id="1173"/>
          </p14:sldIdLst>
        </p14:section>
        <p14:section name="모터" id="{05E9A145-F0BD-4F31-BAA2-C9351D4631C5}">
          <p14:sldIdLst>
            <p14:sldId id="1165"/>
            <p14:sldId id="1166"/>
            <p14:sldId id="1167"/>
            <p14:sldId id="1174"/>
          </p14:sldIdLst>
        </p14:section>
        <p14:section name="공유 및 공지내용" id="{7B3D5BD4-254A-43C9-9404-EC10D85B8375}">
          <p14:sldIdLst>
            <p14:sldId id="11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1" autoAdjust="0"/>
    <p:restoredTop sz="96378" autoAdjust="0"/>
  </p:normalViewPr>
  <p:slideViewPr>
    <p:cSldViewPr snapToObjects="1">
      <p:cViewPr varScale="1">
        <p:scale>
          <a:sx n="154" d="100"/>
          <a:sy n="154" d="100"/>
        </p:scale>
        <p:origin x="4566" y="10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167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2609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0709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0090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43685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8435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7647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53506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164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8652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362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53069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324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99937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17235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C59A-F5DC-19E0-116D-4EFA545E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769912-A69A-B719-FC57-4020CA55E8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215D0-E3CA-9443-5CB4-E21E3F6B2F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51B6E8-7393-65A7-39FB-126D5B93C1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07270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86963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85646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4529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41229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9844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3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835696" y="2531570"/>
            <a:ext cx="7236296" cy="609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balanced" dir="t"/>
          </a:scene3d>
          <a:sp3d prstMaterial="matte"/>
        </p:spPr>
        <p:txBody>
          <a:bodyPr wrap="square">
            <a:spAutoFit/>
            <a:flatTx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EV Heater </a:t>
            </a:r>
            <a:r>
              <a:rPr lang="en-US" altLang="ko-KR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S/W 1</a:t>
            </a:r>
            <a:r>
              <a:rPr lang="ko-KR" altLang="en-US" sz="2800" b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팀 </a:t>
            </a:r>
            <a:r>
              <a:rPr kumimoji="1" lang="ko-KR" altLang="en-US" sz="2800" b="1" dirty="0" err="1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주간보고</a:t>
            </a:r>
            <a:r>
              <a:rPr kumimoji="1" lang="ko-KR" altLang="en-US" sz="28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자료</a:t>
            </a:r>
            <a:endParaRPr kumimoji="1" lang="en-US" altLang="ko-KR" sz="28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white">
          <a:xfrm>
            <a:off x="175710" y="6430690"/>
            <a:ext cx="9144000" cy="3231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 Heater S/W 1</a:t>
            </a:r>
            <a:r>
              <a:rPr lang="ko-KR" alt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팀</a:t>
            </a:r>
            <a:endParaRPr lang="en-US" altLang="ko-KR" sz="15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white">
          <a:xfrm>
            <a:off x="7524328" y="6555211"/>
            <a:ext cx="15476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2026.02.25</a:t>
            </a:r>
            <a:endParaRPr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35696" y="5301208"/>
            <a:ext cx="5934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28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28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 </a:t>
            </a:r>
            <a:r>
              <a:rPr lang="en-US" altLang="ko-KR" sz="28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”</a:t>
            </a:r>
            <a:endParaRPr lang="ko-KR" altLang="en-US" sz="28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11021" y="6061358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chemeClr val="tx1">
                    <a:lumMod val="65000"/>
                    <a:lumOff val="35000"/>
                  </a:scheme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우리산업㈜ 기술연구소</a:t>
            </a:r>
          </a:p>
        </p:txBody>
      </p:sp>
    </p:spTree>
    <p:extLst>
      <p:ext uri="{BB962C8B-B14F-4D97-AF65-F5344CB8AC3E}">
        <p14:creationId xmlns:p14="http://schemas.microsoft.com/office/powerpoint/2010/main" val="2454121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516483"/>
              </p:ext>
            </p:extLst>
          </p:nvPr>
        </p:nvGraphicFramePr>
        <p:xfrm>
          <a:off x="251520" y="980728"/>
          <a:ext cx="8676581" cy="5935881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11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SVm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북미 윈터 트립 평가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온도 편차 평가 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3227124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MX5a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원리 및 구현 현황 작성 후 고객사 회신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(~3/2)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NX5e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공정 감사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- 2/23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부품개발팀 주관 공정 감사 대응 완료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EOL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성능 검사기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Setting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- 3/5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품질 주관 공정 감사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고객사 품질 담당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아이템 최초 진행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질의 응답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1. Y2V MCU </a:t>
                      </a:r>
                      <a:r>
                        <a:rPr lang="ko-KR" altLang="en-US" sz="1000" smtClean="0"/>
                        <a:t>변경에 따른 신규 설계 진행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   -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폴더 구조 및 아키텍처 정립 </a:t>
                      </a:r>
                      <a:r>
                        <a:rPr lang="en-US" altLang="ko-KR" sz="1000" baseline="0" smtClean="0"/>
                        <a:t>(2/27)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   -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신규 프로젝트 생성 및 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Build &amp;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디버깅 가능토록 설계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진행 완료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   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      (2/25)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조현진 전임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577213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5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SX3k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담당자 변경에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3/5 9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담당자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김응영 책임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이웅기 연구 → 정재근 책임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유준상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이승헌 연구</a:t>
                      </a:r>
                      <a:r>
                        <a:rPr lang="en-US" altLang="ko-KR" sz="1000" b="1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조현진 전임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27545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6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HE1i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HE1i 22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/62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호차 실차 점검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(02/23)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요청사항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미동작에 따른 실차 점검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및 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- 22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커넥터 접점 불량에 의한 통신 이상 발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- 62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HVAC Act’r RHD/LHD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반대 설치에 따른 히터 과열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발생에 의한 문제 발생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22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호차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/62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호차 모두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ATCU / PTC Heater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정상 동작으로 종결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256621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– PTC Heater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7" name="개체 6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490256"/>
              </p:ext>
            </p:extLst>
          </p:nvPr>
        </p:nvGraphicFramePr>
        <p:xfrm>
          <a:off x="4932040" y="2420888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프레젠테이션" showAsIcon="1" r:id="rId4" imgW="914400" imgH="771480" progId="PowerPoint.Show.12">
                  <p:embed/>
                </p:oleObj>
              </mc:Choice>
              <mc:Fallback>
                <p:oleObj name="프레젠테이션" showAsIcon="1" r:id="rId4" imgW="914400" imgH="771480" progId="PowerPoint.Show.12">
                  <p:embed/>
                  <p:pic>
                    <p:nvPicPr>
                      <p:cNvPr id="2" name="개체 1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32040" y="2420888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424854"/>
              </p:ext>
            </p:extLst>
          </p:nvPr>
        </p:nvGraphicFramePr>
        <p:xfrm>
          <a:off x="4381500" y="3356992"/>
          <a:ext cx="381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프레젠테이션" showAsIcon="1" r:id="rId6" imgW="380880" imgH="771480" progId="PowerPoint.Show.12">
                  <p:embed/>
                </p:oleObj>
              </mc:Choice>
              <mc:Fallback>
                <p:oleObj name="프레젠테이션" showAsIcon="1" r:id="rId6" imgW="38088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381500" y="3356992"/>
                        <a:ext cx="3810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432614"/>
              </p:ext>
            </p:extLst>
          </p:nvPr>
        </p:nvGraphicFramePr>
        <p:xfrm>
          <a:off x="251520" y="980728"/>
          <a:ext cx="8676581" cy="4935058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116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SANDEN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SANDEN Japan YAE 5kW HV PTC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프로그램 대응 관련하여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우리산업이 설계 검토 제시한 방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안에 대해 긍정적 반응 회신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미팅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26/3/5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아젠다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a. H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 PTC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설명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풍량차이에 따른 난방성능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소비전력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통풍저항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제품의 고정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방법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냉각기 필요한 장송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이상시의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HVAC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접속부분의 온도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b.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전자기판내부의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 / LV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구성과 절연에 대한 대책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의견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c.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소자 큐리온도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PTC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소자 배치와 통전방법／절연에 대한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생각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대책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d. ISO 26262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대한 대응 상황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e.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전력 제어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방식 설명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f. 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호기능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Fail safe, LIN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프로토콜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g. EMC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스펙에 대한 대책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계획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예상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고객사 아젠다에 따른 문서 작성 진행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~3/3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오세영 수석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NQ6e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개발 현황 조사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(02/24)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요청사항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개발 현황 계획 요청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기아샤시시스템품질팀 김제일 매니저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및 검토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개발 현황 계획 회신 완료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- 3/5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이내 제어기 개발 현황 자료 작성후 회신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임제훈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– PTC Heater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1639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875149"/>
              </p:ext>
            </p:extLst>
          </p:nvPr>
        </p:nvGraphicFramePr>
        <p:xfrm>
          <a:off x="251520" y="980728"/>
          <a:ext cx="8676581" cy="4574184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683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JG1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LP2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12V/16V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토크 가승인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평가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16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토크 시료 제작 후 고객사 제출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8EA (2/12)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미 회신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 평가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4EA 10,000 Cycle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문제없음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기어 및 스토퍼 소손 현상 없음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Post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모든구간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 ~ 13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토크 적용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완료 후 측정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(1EA, 2/25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0 ~ -40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도 구간 토크 튜닝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SW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특정 구간 토크 스펙 미준수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 10 ~ -40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도 구간 토크 튜닝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 측정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(2/26)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회의 진행 후 다수 시료 측정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(2/26)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크랭킹 적용 사항 세부 대책서 작성</a:t>
                      </a:r>
                      <a:r>
                        <a:rPr kumimoji="1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(02/26)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상전류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통합전류 필요 여부 명확화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상전류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통합전류 해석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(~2/26)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4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번 결과로 고객사 회의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2/26 13:00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이자효 </a:t>
                      </a: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책임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286719"/>
              </p:ext>
            </p:extLst>
          </p:nvPr>
        </p:nvGraphicFramePr>
        <p:xfrm>
          <a:off x="5190878" y="294063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워크시트" showAsIcon="1" r:id="rId4" imgW="914400" imgH="771480" progId="Excel.Sheet.12">
                  <p:embed/>
                </p:oleObj>
              </mc:Choice>
              <mc:Fallback>
                <p:oleObj name="워크시트" showAsIcon="1" r:id="rId4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90878" y="294063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5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26351"/>
              </p:ext>
            </p:extLst>
          </p:nvPr>
        </p:nvGraphicFramePr>
        <p:xfrm>
          <a:off x="251520" y="980728"/>
          <a:ext cx="8676581" cy="4701808"/>
        </p:xfrm>
        <a:graphic>
          <a:graphicData uri="http://schemas.openxmlformats.org/drawingml/2006/table">
            <a:tbl>
              <a:tblPr/>
              <a:tblGrid>
                <a:gridCol w="4907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385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8277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75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담당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prstClr val="black"/>
                          </a:solidFill>
                          <a:latin typeface="+mn-lt"/>
                          <a:ea typeface="맑은 고딕" panose="020B0503020000020004" pitchFamily="50" charset="-127"/>
                          <a:cs typeface="+mn-cs"/>
                        </a:rPr>
                        <a:t>4WayValve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1. SP1 S/W </a:t>
                      </a:r>
                      <a:r>
                        <a:rPr lang="ko-KR" altLang="en-US" sz="1000" baseline="0" smtClean="0"/>
                        <a:t>배포일 </a:t>
                      </a:r>
                      <a:r>
                        <a:rPr lang="en-US" altLang="ko-KR" sz="1000" baseline="0" smtClean="0"/>
                        <a:t>(~3/6)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   : </a:t>
                      </a:r>
                      <a:r>
                        <a:rPr lang="ko-KR" altLang="en-US" sz="1000" baseline="0" smtClean="0"/>
                        <a:t>일렉스 </a:t>
                      </a:r>
                      <a:r>
                        <a:rPr lang="en-US" altLang="ko-KR" sz="1000" baseline="0" smtClean="0"/>
                        <a:t>PCB </a:t>
                      </a:r>
                      <a:r>
                        <a:rPr lang="ko-KR" altLang="en-US" sz="1000" baseline="0" smtClean="0"/>
                        <a:t>생산 </a:t>
                      </a:r>
                      <a:r>
                        <a:rPr lang="en-US" altLang="ko-KR" sz="1000" baseline="0" smtClean="0"/>
                        <a:t>3/6 </a:t>
                      </a:r>
                      <a:r>
                        <a:rPr lang="ko-KR" altLang="en-US" sz="1000" baseline="0" smtClean="0"/>
                        <a:t>진행 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2. S/W </a:t>
                      </a:r>
                      <a:r>
                        <a:rPr lang="ko-KR" altLang="en-US" sz="1000" baseline="0" smtClean="0"/>
                        <a:t>강건화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1-1 S/W </a:t>
                      </a:r>
                      <a:r>
                        <a:rPr lang="ko-KR" altLang="en-US" sz="1000" baseline="0" smtClean="0"/>
                        <a:t>전 영역에 대한 기능 품질 안정성 부족 판단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  : S/W </a:t>
                      </a:r>
                      <a:r>
                        <a:rPr lang="ko-KR" altLang="en-US" sz="1000" baseline="0" smtClean="0"/>
                        <a:t>전 영역 상세 디버깅 진행 및 강건화 설계</a:t>
                      </a:r>
                      <a:r>
                        <a:rPr lang="ko-KR" altLang="en-US" sz="1000" i="1" baseline="0" smtClean="0"/>
                        <a:t> </a:t>
                      </a:r>
                      <a:r>
                        <a:rPr lang="ko-KR" altLang="en-US" sz="1000" baseline="0" smtClean="0"/>
                        <a:t>진행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  : </a:t>
                      </a:r>
                      <a:r>
                        <a:rPr lang="ko-KR" altLang="en-US" sz="1000" baseline="0" smtClean="0"/>
                        <a:t>필요 항목 </a:t>
                      </a:r>
                      <a:r>
                        <a:rPr lang="en-US" altLang="ko-KR" sz="1000" baseline="0" smtClean="0"/>
                        <a:t>List-Up </a:t>
                      </a:r>
                      <a:r>
                        <a:rPr lang="ko-KR" altLang="en-US" sz="1000" baseline="0" smtClean="0"/>
                        <a:t>후 계획 일정 수립 </a:t>
                      </a:r>
                      <a:r>
                        <a:rPr lang="en-US" altLang="ko-KR" sz="1000" baseline="0" smtClean="0"/>
                        <a:t>(3/3)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1-2 </a:t>
                      </a:r>
                      <a:r>
                        <a:rPr lang="ko-KR" altLang="en-US" sz="1000" baseline="0" smtClean="0"/>
                        <a:t>고장 진단 </a:t>
                      </a:r>
                      <a:r>
                        <a:rPr lang="en-US" altLang="ko-KR" sz="1000" baseline="0" smtClean="0"/>
                        <a:t>S/W </a:t>
                      </a:r>
                      <a:r>
                        <a:rPr lang="ko-KR" altLang="en-US" sz="1000" baseline="0" smtClean="0"/>
                        <a:t>모듈화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 - </a:t>
                      </a:r>
                      <a:r>
                        <a:rPr lang="ko-KR" altLang="en-US" sz="1000" baseline="0" smtClean="0"/>
                        <a:t>고장진단 모듈화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진행 중 </a:t>
                      </a:r>
                      <a:r>
                        <a:rPr lang="en-US" altLang="ko-KR" sz="1000" baseline="0" smtClean="0"/>
                        <a:t>(50%, 2/13)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1" baseline="0" smtClean="0"/>
                        <a:t>       - </a:t>
                      </a:r>
                      <a:r>
                        <a:rPr lang="ko-KR" altLang="en-US" sz="1000" b="1" baseline="0" smtClean="0"/>
                        <a:t>웨이모 및 라인 </a:t>
                      </a:r>
                      <a:r>
                        <a:rPr lang="en-US" altLang="ko-KR" sz="1000" b="1" baseline="0" smtClean="0"/>
                        <a:t>T/O </a:t>
                      </a:r>
                      <a:r>
                        <a:rPr lang="ko-KR" altLang="en-US" sz="1000" b="1" baseline="0" smtClean="0"/>
                        <a:t>샘플 제작 지원에 따른 지연 </a:t>
                      </a:r>
                      <a:r>
                        <a:rPr lang="ko-KR" altLang="en-US" sz="1000" b="1" baseline="0" smtClean="0"/>
                        <a:t>발생</a:t>
                      </a:r>
                      <a:endParaRPr lang="en-US" altLang="ko-KR" sz="1000" b="1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3. </a:t>
                      </a:r>
                      <a:r>
                        <a:rPr lang="ko-KR" altLang="en-US" sz="1000" baseline="0" smtClean="0"/>
                        <a:t>웨이모 필드 교체 요청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</a:t>
                      </a:r>
                      <a:r>
                        <a:rPr lang="ko-KR" altLang="en-US" sz="1000" baseline="0" smtClean="0"/>
                        <a:t>일정 </a:t>
                      </a:r>
                      <a:r>
                        <a:rPr lang="en-US" altLang="ko-KR" sz="1000" baseline="0" smtClean="0"/>
                        <a:t>: 3/15 ~ 3/28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</a:t>
                      </a:r>
                      <a:r>
                        <a:rPr lang="ko-KR" altLang="en-US" sz="1000" baseline="0" smtClean="0"/>
                        <a:t>출장 인원 </a:t>
                      </a:r>
                      <a:r>
                        <a:rPr lang="en-US" altLang="ko-KR" sz="1000" baseline="0" smtClean="0"/>
                        <a:t>: </a:t>
                      </a:r>
                      <a:r>
                        <a:rPr lang="ko-KR" altLang="en-US" sz="1000" baseline="0" smtClean="0"/>
                        <a:t>명화 </a:t>
                      </a:r>
                      <a:r>
                        <a:rPr lang="en-US" altLang="ko-KR" sz="1000" baseline="0" smtClean="0"/>
                        <a:t>(2</a:t>
                      </a:r>
                      <a:r>
                        <a:rPr lang="ko-KR" altLang="en-US" sz="1000" baseline="0" smtClean="0"/>
                        <a:t>명</a:t>
                      </a:r>
                      <a:r>
                        <a:rPr lang="en-US" altLang="ko-KR" sz="1000" baseline="0" smtClean="0"/>
                        <a:t>), </a:t>
                      </a:r>
                      <a:r>
                        <a:rPr lang="ko-KR" altLang="en-US" sz="1000" baseline="0" smtClean="0"/>
                        <a:t>우리산업</a:t>
                      </a:r>
                      <a:r>
                        <a:rPr lang="en-US" altLang="ko-KR" sz="1000" baseline="0" smtClean="0"/>
                        <a:t>(1</a:t>
                      </a:r>
                      <a:r>
                        <a:rPr lang="ko-KR" altLang="en-US" sz="1000" baseline="0" smtClean="0"/>
                        <a:t>명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baseline="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김강일 사원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/>
                        <a:t>1. NovoSense </a:t>
                      </a:r>
                      <a:r>
                        <a:rPr lang="ko-KR" altLang="en-US" sz="1000" baseline="0" smtClean="0"/>
                        <a:t>개발 환경 구성 완료</a:t>
                      </a:r>
                      <a:endParaRPr lang="en-US" altLang="ko-KR" sz="1000" baseline="0" smtClean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/>
                        <a:t>   : Build </a:t>
                      </a:r>
                      <a:r>
                        <a:rPr lang="ko-KR" altLang="en-US" sz="1000" baseline="0" smtClean="0"/>
                        <a:t>완료 </a:t>
                      </a:r>
                      <a:r>
                        <a:rPr lang="en-US" altLang="ko-KR" sz="1000" baseline="0" smtClean="0"/>
                        <a:t>(Compiler Version 5 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 6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변경 작업 완료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1000" baseline="0" smtClean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2. Act’r S/W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검증 시료 요청  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(From H/W,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기구팀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903620"/>
                  </a:ext>
                </a:extLst>
              </a:tr>
              <a:tr h="37540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4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Denso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STLA XEV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/>
                        <a:t>1. </a:t>
                      </a:r>
                      <a:r>
                        <a:rPr lang="ko-KR" altLang="en-US" sz="1000" baseline="0" smtClean="0"/>
                        <a:t>개발 미팅 진행 </a:t>
                      </a:r>
                      <a:endParaRPr lang="en-US" altLang="ko-KR" sz="1000" baseline="0" smtClean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   -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일정 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: 2/26 16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시</a:t>
                      </a:r>
                      <a:endParaRPr lang="en-US" altLang="ko-KR" sz="1000" baseline="0" smtClean="0"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-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381592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>
                <a:latin typeface="+mn-ea"/>
                <a:ea typeface="+mn-ea"/>
              </a:rPr>
              <a:t>지시내용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의사결정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>
                <a:latin typeface="+mn-ea"/>
                <a:ea typeface="+mn-ea"/>
              </a:rPr>
              <a:t>리스크</a:t>
            </a:r>
            <a:r>
              <a:rPr lang="en-US" altLang="ko-KR" sz="2100" b="1" dirty="0">
                <a:latin typeface="+mn-ea"/>
                <a:ea typeface="+mn-ea"/>
              </a:rPr>
              <a:t>/</a:t>
            </a:r>
            <a:r>
              <a:rPr lang="ko-KR" altLang="en-US" sz="2100" b="1" dirty="0" err="1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227731" y="641346"/>
            <a:ext cx="87003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EV Heater SW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1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팀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- Motor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301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652885"/>
              </p:ext>
            </p:extLst>
          </p:nvPr>
        </p:nvGraphicFramePr>
        <p:xfrm>
          <a:off x="47211" y="764704"/>
          <a:ext cx="9073008" cy="5575299"/>
        </p:xfrm>
        <a:graphic>
          <a:graphicData uri="http://schemas.openxmlformats.org/drawingml/2006/table">
            <a:tbl>
              <a:tblPr/>
              <a:tblGrid>
                <a:gridCol w="6210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0193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318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176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2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264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ko-KR" sz="10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j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536" y="725795"/>
            <a:ext cx="24729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25.07.05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25.12.01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26.02.15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25.03.15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9" name="그룹 16"/>
          <p:cNvGrpSpPr>
            <a:grpSpLocks noChangeAspect="1"/>
          </p:cNvGrpSpPr>
          <p:nvPr/>
        </p:nvGrpSpPr>
        <p:grpSpPr bwMode="auto">
          <a:xfrm>
            <a:off x="6089818" y="553413"/>
            <a:ext cx="1045724" cy="505515"/>
            <a:chOff x="0" y="135732"/>
            <a:chExt cx="604837" cy="482564"/>
          </a:xfrm>
        </p:grpSpPr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25.11.15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Pre P#2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2" name="위쪽 화살표 31"/>
          <p:cNvSpPr>
            <a:spLocks noChangeArrowheads="1"/>
          </p:cNvSpPr>
          <p:nvPr/>
        </p:nvSpPr>
        <p:spPr bwMode="auto">
          <a:xfrm rot="10800000">
            <a:off x="6552926" y="72827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3" name="TextBox 3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621951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530774"/>
              </p:ext>
            </p:extLst>
          </p:nvPr>
        </p:nvGraphicFramePr>
        <p:xfrm>
          <a:off x="11059" y="536956"/>
          <a:ext cx="9097445" cy="577236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978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8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97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북미 윈터 트립 평가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및 좌우 온도 편차 평가 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양호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494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6653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24.09.01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26.03.30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26.06.30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25.06.30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47148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505637"/>
              </p:ext>
            </p:extLst>
          </p:nvPr>
        </p:nvGraphicFramePr>
        <p:xfrm>
          <a:off x="11059" y="536956"/>
          <a:ext cx="9097445" cy="5340316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19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ATCU, HVAC, 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합동 벤치 테스트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요청사항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ATCU, HVAC, 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 신호 정합성 및 로직 정합성 검증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및 검토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한온에서 실차 평가 진행 제안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진행 시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Heater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리워크 및 제한 사항 전달 완료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진행 시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시뮬레이션으로 진행 제안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미정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716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25.04.15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25.10.15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26.05.01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26.08.01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70214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06313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원리 및 구현 현황 작성 후 고객사 회신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(~3/2)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95795" y="665550"/>
            <a:ext cx="27876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>
                <a:solidFill>
                  <a:srgbClr val="FF0000"/>
                </a:solidFill>
              </a:endParaRPr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25.08.15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26.09.01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T2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450943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26.12.15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27.04.15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6914051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26.04.15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7" name="그룹 20"/>
          <p:cNvGrpSpPr>
            <a:grpSpLocks noChangeAspect="1"/>
          </p:cNvGrpSpPr>
          <p:nvPr/>
        </p:nvGrpSpPr>
        <p:grpSpPr bwMode="auto">
          <a:xfrm>
            <a:off x="7623287" y="555242"/>
            <a:ext cx="1030567" cy="503686"/>
            <a:chOff x="0" y="137478"/>
            <a:chExt cx="604837" cy="480818"/>
          </a:xfrm>
        </p:grpSpPr>
        <p:sp>
          <p:nvSpPr>
            <p:cNvPr id="29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30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</a:t>
              </a:r>
            </a:p>
          </p:txBody>
        </p:sp>
      </p:grpSp>
      <p:sp>
        <p:nvSpPr>
          <p:cNvPr id="31" name="위쪽 화살표 30"/>
          <p:cNvSpPr>
            <a:spLocks noChangeArrowheads="1"/>
          </p:cNvSpPr>
          <p:nvPr/>
        </p:nvSpPr>
        <p:spPr bwMode="auto">
          <a:xfrm rot="10800000">
            <a:off x="8077937" y="725422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53" y="4449417"/>
            <a:ext cx="8123750" cy="94409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620813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71466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과거차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문제점 검토결과 </a:t>
                      </a:r>
                      <a:r>
                        <a:rPr lang="ko-KR" altLang="en-US" sz="10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품질팀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송부</a:t>
                      </a:r>
                      <a:endParaRPr lang="en-US" altLang="ko-KR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RHD/LHD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신호별 </a:t>
                      </a:r>
                      <a:r>
                        <a:rPr lang="en-US" altLang="ko-KR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DR/PS </a:t>
                      </a:r>
                      <a:r>
                        <a:rPr lang="ko-KR" altLang="en-US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 가능 여부</a:t>
                      </a:r>
                    </a:p>
                    <a:p>
                      <a:pPr latinLnBrk="0"/>
                      <a:endParaRPr lang="ko-KR" altLang="en-US" sz="10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7356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26.07.15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TBD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27.01.15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498338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57985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Temp Fault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발생에 따른 고객사 협의 진행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 P1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PT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미 동작 하더라도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Core Temp Fault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는 안전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 동작 되도록 적용 후 납품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설계 팀 대안 </a:t>
                      </a:r>
                      <a:r>
                        <a:rPr kumimoji="1" lang="ko-KR" altLang="en-US" sz="10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검토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중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고객사 미회신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공정 감사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- 2/23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부품개발팀 주관 공정 감사 대응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EOL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성능 검사기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Setting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- 3/5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품질 주관 공정 감사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고객사 품질 담당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PTC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아이템 최초 진행으로 질의 응답 대응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40838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25.06.01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26.02.15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26.09.21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27.03.15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2" name="개체 1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497646"/>
              </p:ext>
            </p:extLst>
          </p:nvPr>
        </p:nvGraphicFramePr>
        <p:xfrm>
          <a:off x="3065183" y="265747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1" name="프레젠테이션" showAsIcon="1" r:id="rId4" imgW="914400" imgH="771480" progId="PowerPoint.Show.12">
                  <p:embed/>
                </p:oleObj>
              </mc:Choice>
              <mc:Fallback>
                <p:oleObj name="프레젠테이션" showAsIcon="1" r:id="rId4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65183" y="265747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9544396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943696"/>
              </p:ext>
            </p:extLst>
          </p:nvPr>
        </p:nvGraphicFramePr>
        <p:xfrm>
          <a:off x="11059" y="536956"/>
          <a:ext cx="9097445" cy="5920605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80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2284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24.12.15</a:t>
              </a: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25.08.15</a:t>
              </a: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25.09.30</a:t>
              </a: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26.05.01</a:t>
              </a: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26.03.01</a:t>
              </a: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26.07.15</a:t>
              </a: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26.7.20</a:t>
              </a: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26.9.30</a:t>
              </a: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25.05.01</a:t>
              </a: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25.11.15</a:t>
              </a: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01997351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73634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smtClean="0"/>
                        <a:t>1. </a:t>
                      </a:r>
                      <a:r>
                        <a:rPr lang="en-US" altLang="ko-KR" sz="1050" dirty="0"/>
                        <a:t>Y2V </a:t>
                      </a:r>
                      <a:r>
                        <a:rPr lang="en-US" altLang="ko-KR" sz="1050"/>
                        <a:t>MCU </a:t>
                      </a:r>
                      <a:r>
                        <a:rPr lang="ko-KR" altLang="en-US" sz="1050" smtClean="0"/>
                        <a:t>변경에 따른 신규 설계 진행</a:t>
                      </a:r>
                      <a:endParaRPr lang="en-US" altLang="ko-KR" sz="105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smtClean="0"/>
                        <a:t>   -</a:t>
                      </a:r>
                      <a:r>
                        <a:rPr lang="en-US" altLang="ko-KR" sz="1050" baseline="0" smtClean="0"/>
                        <a:t> </a:t>
                      </a:r>
                      <a:r>
                        <a:rPr lang="ko-KR" altLang="en-US" sz="1050" baseline="0" smtClean="0"/>
                        <a:t>폴더 구조 및 아키텍처 정립 </a:t>
                      </a:r>
                      <a:r>
                        <a:rPr lang="en-US" altLang="ko-KR" sz="1050" baseline="0" smtClean="0"/>
                        <a:t>(2/27)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smtClean="0">
                          <a:sym typeface="Wingdings" panose="05000000000000000000" pitchFamily="2" charset="2"/>
                        </a:rPr>
                        <a:t>   - </a:t>
                      </a:r>
                      <a:r>
                        <a:rPr lang="ko-KR" altLang="en-US" sz="1050" baseline="0" smtClean="0">
                          <a:sym typeface="Wingdings" panose="05000000000000000000" pitchFamily="2" charset="2"/>
                        </a:rPr>
                        <a:t>초기 프로젝트 생성 및 </a:t>
                      </a:r>
                      <a:r>
                        <a:rPr lang="en-US" altLang="ko-KR" sz="1050" baseline="0" smtClean="0">
                          <a:sym typeface="Wingdings" panose="05000000000000000000" pitchFamily="2" charset="2"/>
                        </a:rPr>
                        <a:t>Build &amp; </a:t>
                      </a:r>
                      <a:r>
                        <a:rPr lang="ko-KR" altLang="en-US" sz="1050" baseline="0" smtClean="0">
                          <a:sym typeface="Wingdings" panose="05000000000000000000" pitchFamily="2" charset="2"/>
                        </a:rPr>
                        <a:t>디버깅 가능 설계</a:t>
                      </a:r>
                      <a:r>
                        <a:rPr lang="en-US" altLang="ko-KR" sz="1050" baseline="0" smtClean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1050" baseline="0" smtClean="0">
                          <a:sym typeface="Wingdings" panose="05000000000000000000" pitchFamily="2" charset="2"/>
                        </a:rPr>
                        <a:t>진행 완료</a:t>
                      </a:r>
                      <a:endParaRPr lang="en-US" altLang="ko-KR" sz="1050" baseline="0" smtClean="0"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smtClean="0">
                          <a:sym typeface="Wingdings" panose="05000000000000000000" pitchFamily="2" charset="2"/>
                        </a:rPr>
                        <a:t>     (2/25)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aseline="0" smtClean="0">
                          <a:sym typeface="Wingdings" panose="05000000000000000000" pitchFamily="2" charset="2"/>
                        </a:rPr>
                        <a:t>     </a:t>
                      </a:r>
                      <a:endParaRPr lang="en-US" altLang="ko-KR" sz="1050" i="1" dirty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842157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Y2V (Suzuki)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전임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9" name="TextBox 28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2471912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190361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담당자 변경에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3/5 9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담당자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김응영 책임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이웅기 연구 → 정재근 책임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유준상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이승헌 연구</a:t>
                      </a:r>
                      <a:r>
                        <a:rPr lang="en-US" altLang="ko-KR" sz="1000" b="1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4524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SX3</a:t>
            </a:r>
          </a:p>
          <a:p>
            <a:pPr lvl="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kumimoji="0" lang="ko-KR" altLang="en-US" sz="1000" b="1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조현진</a:t>
            </a:r>
            <a:r>
              <a:rPr kumimoji="0" lang="ko-KR" altLang="en-US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 전임</a:t>
            </a:r>
            <a:r>
              <a:rPr kumimoji="0" lang="en-US" altLang="ko-KR" sz="1000" b="1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27.4.1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27.02.15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103298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847400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HE1i 22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/62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호차 실차 점검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(02/23)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요청사항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미동작에 따른 실차 점검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및 결과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- 22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커넥터 접점 불량에 의한 통신 이상 발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- 62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HVAC Act’r RHD/LHD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반대 설치에 따른 히터 과열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발생에 의한 문제 발생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 22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호차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/62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호차 모두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ATCU / PTC Heater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정상 동작으로 종결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HE1i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000" b="1" dirty="0" err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임제훈</a:t>
            </a:r>
            <a:r>
              <a:rPr lang="ko-KR" altLang="en-US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사원</a:t>
            </a:r>
            <a:r>
              <a:rPr lang="en-US" altLang="ko-KR" sz="10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25.10.15</a:t>
              </a: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26.5.11</a:t>
              </a: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26.09.21</a:t>
              </a: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26.12.1</a:t>
              </a: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26.3.31</a:t>
              </a: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RHD</a:t>
            </a:r>
            <a:endParaRPr lang="ko-KR" altLang="en-US" sz="10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LHD</a:t>
            </a:r>
            <a:endParaRPr lang="ko-KR" altLang="en-US" sz="1000" b="1" dirty="0"/>
          </a:p>
        </p:txBody>
      </p:sp>
      <p:sp>
        <p:nvSpPr>
          <p:cNvPr id="44" name="Rectangle 46"/>
          <p:cNvSpPr>
            <a:spLocks noChangeArrowheads="1"/>
          </p:cNvSpPr>
          <p:nvPr/>
        </p:nvSpPr>
        <p:spPr bwMode="auto">
          <a:xfrm>
            <a:off x="5351969" y="970381"/>
            <a:ext cx="1008918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26.5.11</a:t>
            </a:r>
          </a:p>
        </p:txBody>
      </p:sp>
      <p:sp>
        <p:nvSpPr>
          <p:cNvPr id="46" name="Rectangle 46"/>
          <p:cNvSpPr>
            <a:spLocks noChangeArrowheads="1"/>
          </p:cNvSpPr>
          <p:nvPr/>
        </p:nvSpPr>
        <p:spPr bwMode="auto">
          <a:xfrm>
            <a:off x="6766636" y="970381"/>
            <a:ext cx="1045724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26.09.21</a:t>
            </a:r>
          </a:p>
        </p:txBody>
      </p:sp>
      <p:sp>
        <p:nvSpPr>
          <p:cNvPr id="47" name="Rectangle 46"/>
          <p:cNvSpPr>
            <a:spLocks noChangeArrowheads="1"/>
          </p:cNvSpPr>
          <p:nvPr/>
        </p:nvSpPr>
        <p:spPr bwMode="auto">
          <a:xfrm>
            <a:off x="8221953" y="963155"/>
            <a:ext cx="1030567" cy="266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upright="1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000"/>
            </a:pPr>
            <a:r>
              <a:rPr lang="en-US" altLang="ko-KR" sz="1000" dirty="0">
                <a:latin typeface="+mn-ea"/>
              </a:rPr>
              <a:t>26.12.1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26334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52826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XV1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463722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857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개발 현황 조사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(02/24)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요청사항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개발 현황 계획 요청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기아샤시시스템품질팀 김제일 매니저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[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및 검토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개발 현황 계획 회신 완료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- 3/5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이내 제어기 개발 현황 자료 작성후 회신 진행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NQ6e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841835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C1C4-A3C9-668F-8BD4-A4EFBA02C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2EC9F43-DC7A-B554-0027-7324B6D81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210287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SANDEN Japan YAE 5kW HV PTC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프로그램 대응 관련하여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우리산업이 설계 검토 제시한 방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안에 대해 긍정적 반응 회신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미팅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일정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26/3/5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아젠다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a. H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 PTC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설명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풍량차이에 따른 난방성능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소비전력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통풍저항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제품의 고정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방법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냉각기 필요한 장송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이상시의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HVAC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접속부분의 온도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b.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전자기판내부의 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 / LV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구성과 절연에 대한 대책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의견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c.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PTC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소자 큐리온도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PTC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소자 배치와 통전방법／절연에 대한 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생각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대책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d. ISO 26262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대한 대응 상황</a:t>
                      </a:r>
                    </a:p>
                    <a:p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e.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히터 전력 제어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방식 설명</a:t>
                      </a:r>
                      <a:endParaRPr lang="en-US" altLang="ko-KR" sz="1000" b="0" i="0" kern="1200" baseline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f.  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호기능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Fail safe, LIN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프로토콜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g. EMC 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스펙에 대한 대책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계획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예상</a:t>
                      </a:r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r>
                        <a:rPr lang="en-US" altLang="ko-KR" sz="1000" b="0" i="0" kern="120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고객사 아젠다에 따른 문서 작성 진행 </a:t>
                      </a:r>
                      <a:r>
                        <a:rPr lang="en-US" altLang="ko-KR" sz="1000" b="0" i="0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~3/3</a:t>
                      </a:r>
                      <a:endParaRPr lang="en-US" altLang="ko-KR" sz="1000" b="0" i="0" kern="120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>
            <a:extLst>
              <a:ext uri="{FF2B5EF4-FFF2-40B4-BE49-F238E27FC236}">
                <a16:creationId xmlns:a16="http://schemas.microsoft.com/office/drawing/2014/main" id="{CB876340-F09E-504A-0DE6-114696226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82CF65C-1B93-0A3B-5E44-8AFA81767C77}"/>
              </a:ext>
            </a:extLst>
          </p:cNvPr>
          <p:cNvSpPr txBox="1"/>
          <p:nvPr/>
        </p:nvSpPr>
        <p:spPr>
          <a:xfrm>
            <a:off x="378983" y="692696"/>
            <a:ext cx="34920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SANDEN Air PTC 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66AB7CCE-AC66-EE6E-395C-571BC498E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Line 10">
            <a:extLst>
              <a:ext uri="{FF2B5EF4-FFF2-40B4-BE49-F238E27FC236}">
                <a16:creationId xmlns:a16="http://schemas.microsoft.com/office/drawing/2014/main" id="{42209463-6C29-0498-9738-0B38AC6B0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>
            <a:extLst>
              <a:ext uri="{FF2B5EF4-FFF2-40B4-BE49-F238E27FC236}">
                <a16:creationId xmlns:a16="http://schemas.microsoft.com/office/drawing/2014/main" id="{3B6089FB-B4EB-1309-6C6C-FED38C4B60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>
              <a:extLst>
                <a:ext uri="{FF2B5EF4-FFF2-40B4-BE49-F238E27FC236}">
                  <a16:creationId xmlns:a16="http://schemas.microsoft.com/office/drawing/2014/main" id="{AAE4A6DE-BB43-36E7-DE06-5E054232AE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>
              <a:extLst>
                <a:ext uri="{FF2B5EF4-FFF2-40B4-BE49-F238E27FC236}">
                  <a16:creationId xmlns:a16="http://schemas.microsoft.com/office/drawing/2014/main" id="{F51CE518-D8CE-56D1-343E-27D125A2A4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2" name="Rectangle 46">
              <a:extLst>
                <a:ext uri="{FF2B5EF4-FFF2-40B4-BE49-F238E27FC236}">
                  <a16:creationId xmlns:a16="http://schemas.microsoft.com/office/drawing/2014/main" id="{F3A4B264-7845-009C-FF8C-557C315E6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>
            <a:extLst>
              <a:ext uri="{FF2B5EF4-FFF2-40B4-BE49-F238E27FC236}">
                <a16:creationId xmlns:a16="http://schemas.microsoft.com/office/drawing/2014/main" id="{7E0CAE91-9272-F3B5-CD0D-3AFB7A1CE1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34" name="Rectangle 46">
              <a:extLst>
                <a:ext uri="{FF2B5EF4-FFF2-40B4-BE49-F238E27FC236}">
                  <a16:creationId xmlns:a16="http://schemas.microsoft.com/office/drawing/2014/main" id="{F8ABE3AE-D061-7541-EAD2-43767972A1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5" name="Rectangle 46">
              <a:extLst>
                <a:ext uri="{FF2B5EF4-FFF2-40B4-BE49-F238E27FC236}">
                  <a16:creationId xmlns:a16="http://schemas.microsoft.com/office/drawing/2014/main" id="{FFA98DA7-63D9-A7D1-041A-EFEFAF440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P#1</a:t>
              </a:r>
            </a:p>
          </p:txBody>
        </p:sp>
      </p:grpSp>
      <p:grpSp>
        <p:nvGrpSpPr>
          <p:cNvPr id="36" name="그룹 16">
            <a:extLst>
              <a:ext uri="{FF2B5EF4-FFF2-40B4-BE49-F238E27FC236}">
                <a16:creationId xmlns:a16="http://schemas.microsoft.com/office/drawing/2014/main" id="{750DF511-D71D-F326-17B2-0EE47CB64A0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37" name="Rectangle 46">
              <a:extLst>
                <a:ext uri="{FF2B5EF4-FFF2-40B4-BE49-F238E27FC236}">
                  <a16:creationId xmlns:a16="http://schemas.microsoft.com/office/drawing/2014/main" id="{E0A6356D-33B1-90F5-B763-DD783D8E3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38" name="Rectangle 46">
              <a:extLst>
                <a:ext uri="{FF2B5EF4-FFF2-40B4-BE49-F238E27FC236}">
                  <a16:creationId xmlns:a16="http://schemas.microsoft.com/office/drawing/2014/main" id="{BEACA4F1-757A-2F05-2660-65AA944601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P#2</a:t>
              </a:r>
            </a:p>
          </p:txBody>
        </p:sp>
      </p:grpSp>
      <p:grpSp>
        <p:nvGrpSpPr>
          <p:cNvPr id="39" name="그룹 20">
            <a:extLst>
              <a:ext uri="{FF2B5EF4-FFF2-40B4-BE49-F238E27FC236}">
                <a16:creationId xmlns:a16="http://schemas.microsoft.com/office/drawing/2014/main" id="{C5BF8B83-4345-6C57-8E1F-BFDCBAA0A7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40" name="Rectangle 46">
              <a:extLst>
                <a:ext uri="{FF2B5EF4-FFF2-40B4-BE49-F238E27FC236}">
                  <a16:creationId xmlns:a16="http://schemas.microsoft.com/office/drawing/2014/main" id="{E9CBA838-F613-EBE3-A3C2-BF909FA0D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-</a:t>
              </a:r>
            </a:p>
          </p:txBody>
        </p:sp>
        <p:sp>
          <p:nvSpPr>
            <p:cNvPr id="41" name="Rectangle 46">
              <a:extLst>
                <a:ext uri="{FF2B5EF4-FFF2-40B4-BE49-F238E27FC236}">
                  <a16:creationId xmlns:a16="http://schemas.microsoft.com/office/drawing/2014/main" id="{D1A4D78E-BAE4-C1A1-6328-D02A354D9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>
            <a:extLst>
              <a:ext uri="{FF2B5EF4-FFF2-40B4-BE49-F238E27FC236}">
                <a16:creationId xmlns:a16="http://schemas.microsoft.com/office/drawing/2014/main" id="{B49122A4-88BD-0054-D8CF-A93D750E9C34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>
            <a:extLst>
              <a:ext uri="{FF2B5EF4-FFF2-40B4-BE49-F238E27FC236}">
                <a16:creationId xmlns:a16="http://schemas.microsoft.com/office/drawing/2014/main" id="{F46E8ED4-9848-0689-4E79-EB131E9CE3E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>
            <a:extLst>
              <a:ext uri="{FF2B5EF4-FFF2-40B4-BE49-F238E27FC236}">
                <a16:creationId xmlns:a16="http://schemas.microsoft.com/office/drawing/2014/main" id="{E05634CE-AE3B-D45F-21FE-DBFF0A3F5275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>
            <a:extLst>
              <a:ext uri="{FF2B5EF4-FFF2-40B4-BE49-F238E27FC236}">
                <a16:creationId xmlns:a16="http://schemas.microsoft.com/office/drawing/2014/main" id="{3EB16624-EBF9-0AB7-9CC9-079849BA10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58" name="Rectangle 46">
              <a:extLst>
                <a:ext uri="{FF2B5EF4-FFF2-40B4-BE49-F238E27FC236}">
                  <a16:creationId xmlns:a16="http://schemas.microsoft.com/office/drawing/2014/main" id="{C15B97AA-D88E-1E3C-FBEE-4ECBD07CF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>
              <a:extLst>
                <a:ext uri="{FF2B5EF4-FFF2-40B4-BE49-F238E27FC236}">
                  <a16:creationId xmlns:a16="http://schemas.microsoft.com/office/drawing/2014/main" id="{E6EAD7CF-A9FE-431C-DB9B-3DB87A1CB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MCAR</a:t>
              </a:r>
            </a:p>
          </p:txBody>
        </p:sp>
      </p:grpSp>
      <p:sp>
        <p:nvSpPr>
          <p:cNvPr id="60" name="위쪽 화살표 59">
            <a:extLst>
              <a:ext uri="{FF2B5EF4-FFF2-40B4-BE49-F238E27FC236}">
                <a16:creationId xmlns:a16="http://schemas.microsoft.com/office/drawing/2014/main" id="{4F775F6C-7A60-7FEA-0734-E51525042403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Box 27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946970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0271069"/>
              </p:ext>
            </p:extLst>
          </p:nvPr>
        </p:nvGraphicFramePr>
        <p:xfrm>
          <a:off x="11059" y="536957"/>
          <a:ext cx="9097445" cy="5932513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327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7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3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LP2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12V/16V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토크 가승인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평가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16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토크 시료 제작 후 고객사 제출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8EA (2/12)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결과 미 회신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 평가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상태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4EA 10,000 Cycle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진행 완료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문제없음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(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기어 및 스토퍼 소손 현상 없음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Post P2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모든구간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 ~ 13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토크 적용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1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완료 후 측정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(1EA, 2/25)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0 ~ -40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도 구간 토크 튜닝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SW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특정 구간 토크 스펙 미준수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  10 ~ -40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도 구간 토크 튜닝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 측정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(2/26)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회의 진행 후 다수 시료 측정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(2/26)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kumimoji="1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크랭킹 적용 사항 세부 대책서 작성</a:t>
                      </a:r>
                      <a:r>
                        <a:rPr kumimoji="1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(02/26)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상전류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통합전류 필요 여부 명확화 진행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상전류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통합전류 해석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(~2/26)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89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6654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JG</a:t>
            </a:r>
            <a:endParaRPr lang="en-US" altLang="ko-KR" sz="1600" b="1" noProof="0" dirty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</a:t>
            </a:r>
            <a:r>
              <a:rPr lang="ko-KR" altLang="en-US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책임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7" name="Line 10"/>
          <p:cNvSpPr>
            <a:spLocks noChangeShapeType="1"/>
          </p:cNvSpPr>
          <p:nvPr/>
        </p:nvSpPr>
        <p:spPr bwMode="auto">
          <a:xfrm>
            <a:off x="2410009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29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30" name="위쪽 화살표 29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31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24.10.15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2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33" name="그룹 12"/>
          <p:cNvGrpSpPr>
            <a:grpSpLocks noChangeAspect="1"/>
          </p:cNvGrpSpPr>
          <p:nvPr/>
        </p:nvGrpSpPr>
        <p:grpSpPr bwMode="auto">
          <a:xfrm>
            <a:off x="4644008" y="548680"/>
            <a:ext cx="1008918" cy="520355"/>
            <a:chOff x="0" y="134593"/>
            <a:chExt cx="604837" cy="496731"/>
          </a:xfrm>
        </p:grpSpPr>
        <p:sp>
          <p:nvSpPr>
            <p:cNvPr id="34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25.9.15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3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36" name="그룹 16"/>
          <p:cNvGrpSpPr>
            <a:grpSpLocks noChangeAspect="1"/>
          </p:cNvGrpSpPr>
          <p:nvPr/>
        </p:nvGrpSpPr>
        <p:grpSpPr bwMode="auto">
          <a:xfrm>
            <a:off x="5364088" y="547221"/>
            <a:ext cx="1045724" cy="519163"/>
            <a:chOff x="0" y="135732"/>
            <a:chExt cx="604837" cy="495592"/>
          </a:xfrm>
        </p:grpSpPr>
        <p:sp>
          <p:nvSpPr>
            <p:cNvPr id="37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3.1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38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39" name="그룹 20"/>
          <p:cNvGrpSpPr>
            <a:grpSpLocks noChangeAspect="1"/>
          </p:cNvGrpSpPr>
          <p:nvPr/>
        </p:nvGrpSpPr>
        <p:grpSpPr bwMode="auto">
          <a:xfrm>
            <a:off x="7941410" y="528347"/>
            <a:ext cx="1030567" cy="530581"/>
            <a:chOff x="0" y="111804"/>
            <a:chExt cx="604837" cy="506492"/>
          </a:xfrm>
        </p:grpSpPr>
        <p:sp>
          <p:nvSpPr>
            <p:cNvPr id="4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9.15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1" name="Rectangle 46"/>
            <p:cNvSpPr>
              <a:spLocks noChangeArrowheads="1"/>
            </p:cNvSpPr>
            <p:nvPr/>
          </p:nvSpPr>
          <p:spPr bwMode="auto">
            <a:xfrm>
              <a:off x="26684" y="111804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42" name="위쪽 화살표 41"/>
          <p:cNvSpPr>
            <a:spLocks noChangeArrowheads="1"/>
          </p:cNvSpPr>
          <p:nvPr/>
        </p:nvSpPr>
        <p:spPr bwMode="auto">
          <a:xfrm rot="10800000">
            <a:off x="507605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5" name="위쪽 화살표 44"/>
          <p:cNvSpPr>
            <a:spLocks noChangeArrowheads="1"/>
          </p:cNvSpPr>
          <p:nvPr/>
        </p:nvSpPr>
        <p:spPr bwMode="auto">
          <a:xfrm rot="10800000">
            <a:off x="5827196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49" name="위쪽 화살표 48"/>
          <p:cNvSpPr>
            <a:spLocks noChangeArrowheads="1"/>
          </p:cNvSpPr>
          <p:nvPr/>
        </p:nvSpPr>
        <p:spPr bwMode="auto">
          <a:xfrm rot="10800000">
            <a:off x="8395913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7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58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0" name="위쪽 화살표 59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28" name="그룹 16"/>
          <p:cNvGrpSpPr>
            <a:grpSpLocks noChangeAspect="1"/>
          </p:cNvGrpSpPr>
          <p:nvPr/>
        </p:nvGrpSpPr>
        <p:grpSpPr bwMode="auto">
          <a:xfrm>
            <a:off x="7452320" y="524823"/>
            <a:ext cx="1045724" cy="537093"/>
            <a:chOff x="0" y="118616"/>
            <a:chExt cx="604837" cy="512708"/>
          </a:xfrm>
        </p:grpSpPr>
        <p:sp>
          <p:nvSpPr>
            <p:cNvPr id="4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7.15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4" name="Rectangle 46"/>
            <p:cNvSpPr>
              <a:spLocks noChangeArrowheads="1"/>
            </p:cNvSpPr>
            <p:nvPr/>
          </p:nvSpPr>
          <p:spPr bwMode="auto">
            <a:xfrm>
              <a:off x="26297" y="118616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46" name="위쪽 화살표 45"/>
          <p:cNvSpPr>
            <a:spLocks noChangeArrowheads="1"/>
          </p:cNvSpPr>
          <p:nvPr/>
        </p:nvSpPr>
        <p:spPr bwMode="auto">
          <a:xfrm rot="10800000">
            <a:off x="7915428" y="71761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47" name="그룹 16"/>
          <p:cNvGrpSpPr>
            <a:grpSpLocks noChangeAspect="1"/>
          </p:cNvGrpSpPr>
          <p:nvPr/>
        </p:nvGrpSpPr>
        <p:grpSpPr bwMode="auto">
          <a:xfrm>
            <a:off x="6190572" y="541559"/>
            <a:ext cx="1045724" cy="519163"/>
            <a:chOff x="0" y="135732"/>
            <a:chExt cx="604837" cy="495592"/>
          </a:xfrm>
        </p:grpSpPr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4.30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Post P#2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51" name="위쪽 화살표 50"/>
          <p:cNvSpPr>
            <a:spLocks noChangeArrowheads="1"/>
          </p:cNvSpPr>
          <p:nvPr/>
        </p:nvSpPr>
        <p:spPr bwMode="auto">
          <a:xfrm rot="10800000">
            <a:off x="6653680" y="716425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804248" y="533573"/>
            <a:ext cx="1045724" cy="519163"/>
            <a:chOff x="0" y="135732"/>
            <a:chExt cx="604837" cy="495592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767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6.15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Pre M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55" name="위쪽 화살표 54"/>
          <p:cNvSpPr>
            <a:spLocks noChangeArrowheads="1"/>
          </p:cNvSpPr>
          <p:nvPr/>
        </p:nvSpPr>
        <p:spPr bwMode="auto">
          <a:xfrm rot="10800000">
            <a:off x="7267356" y="70843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Box 5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997193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1753070"/>
              </p:ext>
            </p:extLst>
          </p:nvPr>
        </p:nvGraphicFramePr>
        <p:xfrm>
          <a:off x="23277" y="568922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1. SP1 S/W </a:t>
                      </a:r>
                      <a:r>
                        <a:rPr lang="ko-KR" altLang="en-US" sz="1000" baseline="0" smtClean="0"/>
                        <a:t>배포일 </a:t>
                      </a:r>
                      <a:r>
                        <a:rPr lang="en-US" altLang="ko-KR" sz="1000" baseline="0" smtClean="0"/>
                        <a:t>(~3/6)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   : </a:t>
                      </a:r>
                      <a:r>
                        <a:rPr lang="ko-KR" altLang="en-US" sz="1000" baseline="0" smtClean="0"/>
                        <a:t>일렉스 </a:t>
                      </a:r>
                      <a:r>
                        <a:rPr lang="en-US" altLang="ko-KR" sz="1000" baseline="0" smtClean="0"/>
                        <a:t>PCB </a:t>
                      </a:r>
                      <a:r>
                        <a:rPr lang="ko-KR" altLang="en-US" sz="1000" baseline="0" smtClean="0"/>
                        <a:t>생산 </a:t>
                      </a:r>
                      <a:r>
                        <a:rPr lang="en-US" altLang="ko-KR" sz="1000" baseline="0" smtClean="0"/>
                        <a:t>3/6 </a:t>
                      </a:r>
                      <a:r>
                        <a:rPr lang="ko-KR" altLang="en-US" sz="1000" baseline="0" smtClean="0"/>
                        <a:t>진행 </a:t>
                      </a:r>
                      <a:endParaRPr lang="en-US" altLang="ko-KR" sz="1000" baseline="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2. S/W </a:t>
                      </a:r>
                      <a:r>
                        <a:rPr lang="ko-KR" altLang="en-US" sz="1000" baseline="0" smtClean="0"/>
                        <a:t>강건화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1-1 S/W </a:t>
                      </a:r>
                      <a:r>
                        <a:rPr lang="ko-KR" altLang="en-US" sz="1000" baseline="0" smtClean="0"/>
                        <a:t>전 영역에 대한 기능 품질 안정성 부족 판단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  : S/W </a:t>
                      </a:r>
                      <a:r>
                        <a:rPr lang="ko-KR" altLang="en-US" sz="1000" baseline="0" smtClean="0"/>
                        <a:t>전 영역 상세 디버깅 진행 및 강건화 설계</a:t>
                      </a:r>
                      <a:r>
                        <a:rPr lang="ko-KR" altLang="en-US" sz="1000" i="1" baseline="0" smtClean="0"/>
                        <a:t> </a:t>
                      </a:r>
                      <a:r>
                        <a:rPr lang="ko-KR" altLang="en-US" sz="1000" baseline="0" smtClean="0"/>
                        <a:t>진행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  : </a:t>
                      </a:r>
                      <a:r>
                        <a:rPr lang="ko-KR" altLang="en-US" sz="1000" baseline="0" smtClean="0"/>
                        <a:t>필요 항목 </a:t>
                      </a:r>
                      <a:r>
                        <a:rPr lang="en-US" altLang="ko-KR" sz="1000" baseline="0" smtClean="0"/>
                        <a:t>List-Up </a:t>
                      </a:r>
                      <a:r>
                        <a:rPr lang="ko-KR" altLang="en-US" sz="1000" baseline="0" smtClean="0"/>
                        <a:t>후 계획 일정 수립 </a:t>
                      </a:r>
                      <a:r>
                        <a:rPr lang="en-US" altLang="ko-KR" sz="1000" baseline="0" smtClean="0"/>
                        <a:t>(3/3)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1-2 </a:t>
                      </a:r>
                      <a:r>
                        <a:rPr lang="ko-KR" altLang="en-US" sz="1000" baseline="0" smtClean="0"/>
                        <a:t>고장 진단 </a:t>
                      </a:r>
                      <a:r>
                        <a:rPr lang="en-US" altLang="ko-KR" sz="1000" baseline="0" smtClean="0"/>
                        <a:t>S/W </a:t>
                      </a:r>
                      <a:r>
                        <a:rPr lang="ko-KR" altLang="en-US" sz="1000" baseline="0" smtClean="0"/>
                        <a:t>모듈화</a:t>
                      </a:r>
                      <a:endParaRPr lang="en-US" altLang="ko-KR" sz="1000" baseline="0" dirty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  - </a:t>
                      </a:r>
                      <a:r>
                        <a:rPr lang="ko-KR" altLang="en-US" sz="1000" baseline="0" dirty="0"/>
                        <a:t>고장진단 모듈화</a:t>
                      </a:r>
                      <a:r>
                        <a:rPr lang="en-US" altLang="ko-KR" sz="1000" baseline="0" dirty="0"/>
                        <a:t> </a:t>
                      </a:r>
                      <a:r>
                        <a:rPr lang="ko-KR" altLang="en-US" sz="1000" baseline="0" dirty="0"/>
                        <a:t>진행 중 </a:t>
                      </a:r>
                      <a:r>
                        <a:rPr lang="en-US" altLang="ko-KR" sz="1000" baseline="0" dirty="0"/>
                        <a:t>(50%, </a:t>
                      </a:r>
                      <a:r>
                        <a:rPr lang="en-US" altLang="ko-KR" sz="1000" baseline="0"/>
                        <a:t>2/13</a:t>
                      </a:r>
                      <a:r>
                        <a:rPr lang="en-US" altLang="ko-KR" sz="1000" baseline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="1" baseline="0" smtClean="0"/>
                        <a:t>       - </a:t>
                      </a:r>
                      <a:r>
                        <a:rPr lang="ko-KR" altLang="en-US" sz="1000" b="1" baseline="0" smtClean="0"/>
                        <a:t>웨이모 및 라인 </a:t>
                      </a:r>
                      <a:r>
                        <a:rPr lang="en-US" altLang="ko-KR" sz="1000" b="1" baseline="0" smtClean="0"/>
                        <a:t>T/O </a:t>
                      </a:r>
                      <a:r>
                        <a:rPr lang="ko-KR" altLang="en-US" sz="1000" b="1" baseline="0" smtClean="0"/>
                        <a:t>샘플 제작 지원에 따른 지연 발생</a:t>
                      </a:r>
                      <a:endParaRPr lang="en-US" altLang="ko-KR" sz="1000" b="1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000" b="1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3. </a:t>
                      </a:r>
                      <a:r>
                        <a:rPr lang="ko-KR" altLang="en-US" sz="1000" baseline="0" dirty="0" err="1"/>
                        <a:t>웨이모</a:t>
                      </a:r>
                      <a:r>
                        <a:rPr lang="ko-KR" altLang="en-US" sz="1000" baseline="0" dirty="0"/>
                        <a:t> 필드 </a:t>
                      </a:r>
                      <a:r>
                        <a:rPr lang="ko-KR" altLang="en-US" sz="1000" baseline="0"/>
                        <a:t>교체 </a:t>
                      </a:r>
                      <a:r>
                        <a:rPr lang="ko-KR" altLang="en-US" sz="1000" baseline="0" smtClean="0"/>
                        <a:t>요청</a:t>
                      </a: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</a:t>
                      </a:r>
                      <a:r>
                        <a:rPr lang="ko-KR" altLang="en-US" sz="1000" baseline="0" smtClean="0"/>
                        <a:t>일정 </a:t>
                      </a:r>
                      <a:r>
                        <a:rPr lang="en-US" altLang="ko-KR" sz="1000" baseline="0" smtClean="0"/>
                        <a:t>: 3/15 ~ 3/28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- </a:t>
                      </a:r>
                      <a:r>
                        <a:rPr lang="ko-KR" altLang="en-US" sz="1000" baseline="0" smtClean="0"/>
                        <a:t>출장 인원 </a:t>
                      </a:r>
                      <a:r>
                        <a:rPr lang="en-US" altLang="ko-KR" sz="1000" baseline="0" smtClean="0"/>
                        <a:t>: </a:t>
                      </a:r>
                      <a:r>
                        <a:rPr lang="ko-KR" altLang="en-US" sz="1000" baseline="0" smtClean="0"/>
                        <a:t>명화 </a:t>
                      </a:r>
                      <a:r>
                        <a:rPr lang="en-US" altLang="ko-KR" sz="1000" baseline="0" smtClean="0"/>
                        <a:t>(2</a:t>
                      </a:r>
                      <a:r>
                        <a:rPr lang="ko-KR" altLang="en-US" sz="1000" baseline="0" smtClean="0"/>
                        <a:t>명</a:t>
                      </a:r>
                      <a:r>
                        <a:rPr lang="en-US" altLang="ko-KR" sz="1000" baseline="0" smtClean="0"/>
                        <a:t>), </a:t>
                      </a:r>
                      <a:r>
                        <a:rPr lang="ko-KR" altLang="en-US" sz="1000" baseline="0" smtClean="0"/>
                        <a:t>우리산업</a:t>
                      </a:r>
                      <a:r>
                        <a:rPr lang="en-US" altLang="ko-KR" sz="1000" baseline="0" smtClean="0"/>
                        <a:t>(1</a:t>
                      </a:r>
                      <a:r>
                        <a:rPr lang="ko-KR" altLang="en-US" sz="1000" baseline="0" smtClean="0"/>
                        <a:t>명</a:t>
                      </a:r>
                      <a:r>
                        <a:rPr lang="en-US" altLang="ko-KR" sz="1000" baseline="0" smtClean="0"/>
                        <a:t>)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000" baseline="0" smtClean="0"/>
                    </a:p>
                    <a:p>
                      <a:pPr>
                        <a:lnSpc>
                          <a:spcPct val="150000"/>
                        </a:lnSpc>
                      </a:pPr>
                      <a:endParaRPr lang="en-US" altLang="ko-KR" sz="1000" baseline="0" smtClean="0"/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altLang="ko-KR" sz="1000" baseline="0" smtClean="0"/>
                        <a:t>  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4WayValve</a:t>
            </a:r>
            <a:endParaRPr lang="en-US" altLang="ko-KR" sz="1600" b="1" noProof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김강일 사원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30067124-8453-5C6A-93B2-0084155B4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0775" y="890142"/>
            <a:ext cx="5659939" cy="22121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굴림"/>
                <a:ea typeface="굴림"/>
                <a:cs typeface="+mn-cs"/>
              </a:defRPr>
            </a:lvl9pPr>
          </a:lstStyle>
          <a:p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805588E-37E0-DA9C-9E52-6EF1AD7529F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56238" y="568922"/>
            <a:ext cx="3187913" cy="537127"/>
            <a:chOff x="-1281992" y="105555"/>
            <a:chExt cx="1886829" cy="512741"/>
          </a:xfrm>
        </p:grpSpPr>
        <p:sp>
          <p:nvSpPr>
            <p:cNvPr id="24" name="위쪽 화살표 43">
              <a:extLst>
                <a:ext uri="{FF2B5EF4-FFF2-40B4-BE49-F238E27FC236}">
                  <a16:creationId xmlns:a16="http://schemas.microsoft.com/office/drawing/2014/main" id="{E0709667-4385-E76D-9399-32558DCAC5C3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5" name="Rectangle 46">
              <a:extLst>
                <a:ext uri="{FF2B5EF4-FFF2-40B4-BE49-F238E27FC236}">
                  <a16:creationId xmlns:a16="http://schemas.microsoft.com/office/drawing/2014/main" id="{C7EBFE63-D8F4-B105-5A57-623F85F04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6" name="Rectangle 46">
              <a:extLst>
                <a:ext uri="{FF2B5EF4-FFF2-40B4-BE49-F238E27FC236}">
                  <a16:creationId xmlns:a16="http://schemas.microsoft.com/office/drawing/2014/main" id="{56F80903-B688-9B8F-CD2A-3FA145339E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SP#1/26.4.15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7" name="Rectangle 46">
              <a:extLst>
                <a:ext uri="{FF2B5EF4-FFF2-40B4-BE49-F238E27FC236}">
                  <a16:creationId xmlns:a16="http://schemas.microsoft.com/office/drawing/2014/main" id="{B6762560-C205-27BD-75DA-9C3AADCEA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281992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HKMC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BC0F4A86-8683-956B-19DD-FCF2D5434F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77919" y="922850"/>
            <a:ext cx="1201051" cy="505237"/>
            <a:chOff x="-106029" y="135997"/>
            <a:chExt cx="710866" cy="482299"/>
          </a:xfrm>
        </p:grpSpPr>
        <p:sp>
          <p:nvSpPr>
            <p:cNvPr id="21" name="위쪽 화살표 16">
              <a:extLst>
                <a:ext uri="{FF2B5EF4-FFF2-40B4-BE49-F238E27FC236}">
                  <a16:creationId xmlns:a16="http://schemas.microsoft.com/office/drawing/2014/main" id="{BE46A58D-A4FB-0A8B-1DE9-DB373B0006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22" name="Rectangle 46">
              <a:extLst>
                <a:ext uri="{FF2B5EF4-FFF2-40B4-BE49-F238E27FC236}">
                  <a16:creationId xmlns:a16="http://schemas.microsoft.com/office/drawing/2014/main" id="{FEB624E9-40A7-DF0A-4C48-AF6444BE69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23" name="Rectangle 46">
              <a:extLst>
                <a:ext uri="{FF2B5EF4-FFF2-40B4-BE49-F238E27FC236}">
                  <a16:creationId xmlns:a16="http://schemas.microsoft.com/office/drawing/2014/main" id="{A777D1AD-0636-E4C5-BA30-133A00D46B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LP#1/26.4.10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AC00DEF4-8788-57FF-DA2B-594C005446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496450" y="922850"/>
            <a:ext cx="2030699" cy="505237"/>
            <a:chOff x="-597073" y="135997"/>
            <a:chExt cx="1201910" cy="482299"/>
          </a:xfrm>
        </p:grpSpPr>
        <p:sp>
          <p:nvSpPr>
            <p:cNvPr id="17" name="위쪽 화살표 20">
              <a:extLst>
                <a:ext uri="{FF2B5EF4-FFF2-40B4-BE49-F238E27FC236}">
                  <a16:creationId xmlns:a16="http://schemas.microsoft.com/office/drawing/2014/main" id="{BDEA3A61-615E-7F7B-2003-F6DCF40C0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8" name="Rectangle 46">
              <a:extLst>
                <a:ext uri="{FF2B5EF4-FFF2-40B4-BE49-F238E27FC236}">
                  <a16:creationId xmlns:a16="http://schemas.microsoft.com/office/drawing/2014/main" id="{17C6086D-B563-6D54-C0D0-E3D777FFB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9" name="Rectangle 46">
              <a:extLst>
                <a:ext uri="{FF2B5EF4-FFF2-40B4-BE49-F238E27FC236}">
                  <a16:creationId xmlns:a16="http://schemas.microsoft.com/office/drawing/2014/main" id="{361C656E-746F-00CB-1497-7C289E593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SP#1/26.3.01</a:t>
              </a:r>
            </a:p>
          </p:txBody>
        </p:sp>
        <p:sp>
          <p:nvSpPr>
            <p:cNvPr id="20" name="Rectangle 46">
              <a:extLst>
                <a:ext uri="{FF2B5EF4-FFF2-40B4-BE49-F238E27FC236}">
                  <a16:creationId xmlns:a16="http://schemas.microsoft.com/office/drawing/2014/main" id="{DB98EFF7-86FD-6B88-B74F-7C09154D5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597073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ko-KR" altLang="en-US" sz="1000" dirty="0" err="1">
                  <a:latin typeface="+mn-ea"/>
                </a:rPr>
                <a:t>명화공업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70FB415B-A012-7F7B-8FDD-5D1E5CE2E5D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964142" y="922850"/>
            <a:ext cx="1201051" cy="505237"/>
            <a:chOff x="-106029" y="135997"/>
            <a:chExt cx="710866" cy="482299"/>
          </a:xfrm>
        </p:grpSpPr>
        <p:sp>
          <p:nvSpPr>
            <p:cNvPr id="14" name="위쪽 화살표 24">
              <a:extLst>
                <a:ext uri="{FF2B5EF4-FFF2-40B4-BE49-F238E27FC236}">
                  <a16:creationId xmlns:a16="http://schemas.microsoft.com/office/drawing/2014/main" id="{496F9014-A832-7626-E95A-4B7FF4B8D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164" y="135997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5" name="Rectangle 46">
              <a:extLst>
                <a:ext uri="{FF2B5EF4-FFF2-40B4-BE49-F238E27FC236}">
                  <a16:creationId xmlns:a16="http://schemas.microsoft.com/office/drawing/2014/main" id="{2A839B0E-1738-90BC-7A56-3F578FEEE9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6" name="Rectangle 46">
              <a:extLst>
                <a:ext uri="{FF2B5EF4-FFF2-40B4-BE49-F238E27FC236}">
                  <a16:creationId xmlns:a16="http://schemas.microsoft.com/office/drawing/2014/main" id="{8154AC2C-6E7A-ED2F-3AC5-B3BE349FB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06029" y="183583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LP#2/26.6.20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980FD3B4-B1FA-26CD-0359-89AA4F86964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206955" y="568922"/>
            <a:ext cx="1021909" cy="537127"/>
            <a:chOff x="0" y="105555"/>
            <a:chExt cx="604837" cy="512741"/>
          </a:xfrm>
        </p:grpSpPr>
        <p:sp>
          <p:nvSpPr>
            <p:cNvPr id="9" name="위쪽 화살표 29">
              <a:extLst>
                <a:ext uri="{FF2B5EF4-FFF2-40B4-BE49-F238E27FC236}">
                  <a16:creationId xmlns:a16="http://schemas.microsoft.com/office/drawing/2014/main" id="{DD48BA24-C629-D4F8-CC84-F0BFDA6CEAD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5pPr>
              <a:lvl6pPr marL="22860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6pPr>
              <a:lvl7pPr marL="27432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7pPr>
              <a:lvl8pPr marL="32004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8pPr>
              <a:lvl9pPr marL="3657600" algn="l" defTabSz="914400" rtl="0" eaLnBrk="1" latinLnBrk="1" hangingPunct="1">
                <a:defRPr kumimoji="1" kern="1200">
                  <a:solidFill>
                    <a:schemeClr val="tx1"/>
                  </a:solidFill>
                  <a:latin typeface="굴림"/>
                  <a:ea typeface="굴림"/>
                  <a:cs typeface="+mn-cs"/>
                </a:defRPr>
              </a:lvl9pPr>
            </a:lstStyle>
            <a:p>
              <a:endParaRPr lang="ko-KR" altLang="en-US" sz="2400"/>
            </a:p>
          </p:txBody>
        </p:sp>
        <p:sp>
          <p:nvSpPr>
            <p:cNvPr id="11" name="Rectangle 46">
              <a:extLst>
                <a:ext uri="{FF2B5EF4-FFF2-40B4-BE49-F238E27FC236}">
                  <a16:creationId xmlns:a16="http://schemas.microsoft.com/office/drawing/2014/main" id="{8C695C70-0F44-8284-77CD-DE748120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  <p:sp>
          <p:nvSpPr>
            <p:cNvPr id="13" name="Rectangle 46">
              <a:extLst>
                <a:ext uri="{FF2B5EF4-FFF2-40B4-BE49-F238E27FC236}">
                  <a16:creationId xmlns:a16="http://schemas.microsoft.com/office/drawing/2014/main" id="{B7F64395-E7FC-5293-E3BD-68B193395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74" y="105555"/>
              <a:ext cx="57775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defPPr>
                <a:defRPr lang="ko-KR"/>
              </a:defPPr>
              <a:lvl1pPr marL="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1" hangingPunct="1">
                <a:defRPr kumimoji="1"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LP#1/26.7.15</a:t>
              </a:r>
            </a:p>
            <a:p>
              <a:pPr algn="ctr">
                <a:defRPr sz="1000"/>
              </a:pP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769622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564610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/>
                        <a:t>1. NovoSense </a:t>
                      </a:r>
                      <a:r>
                        <a:rPr lang="ko-KR" altLang="en-US" sz="1000" baseline="0" smtClean="0"/>
                        <a:t>개발 환경 구성 완료</a:t>
                      </a:r>
                      <a:endParaRPr lang="en-US" altLang="ko-KR" sz="1000" baseline="0" smtClean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/>
                        <a:t>   : Build </a:t>
                      </a:r>
                      <a:r>
                        <a:rPr lang="ko-KR" altLang="en-US" sz="1000" baseline="0" smtClean="0"/>
                        <a:t>완료 </a:t>
                      </a:r>
                      <a:r>
                        <a:rPr lang="en-US" altLang="ko-KR" sz="1000" baseline="0" smtClean="0"/>
                        <a:t>(Compiler Version 5 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 6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변경 작업 완료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 smtClean="0">
                        <a:sym typeface="Wingdings" panose="05000000000000000000" pitchFamily="2" charset="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2. Act’r S/W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검증 시료 요청  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(From H/W,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기구팀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endParaRPr lang="en-US" altLang="ko-KR" sz="1000" baseline="0" smtClean="0"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CI30 Stepper Act’r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Vignesh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전임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855902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9249336"/>
              </p:ext>
            </p:extLst>
          </p:nvPr>
        </p:nvGraphicFramePr>
        <p:xfrm>
          <a:off x="0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8297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2/20~2/26)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2/27~3/5)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/>
                        <a:t>1. </a:t>
                      </a:r>
                      <a:r>
                        <a:rPr lang="ko-KR" altLang="en-US" sz="1000" baseline="0" smtClean="0"/>
                        <a:t>개발 미팅 진행 </a:t>
                      </a:r>
                      <a:endParaRPr lang="en-US" altLang="ko-KR" sz="1000" baseline="0" smtClean="0"/>
                    </a:p>
                    <a:p>
                      <a:pPr marL="0" indent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   - 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일정 </a:t>
                      </a:r>
                      <a:r>
                        <a:rPr lang="en-US" altLang="ko-KR" sz="1000" baseline="0" smtClean="0">
                          <a:sym typeface="Wingdings" panose="05000000000000000000" pitchFamily="2" charset="2"/>
                        </a:rPr>
                        <a:t>: 2/26 16</a:t>
                      </a:r>
                      <a:r>
                        <a:rPr lang="ko-KR" altLang="en-US" sz="1000" baseline="0" smtClean="0">
                          <a:sym typeface="Wingdings" panose="05000000000000000000" pitchFamily="2" charset="2"/>
                        </a:rPr>
                        <a:t>시</a:t>
                      </a:r>
                      <a:endParaRPr lang="en-US" altLang="ko-KR" sz="1000" baseline="0" smtClean="0"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6393097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EV Heater S/W 1</a:t>
            </a:r>
            <a:r>
              <a:rPr lang="ko-KR" altLang="en-US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3492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Denso STLA XEV</a:t>
            </a:r>
            <a:endParaRPr lang="en-US" altLang="ko-KR" sz="1600" b="1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(</a:t>
            </a:r>
            <a:r>
              <a:rPr lang="ko-KR" altLang="en-US" sz="1600" b="1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담당자 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: </a:t>
            </a:r>
            <a:r>
              <a:rPr lang="ko-KR" altLang="en-US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이자효 책임</a:t>
            </a:r>
            <a:r>
              <a:rPr lang="en-US" altLang="ko-KR" sz="1600" b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)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9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SP#1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5" cy="505516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LP#1</a:t>
              </a:r>
              <a:endParaRPr lang="en-US" altLang="ko-KR" sz="1000" dirty="0">
                <a:latin typeface="+mn-ea"/>
              </a:endParaRP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7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latin typeface="+mn-ea"/>
                </a:rPr>
                <a:t>SOP</a:t>
              </a:r>
            </a:p>
          </p:txBody>
        </p:sp>
      </p:grpSp>
      <p:sp>
        <p:nvSpPr>
          <p:cNvPr id="62" name="위쪽 화살표 61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4" name="위쪽 화살표 63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65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13531"/>
            <a:chOff x="0" y="134593"/>
            <a:chExt cx="604837" cy="490217"/>
          </a:xfrm>
        </p:grpSpPr>
        <p:sp>
          <p:nvSpPr>
            <p:cNvPr id="66" name="Rectangle 46"/>
            <p:cNvSpPr>
              <a:spLocks noChangeArrowheads="1"/>
            </p:cNvSpPr>
            <p:nvPr/>
          </p:nvSpPr>
          <p:spPr bwMode="auto">
            <a:xfrm>
              <a:off x="0" y="370218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-</a:t>
              </a:r>
              <a:endParaRPr lang="en-US" altLang="ko-KR" sz="1000" dirty="0">
                <a:latin typeface="+mn-ea"/>
              </a:endParaRPr>
            </a:p>
          </p:txBody>
        </p:sp>
        <p:sp>
          <p:nvSpPr>
            <p:cNvPr id="6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>
                  <a:latin typeface="+mn-ea"/>
                </a:rPr>
                <a:t>MCAR</a:t>
              </a:r>
              <a:endParaRPr lang="en-US" altLang="ko-KR" sz="1000" dirty="0">
                <a:latin typeface="+mn-ea"/>
              </a:endParaRPr>
            </a:p>
          </p:txBody>
        </p:sp>
      </p:grpSp>
      <p:sp>
        <p:nvSpPr>
          <p:cNvPr id="68" name="위쪽 화살표 67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7" name="TextBox 26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185461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/>
          </p:cNvSpPr>
          <p:nvPr/>
        </p:nvSpPr>
        <p:spPr bwMode="auto">
          <a:xfrm>
            <a:off x="176506" y="7775"/>
            <a:ext cx="6879981" cy="468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8400" tIns="44200" rIns="88400" bIns="44200" anchor="ctr"/>
          <a:lstStyle/>
          <a:p>
            <a:pPr algn="l">
              <a:spcBef>
                <a:spcPct val="0"/>
              </a:spcBef>
            </a:pPr>
            <a:r>
              <a:rPr lang="en-US" altLang="ko-KR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EV Heater SW2</a:t>
            </a:r>
            <a:r>
              <a:rPr lang="ko-KR" altLang="en-US" sz="2400" dirty="0">
                <a:solidFill>
                  <a:srgbClr val="000000"/>
                </a:solidFill>
                <a:latin typeface="현대하모니 M" pitchFamily="18" charset="-127"/>
                <a:ea typeface="현대하모니 M" pitchFamily="18" charset="-127"/>
              </a:rPr>
              <a:t>팀 업무분장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0353132"/>
              </p:ext>
            </p:extLst>
          </p:nvPr>
        </p:nvGraphicFramePr>
        <p:xfrm>
          <a:off x="3203848" y="790125"/>
          <a:ext cx="2592288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288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오세영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팀장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1.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팀 관리 업무</a:t>
                      </a: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. Air PTC SW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 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Act’r/Valve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및 관리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3285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20259"/>
              </p:ext>
            </p:extLst>
          </p:nvPr>
        </p:nvGraphicFramePr>
        <p:xfrm>
          <a:off x="1122973" y="3722451"/>
          <a:ext cx="1907290" cy="1193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65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임제훈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2166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SVm, BJ1, NX5e, HE1i,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  AY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SU2i, KY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7448762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/>
        </p:nvGraphicFramePr>
        <p:xfrm>
          <a:off x="1122973" y="2530955"/>
          <a:ext cx="1907290" cy="1126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859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조현진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전임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840622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Air PTC SW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SX3e, NEaW, MX5a, QV</a:t>
                      </a: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고품 분석 및 대응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  - MVa, Nea, Mea, Cva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9541145"/>
              </p:ext>
            </p:extLst>
          </p:nvPr>
        </p:nvGraphicFramePr>
        <p:xfrm>
          <a:off x="5863244" y="3721993"/>
          <a:ext cx="1907290" cy="100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795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최은혁 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22984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Actuator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JG1, RS4PE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cxnSp>
        <p:nvCxnSpPr>
          <p:cNvPr id="17" name="꺾인 연결선 16"/>
          <p:cNvCxnSpPr>
            <a:stCxn id="8" idx="0"/>
            <a:endCxn id="7" idx="2"/>
          </p:cNvCxnSpPr>
          <p:nvPr/>
        </p:nvCxnSpPr>
        <p:spPr bwMode="auto">
          <a:xfrm rot="5400000" flipH="1" flipV="1">
            <a:off x="4049548" y="2075948"/>
            <a:ext cx="900635" cy="524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꺾인 연결선 17"/>
          <p:cNvCxnSpPr>
            <a:stCxn id="14" idx="0"/>
            <a:endCxn id="7" idx="2"/>
          </p:cNvCxnSpPr>
          <p:nvPr/>
        </p:nvCxnSpPr>
        <p:spPr bwMode="auto">
          <a:xfrm rot="16200000" flipV="1">
            <a:off x="5272277" y="858464"/>
            <a:ext cx="888659" cy="2428235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꺾인 연결선 18"/>
          <p:cNvCxnSpPr>
            <a:stCxn id="13" idx="0"/>
            <a:endCxn id="7" idx="2"/>
          </p:cNvCxnSpPr>
          <p:nvPr/>
        </p:nvCxnSpPr>
        <p:spPr bwMode="auto">
          <a:xfrm rot="5400000" flipH="1" flipV="1">
            <a:off x="2838201" y="866669"/>
            <a:ext cx="902704" cy="242587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518298"/>
              </p:ext>
            </p:extLst>
          </p:nvPr>
        </p:nvGraphicFramePr>
        <p:xfrm>
          <a:off x="5863244" y="4839008"/>
          <a:ext cx="1907290" cy="1169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2572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김강일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912057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 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- 4Way/6Way Valve</a:t>
                      </a:r>
                    </a:p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83099"/>
              </p:ext>
            </p:extLst>
          </p:nvPr>
        </p:nvGraphicFramePr>
        <p:xfrm>
          <a:off x="3558879" y="372245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김진겸 사원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 1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. Air PTC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2. Motor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검증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 latinLnBrk="1">
                        <a:buNone/>
                      </a:pP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 3. ES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1130583" y="4980630"/>
            <a:ext cx="189968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PTC</a:t>
            </a:r>
            <a:endParaRPr lang="ko-KR" altLang="en-US" sz="1200"/>
          </a:p>
        </p:txBody>
      </p:sp>
      <p:sp>
        <p:nvSpPr>
          <p:cNvPr id="20" name="직사각형 19"/>
          <p:cNvSpPr/>
          <p:nvPr/>
        </p:nvSpPr>
        <p:spPr>
          <a:xfrm>
            <a:off x="5863244" y="6058276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3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/>
              <a:t>Motor</a:t>
            </a:r>
            <a:endParaRPr lang="ko-KR" altLang="en-US" sz="1200"/>
          </a:p>
        </p:txBody>
      </p:sp>
      <p:sp>
        <p:nvSpPr>
          <p:cNvPr id="21" name="직사각형 20"/>
          <p:cNvSpPr/>
          <p:nvPr/>
        </p:nvSpPr>
        <p:spPr>
          <a:xfrm>
            <a:off x="3554859" y="4899174"/>
            <a:ext cx="1907290" cy="216024"/>
          </a:xfrm>
          <a:prstGeom prst="rect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공통업무</a:t>
            </a:r>
            <a:endParaRPr lang="en-US" altLang="ko-KR" sz="120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652669"/>
              </p:ext>
            </p:extLst>
          </p:nvPr>
        </p:nvGraphicFramePr>
        <p:xfrm>
          <a:off x="5868144" y="2521662"/>
          <a:ext cx="1907290" cy="1085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028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이자효 책임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306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lang="ko-KR" altLang="en-US" sz="105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</a:rPr>
                        <a:t>CI30 Stepper </a:t>
                      </a:r>
                      <a:r>
                        <a:rPr lang="en-US" altLang="ko-KR" sz="1100" baseline="0">
                          <a:solidFill>
                            <a:schemeClr val="tx1"/>
                          </a:solidFill>
                        </a:rPr>
                        <a:t>Act’r </a:t>
                      </a:r>
                      <a:r>
                        <a:rPr lang="ko-KR" altLang="en-US" sz="1100" baseline="0">
                          <a:solidFill>
                            <a:schemeClr val="tx1"/>
                          </a:solidFill>
                        </a:rPr>
                        <a:t>개발</a:t>
                      </a:r>
                      <a:endParaRPr lang="en-US" altLang="ko-KR" sz="1100" baseline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2. BLDC Motor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en-US" altLang="ko-KR" sz="1100" b="0" baseline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3. Act’r/Valve </a:t>
                      </a:r>
                      <a:r>
                        <a:rPr lang="ko-KR" altLang="en-US" sz="1100" b="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지원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659113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394486"/>
              </p:ext>
            </p:extLst>
          </p:nvPr>
        </p:nvGraphicFramePr>
        <p:xfrm>
          <a:off x="3558879" y="2516911"/>
          <a:ext cx="1907290" cy="1104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290">
                  <a:extLst>
                    <a:ext uri="{9D8B030D-6E8A-4147-A177-3AD203B41FA5}">
                      <a16:colId xmlns:a16="http://schemas.microsoft.com/office/drawing/2014/main" val="39824983"/>
                    </a:ext>
                  </a:extLst>
                </a:gridCol>
              </a:tblGrid>
              <a:tr h="3146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</a:rPr>
                        <a:t>VIGNESH </a:t>
                      </a:r>
                      <a:r>
                        <a:rPr lang="ko-KR" altLang="en-US" sz="120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844538"/>
                  </a:ext>
                </a:extLst>
              </a:tr>
              <a:tr h="789519">
                <a:tc>
                  <a:txBody>
                    <a:bodyPr/>
                    <a:lstStyle/>
                    <a:p>
                      <a:pPr marL="0" indent="0" algn="l" latinLnBrk="1">
                        <a:buNone/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1. Motor Control Zig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개발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 2. S/W 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정</a:t>
                      </a:r>
                      <a:r>
                        <a:rPr lang="en-US" altLang="ko-KR" sz="1100" baseline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aseline="0" dirty="0">
                          <a:solidFill>
                            <a:schemeClr val="tx1"/>
                          </a:solidFill>
                        </a:rPr>
                        <a:t>동적 검증 수행</a:t>
                      </a:r>
                      <a:endParaRPr lang="en-US" altLang="ko-KR" sz="11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79165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0506531"/>
      </p:ext>
    </p:extLst>
  </p:cSld>
  <p:clrMapOvr>
    <a:masterClrMapping/>
  </p:clrMapOvr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26070</TotalTime>
  <Words>3022</Words>
  <Application>Microsoft Office PowerPoint</Application>
  <PresentationFormat>화면 슬라이드 쇼(4:3)</PresentationFormat>
  <Paragraphs>747</Paragraphs>
  <Slides>23</Slides>
  <Notes>22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23</vt:i4>
      </vt:variant>
    </vt:vector>
  </HeadingPairs>
  <TitlesOfParts>
    <vt:vector size="35" baseType="lpstr">
      <vt:lpstr>굴림</vt:lpstr>
      <vt:lpstr>맑은 고딕</vt:lpstr>
      <vt:lpstr>현대하모니 B</vt:lpstr>
      <vt:lpstr>현대하모니 M</vt:lpstr>
      <vt:lpstr>Arial</vt:lpstr>
      <vt:lpstr>Lucida Sans Unicode</vt:lpstr>
      <vt:lpstr>Verdana</vt:lpstr>
      <vt:lpstr>Wingdings</vt:lpstr>
      <vt:lpstr>제안서 템플릿</vt:lpstr>
      <vt:lpstr>프레젠테이션</vt:lpstr>
      <vt:lpstr>Microsoft Excel 워크시트</vt:lpstr>
      <vt:lpstr>Microsoft 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6402</cp:revision>
  <dcterms:created xsi:type="dcterms:W3CDTF">2019-10-24T04:42:23Z</dcterms:created>
  <dcterms:modified xsi:type="dcterms:W3CDTF">2026-02-26T00:40:34Z</dcterms:modified>
  <cp:version/>
</cp:coreProperties>
</file>