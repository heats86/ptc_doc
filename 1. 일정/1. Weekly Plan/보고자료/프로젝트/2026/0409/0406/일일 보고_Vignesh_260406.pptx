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4"/>
  </p:notesMasterIdLst>
  <p:handoutMasterIdLst>
    <p:handoutMasterId r:id="rId5"/>
  </p:handoutMasterIdLst>
  <p:sldIdLst>
    <p:sldId id="1137" r:id="rId2"/>
    <p:sldId id="1138" r:id="rId3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66" autoAdjust="0"/>
    <p:restoredTop sz="96378" autoAdjust="0"/>
  </p:normalViewPr>
  <p:slideViewPr>
    <p:cSldViewPr snapToObjects="1">
      <p:cViewPr varScale="1">
        <p:scale>
          <a:sx n="150" d="100"/>
          <a:sy n="150" d="100"/>
        </p:scale>
        <p:origin x="138" y="37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2026-04-06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30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657248"/>
              </p:ext>
            </p:extLst>
          </p:nvPr>
        </p:nvGraphicFramePr>
        <p:xfrm>
          <a:off x="228233" y="764704"/>
          <a:ext cx="8856985" cy="4629272"/>
        </p:xfrm>
        <a:graphic>
          <a:graphicData uri="http://schemas.openxmlformats.org/drawingml/2006/table">
            <a:tbl>
              <a:tblPr/>
              <a:tblGrid>
                <a:gridCol w="620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269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14756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18208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21843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 smtClean="0"/>
                        <a:t>Actuator Calibration &amp; Control Optimization (CI30)</a:t>
                      </a:r>
                      <a:endParaRPr lang="en-US" sz="900" dirty="0" smtClean="0"/>
                    </a:p>
                    <a:p>
                      <a:r>
                        <a:rPr lang="en-US" sz="900" dirty="0" smtClean="0"/>
                        <a:t>Verified </a:t>
                      </a:r>
                      <a:r>
                        <a:rPr lang="en-US" sz="900" b="1" dirty="0" smtClean="0"/>
                        <a:t>Mode 1 (target-based movement)</a:t>
                      </a:r>
                      <a:r>
                        <a:rPr lang="en-US" sz="900" dirty="0" smtClean="0"/>
                        <a:t> and </a:t>
                      </a:r>
                      <a:r>
                        <a:rPr lang="en-US" sz="900" b="1" dirty="0" smtClean="0"/>
                        <a:t>Mode 2 (calibration)</a:t>
                      </a:r>
                      <a:r>
                        <a:rPr lang="en-US" sz="900" dirty="0" smtClean="0"/>
                        <a:t> functionality </a:t>
                      </a:r>
                    </a:p>
                    <a:p>
                      <a:r>
                        <a:rPr lang="en-US" sz="900" dirty="0" smtClean="0"/>
                        <a:t>Implemented and stabilized </a:t>
                      </a:r>
                      <a:r>
                        <a:rPr lang="en-US" sz="900" b="1" dirty="0" smtClean="0"/>
                        <a:t>Default Mode (Mode 0)</a:t>
                      </a:r>
                      <a:r>
                        <a:rPr lang="en-US" sz="900" dirty="0" smtClean="0"/>
                        <a:t/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→ Achieved correct positioning to mid target (5000)</a:t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→ Ensured isolation from RUN logic </a:t>
                      </a:r>
                    </a:p>
                    <a:p>
                      <a:r>
                        <a:rPr lang="en-US" sz="900" dirty="0" smtClean="0"/>
                        <a:t>Improved </a:t>
                      </a:r>
                      <a:r>
                        <a:rPr lang="en-US" sz="900" b="1" dirty="0" smtClean="0"/>
                        <a:t>stall detection and recovery logic</a:t>
                      </a:r>
                      <a:r>
                        <a:rPr lang="en-US" sz="900" dirty="0" smtClean="0"/>
                        <a:t/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→ Implemented </a:t>
                      </a:r>
                      <a:r>
                        <a:rPr lang="en-US" sz="900" dirty="0" err="1" smtClean="0"/>
                        <a:t>backoff</a:t>
                      </a:r>
                      <a:r>
                        <a:rPr lang="en-US" sz="900" dirty="0" smtClean="0"/>
                        <a:t> and retry mechanism</a:t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→ Added safe-end handling after multiple retries </a:t>
                      </a:r>
                    </a:p>
                    <a:p>
                      <a:r>
                        <a:rPr lang="en-US" sz="900" dirty="0" smtClean="0"/>
                        <a:t>Fixed </a:t>
                      </a:r>
                      <a:r>
                        <a:rPr lang="en-US" sz="900" b="1" dirty="0" smtClean="0"/>
                        <a:t>position reference handling after stall recovery</a:t>
                      </a:r>
                      <a:r>
                        <a:rPr lang="en-US" sz="900" dirty="0" smtClean="0"/>
                        <a:t/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→ Maintained correct span without resetting position </a:t>
                      </a:r>
                    </a:p>
                    <a:p>
                      <a:r>
                        <a:rPr lang="en-US" sz="900" dirty="0" smtClean="0"/>
                        <a:t>Corrected </a:t>
                      </a:r>
                      <a:r>
                        <a:rPr lang="en-US" sz="900" b="1" dirty="0" smtClean="0"/>
                        <a:t>backlash compensation logic</a:t>
                      </a:r>
                      <a:r>
                        <a:rPr lang="en-US" sz="900" dirty="0" smtClean="0"/>
                        <a:t/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→ Ensured backlash is applied after recovery</a:t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→ Fixed direction tracking and compensation sequence </a:t>
                      </a:r>
                    </a:p>
                    <a:p>
                      <a:r>
                        <a:rPr lang="en-US" sz="900" dirty="0" smtClean="0"/>
                        <a:t>Optimized </a:t>
                      </a:r>
                      <a:r>
                        <a:rPr lang="en-US" sz="900" b="1" dirty="0" smtClean="0"/>
                        <a:t>motor control flow</a:t>
                      </a:r>
                      <a:r>
                        <a:rPr lang="en-US" sz="900" dirty="0" smtClean="0"/>
                        <a:t/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→ Applied backlash before target check</a:t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→ Eliminated dead-zone condition near target </a:t>
                      </a:r>
                    </a:p>
                    <a:p>
                      <a:r>
                        <a:rPr lang="en-US" sz="900" dirty="0" smtClean="0"/>
                        <a:t>Verified </a:t>
                      </a:r>
                      <a:r>
                        <a:rPr lang="en-US" sz="900" b="1" dirty="0" smtClean="0"/>
                        <a:t>stable movement after stall recovery</a:t>
                      </a:r>
                      <a:r>
                        <a:rPr lang="en-US" sz="900" dirty="0" smtClean="0"/>
                        <a:t/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→ No abnormal jump or span deviation observed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11139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Measured RPM </a:t>
                      </a:r>
                      <a:r>
                        <a:rPr lang="en-US" sz="900" b="1" dirty="0" smtClean="0"/>
                        <a:t>5.07 still exceeds specification upper limit (~5.0 RPM)</a:t>
                      </a:r>
                      <a:r>
                        <a:rPr lang="en-US" sz="900" dirty="0" smtClean="0"/>
                        <a:t/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→ </a:t>
                      </a:r>
                      <a:r>
                        <a:rPr lang="en-US" sz="900" b="1" dirty="0" smtClean="0"/>
                        <a:t>Non-compliance risk</a:t>
                      </a:r>
                      <a:r>
                        <a:rPr lang="en-US" sz="900" dirty="0" smtClean="0"/>
                        <a:t> RPM validation currently based on </a:t>
                      </a:r>
                      <a:r>
                        <a:rPr lang="en-US" sz="900" b="1" dirty="0" smtClean="0"/>
                        <a:t>software timing (no external measurement tool yet)</a:t>
                      </a:r>
                      <a:r>
                        <a:rPr lang="en-US" sz="900" dirty="0" smtClean="0"/>
                        <a:t> </a:t>
                      </a:r>
                      <a:r>
                        <a:rPr lang="en-US" sz="900" b="1" dirty="0" smtClean="0"/>
                        <a:t>Torque validation not yet performed</a:t>
                      </a:r>
                      <a:r>
                        <a:rPr lang="en-US" sz="900" dirty="0" smtClean="0"/>
                        <a:t/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→ Pull-in / Pull-out torque compliance still unknown Residual </a:t>
                      </a:r>
                      <a:r>
                        <a:rPr lang="en-US" sz="900" b="1" dirty="0" smtClean="0"/>
                        <a:t>click noise during calibration reversal</a:t>
                      </a:r>
                      <a:r>
                        <a:rPr lang="en-US" sz="900" dirty="0" smtClean="0"/>
                        <a:t> (improved but not eliminated) Trade-off observed: Lower speed → better noise </a:t>
                      </a:r>
                    </a:p>
                    <a:p>
                      <a:r>
                        <a:rPr lang="en-US" sz="900" dirty="0" smtClean="0"/>
                        <a:t>Higher speed → RPM compliance risk </a:t>
                      </a:r>
                    </a:p>
                    <a:p>
                      <a:r>
                        <a:rPr lang="en-US" sz="900" dirty="0" smtClean="0"/>
                        <a:t>Calibration depends on </a:t>
                      </a:r>
                      <a:r>
                        <a:rPr lang="en-US" sz="900" b="1" dirty="0" smtClean="0"/>
                        <a:t>stall detection → mechanical variability </a:t>
                      </a:r>
                      <a:r>
                        <a:rPr lang="en-US" sz="900" b="1" dirty="0" smtClean="0"/>
                        <a:t>risk</a:t>
                      </a:r>
                      <a:endParaRPr lang="en-US" sz="900" b="1" dirty="0" smtClean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-108520" y="9253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</a:t>
            </a:r>
            <a:r>
              <a:rPr lang="en-US" altLang="ko-KR" sz="2100" b="1" dirty="0" smtClean="0">
                <a:latin typeface="+mn-ea"/>
                <a:ea typeface="+mn-ea"/>
              </a:rPr>
              <a:t> </a:t>
            </a:r>
            <a:r>
              <a:rPr lang="en-US" altLang="ko-KR" sz="2100" b="1" dirty="0" err="1" smtClean="0">
                <a:latin typeface="+mn-ea"/>
                <a:ea typeface="+mn-ea"/>
              </a:rPr>
              <a:t>Vignesh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23814"/>
              </p:ext>
            </p:extLst>
          </p:nvPr>
        </p:nvGraphicFramePr>
        <p:xfrm>
          <a:off x="228233" y="764705"/>
          <a:ext cx="8856985" cy="2882847"/>
        </p:xfrm>
        <a:graphic>
          <a:graphicData uri="http://schemas.openxmlformats.org/drawingml/2006/table">
            <a:tbl>
              <a:tblPr/>
              <a:tblGrid>
                <a:gridCol w="620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269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14756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19220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53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0983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Fine-tune motion profile to achieve </a:t>
                      </a:r>
                      <a:r>
                        <a:rPr lang="en-US" sz="900" b="1" dirty="0" smtClean="0"/>
                        <a:t>RPM ≤ 5.0 within specification limits</a:t>
                      </a:r>
                      <a:r>
                        <a:rPr lang="en-US" sz="900" dirty="0" smtClean="0"/>
                        <a:t> Improve </a:t>
                      </a:r>
                      <a:r>
                        <a:rPr lang="en-US" sz="900" b="1" dirty="0" smtClean="0"/>
                        <a:t>backlash compensation behavior</a:t>
                      </a:r>
                      <a:r>
                        <a:rPr lang="en-US" sz="900" dirty="0" smtClean="0"/>
                        <a:t/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→ Optimize response during direction change</a:t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→ Ensure stable performance near target positions Enhance </a:t>
                      </a:r>
                      <a:r>
                        <a:rPr lang="en-US" sz="900" b="1" dirty="0" smtClean="0"/>
                        <a:t>stall detection and recovery robustness</a:t>
                      </a:r>
                      <a:r>
                        <a:rPr lang="en-US" sz="900" dirty="0" smtClean="0"/>
                        <a:t/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→ Validate performance under different load and voltage conditions</a:t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→ Improve consistency of recovery behavior Transition toward </a:t>
                      </a:r>
                      <a:r>
                        <a:rPr lang="en-US" sz="900" b="1" dirty="0" smtClean="0"/>
                        <a:t>state-machine-based control architecture</a:t>
                      </a:r>
                      <a:r>
                        <a:rPr lang="en-US" sz="900" dirty="0" smtClean="0"/>
                        <a:t/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→ Align current logic with reference implementation for better stability Improve </a:t>
                      </a:r>
                      <a:r>
                        <a:rPr lang="en-US" sz="900" b="1" dirty="0" smtClean="0"/>
                        <a:t>calibration stability and repeatability</a:t>
                      </a:r>
                      <a:r>
                        <a:rPr lang="en-US" sz="900" dirty="0" smtClean="0"/>
                        <a:t/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→ Ensure consistent span calculation across cycles Optimize </a:t>
                      </a:r>
                      <a:r>
                        <a:rPr lang="en-US" sz="900" b="1" dirty="0" smtClean="0"/>
                        <a:t>noise performance during direction reversal and end-stop approach</a:t>
                      </a:r>
                      <a:r>
                        <a:rPr lang="en-US" sz="900" dirty="0" smtClean="0"/>
                        <a:t> Validate </a:t>
                      </a:r>
                      <a:r>
                        <a:rPr lang="en-US" sz="900" b="1" dirty="0" smtClean="0"/>
                        <a:t>mode transition behavior (Default / Run / Calibration)</a:t>
                      </a:r>
                      <a:r>
                        <a:rPr lang="en-US" sz="900" dirty="0" smtClean="0"/>
                        <a:t/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→ Verify </a:t>
                      </a:r>
                      <a:r>
                        <a:rPr lang="en-US" sz="900" b="1" dirty="0" smtClean="0"/>
                        <a:t>position accuracy and retention</a:t>
                      </a:r>
                      <a:r>
                        <a:rPr lang="en-US" sz="900" dirty="0" smtClean="0"/>
                        <a:t/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→ Check behavior after stall, reset, and power cycles Perform </a:t>
                      </a:r>
                      <a:r>
                        <a:rPr lang="en-US" sz="900" b="1" dirty="0" smtClean="0"/>
                        <a:t>LIN communication and diagnostic validation</a:t>
                      </a:r>
                      <a:r>
                        <a:rPr lang="en-US" sz="900" dirty="0" smtClean="0"/>
                        <a:t/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→ Cover RPM, torque, calibration stability, and long-run reliability</a:t>
                      </a:r>
                      <a:endParaRPr lang="en-US" sz="9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-108520" y="9253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</a:t>
            </a:r>
            <a:r>
              <a:rPr lang="en-US" altLang="ko-KR" sz="2100" b="1" dirty="0" smtClean="0">
                <a:latin typeface="+mn-ea"/>
                <a:ea typeface="+mn-ea"/>
              </a:rPr>
              <a:t> </a:t>
            </a:r>
            <a:r>
              <a:rPr lang="en-US" altLang="ko-KR" sz="2100" b="1" dirty="0" err="1" smtClean="0">
                <a:latin typeface="+mn-ea"/>
                <a:ea typeface="+mn-ea"/>
              </a:rPr>
              <a:t>Vignesh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383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26538</TotalTime>
  <Words>109</Words>
  <Application>Microsoft Office PowerPoint</Application>
  <PresentationFormat>On-screen Show (4:3)</PresentationFormat>
  <Paragraphs>40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굴림</vt:lpstr>
      <vt:lpstr>맑은 고딕</vt:lpstr>
      <vt:lpstr>Arial</vt:lpstr>
      <vt:lpstr>Lucida Sans Unicode</vt:lpstr>
      <vt:lpstr>Verdana</vt:lpstr>
      <vt:lpstr>Wingdings</vt:lpstr>
      <vt:lpstr>현대하모니 B</vt:lpstr>
      <vt:lpstr>제안서 템플릿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user</cp:lastModifiedBy>
  <cp:revision>6496</cp:revision>
  <dcterms:created xsi:type="dcterms:W3CDTF">2019-10-24T04:42:23Z</dcterms:created>
  <dcterms:modified xsi:type="dcterms:W3CDTF">2026-04-06T08:29:55Z</dcterms:modified>
  <cp:version/>
</cp:coreProperties>
</file>