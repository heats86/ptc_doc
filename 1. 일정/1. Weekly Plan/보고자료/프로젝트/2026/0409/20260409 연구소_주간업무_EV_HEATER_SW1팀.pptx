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21"/>
  </p:notesMasterIdLst>
  <p:handoutMasterIdLst>
    <p:handoutMasterId r:id="rId22"/>
  </p:handoutMasterIdLst>
  <p:sldIdLst>
    <p:sldId id="947" r:id="rId2"/>
    <p:sldId id="1137" r:id="rId3"/>
    <p:sldId id="1170" r:id="rId4"/>
    <p:sldId id="1152" r:id="rId5"/>
    <p:sldId id="1153" r:id="rId6"/>
    <p:sldId id="1163" r:id="rId7"/>
    <p:sldId id="1155" r:id="rId8"/>
    <p:sldId id="1156" r:id="rId9"/>
    <p:sldId id="1158" r:id="rId10"/>
    <p:sldId id="1159" r:id="rId11"/>
    <p:sldId id="1160" r:id="rId12"/>
    <p:sldId id="1161" r:id="rId13"/>
    <p:sldId id="1162" r:id="rId14"/>
    <p:sldId id="1172" r:id="rId15"/>
    <p:sldId id="1173" r:id="rId16"/>
    <p:sldId id="1165" r:id="rId17"/>
    <p:sldId id="1166" r:id="rId18"/>
    <p:sldId id="1167" r:id="rId19"/>
    <p:sldId id="1164" r:id="rId20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08D4B1F-D1D2-4892-AC90-0F1C73CC5FC5}">
          <p14:sldIdLst>
            <p14:sldId id="947"/>
          </p14:sldIdLst>
        </p14:section>
        <p14:section name="지시내용/의사결정/리스크/이슈현황" id="{5588297A-0314-480D-89DF-96CA41CC583D}">
          <p14:sldIdLst>
            <p14:sldId id="1137"/>
            <p14:sldId id="1170"/>
          </p14:sldIdLst>
        </p14:section>
        <p14:section name="Air PTC" id="{B956D88F-70E2-4349-B8DC-375A4283FAA0}">
          <p14:sldIdLst>
            <p14:sldId id="1152"/>
            <p14:sldId id="1153"/>
            <p14:sldId id="1163"/>
            <p14:sldId id="1155"/>
            <p14:sldId id="1156"/>
            <p14:sldId id="1158"/>
            <p14:sldId id="1159"/>
            <p14:sldId id="1160"/>
            <p14:sldId id="1161"/>
            <p14:sldId id="1162"/>
            <p14:sldId id="1172"/>
            <p14:sldId id="1173"/>
          </p14:sldIdLst>
        </p14:section>
        <p14:section name="모터" id="{05E9A145-F0BD-4F31-BAA2-C9351D4631C5}">
          <p14:sldIdLst>
            <p14:sldId id="1165"/>
            <p14:sldId id="1166"/>
            <p14:sldId id="1167"/>
          </p14:sldIdLst>
        </p14:section>
        <p14:section name="공유 및 공지내용" id="{7B3D5BD4-254A-43C9-9404-EC10D85B8375}">
          <p14:sldIdLst>
            <p14:sldId id="11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6378" autoAdjust="0"/>
  </p:normalViewPr>
  <p:slideViewPr>
    <p:cSldViewPr snapToObjects="1">
      <p:cViewPr varScale="1">
        <p:scale>
          <a:sx n="115" d="100"/>
          <a:sy n="115" d="100"/>
        </p:scale>
        <p:origin x="1530" y="10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609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368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435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64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350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164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865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362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306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324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993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7235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727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6963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564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4529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984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35696" y="2531570"/>
            <a:ext cx="7236296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EV Heater </a:t>
            </a:r>
            <a:r>
              <a:rPr lang="en-US" altLang="ko-KR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S/W 1</a:t>
            </a:r>
            <a:r>
              <a:rPr lang="ko-KR" altLang="en-US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팀 </a:t>
            </a:r>
            <a:r>
              <a:rPr kumimoji="1" lang="ko-KR" altLang="en-US" sz="2800" b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주간보고</a:t>
            </a:r>
            <a:r>
              <a:rPr kumimoji="1" lang="ko-KR" altLang="en-US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자료</a:t>
            </a:r>
            <a:endParaRPr kumimoji="1" lang="en-US" altLang="ko-KR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175710" y="6430690"/>
            <a:ext cx="914400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 Heater S/W 1</a:t>
            </a:r>
            <a:r>
              <a:rPr lang="ko-KR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팀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white">
          <a:xfrm>
            <a:off x="7524328" y="6555211"/>
            <a:ext cx="15476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2026.03.26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5696" y="5301208"/>
            <a:ext cx="5934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28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28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 </a:t>
            </a:r>
            <a:r>
              <a:rPr lang="en-US" altLang="ko-KR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”</a:t>
            </a:r>
            <a:endParaRPr lang="ko-KR" altLang="en-US" sz="28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11021" y="6061358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우리산업㈜ 기술연구소</a:t>
            </a:r>
          </a:p>
        </p:txBody>
      </p:sp>
    </p:spTree>
    <p:extLst>
      <p:ext uri="{BB962C8B-B14F-4D97-AF65-F5344CB8AC3E}">
        <p14:creationId xmlns:p14="http://schemas.microsoft.com/office/powerpoint/2010/main" val="245412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365952"/>
              </p:ext>
            </p:extLst>
          </p:nvPr>
        </p:nvGraphicFramePr>
        <p:xfrm>
          <a:off x="251520" y="980729"/>
          <a:ext cx="8676581" cy="5483306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11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076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5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BJ1 LP2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물량 사이버 보안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적용품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납품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(109EA)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[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협의 사항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LP2 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 적용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/ M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전량 적용 협의 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변경 통보 시 사이버 보안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LP2 5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 적용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/ M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전량 적용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기입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[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현상황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발생 사유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일렉스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생산 시 사이버 보안 적용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MCU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부품 개발팀 발주 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설계변경 통보 링크 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25457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EOL NG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고품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분석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승인도 기준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532V ±5V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으로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H/W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편차에 따른 간헐적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가성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불량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NG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[HV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기준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Standby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 정격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532V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진행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[NG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 사유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H/W LDO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편차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4.9V ~ 5.1V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MCU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인가되는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Vref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 기준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ADC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처리함에 따른 편차 발생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H/W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편차에 따라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Heater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동작 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HV Drop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NG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상위제어기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기준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4V)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 Standby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 정격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528V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측정 되는 시료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Heater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동작 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524V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Spec Out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현대차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Can HS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DBc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Factor 4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적용에 의한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 편차 발생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[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가성 불량 방지 위한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HW LDO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인식 전압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536V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튜닝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사원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908106"/>
                  </a:ext>
                </a:extLst>
              </a:tr>
              <a:tr h="3836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XV1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Kick-Off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4/9, 14:00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606126"/>
                  </a:ext>
                </a:extLst>
              </a:tr>
              <a:tr h="3836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SANDEN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컨퍼런스 콜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4/9, 10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조현진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전임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04376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– PTC Heater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166" y="2924944"/>
            <a:ext cx="2954236" cy="246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735625"/>
              </p:ext>
            </p:extLst>
          </p:nvPr>
        </p:nvGraphicFramePr>
        <p:xfrm>
          <a:off x="251520" y="980728"/>
          <a:ext cx="8676581" cy="4996018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83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JG1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&lt;-&gt;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최종 평가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4/7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한온시스템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본사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[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우리산업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]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팀 오세영 수석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이자효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책임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     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품질팀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이세혁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책임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PM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팀 김규섭 책임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      [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한온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]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품질팀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홍지훈 책임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       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설계 담당자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오상호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책임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이상근 전임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기본 기능 커버리지 검증 및 전압 변동 시험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결과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전압 변동 및 기능 커버리지 검증 문제 없음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양산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최종 검증 진행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(4/14)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자체 체크리스트 보완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전압별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기능 동작 확인 및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Side Effect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재 평가 이후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4/14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PostP2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업데이트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미적용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이자효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942919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MV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통합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드라이버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1. MV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통합드라이버 최종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S/W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파일 확인 완료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(4/9)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-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기존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S/W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형상관리가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되지 않아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최종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S/W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찾는데 많은 시간 소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요됨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-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서버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S/W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중 내용을 수정하여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일렉스에서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생산중인 최종 파일과 재 빌드한 파일의 일치 확인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328071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Motor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7" name="개체 6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56374"/>
              </p:ext>
            </p:extLst>
          </p:nvPr>
        </p:nvGraphicFramePr>
        <p:xfrm>
          <a:off x="5170864" y="242088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" name="프레젠테이션" showAsIcon="1" r:id="rId4" imgW="914400" imgH="771480" progId="PowerPoint.Show.12">
                  <p:embed/>
                </p:oleObj>
              </mc:Choice>
              <mc:Fallback>
                <p:oleObj name="프레젠테이션" showAsIcon="1" r:id="rId4" imgW="914400" imgH="771480" progId="PowerPoint.Show.12">
                  <p:embed/>
                  <p:pic>
                    <p:nvPicPr>
                      <p:cNvPr id="2" name="개체 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70864" y="242088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957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735478"/>
              </p:ext>
            </p:extLst>
          </p:nvPr>
        </p:nvGraphicFramePr>
        <p:xfrm>
          <a:off x="11059" y="536956"/>
          <a:ext cx="9097445" cy="577236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7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SVm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/ BJ LP2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물량 사이버 보안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적용품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납품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[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협의 사항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LP2 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 적용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/ M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전량 적용 협의 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변경 통보 시 사이버 보안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LP2 5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 적용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/ M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전량 적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용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기입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[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현상황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발생 사유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변경 통보 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명확하 했음에도 불구하고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일렉스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생산 시 사이버 보안 적용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MCU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[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납품수량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BJ1 : 109EA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SVM : 8,095EA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9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26.03.30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26.06.30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25.06.30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190" y="3345261"/>
            <a:ext cx="4253862" cy="183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148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373242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25.04.15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570214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24102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EOL NG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고품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분석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승인도 기준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532V ±5V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으로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H/W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편차에 따른 간헐적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가성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불량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NG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[HV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기준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Standby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 정격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532V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진행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[NG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 사유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H/W LDO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편차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4.9V ~ 5.1V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MCU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인가되는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Vref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 기준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ADC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처리함에 따른 편차 발생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H/W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편차에 따라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Heater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동작 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HV Drop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NG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상위제어기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기준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4V)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 Standby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 정격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528V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측정 되는 시료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Heater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동작 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524V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Spec Out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현대차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Can HS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DBc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Factor 4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적용에 의한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 편차 발생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[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가성 불량 방지 위한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HW LDO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인식 전압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536V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튜닝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795" y="665550"/>
            <a:ext cx="2787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25.08.15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26.09.01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T2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450943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26.12.15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27.04.15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6914051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SP#1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7" name="그룹 20"/>
          <p:cNvGrpSpPr>
            <a:grpSpLocks noChangeAspect="1"/>
          </p:cNvGrpSpPr>
          <p:nvPr/>
        </p:nvGrpSpPr>
        <p:grpSpPr bwMode="auto">
          <a:xfrm>
            <a:off x="7623287" y="555242"/>
            <a:ext cx="1030567" cy="503686"/>
            <a:chOff x="0" y="137478"/>
            <a:chExt cx="604837" cy="480818"/>
          </a:xfrm>
        </p:grpSpPr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27.03.15</a:t>
              </a:r>
            </a:p>
          </p:txBody>
        </p:sp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</a:t>
              </a:r>
            </a:p>
          </p:txBody>
        </p:sp>
      </p:grpSp>
      <p:sp>
        <p:nvSpPr>
          <p:cNvPr id="31" name="위쪽 화살표 30"/>
          <p:cNvSpPr>
            <a:spLocks noChangeArrowheads="1"/>
          </p:cNvSpPr>
          <p:nvPr/>
        </p:nvSpPr>
        <p:spPr bwMode="auto">
          <a:xfrm rot="10800000">
            <a:off x="8077937" y="725422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TextBox 3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538" y="2492896"/>
            <a:ext cx="2954236" cy="246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0813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69257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498338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303473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25.06.01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26.09.21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27.03.15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954439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7704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24.12.15</a:t>
              </a: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25.09.30</a:t>
              </a: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26.04.27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26.04.27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26.07.15</a:t>
              </a: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26.7.20</a:t>
              </a: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26.9.30</a:t>
              </a: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25.11.15</a:t>
              </a: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199735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55725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lt"/>
                        </a:rPr>
                        <a:t>1.</a:t>
                      </a:r>
                      <a:r>
                        <a:rPr lang="en-US" altLang="ko-KR" sz="1000" baseline="0" dirty="0" smtClean="0">
                          <a:latin typeface="+mn-lt"/>
                        </a:rPr>
                        <a:t>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진행</a:t>
                      </a:r>
                      <a:endParaRPr lang="en-US" altLang="ko-KR" sz="1000" i="1" dirty="0" smtClean="0"/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+mn-lt"/>
                        </a:rPr>
                        <a:t>  - </a:t>
                      </a:r>
                      <a:r>
                        <a:rPr lang="en-US" altLang="ko-KR" sz="1000" dirty="0" smtClean="0"/>
                        <a:t>PWM </a:t>
                      </a:r>
                      <a:r>
                        <a:rPr lang="ko-KR" altLang="en-US" sz="1000" dirty="0" err="1" smtClean="0"/>
                        <a:t>순차제어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Toggle Mode </a:t>
                      </a:r>
                      <a:r>
                        <a:rPr lang="ko-KR" altLang="en-US" sz="1000" dirty="0" smtClean="0"/>
                        <a:t>변경</a:t>
                      </a:r>
                      <a:r>
                        <a:rPr lang="en-US" altLang="ko-KR" sz="1000" dirty="0" smtClean="0"/>
                        <a:t/>
                      </a:r>
                      <a:br>
                        <a:rPr lang="en-US" altLang="ko-KR" sz="1000" dirty="0" smtClean="0"/>
                      </a:br>
                      <a:r>
                        <a:rPr lang="en-US" altLang="ko-KR" sz="1000" dirty="0" smtClean="0"/>
                        <a:t>     1) </a:t>
                      </a:r>
                      <a:r>
                        <a:rPr lang="ko-KR" altLang="en-US" sz="1000" dirty="0" smtClean="0"/>
                        <a:t>기존 </a:t>
                      </a:r>
                      <a:r>
                        <a:rPr lang="en-US" altLang="ko-KR" sz="1000" dirty="0" smtClean="0"/>
                        <a:t>PWM Mode 1/Mode 2 </a:t>
                      </a:r>
                      <a:r>
                        <a:rPr lang="en-US" altLang="ko-KR" sz="10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00" dirty="0" smtClean="0"/>
                        <a:t> Toggle Mode(0x30) + CC 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         ISR </a:t>
                      </a:r>
                      <a:r>
                        <a:rPr lang="ko-KR" altLang="en-US" sz="1000" dirty="0" smtClean="0"/>
                        <a:t>전환</a:t>
                      </a:r>
                      <a:endParaRPr lang="en-US" altLang="ko-KR" sz="1000" dirty="0" smtClean="0"/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     2) </a:t>
                      </a:r>
                      <a:r>
                        <a:rPr lang="ko-KR" altLang="en-US" sz="1000" dirty="0" smtClean="0"/>
                        <a:t>핀 상태 피드백</a:t>
                      </a:r>
                      <a:r>
                        <a:rPr lang="en-US" altLang="ko-KR" sz="1000" dirty="0" smtClean="0"/>
                        <a:t>(PC_IDR </a:t>
                      </a:r>
                      <a:r>
                        <a:rPr lang="ko-KR" altLang="en-US" sz="1000" dirty="0" smtClean="0"/>
                        <a:t>읽기</a:t>
                      </a:r>
                      <a:r>
                        <a:rPr lang="en-US" altLang="ko-KR" sz="1000" dirty="0" smtClean="0"/>
                        <a:t>) </a:t>
                      </a:r>
                      <a:r>
                        <a:rPr lang="ko-KR" altLang="en-US" sz="1000" dirty="0" smtClean="0"/>
                        <a:t>추가하여 정확한 </a:t>
                      </a:r>
                      <a:r>
                        <a:rPr lang="en-US" altLang="ko-KR" sz="1000" dirty="0" smtClean="0"/>
                        <a:t>duty </a:t>
                      </a:r>
                      <a:r>
                        <a:rPr lang="ko-KR" altLang="en-US" sz="1000" dirty="0" smtClean="0"/>
                        <a:t>제어</a:t>
                      </a:r>
                      <a:endParaRPr lang="en-US" altLang="ko-KR" sz="1000" dirty="0" smtClean="0"/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        </a:t>
                      </a:r>
                      <a:r>
                        <a:rPr lang="ko-KR" altLang="en-US" sz="1000" dirty="0" smtClean="0"/>
                        <a:t>구현</a:t>
                      </a:r>
                      <a:endParaRPr lang="en-US" altLang="ko-KR" sz="1000" dirty="0" smtClean="0"/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  </a:t>
                      </a:r>
                      <a:r>
                        <a:rPr lang="en-US" altLang="ko-KR" sz="1000" dirty="0" smtClean="0"/>
                        <a:t>-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dirty="0" smtClean="0"/>
                        <a:t>전류 센서 필터 강화</a:t>
                      </a:r>
                      <a:r>
                        <a:rPr lang="en-US" altLang="ko-KR" sz="1000" dirty="0" smtClean="0"/>
                        <a:t/>
                      </a:r>
                      <a:br>
                        <a:rPr lang="en-US" altLang="ko-KR" sz="1000" dirty="0" smtClean="0"/>
                      </a:br>
                      <a:r>
                        <a:rPr lang="en-US" altLang="ko-KR" sz="1000" dirty="0" smtClean="0"/>
                        <a:t>     1) </a:t>
                      </a:r>
                      <a:r>
                        <a:rPr lang="ko-KR" altLang="en-US" sz="1000" dirty="0" err="1" smtClean="0"/>
                        <a:t>이동평균</a:t>
                      </a:r>
                      <a:r>
                        <a:rPr lang="ko-KR" altLang="en-US" sz="1000" dirty="0" smtClean="0"/>
                        <a:t> 버퍼 </a:t>
                      </a:r>
                      <a:r>
                        <a:rPr lang="en-US" altLang="ko-KR" sz="1000" dirty="0" smtClean="0"/>
                        <a:t>32</a:t>
                      </a:r>
                      <a:r>
                        <a:rPr lang="en-US" altLang="ko-KR" sz="10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00" dirty="0" smtClean="0"/>
                        <a:t>100 samples</a:t>
                      </a:r>
                      <a:br>
                        <a:rPr lang="en-US" altLang="ko-KR" sz="1000" dirty="0" smtClean="0"/>
                      </a:br>
                      <a:r>
                        <a:rPr lang="en-US" altLang="ko-KR" sz="1000" dirty="0" smtClean="0"/>
                        <a:t>     2) </a:t>
                      </a:r>
                      <a:r>
                        <a:rPr lang="ko-KR" altLang="en-US" sz="1000" dirty="0" smtClean="0"/>
                        <a:t>전류 센서 정상 동작 확인 완료</a:t>
                      </a:r>
                      <a:endParaRPr lang="en-US" altLang="ko-KR" sz="1000" dirty="0" smtClean="0"/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baseline="0" dirty="0" smtClean="0"/>
                        <a:t> - H/W </a:t>
                      </a:r>
                      <a:r>
                        <a:rPr lang="ko-KR" altLang="en-US" sz="1000" baseline="0" dirty="0" smtClean="0"/>
                        <a:t>편차에 따른 </a:t>
                      </a:r>
                      <a:r>
                        <a:rPr lang="en-US" altLang="ko-KR" sz="1000" baseline="0" dirty="0" smtClean="0"/>
                        <a:t>ADC/LV/HV </a:t>
                      </a:r>
                      <a:r>
                        <a:rPr lang="ko-KR" altLang="en-US" sz="1000" baseline="0" dirty="0" smtClean="0"/>
                        <a:t>튜닝 </a:t>
                      </a:r>
                      <a:r>
                        <a:rPr lang="en-US" altLang="ko-KR" sz="1000" baseline="0" dirty="0" smtClean="0"/>
                        <a:t>(~4/15)</a:t>
                      </a:r>
                      <a:r>
                        <a:rPr lang="en-US" altLang="ko-KR" sz="1000" dirty="0" smtClean="0"/>
                        <a:t/>
                      </a:r>
                      <a:br>
                        <a:rPr lang="en-US" altLang="ko-KR" sz="1000" dirty="0" smtClean="0"/>
                      </a:br>
                      <a:endParaRPr lang="en-US" altLang="ko-KR" sz="10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dirty="0" smtClean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Y2V (Suzuki)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-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TextBox 28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30" name="개체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6512319"/>
              </p:ext>
            </p:extLst>
          </p:nvPr>
        </p:nvGraphicFramePr>
        <p:xfrm>
          <a:off x="1745696" y="1628800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5" name="개체 4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745696" y="1628800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247191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96401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000" b="1" i="0" u="none" strike="noStrike" kern="1200" cap="none" spc="0" normalizeH="0" baseline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kumimoji="0" lang="ko-KR" altLang="en-US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 전임</a:t>
            </a:r>
            <a:r>
              <a:rPr kumimoji="0" lang="en-US" altLang="ko-KR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103298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60372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자료 작성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Release Note,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제어사양서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로직점검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체크리스트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CAN DB,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바이너리 파일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영향성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평가서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R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 튜닝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(~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4/16)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SP1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대응에 따른 진행 계획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 생산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생산 진행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R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완료 이후 평택 입고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납품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계획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4/16)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튜닝값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이외 변경 사항 없음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25.10.15</a:t>
              </a: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26.5.11</a:t>
              </a: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26.09.21</a:t>
              </a: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26.12.1</a:t>
              </a: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26.3.31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  <p:sp>
        <p:nvSpPr>
          <p:cNvPr id="44" name="Rectangle 46"/>
          <p:cNvSpPr>
            <a:spLocks noChangeArrowheads="1"/>
          </p:cNvSpPr>
          <p:nvPr/>
        </p:nvSpPr>
        <p:spPr bwMode="auto">
          <a:xfrm>
            <a:off x="5351969" y="970381"/>
            <a:ext cx="100891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26.5.11</a:t>
            </a:r>
          </a:p>
        </p:txBody>
      </p:sp>
      <p:sp>
        <p:nvSpPr>
          <p:cNvPr id="46" name="Rectangle 46"/>
          <p:cNvSpPr>
            <a:spLocks noChangeArrowheads="1"/>
          </p:cNvSpPr>
          <p:nvPr/>
        </p:nvSpPr>
        <p:spPr bwMode="auto">
          <a:xfrm>
            <a:off x="6766636" y="970381"/>
            <a:ext cx="1045724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26.09.21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8221953" y="963155"/>
            <a:ext cx="1030567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26.12.1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769" y="1874741"/>
            <a:ext cx="4350026" cy="60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334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28520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CAN-FD Driver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 완료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H/W, 4/7)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Kick-Off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4/9, 14:00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XV1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463722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68047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NQ6e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26.7.1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26.12.25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27.10.31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pSp>
        <p:nvGrpSpPr>
          <p:cNvPr id="43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30548" y="536609"/>
            <a:ext cx="1030567" cy="528565"/>
            <a:chOff x="0" y="131540"/>
            <a:chExt cx="604837" cy="504569"/>
          </a:xfrm>
        </p:grpSpPr>
        <p:sp>
          <p:nvSpPr>
            <p:cNvPr id="44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1517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27.6.16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1540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7" name="위쪽 화살표 46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985051" y="715558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01841835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95365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컨퍼런스 콜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4/9, 10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SANDEN Air PTC 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946970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460660"/>
              </p:ext>
            </p:extLst>
          </p:nvPr>
        </p:nvGraphicFramePr>
        <p:xfrm>
          <a:off x="11059" y="548680"/>
          <a:ext cx="9097445" cy="520986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70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&lt;-&gt;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최종 평가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4/7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한온시스템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본사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[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우리산업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]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팀 오세영 수석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이자효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책임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     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품질팀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이세혁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책임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PM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팀 김규섭 책임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      [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한온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]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품질팀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홍지훈 책임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       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설계 담당자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오상호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책임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이상근 전임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기본 기능 커버리지 검증 및 전압 변동 시험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결과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전압 변동 및 기능 커버리지 검증 문제 없음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양산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최종 검증 진행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(4/14)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자체 체크리스트 보완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전압별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기능 동작 확인 및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Side Effect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재 평가 이후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4/14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PostP2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업데이트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미적용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548680"/>
            <a:ext cx="36654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JG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책임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0009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4644008" y="548680"/>
            <a:ext cx="1008918" cy="520355"/>
            <a:chOff x="0" y="134593"/>
            <a:chExt cx="604837" cy="496731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5364088" y="547221"/>
            <a:ext cx="1045724" cy="519163"/>
            <a:chOff x="0" y="135732"/>
            <a:chExt cx="604837" cy="495592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3.1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7941410" y="528347"/>
            <a:ext cx="1030567" cy="530581"/>
            <a:chOff x="0" y="111804"/>
            <a:chExt cx="604837" cy="506492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11804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07605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5827196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395913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8" name="그룹 16"/>
          <p:cNvGrpSpPr>
            <a:grpSpLocks noChangeAspect="1"/>
          </p:cNvGrpSpPr>
          <p:nvPr/>
        </p:nvGrpSpPr>
        <p:grpSpPr bwMode="auto">
          <a:xfrm>
            <a:off x="7452320" y="524823"/>
            <a:ext cx="1045724" cy="537093"/>
            <a:chOff x="0" y="118616"/>
            <a:chExt cx="604837" cy="512708"/>
          </a:xfrm>
        </p:grpSpPr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6297" y="118616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6" name="위쪽 화살표 45"/>
          <p:cNvSpPr>
            <a:spLocks noChangeArrowheads="1"/>
          </p:cNvSpPr>
          <p:nvPr/>
        </p:nvSpPr>
        <p:spPr bwMode="auto">
          <a:xfrm rot="10800000">
            <a:off x="7915428" y="71761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47" name="그룹 16"/>
          <p:cNvGrpSpPr>
            <a:grpSpLocks noChangeAspect="1"/>
          </p:cNvGrpSpPr>
          <p:nvPr/>
        </p:nvGrpSpPr>
        <p:grpSpPr bwMode="auto">
          <a:xfrm>
            <a:off x="6190572" y="541559"/>
            <a:ext cx="1045724" cy="519163"/>
            <a:chOff x="0" y="135732"/>
            <a:chExt cx="604837" cy="495592"/>
          </a:xfrm>
        </p:grpSpPr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4.30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Post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51" name="위쪽 화살표 50"/>
          <p:cNvSpPr>
            <a:spLocks noChangeArrowheads="1"/>
          </p:cNvSpPr>
          <p:nvPr/>
        </p:nvSpPr>
        <p:spPr bwMode="auto">
          <a:xfrm rot="10800000">
            <a:off x="6653680" y="716425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804248" y="533573"/>
            <a:ext cx="1045724" cy="519163"/>
            <a:chOff x="0" y="135732"/>
            <a:chExt cx="604837" cy="495592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Pre 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55" name="위쪽 화살표 54"/>
          <p:cNvSpPr>
            <a:spLocks noChangeArrowheads="1"/>
          </p:cNvSpPr>
          <p:nvPr/>
        </p:nvSpPr>
        <p:spPr bwMode="auto">
          <a:xfrm rot="10800000">
            <a:off x="7267356" y="70843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Box 5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2" name="개체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386955"/>
              </p:ext>
            </p:extLst>
          </p:nvPr>
        </p:nvGraphicFramePr>
        <p:xfrm>
          <a:off x="3923928" y="262818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프레젠테이션" showAsIcon="1" r:id="rId4" imgW="914400" imgH="771480" progId="PowerPoint.Show.12">
                  <p:embed/>
                </p:oleObj>
              </mc:Choice>
              <mc:Fallback>
                <p:oleObj name="프레젠테이션" showAsIcon="1" r:id="rId4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23928" y="2628184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997193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395976"/>
              </p:ext>
            </p:extLst>
          </p:nvPr>
        </p:nvGraphicFramePr>
        <p:xfrm>
          <a:off x="23277" y="568922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1.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출장 결과 보고서 결재 상신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(4/9)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2. S/W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모듈화 진행 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Fail-Safe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모듈화 구조 설계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(~4/11)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3. S/W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점검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(From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현대 열에너지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시스템팀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일자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4/21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실제 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S/W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가 요구사항에 맞도록 설계 되었는지 검증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.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dirty="0" smtClean="0"/>
                        <a:t>   </a:t>
                      </a:r>
                      <a:endParaRPr lang="en-US" altLang="ko-KR" sz="1000" b="0" baseline="0" dirty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4WayValve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김강일 사원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30067124-8453-5C6A-93B2-0084155B4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0775" y="890142"/>
            <a:ext cx="5659939" cy="22121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9pPr>
          </a:lstStyle>
          <a:p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805588E-37E0-DA9C-9E52-6EF1AD7529F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56238" y="568922"/>
            <a:ext cx="3187913" cy="537127"/>
            <a:chOff x="-1281992" y="105555"/>
            <a:chExt cx="1886829" cy="512741"/>
          </a:xfrm>
        </p:grpSpPr>
        <p:sp>
          <p:nvSpPr>
            <p:cNvPr id="24" name="위쪽 화살표 43">
              <a:extLst>
                <a:ext uri="{FF2B5EF4-FFF2-40B4-BE49-F238E27FC236}">
                  <a16:creationId xmlns:a16="http://schemas.microsoft.com/office/drawing/2014/main" id="{E0709667-4385-E76D-9399-32558DCAC5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25" name="Rectangle 46">
              <a:extLst>
                <a:ext uri="{FF2B5EF4-FFF2-40B4-BE49-F238E27FC236}">
                  <a16:creationId xmlns:a16="http://schemas.microsoft.com/office/drawing/2014/main" id="{C7EBFE63-D8F4-B105-5A57-623F85F0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6" name="Rectangle 46">
              <a:extLst>
                <a:ext uri="{FF2B5EF4-FFF2-40B4-BE49-F238E27FC236}">
                  <a16:creationId xmlns:a16="http://schemas.microsoft.com/office/drawing/2014/main" id="{56F80903-B688-9B8F-CD2A-3FA145339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SP#1/26.4.15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7" name="Rectangle 46">
              <a:extLst>
                <a:ext uri="{FF2B5EF4-FFF2-40B4-BE49-F238E27FC236}">
                  <a16:creationId xmlns:a16="http://schemas.microsoft.com/office/drawing/2014/main" id="{B6762560-C205-27BD-75DA-9C3AADCEA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81992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HKMC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0F4A86-8683-956B-19DD-FCF2D5434F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77919" y="922850"/>
            <a:ext cx="1201051" cy="505237"/>
            <a:chOff x="-106029" y="135997"/>
            <a:chExt cx="710866" cy="482299"/>
          </a:xfrm>
        </p:grpSpPr>
        <p:sp>
          <p:nvSpPr>
            <p:cNvPr id="21" name="위쪽 화살표 16">
              <a:extLst>
                <a:ext uri="{FF2B5EF4-FFF2-40B4-BE49-F238E27FC236}">
                  <a16:creationId xmlns:a16="http://schemas.microsoft.com/office/drawing/2014/main" id="{BE46A58D-A4FB-0A8B-1DE9-DB373B000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22" name="Rectangle 46">
              <a:extLst>
                <a:ext uri="{FF2B5EF4-FFF2-40B4-BE49-F238E27FC236}">
                  <a16:creationId xmlns:a16="http://schemas.microsoft.com/office/drawing/2014/main" id="{FEB624E9-40A7-DF0A-4C48-AF6444BE6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3" name="Rectangle 46">
              <a:extLst>
                <a:ext uri="{FF2B5EF4-FFF2-40B4-BE49-F238E27FC236}">
                  <a16:creationId xmlns:a16="http://schemas.microsoft.com/office/drawing/2014/main" id="{A777D1AD-0636-E4C5-BA30-133A00D46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LP#1/26.4.10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00DEF4-8788-57FF-DA2B-594C005446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96450" y="922850"/>
            <a:ext cx="2030699" cy="505237"/>
            <a:chOff x="-597073" y="135997"/>
            <a:chExt cx="1201910" cy="482299"/>
          </a:xfrm>
        </p:grpSpPr>
        <p:sp>
          <p:nvSpPr>
            <p:cNvPr id="17" name="위쪽 화살표 20">
              <a:extLst>
                <a:ext uri="{FF2B5EF4-FFF2-40B4-BE49-F238E27FC236}">
                  <a16:creationId xmlns:a16="http://schemas.microsoft.com/office/drawing/2014/main" id="{BDEA3A61-615E-7F7B-2003-F6DCF40C0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8" name="Rectangle 46">
              <a:extLst>
                <a:ext uri="{FF2B5EF4-FFF2-40B4-BE49-F238E27FC236}">
                  <a16:creationId xmlns:a16="http://schemas.microsoft.com/office/drawing/2014/main" id="{17C6086D-B563-6D54-C0D0-E3D777FFB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9" name="Rectangle 46">
              <a:extLst>
                <a:ext uri="{FF2B5EF4-FFF2-40B4-BE49-F238E27FC236}">
                  <a16:creationId xmlns:a16="http://schemas.microsoft.com/office/drawing/2014/main" id="{361C656E-746F-00CB-1497-7C289E593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SP#1/26.3.01</a:t>
              </a:r>
            </a:p>
          </p:txBody>
        </p:sp>
        <p:sp>
          <p:nvSpPr>
            <p:cNvPr id="20" name="Rectangle 46">
              <a:extLst>
                <a:ext uri="{FF2B5EF4-FFF2-40B4-BE49-F238E27FC236}">
                  <a16:creationId xmlns:a16="http://schemas.microsoft.com/office/drawing/2014/main" id="{DB98EFF7-86FD-6B88-B74F-7C09154D5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97073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ko-KR" altLang="en-US" sz="1000" dirty="0" err="1">
                  <a:latin typeface="+mn-ea"/>
                </a:rPr>
                <a:t>명화공업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0FB415B-A012-7F7B-8FDD-5D1E5CE2E5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64142" y="922850"/>
            <a:ext cx="1201051" cy="505237"/>
            <a:chOff x="-106029" y="135997"/>
            <a:chExt cx="710866" cy="482299"/>
          </a:xfrm>
        </p:grpSpPr>
        <p:sp>
          <p:nvSpPr>
            <p:cNvPr id="14" name="위쪽 화살표 24">
              <a:extLst>
                <a:ext uri="{FF2B5EF4-FFF2-40B4-BE49-F238E27FC236}">
                  <a16:creationId xmlns:a16="http://schemas.microsoft.com/office/drawing/2014/main" id="{496F9014-A832-7626-E95A-4B7FF4B8D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5" name="Rectangle 46">
              <a:extLst>
                <a:ext uri="{FF2B5EF4-FFF2-40B4-BE49-F238E27FC236}">
                  <a16:creationId xmlns:a16="http://schemas.microsoft.com/office/drawing/2014/main" id="{2A839B0E-1738-90BC-7A56-3F578FEEE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6" name="Rectangle 46">
              <a:extLst>
                <a:ext uri="{FF2B5EF4-FFF2-40B4-BE49-F238E27FC236}">
                  <a16:creationId xmlns:a16="http://schemas.microsoft.com/office/drawing/2014/main" id="{8154AC2C-6E7A-ED2F-3AC5-B3BE349FB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LP#2/26.6.20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80FD3B4-B1FA-26CD-0359-89AA4F8696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06955" y="568922"/>
            <a:ext cx="1021909" cy="537127"/>
            <a:chOff x="0" y="105555"/>
            <a:chExt cx="604837" cy="512741"/>
          </a:xfrm>
        </p:grpSpPr>
        <p:sp>
          <p:nvSpPr>
            <p:cNvPr id="9" name="위쪽 화살표 29">
              <a:extLst>
                <a:ext uri="{FF2B5EF4-FFF2-40B4-BE49-F238E27FC236}">
                  <a16:creationId xmlns:a16="http://schemas.microsoft.com/office/drawing/2014/main" id="{DD48BA24-C629-D4F8-CC84-F0BFDA6CEA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1" name="Rectangle 46">
              <a:extLst>
                <a:ext uri="{FF2B5EF4-FFF2-40B4-BE49-F238E27FC236}">
                  <a16:creationId xmlns:a16="http://schemas.microsoft.com/office/drawing/2014/main" id="{8C695C70-0F44-8284-77CD-DE7481205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3" name="Rectangle 46">
              <a:extLst>
                <a:ext uri="{FF2B5EF4-FFF2-40B4-BE49-F238E27FC236}">
                  <a16:creationId xmlns:a16="http://schemas.microsoft.com/office/drawing/2014/main" id="{B7F64395-E7FC-5293-E3BD-68B193395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LP#1/26.7.15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769622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028284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(4/10~4/16)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dirty="0"/>
                        <a:t>1. </a:t>
                      </a:r>
                      <a:r>
                        <a:rPr lang="ko-KR" altLang="en-US" sz="1000" baseline="0" dirty="0" smtClean="0"/>
                        <a:t>소음 감소 검토</a:t>
                      </a:r>
                      <a:endParaRPr lang="en-US" altLang="ko-KR" sz="1000" baseline="0" dirty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dirty="0"/>
                        <a:t>   : </a:t>
                      </a:r>
                      <a:r>
                        <a:rPr lang="en-US" altLang="ko-KR" sz="1000" baseline="0" dirty="0" smtClean="0"/>
                        <a:t>JG1</a:t>
                      </a:r>
                      <a:r>
                        <a:rPr lang="ko-KR" altLang="en-US" sz="1000" baseline="0" dirty="0" smtClean="0"/>
                        <a:t>대비 소음 개선 진행 중</a:t>
                      </a:r>
                      <a:endParaRPr lang="en-US" altLang="ko-KR" sz="1000" baseline="0" dirty="0" smtClean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dirty="0" smtClean="0"/>
                        <a:t>    </a:t>
                      </a:r>
                      <a:endParaRPr lang="en-US" altLang="ko-KR" sz="1000" baseline="0" dirty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ko-KR" sz="1000" baseline="0" dirty="0"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CI30 Stepper Act’r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Vignesh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전임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55902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/>
          </p:cNvSpPr>
          <p:nvPr/>
        </p:nvSpPr>
        <p:spPr bwMode="auto">
          <a:xfrm>
            <a:off x="176506" y="7775"/>
            <a:ext cx="6879981" cy="46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400" tIns="44200" rIns="88400" bIns="44200" anchor="ctr"/>
          <a:lstStyle/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EV Heater SW2</a:t>
            </a:r>
            <a:r>
              <a:rPr lang="ko-KR" altLang="en-US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팀 업무분장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353132"/>
              </p:ext>
            </p:extLst>
          </p:nvPr>
        </p:nvGraphicFramePr>
        <p:xfrm>
          <a:off x="3203848" y="790125"/>
          <a:ext cx="259228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오세영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팀장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팀 관리 업무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. Air PTC SW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 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Act’r/Valve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3285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320259"/>
              </p:ext>
            </p:extLst>
          </p:nvPr>
        </p:nvGraphicFramePr>
        <p:xfrm>
          <a:off x="1122973" y="3722451"/>
          <a:ext cx="1907290" cy="119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6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임제훈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216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SVm, BJ1, NX5e, HE1i,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 AY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SU2i, KY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44876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122973" y="2530955"/>
          <a:ext cx="1907290" cy="1126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5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조현진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전임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0622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SX3e, NEaW, MX5a, QV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MVa, Nea, Mea, Cva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541145"/>
              </p:ext>
            </p:extLst>
          </p:nvPr>
        </p:nvGraphicFramePr>
        <p:xfrm>
          <a:off x="5863244" y="3721993"/>
          <a:ext cx="1907290" cy="100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79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최은혁 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22984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Actuator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JG1, RS4PE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>
            <a:stCxn id="8" idx="0"/>
            <a:endCxn id="7" idx="2"/>
          </p:cNvCxnSpPr>
          <p:nvPr/>
        </p:nvCxnSpPr>
        <p:spPr bwMode="auto">
          <a:xfrm rot="5400000" flipH="1" flipV="1">
            <a:off x="4049548" y="2075948"/>
            <a:ext cx="900635" cy="524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꺾인 연결선 17"/>
          <p:cNvCxnSpPr>
            <a:stCxn id="14" idx="0"/>
            <a:endCxn id="7" idx="2"/>
          </p:cNvCxnSpPr>
          <p:nvPr/>
        </p:nvCxnSpPr>
        <p:spPr bwMode="auto">
          <a:xfrm rot="16200000" flipV="1">
            <a:off x="5272277" y="858464"/>
            <a:ext cx="888659" cy="242823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꺾인 연결선 18"/>
          <p:cNvCxnSpPr>
            <a:stCxn id="13" idx="0"/>
            <a:endCxn id="7" idx="2"/>
          </p:cNvCxnSpPr>
          <p:nvPr/>
        </p:nvCxnSpPr>
        <p:spPr bwMode="auto">
          <a:xfrm rot="5400000" flipH="1" flipV="1">
            <a:off x="2838201" y="866669"/>
            <a:ext cx="902704" cy="242587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518298"/>
              </p:ext>
            </p:extLst>
          </p:nvPr>
        </p:nvGraphicFramePr>
        <p:xfrm>
          <a:off x="5863244" y="4839008"/>
          <a:ext cx="1907290" cy="116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572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김강일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91205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- 4Way/6Way Valve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183099"/>
              </p:ext>
            </p:extLst>
          </p:nvPr>
        </p:nvGraphicFramePr>
        <p:xfrm>
          <a:off x="3558879" y="372245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김진겸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Air PTC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Motor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ES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30583" y="4980630"/>
            <a:ext cx="189968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PTC</a:t>
            </a:r>
            <a:endParaRPr lang="ko-KR" altLang="en-US" sz="1200"/>
          </a:p>
        </p:txBody>
      </p:sp>
      <p:sp>
        <p:nvSpPr>
          <p:cNvPr id="20" name="직사각형 19"/>
          <p:cNvSpPr/>
          <p:nvPr/>
        </p:nvSpPr>
        <p:spPr>
          <a:xfrm>
            <a:off x="5863244" y="6058276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Motor</a:t>
            </a:r>
            <a:endParaRPr lang="ko-KR" altLang="en-US" sz="1200"/>
          </a:p>
        </p:txBody>
      </p:sp>
      <p:sp>
        <p:nvSpPr>
          <p:cNvPr id="21" name="직사각형 20"/>
          <p:cNvSpPr/>
          <p:nvPr/>
        </p:nvSpPr>
        <p:spPr>
          <a:xfrm>
            <a:off x="3554859" y="4899174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공통업무</a:t>
            </a:r>
            <a:endParaRPr lang="en-US" altLang="ko-KR" sz="120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652669"/>
              </p:ext>
            </p:extLst>
          </p:nvPr>
        </p:nvGraphicFramePr>
        <p:xfrm>
          <a:off x="5868144" y="2521662"/>
          <a:ext cx="1907290" cy="1085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02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이자효 책임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306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CI30 Stepper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Act’r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2. BLDC Motor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3. Act’r/Valve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394486"/>
              </p:ext>
            </p:extLst>
          </p:nvPr>
        </p:nvGraphicFramePr>
        <p:xfrm>
          <a:off x="3558879" y="251691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VIGNESH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1. Motor Control Zig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2. S/W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정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동적 검증 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0506531"/>
      </p:ext>
    </p:extLst>
  </p:cSld>
  <p:clrMapOvr>
    <a:masterClrMapping/>
  </p:clrMapOvr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27781</TotalTime>
  <Words>2077</Words>
  <Application>Microsoft Office PowerPoint</Application>
  <PresentationFormat>화면 슬라이드 쇼(4:3)</PresentationFormat>
  <Paragraphs>597</Paragraphs>
  <Slides>19</Slides>
  <Notes>18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30" baseType="lpstr">
      <vt:lpstr>굴림</vt:lpstr>
      <vt:lpstr>맑은 고딕</vt:lpstr>
      <vt:lpstr>현대하모니 B</vt:lpstr>
      <vt:lpstr>현대하모니 M</vt:lpstr>
      <vt:lpstr>Arial</vt:lpstr>
      <vt:lpstr>Lucida Sans Unicode</vt:lpstr>
      <vt:lpstr>Verdana</vt:lpstr>
      <vt:lpstr>Wingdings</vt:lpstr>
      <vt:lpstr>제안서 템플릿</vt:lpstr>
      <vt:lpstr>프레젠테이션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6618</cp:revision>
  <dcterms:created xsi:type="dcterms:W3CDTF">2019-10-24T04:42:23Z</dcterms:created>
  <dcterms:modified xsi:type="dcterms:W3CDTF">2026-04-09T08:58:09Z</dcterms:modified>
  <cp:version/>
</cp:coreProperties>
</file>