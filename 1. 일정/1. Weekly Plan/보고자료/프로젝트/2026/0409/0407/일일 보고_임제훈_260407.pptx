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10"/>
  </p:notesMasterIdLst>
  <p:handoutMasterIdLst>
    <p:handoutMasterId r:id="rId11"/>
  </p:handoutMasterIdLst>
  <p:sldIdLst>
    <p:sldId id="1137" r:id="rId2"/>
    <p:sldId id="1138" r:id="rId3"/>
    <p:sldId id="1143" r:id="rId4"/>
    <p:sldId id="1144" r:id="rId5"/>
    <p:sldId id="1147" r:id="rId6"/>
    <p:sldId id="1145" r:id="rId7"/>
    <p:sldId id="1146" r:id="rId8"/>
    <p:sldId id="1141" r:id="rId9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66" autoAdjust="0"/>
    <p:restoredTop sz="96378" autoAdjust="0"/>
  </p:normalViewPr>
  <p:slideViewPr>
    <p:cSldViewPr snapToObjects="1">
      <p:cViewPr varScale="1">
        <p:scale>
          <a:sx n="114" d="100"/>
          <a:sy n="114" d="100"/>
        </p:scale>
        <p:origin x="1566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2026-04-07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3236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93047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088918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98623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33426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18809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8964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2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511384"/>
              </p:ext>
            </p:extLst>
          </p:nvPr>
        </p:nvGraphicFramePr>
        <p:xfrm>
          <a:off x="107504" y="620688"/>
          <a:ext cx="8928993" cy="5802510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53125"/>
                  </a:ext>
                </a:extLst>
              </a:tr>
              <a:tr h="103222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1072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T2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진행 샘플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5EA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대여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(4/8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수령 예정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MX5a T2 Event PCBA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 일정 파악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샘플 발주 현황 없음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현재 생산 일정 미정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김명규 선임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PCBA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국내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미국 운항 일정 고려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04/17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까지 튜닝 완료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설계 변경 진행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MX5a HV,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전류 튜닝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(4/8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 예정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정격 전압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+4V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인식될 수 있게 튜닝 포인트 체크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1EA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포인트 체크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HV Low, HV High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체크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문제 없을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전체 튜닝 진행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99260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미국 법인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요청 사항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MX5a PCB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단품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재고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41EA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처리 방안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T2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샘플 한국 발송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PCB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재고 동봉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PCB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수령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S/W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 LP2 Event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사용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미국 발송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위 내용으로 팀장님 검토 및 재가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미국 법인에 제안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미국 법인 양산 차종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Sub Software Version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MX5a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신규 사양으로 별도 관리 필요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현재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V01.00.01 (Sub : 01)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MVa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MEa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NEa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V01.13.01  (Sub : 01)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95494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고객사</a:t>
                      </a: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요청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MX5k/a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품질예방가이드 반영 업데이트 및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ISIR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업로드 요청 건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(04/07 15:00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내 회신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ko-KR" altLang="en-US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점검 결과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추가 요청 사항 없음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lang="en-US" altLang="ko-KR" sz="900" b="0" i="0" strike="sng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MX5(a) </a:t>
                      </a:r>
                      <a:r>
                        <a:rPr lang="ko-KR" altLang="en-US" sz="900" b="0" i="0" strike="sng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개조 </a:t>
                      </a:r>
                      <a:r>
                        <a:rPr lang="en-US" altLang="ko-KR" sz="900" b="0" i="0" strike="sng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XRT/XRTPRO </a:t>
                      </a:r>
                      <a:r>
                        <a:rPr lang="ko-KR" altLang="en-US" sz="900" b="0" i="0" strike="sng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변동부품</a:t>
                      </a:r>
                      <a:r>
                        <a:rPr lang="ko-KR" altLang="en-US" sz="900" b="0" i="0" strike="sng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 작성 </a:t>
                      </a:r>
                      <a:r>
                        <a:rPr lang="ko-KR" altLang="en-US" sz="900" b="0" i="0" strike="sng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요청건</a:t>
                      </a:r>
                      <a:r>
                        <a:rPr lang="ko-KR" altLang="en-US" sz="900" b="0" i="0" strike="sng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 </a:t>
                      </a:r>
                      <a:r>
                        <a:rPr lang="en-US" altLang="ko-KR" sz="900" b="0" i="0" strike="sng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(04/08 </a:t>
                      </a:r>
                      <a:r>
                        <a:rPr lang="ko-KR" altLang="en-US" sz="900" b="0" i="0" strike="sng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내 회신</a:t>
                      </a:r>
                      <a:r>
                        <a:rPr lang="en-US" altLang="ko-KR" sz="900" b="0" i="0" strike="sng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j-ea"/>
                          <a:cs typeface="+mn-cs"/>
                        </a:rPr>
                        <a:t>)</a:t>
                      </a:r>
                      <a:endParaRPr lang="ko-KR" altLang="en-US" sz="900" b="0" i="0" strike="sng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고객사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확인 결과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MX5a EREV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차량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XRT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해당 내용 아님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김민수 책임 확인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077203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8744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T2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Event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T2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 대응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미국 생산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국내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PCB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생산 일정 파악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2667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5078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673096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MX5a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07504" y="1510944"/>
            <a:ext cx="8883997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7914" y="1169965"/>
            <a:ext cx="576064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T2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1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8456" y="1808378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9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20017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성능 기준표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검토 및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유관 부서 공유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544" y="1818238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~4/8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40264" y="1177535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미국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샘플 생산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및 한국 발송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288" y="1795595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6/1~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2392" y="1177535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샘플 한국 도착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및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한국 대응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416" y="1795595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8/1~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760" y="119386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T2 Event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PCB 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생산 일정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파악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7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784" y="1811922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~4/8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8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7904" y="1193981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HV,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전류 튜닝 진행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23928" y="1808558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~4/17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0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55888" y="119543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SP1 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생산 샘플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5EA 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수령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1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239" y="1813498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4/8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25400" y="118575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설계 변경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5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0673" y="1800335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~4/17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40756049"/>
              </p:ext>
            </p:extLst>
          </p:nvPr>
        </p:nvGraphicFramePr>
        <p:xfrm>
          <a:off x="8372383" y="4725145"/>
          <a:ext cx="597399" cy="504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워크시트" showAsIcon="1" r:id="rId4" imgW="914400" imgH="771480" progId="Excel.Sheet.12">
                  <p:embed/>
                </p:oleObj>
              </mc:Choice>
              <mc:Fallback>
                <p:oleObj name="워크시트" showAsIcon="1" r:id="rId4" imgW="914400" imgH="77148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372383" y="4725145"/>
                        <a:ext cx="597399" cy="504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9818282"/>
              </p:ext>
            </p:extLst>
          </p:nvPr>
        </p:nvGraphicFramePr>
        <p:xfrm>
          <a:off x="107504" y="620688"/>
          <a:ext cx="8928993" cy="4377630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03222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NQ6e PHEV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시스템 영향으로 인한 증상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NX5e PHEV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와 동일 증상 가능성 있음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(Core Temp Over 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증상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Target Duty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있을 때만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리밋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제어 동작 코드 추가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NX5e PHEV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이슈 진행 상황 확인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NQ6e PHEV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담당자 협의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P1 Event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이원화 관련 유관 부서 협의 진행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이원화 될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NEa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공정처럼 관리 및 진행 필요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ID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추가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NX5e PHEV, NQ6e PHEV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차량 다름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변경 가능성 있음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HVAC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형상 변경 유무 확인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Proto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V01.01.02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유관 부서 담당자 확인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메일 발송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51042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NQ6e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24784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6296" y="1214018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P1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862" y="1852431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7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584" y="121059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이원화 관련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유관 부서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협의 메일 발송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4787" y="1852431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4/13~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5928" y="121401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P1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제품 수령 후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LV, HV,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전류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전력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튜닝 진행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6699" y="1855857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0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056" y="1229631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이원화 시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공정 관리용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추가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1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26827" y="1871470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39300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424653"/>
              </p:ext>
            </p:extLst>
          </p:nvPr>
        </p:nvGraphicFramePr>
        <p:xfrm>
          <a:off x="107504" y="620688"/>
          <a:ext cx="8928993" cy="5833938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 PHEV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시스템 영향으로 인한 증상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담당자 회의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정재근 책임 연구원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임제훈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사원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정재근 책임 연구원 부재중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오후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),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4/8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재통화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결과 회신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윤승구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Debug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적용된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writing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하면</a:t>
                      </a:r>
                      <a:r>
                        <a:rPr lang="en-US" altLang="ko-KR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Secure Debug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 정상 활성화 됨</a:t>
                      </a:r>
                      <a:r>
                        <a:rPr lang="ko-KR" altLang="en-US" sz="900" dirty="0" smtClean="0">
                          <a:latin typeface="+mn-lt"/>
                        </a:rPr>
                        <a:t/>
                      </a:r>
                      <a:br>
                        <a:rPr lang="ko-KR" altLang="en-US" sz="900" dirty="0" smtClean="0">
                          <a:latin typeface="+mn-lt"/>
                        </a:rPr>
                      </a:br>
                      <a:r>
                        <a:rPr lang="ko-KR" altLang="en-US" sz="900" dirty="0" smtClean="0">
                          <a:latin typeface="+mn-lt"/>
                        </a:rPr>
                        <a:t>  </a:t>
                      </a:r>
                      <a:r>
                        <a:rPr lang="en-US" altLang="ko-KR" sz="900" dirty="0" smtClean="0">
                          <a:latin typeface="+mn-lt"/>
                        </a:rPr>
                        <a:t>: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Secure Debug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활성화 이후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F1C0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응답이 해당 보안 상태에 맞게 유효하게 응답됨</a:t>
                      </a:r>
                      <a:r>
                        <a:rPr lang="ko-KR" altLang="en-US" sz="900" dirty="0" smtClean="0">
                          <a:latin typeface="+mn-lt"/>
                        </a:rPr>
                        <a:t/>
                      </a:r>
                      <a:br>
                        <a:rPr lang="ko-KR" altLang="en-US" sz="900" dirty="0" smtClean="0">
                          <a:latin typeface="+mn-lt"/>
                        </a:rPr>
                      </a:br>
                      <a:r>
                        <a:rPr lang="ko-KR" altLang="en-US" sz="900" dirty="0" smtClean="0">
                          <a:latin typeface="+mn-lt"/>
                        </a:rPr>
                        <a:t>  </a:t>
                      </a:r>
                      <a:r>
                        <a:rPr lang="en-US" altLang="ko-KR" sz="900" dirty="0" smtClean="0">
                          <a:latin typeface="+mn-lt"/>
                        </a:rPr>
                        <a:t>: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OTP Lock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적용 후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re-writing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 불가능함을 확인함</a:t>
                      </a:r>
                      <a:r>
                        <a:rPr lang="ko-KR" altLang="en-US" sz="900" dirty="0" smtClean="0">
                          <a:latin typeface="+mn-lt"/>
                        </a:rPr>
                        <a:t/>
                      </a:r>
                      <a:br>
                        <a:rPr lang="ko-KR" altLang="en-US" sz="900" dirty="0" smtClean="0">
                          <a:latin typeface="+mn-lt"/>
                        </a:rPr>
                      </a:br>
                      <a:r>
                        <a:rPr lang="ko-KR" altLang="en-US" sz="900" dirty="0" smtClean="0">
                          <a:latin typeface="+mn-lt"/>
                        </a:rPr>
                        <a:t>  </a:t>
                      </a:r>
                      <a:r>
                        <a:rPr lang="en-US" altLang="ko-KR" sz="900" dirty="0" smtClean="0">
                          <a:latin typeface="+mn-lt"/>
                        </a:rPr>
                        <a:t>: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따라서 양산 시 업데이트 불가 요구사항 측면에서도 적절하게 동작하는 것으로 판단됨</a:t>
                      </a:r>
                      <a:endParaRPr lang="en-US" altLang="ko-KR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추가 문의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윤승구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1)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양산 시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OTP Lock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도 함께 진행하는 것이 맞는지</a:t>
                      </a:r>
                      <a:endParaRPr lang="en-US" altLang="ko-KR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OTP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까지 같이 포함 되는 것이 맞습니다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     사이버 보안 적용 시점 </a:t>
                      </a:r>
                      <a:r>
                        <a:rPr lang="ko-KR" altLang="en-US" sz="9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부터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re-writing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 불가능 합니다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  <a:endParaRPr lang="ko-KR" altLang="en-US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2)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외부 통신 채널을 통한 업데이트 기능 존재 여부 확인 요청</a:t>
                      </a:r>
                      <a:endParaRPr lang="en-US" altLang="ko-KR" sz="900" b="0" i="0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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외부 통신 채널 및 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CAN / LIN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등을 이용한 업데이트 기능이 없는 것이 맞습니다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  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사이버 보안 적용 시점 부터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통신 업데이트가 불가능 합니다</a:t>
                      </a:r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r>
                        <a:rPr lang="en-US" altLang="ko-KR" sz="9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</a:t>
                      </a:r>
                      <a:r>
                        <a:rPr lang="en-US" altLang="ko-KR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위 내용으로 답변 예정</a:t>
                      </a:r>
                      <a:r>
                        <a:rPr lang="en-US" altLang="ko-KR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900" b="0" i="0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피드백 요청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현대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품질팀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정지훈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공조 정재근 책임과 사이버 보안 적용 시점 협의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9083084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NX5e PHEV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차량 시스템 영향으로 인한 증상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Core Temp Over 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증상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Heater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동작 없이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높은 온도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70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~ 100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℃ 수렴으로 인한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Fault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Target Duty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있을 때만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리밋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제어 동작 코드 추가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공조 담당자에게 빠른 답변 요구 필요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NX5e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80" y="1233894"/>
            <a:ext cx="720000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T2 Event</a:t>
            </a:r>
            <a:endParaRPr kumimoji="1" lang="en-US" altLang="ko-KR" sz="8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51950" y="1882800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6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15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결과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회신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536" y="188640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3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5616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Core </a:t>
            </a: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Temp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Over Fault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관련 회의 진행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55309" y="1886400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4/8~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79712" y="1243071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적용 시점 협의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9761" y="1884910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4/8~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43808" y="124434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HMMC </a:t>
            </a: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개발 회의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(CFT </a:t>
            </a: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전원 참석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6995" y="188640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4/9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36096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P2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제품 수령 후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LV, HV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전류</a:t>
            </a:r>
            <a:r>
              <a:rPr kumimoji="0" lang="en-US" altLang="ko-KR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 </a:t>
            </a: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전력</a:t>
            </a:r>
            <a:endParaRPr kumimoji="0" lang="en-US" altLang="ko-KR" sz="8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튜닝 진행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34496" y="1884060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2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72200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이원화 시</a:t>
            </a: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공정 관리용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추가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2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0421" y="1883839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3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44408" y="1245609"/>
            <a:ext cx="720000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LP2</a:t>
            </a:r>
            <a:endParaRPr kumimoji="1" lang="en-US" altLang="ko-KR" sz="8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3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16980" y="1884069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8304" y="1242000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 및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변경점 반영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설계 변경</a:t>
            </a:r>
            <a:endParaRPr kumimoji="0" lang="en-US" altLang="ko-KR" sz="8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3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2915" y="1883839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9/21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3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6303" y="1240663"/>
            <a:ext cx="720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ISIR</a:t>
            </a:r>
          </a:p>
        </p:txBody>
      </p:sp>
      <p:sp>
        <p:nvSpPr>
          <p:cNvPr id="3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9527" y="1882723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~6/9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9491" y="2869791"/>
            <a:ext cx="1666223" cy="95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109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9639462"/>
              </p:ext>
            </p:extLst>
          </p:nvPr>
        </p:nvGraphicFramePr>
        <p:xfrm>
          <a:off x="107504" y="620688"/>
          <a:ext cx="8928993" cy="5645342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147796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위클리 미팅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다음 주 회의 마지막으로 위클리 미팅 종료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SUZUKI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위클리 미팅으로 변경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066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S/W</a:t>
                      </a:r>
                      <a:r>
                        <a:rPr lang="en-US" altLang="ko-KR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R</a:t>
                      </a:r>
                      <a:r>
                        <a:rPr lang="ko-KR" altLang="en-US" sz="900" b="0" kern="1200" baseline="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로직</a:t>
                      </a:r>
                      <a:r>
                        <a:rPr lang="ko-KR" altLang="en-US" sz="900" b="0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튜닝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-40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튜닝 값 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온도 체크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신형 칼로리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-40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HE1i TC 180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스탠다드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377V,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입력 전압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377V 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항속형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정격 전압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기존 값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(200-200) –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213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216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250-250 –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205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207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300-300 –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197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199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스탠다드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377V,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입력 전압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271V 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기본형 정격 전압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기존 값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(200-200) –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215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217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250-250 –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207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208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300-300 –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Dr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201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Ps 202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℃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- 377V, 271V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별로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350-350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값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Cut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온도 체크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칼로리 사용 제한으로 익일 측정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CORE_R_CUT_HE1i_DR(PS)_PERCENT_OFFSET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값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QV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차이 나는 이유 분석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스케일 값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R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센싱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컨버전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비교 결과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특이 사항 없음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튜닝 값이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Thd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저항 값과 연관 있으니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관련 부분 비교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7678002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SP1 Event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SP1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(4/30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두원 납품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42671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HE1i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628800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8344" y="1318034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SP1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356" y="1956447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5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15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31460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R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로직 튜닝 </a:t>
            </a: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&amp;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설계 변경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2828" y="1956447"/>
            <a:ext cx="601447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~4/17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1316046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220EA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리라이팅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(</a:t>
            </a: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평택</a:t>
            </a: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)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7944" y="1957885"/>
            <a:ext cx="10198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lvl="0">
              <a:spcBef>
                <a:spcPct val="0"/>
              </a:spcBef>
              <a:buNone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4/27 ~ 4/28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318034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RHD 125EA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LHD 95EA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평택 입고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7744" y="1959873"/>
            <a:ext cx="1019831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4/27 ~ 4/28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4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68144" y="131937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RHD 120EA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LHD 70EA</a:t>
            </a:r>
            <a:endParaRPr kumimoji="0" lang="en-US" altLang="ko-KR" sz="1000" b="1" i="0" u="none" strike="noStrike" kern="0" cap="none" spc="0" normalizeH="0" baseline="0" noProof="1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두원 납품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0156" y="1961209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4/30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913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148057"/>
              </p:ext>
            </p:extLst>
          </p:nvPr>
        </p:nvGraphicFramePr>
        <p:xfrm>
          <a:off x="107504" y="620688"/>
          <a:ext cx="8928993" cy="3611116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147796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위클리 미팅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AY RHD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변경점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및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EO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컷 요청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인도 법인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P1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대비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변경점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(H/W, S/W,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기구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자료 취합 후 회신 요청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다음 주 회의 마지막으로 위클리 미팅 종료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SUZUKI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위클리 미팅으로 변경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406683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426710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AY RHD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628800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1318034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000" b="1" i="0" u="none" strike="noStrike" kern="0" cap="none" spc="0" normalizeH="0" baseline="0" noProof="1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LP2</a:t>
            </a:r>
            <a:endParaRPr kumimoji="1" lang="en-US" altLang="ko-KR" sz="1000" b="1" i="0" u="none" strike="noStrike" kern="0" cap="none" spc="0" normalizeH="0" baseline="0" noProof="1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6060" y="1956447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27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9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7976" y="1314608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P1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대비 변경점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자료 작성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93134" y="1956447"/>
            <a:ext cx="474810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</a:rPr>
              <a:t>TBD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89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007040"/>
              </p:ext>
            </p:extLst>
          </p:nvPr>
        </p:nvGraphicFramePr>
        <p:xfrm>
          <a:off x="107504" y="620688"/>
          <a:ext cx="8928993" cy="3647544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275795"/>
                  </a:ext>
                </a:extLst>
              </a:tr>
              <a:tr h="1032228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173037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869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err="1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고객사</a:t>
                      </a: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 대응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S/W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부분 작성 후 내부 메일 회신 완료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신지훈 전임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H/W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작성 후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김응영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연구원에게 회신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O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err="1" smtClean="0">
                <a:latin typeface="+mn-ea"/>
                <a:ea typeface="+mn-ea"/>
              </a:rPr>
              <a:t>SVm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24784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04048" y="1211843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M Event</a:t>
            </a:r>
          </a:p>
        </p:txBody>
      </p:sp>
      <p:sp>
        <p:nvSpPr>
          <p:cNvPr id="19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50661" y="1850256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5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30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3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84278" y="1868044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3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7936" y="1229631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>
              <a:spcAft>
                <a:spcPts val="0"/>
              </a:spcAft>
              <a:defRPr/>
            </a:pPr>
            <a:r>
              <a:rPr lang="en-US" altLang="ko-KR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SV </a:t>
            </a:r>
            <a:r>
              <a:rPr lang="ko-KR" altLang="en-US" sz="1000" kern="0" noProof="1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필드 </a:t>
            </a: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클레임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관련</a:t>
            </a:r>
            <a:endParaRPr lang="en-US" altLang="ko-KR" sz="1000" kern="0" noProof="1" smtClean="0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S/W </a:t>
            </a: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부분 작성 후</a:t>
            </a:r>
            <a:endParaRPr lang="en-US" altLang="ko-KR" sz="1000" kern="0" noProof="1" smtClean="0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>
              <a:spcAft>
                <a:spcPts val="0"/>
              </a:spcAft>
              <a:defRPr/>
            </a:pPr>
            <a:r>
              <a:rPr lang="ko-KR" altLang="en-US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회신 완료</a:t>
            </a:r>
            <a:endParaRPr lang="en-US" altLang="ko-KR" sz="1000" kern="0" noProof="1">
              <a:solidFill>
                <a:sysClr val="windowText" lastClr="000000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graphicFrame>
        <p:nvGraphicFramePr>
          <p:cNvPr id="3" name="개체 2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9854705"/>
              </p:ext>
            </p:extLst>
          </p:nvPr>
        </p:nvGraphicFramePr>
        <p:xfrm>
          <a:off x="8248617" y="2566716"/>
          <a:ext cx="781730" cy="659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3" name="프레젠테이션" showAsIcon="1" r:id="rId4" imgW="914400" imgH="771480" progId="PowerPoint.Show.12">
                  <p:embed/>
                </p:oleObj>
              </mc:Choice>
              <mc:Fallback>
                <p:oleObj name="프레젠테이션" showAsIcon="1" r:id="rId4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8248617" y="2566716"/>
                        <a:ext cx="781730" cy="659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59969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216611"/>
              </p:ext>
            </p:extLst>
          </p:nvPr>
        </p:nvGraphicFramePr>
        <p:xfrm>
          <a:off x="107504" y="620688"/>
          <a:ext cx="8928993" cy="5346572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08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 관련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LP2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관련 현대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품질팀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권혁규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매니저 문의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권혁규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매니저 담당에서 정지훈 매니저 담당으로 변경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2.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정지훈 매니저 문의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완성차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평가 때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권혁규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매니저에게 문의 했고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QV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동일하게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진행 요청 받았다고 설명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때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5EA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만 납품하는 이유가 무엇인지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?  QV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당시 협의를 통해 확정 되었음을 설명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QV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와 동일한 제품이고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QV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는 양산 진행 중인데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BJ1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때 전량이 아닌 이유가 무엇인지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?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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전량 진행 했을 경우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업데이트 불가 및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리워크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리스크 설명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권혁규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책임 참조해서 메일로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납품 수량 및 사이버 보안 이력 작성 요청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정지훈 매니저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3. BJ1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업데이트 테스트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1) E2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미적용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환경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미적용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적용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부트로더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회 업데이트 가능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이후 업데이트 불가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en-US" altLang="ko-KR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Seure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Debug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활성화 체크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0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으로 응답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2) E2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적용 환경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사이버 보안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미적용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S/W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라이팅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  :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부트로더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업데이트 진행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Out Of Range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로 업데이트 불가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4655897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사이버 보안 관련</a:t>
                      </a: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LP2 Event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전량 사이버 보안 적용 제품으로 납품된 것으로 파악됨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: LP2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납품 수량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109EA,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관련 내용 유관 부서 공유 예정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37481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en-US" altLang="ko-KR" sz="2100" b="1" dirty="0" smtClean="0">
                <a:latin typeface="+mn-ea"/>
                <a:ea typeface="+mn-ea"/>
              </a:rPr>
              <a:t>BJ1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1264244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LP2</a:t>
            </a:r>
          </a:p>
        </p:txBody>
      </p:sp>
      <p:sp>
        <p:nvSpPr>
          <p:cNvPr id="10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4637" y="1902657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4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15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1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19872" y="1271552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LP2 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납품 관련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현황 파악 및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유관 부서 </a:t>
            </a: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공유</a:t>
            </a:r>
            <a:endParaRPr kumimoji="0" lang="en-US" altLang="ko-KR" sz="1000" kern="0" noProof="1" smtClean="0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</p:txBody>
      </p:sp>
      <p:sp>
        <p:nvSpPr>
          <p:cNvPr id="12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3388" y="1894352"/>
            <a:ext cx="514885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~4/6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3" name="Text Box 185">
            <a:extLst>
              <a:ext uri="{FF2B5EF4-FFF2-40B4-BE49-F238E27FC236}">
                <a16:creationId xmlns:a16="http://schemas.microsoft.com/office/drawing/2014/main" id="{06A2D032-A3BC-040A-39BB-A634AB1EC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56176" y="1270029"/>
            <a:ext cx="1008112" cy="621531"/>
          </a:xfrm>
          <a:prstGeom prst="rect">
            <a:avLst/>
          </a:prstGeom>
          <a:gradFill rotWithShape="1">
            <a:gsLst>
              <a:gs pos="0">
                <a:srgbClr val="FFCC00"/>
              </a:gs>
              <a:gs pos="50000">
                <a:srgbClr val="FFFFFF"/>
              </a:gs>
              <a:gs pos="100000">
                <a:srgbClr val="FFCC00"/>
              </a:gs>
            </a:gsLst>
            <a:lin ang="5400000" scaled="1"/>
          </a:gra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lIns="0" tIns="0" rIns="0" bIns="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000" kern="0" noProof="1" smtClean="0">
                <a:solidFill>
                  <a:sysClr val="windowText" lastClr="000000"/>
                </a:solidFill>
                <a:latin typeface="현대하모니 L" pitchFamily="18" charset="-127"/>
                <a:ea typeface="현대하모니 L" pitchFamily="18" charset="-127"/>
              </a:rPr>
              <a:t>M</a:t>
            </a:r>
          </a:p>
        </p:txBody>
      </p:sp>
      <p:sp>
        <p:nvSpPr>
          <p:cNvPr id="14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55268" y="1908442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6</a:t>
            </a:r>
            <a:r>
              <a:rPr kumimoji="1" lang="ko-KR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/</a:t>
            </a:r>
            <a:r>
              <a:rPr kumimoji="1" lang="en-US" altLang="ko-KR" sz="1200" b="1" i="0" u="none" strike="noStrike" kern="1200" cap="none" spc="0" normalizeH="0" baseline="0" noProof="1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현대하모니 L" panose="02020603020101020101" pitchFamily="18" charset="-127"/>
                <a:ea typeface="현대하모니 L" panose="02020603020101020101" pitchFamily="18" charset="-127"/>
                <a:cs typeface="+mn-cs"/>
                <a:sym typeface="Wingdings" panose="05000000000000000000" pitchFamily="2" charset="2"/>
              </a:rPr>
              <a:t>1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  <p:sp>
        <p:nvSpPr>
          <p:cNvPr id="15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0135" y="126876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사이버 보안 관련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메일 회신</a:t>
            </a:r>
            <a:endParaRPr kumimoji="0" lang="en-US" altLang="ko-KR" sz="1000" kern="0" noProof="1">
              <a:solidFill>
                <a:prstClr val="black"/>
              </a:solidFill>
              <a:latin typeface="현대하모니 L" pitchFamily="18" charset="-127"/>
              <a:ea typeface="현대하모니 L" pitchFamily="18" charset="-127"/>
            </a:endParaRPr>
          </a:p>
          <a:p>
            <a:pPr lvl="0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(</a:t>
            </a:r>
            <a:r>
              <a:rPr kumimoji="0" lang="ko-KR" altLang="en-US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정지훈 매니저</a:t>
            </a:r>
            <a:r>
              <a:rPr kumimoji="0" lang="en-US" altLang="ko-KR" sz="1000" kern="0" noProof="1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)</a:t>
            </a:r>
          </a:p>
        </p:txBody>
      </p:sp>
      <p:sp>
        <p:nvSpPr>
          <p:cNvPr id="16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3651" y="1891560"/>
            <a:ext cx="423514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4/6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758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82489"/>
              </p:ext>
            </p:extLst>
          </p:nvPr>
        </p:nvGraphicFramePr>
        <p:xfrm>
          <a:off x="107504" y="620688"/>
          <a:ext cx="8928993" cy="3645788"/>
        </p:xfrm>
        <a:graphic>
          <a:graphicData uri="http://schemas.openxmlformats.org/drawingml/2006/table">
            <a:tbl>
              <a:tblPr/>
              <a:tblGrid>
                <a:gridCol w="625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8791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5357967">
                  <a:extLst>
                    <a:ext uri="{9D8B030D-6E8A-4147-A177-3AD203B41FA5}">
                      <a16:colId xmlns:a16="http://schemas.microsoft.com/office/drawing/2014/main" val="644301783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8570">
                  <a:extLst>
                    <a:ext uri="{9D8B030D-6E8A-4147-A177-3AD203B41FA5}">
                      <a16:colId xmlns:a16="http://schemas.microsoft.com/office/drawing/2014/main" val="167371388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smtClean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주요내용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완료 여부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맑은 고딕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rgbClr val="0000FF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075788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9186450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금일 수행 업무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kern="1200" dirty="0" smtClean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2008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문서 중앙화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연구소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문서중앙화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도입을 위한 기존 연구소 파일서버의 데이터 이전 회의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문서 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중앙화에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부서별 폴더 생성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정보팀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부서별 폴더에 데이터 이전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(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각 부서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  : 4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4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주차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~ 5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월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1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주차 서버 접속 가능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,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Wingdings" panose="05000000000000000000" pitchFamily="2" charset="2"/>
                        </a:rPr>
                        <a:t>이외 일정 접속 제한 예정</a:t>
                      </a: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  <a:sym typeface="Wingdings" panose="05000000000000000000" pitchFamily="2" charset="2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56625051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n-lt"/>
                          <a:ea typeface="맑은 고딕"/>
                          <a:cs typeface="+mn-cs"/>
                        </a:rPr>
                        <a:t>문서 중앙화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원격 제어 시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PC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사용 불가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6374815"/>
                  </a:ext>
                </a:extLst>
              </a:tr>
              <a:tr h="0"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n-lt"/>
                          <a:ea typeface="맑은 고딕"/>
                          <a:cs typeface="+mn-cs"/>
                        </a:rPr>
                        <a:t>익일 계획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1000" b="0" i="0" u="none" strike="noStrike" kern="1200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3481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맑은 고딕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0180489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n-ea"/>
                <a:ea typeface="+mn-ea"/>
              </a:rPr>
              <a:t>  </a:t>
            </a:r>
            <a:r>
              <a:rPr lang="ko-KR" altLang="en-US" sz="2100" b="1" dirty="0" smtClean="0">
                <a:latin typeface="+mn-ea"/>
                <a:ea typeface="+mn-ea"/>
              </a:rPr>
              <a:t>문서 중앙화</a:t>
            </a:r>
            <a:endParaRPr lang="ko-KR" altLang="en-US" sz="2100" b="1" dirty="0">
              <a:latin typeface="+mn-ea"/>
              <a:ea typeface="+mn-e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CA9A9AC-F9D9-3CBA-A872-D74F9CD3A92B}"/>
              </a:ext>
            </a:extLst>
          </p:cNvPr>
          <p:cNvCxnSpPr/>
          <p:nvPr/>
        </p:nvCxnSpPr>
        <p:spPr>
          <a:xfrm>
            <a:off x="179512" y="1582952"/>
            <a:ext cx="885698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Box 189">
            <a:extLst>
              <a:ext uri="{FF2B5EF4-FFF2-40B4-BE49-F238E27FC236}">
                <a16:creationId xmlns:a16="http://schemas.microsoft.com/office/drawing/2014/main" id="{1EEA1D54-ED25-71EF-4055-D0110823FF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8056" y="1268760"/>
            <a:ext cx="1008000" cy="622800"/>
          </a:xfrm>
          <a:prstGeom prst="rect">
            <a:avLst/>
          </a:prstGeom>
          <a:gradFill rotWithShape="1">
            <a:gsLst>
              <a:gs pos="0">
                <a:srgbClr val="FFFFFF"/>
              </a:gs>
              <a:gs pos="100000">
                <a:srgbClr val="99CCFF"/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000000"/>
            </a:solidFill>
            <a:miter lim="800000"/>
            <a:headEnd/>
            <a:tailEnd/>
          </a:ln>
          <a:effectLst/>
        </p:spPr>
        <p:txBody>
          <a:bodyPr wrap="none" lIns="90000" tIns="46800" rIns="90000" bIns="46800" anchor="ctr"/>
          <a:lstStyle>
            <a:defPPr>
              <a:defRPr lang="ko-KR"/>
            </a:defPPr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1pPr>
            <a:lvl2pPr marL="4572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2pPr>
            <a:lvl3pPr marL="9144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3pPr>
            <a:lvl4pPr marL="13716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4pPr>
            <a:lvl5pPr marL="1828800" algn="ctr" rtl="0" fontAlgn="base" latinLnBrk="1">
              <a:spcBef>
                <a:spcPct val="0"/>
              </a:spcBef>
              <a:spcAft>
                <a:spcPct val="0"/>
              </a:spcAft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b="1" kern="1200">
                <a:solidFill>
                  <a:schemeClr val="tx1"/>
                </a:solidFill>
                <a:latin typeface="Gulim" pitchFamily="50" charset="-127"/>
                <a:ea typeface="Gulim" pitchFamily="50" charset="-127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1" i="0" u="none" strike="noStrike" kern="0" cap="none" spc="0" normalizeH="0" baseline="0" noProof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현대하모니 L" pitchFamily="18" charset="-127"/>
                <a:ea typeface="현대하모니 L" pitchFamily="18" charset="-127"/>
                <a:cs typeface="+mn-cs"/>
              </a:rPr>
              <a:t>문서중앙화</a:t>
            </a:r>
            <a:endParaRPr kumimoji="0" lang="en-US" altLang="ko-KR" sz="1000" b="1" i="0" u="none" strike="noStrike" kern="0" cap="none" spc="0" normalizeH="0" baseline="0" noProof="1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kern="0" noProof="1" smtClean="0">
                <a:solidFill>
                  <a:prstClr val="black"/>
                </a:solidFill>
                <a:latin typeface="현대하모니 L" pitchFamily="18" charset="-127"/>
                <a:ea typeface="현대하모니 L" pitchFamily="18" charset="-127"/>
              </a:rPr>
              <a:t>데이터 이전 회의</a:t>
            </a:r>
            <a:endParaRPr kumimoji="0" lang="en-US" altLang="ko-KR" sz="1000" b="1" i="0" u="none" strike="noStrike" kern="0" cap="none" spc="0" normalizeH="0" baseline="0" noProof="1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현대하모니 L" pitchFamily="18" charset="-127"/>
              <a:ea typeface="현대하모니 L" pitchFamily="18" charset="-127"/>
              <a:cs typeface="+mn-cs"/>
            </a:endParaRPr>
          </a:p>
        </p:txBody>
      </p:sp>
      <p:sp>
        <p:nvSpPr>
          <p:cNvPr id="8" name="TextBox 69">
            <a:extLst>
              <a:ext uri="{FF2B5EF4-FFF2-40B4-BE49-F238E27FC236}">
                <a16:creationId xmlns:a16="http://schemas.microsoft.com/office/drawing/2014/main" id="{62C567A0-7A50-B02D-163E-38E19C1C61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1572" y="1891560"/>
            <a:ext cx="510076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latinLnBrk="1">
              <a:spcBef>
                <a:spcPct val="20000"/>
              </a:spcBef>
              <a:buChar char="•"/>
              <a:defRPr kumimoji="1" sz="32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1200" b="1" noProof="1" smtClean="0">
                <a:solidFill>
                  <a:srgbClr val="0000FF"/>
                </a:solidFill>
                <a:latin typeface="현대하모니 L" panose="02020603020101020101" pitchFamily="18" charset="-127"/>
                <a:ea typeface="현대하모니 L" panose="02020603020101020101" pitchFamily="18" charset="-127"/>
                <a:sym typeface="Wingdings" panose="05000000000000000000" pitchFamily="2" charset="2"/>
              </a:rPr>
              <a:t>3/26</a:t>
            </a:r>
            <a:endParaRPr kumimoji="1" lang="ko-KR" altLang="en-US" sz="1200" b="1" i="0" u="none" strike="noStrike" kern="1200" cap="none" spc="0" normalizeH="0" baseline="0" noProof="1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현대하모니 L" panose="02020603020101020101" pitchFamily="18" charset="-127"/>
              <a:ea typeface="현대하모니 L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1058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28448</TotalTime>
  <Words>1614</Words>
  <Application>Microsoft Office PowerPoint</Application>
  <PresentationFormat>화면 슬라이드 쇼(4:3)</PresentationFormat>
  <Paragraphs>337</Paragraphs>
  <Slides>8</Slides>
  <Notes>8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8</vt:i4>
      </vt:variant>
    </vt:vector>
  </HeadingPairs>
  <TitlesOfParts>
    <vt:vector size="19" baseType="lpstr">
      <vt:lpstr>굴림</vt:lpstr>
      <vt:lpstr>맑은 고딕</vt:lpstr>
      <vt:lpstr>현대하모니 B</vt:lpstr>
      <vt:lpstr>현대하모니 L</vt:lpstr>
      <vt:lpstr>Arial</vt:lpstr>
      <vt:lpstr>Lucida Sans Unicode</vt:lpstr>
      <vt:lpstr>Verdana</vt:lpstr>
      <vt:lpstr>Wingdings</vt:lpstr>
      <vt:lpstr>제안서 템플릿</vt:lpstr>
      <vt:lpstr>워크시트</vt:lpstr>
      <vt:lpstr>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6721</cp:revision>
  <dcterms:created xsi:type="dcterms:W3CDTF">2019-10-24T04:42:23Z</dcterms:created>
  <dcterms:modified xsi:type="dcterms:W3CDTF">2026-04-07T08:51:16Z</dcterms:modified>
  <cp:version/>
</cp:coreProperties>
</file>