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>
  <p:sldMasterIdLst>
    <p:sldMasterId id="2147483709" r:id="rId1"/>
  </p:sldMasterIdLst>
  <p:notesMasterIdLst>
    <p:notesMasterId r:id="rId3"/>
  </p:notesMasterIdLst>
  <p:handoutMasterIdLst>
    <p:handoutMasterId r:id="rId4"/>
  </p:handoutMasterIdLst>
  <p:sldIdLst>
    <p:sldId id="1137" r:id="rId2"/>
  </p:sldIdLst>
  <p:sldSz cx="9144000" cy="6858000" type="screen4x3"/>
  <p:notesSz cx="6802438" cy="9934575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/>
        <a:ea typeface="굴림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ser" initials="u" lastIdx="5" clrIdx="0">
    <p:extLst>
      <p:ext uri="{19B8F6BF-5375-455C-9EA6-DF929625EA0E}">
        <p15:presenceInfo xmlns:p15="http://schemas.microsoft.com/office/powerpoint/2012/main" userId="71ce5d532fb71a9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BFBFBF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76" autoAdjust="0"/>
    <p:restoredTop sz="96378" autoAdjust="0"/>
  </p:normalViewPr>
  <p:slideViewPr>
    <p:cSldViewPr snapToObjects="1">
      <p:cViewPr varScale="1">
        <p:scale>
          <a:sx n="114" d="100"/>
          <a:sy n="114" d="100"/>
        </p:scale>
        <p:origin x="1710" y="102"/>
      </p:cViewPr>
      <p:guideLst>
        <p:guide orient="horz" pos="2159"/>
        <p:guide pos="2879"/>
      </p:guideLst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40" d="100"/>
        <a:sy n="140" d="100"/>
      </p:scale>
      <p:origin x="0" y="-5916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4F0EACC-29E1-4123-AB74-F69792B7420C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C5AD38E4-52FB-405C-8E19-6A254CCE20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7988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2863" y="0"/>
            <a:ext cx="2947987" cy="498475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B67648E-ACAE-4A84-9CB2-88D8D686B020}" type="datetime1">
              <a:rPr lang="ko-KR" altLang="en-US"/>
              <a:pPr>
                <a:defRPr/>
              </a:pPr>
              <a:t>2026-03-24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1038" y="4781550"/>
            <a:ext cx="5441950" cy="39116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6100"/>
            <a:ext cx="2947988" cy="498475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2863" y="9436100"/>
            <a:ext cx="2947987" cy="498475"/>
          </a:xfrm>
          <a:prstGeom prst="rect">
            <a:avLst/>
          </a:prstGeom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>
            <a:lvl1pPr algn="r">
              <a:defRPr kumimoji="0" sz="1200">
                <a:latin typeface="맑은 고딕"/>
                <a:ea typeface="맑은 고딕"/>
              </a:defRPr>
            </a:lvl1pPr>
          </a:lstStyle>
          <a:p>
            <a:pPr lvl="0">
              <a:defRPr/>
            </a:pPr>
            <a:fld id="{29ED2F5D-67AF-441D-A814-CF7ACE32B267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 lvl="0">
              <a:defRPr/>
            </a:pPr>
            <a:fld id="{29ED2F5D-67AF-441D-A814-CF7ACE32B267}" type="slidenum">
              <a:rPr lang="en-US" altLang="en-US"/>
              <a:pPr lvl="0">
                <a:defRPr/>
              </a:pPr>
              <a:t>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2168539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6">
            <a:extLst>
              <a:ext uri="{FF2B5EF4-FFF2-40B4-BE49-F238E27FC236}">
                <a16:creationId xmlns:a16="http://schemas.microsoft.com/office/drawing/2014/main" id="{FAD228E9-8FB4-4FE0-8960-343D0C70C809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" name="Freeform 38">
            <a:extLst>
              <a:ext uri="{FF2B5EF4-FFF2-40B4-BE49-F238E27FC236}">
                <a16:creationId xmlns:a16="http://schemas.microsoft.com/office/drawing/2014/main" id="{FE218359-3438-4B51-8D6A-457052163E4C}"/>
              </a:ext>
            </a:extLst>
          </p:cNvPr>
          <p:cNvSpPr>
            <a:spLocks/>
          </p:cNvSpPr>
          <p:nvPr userDrawn="1"/>
        </p:nvSpPr>
        <p:spPr bwMode="gray">
          <a:xfrm>
            <a:off x="0" y="3284538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4" name="Freeform 44">
            <a:extLst>
              <a:ext uri="{FF2B5EF4-FFF2-40B4-BE49-F238E27FC236}">
                <a16:creationId xmlns:a16="http://schemas.microsoft.com/office/drawing/2014/main" id="{17CFAC85-6B30-4974-950D-358A0033D0C3}"/>
              </a:ext>
            </a:extLst>
          </p:cNvPr>
          <p:cNvSpPr>
            <a:spLocks/>
          </p:cNvSpPr>
          <p:nvPr userDrawn="1"/>
        </p:nvSpPr>
        <p:spPr bwMode="gray">
          <a:xfrm>
            <a:off x="1908175" y="2276475"/>
            <a:ext cx="7240588" cy="1008063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latinLnBrk="0">
              <a:defRPr/>
            </a:pPr>
            <a:endParaRPr kumimoji="0" lang="ko-KR" altLang="en-US" sz="1100" dirty="0">
              <a:solidFill>
                <a:srgbClr val="FFFFFF"/>
              </a:solidFill>
              <a:latin typeface="+mn-lt"/>
            </a:endParaRPr>
          </a:p>
        </p:txBody>
      </p:sp>
      <p:pic>
        <p:nvPicPr>
          <p:cNvPr id="5" name="Picture 46">
            <a:extLst>
              <a:ext uri="{FF2B5EF4-FFF2-40B4-BE49-F238E27FC236}">
                <a16:creationId xmlns:a16="http://schemas.microsoft.com/office/drawing/2014/main" id="{B53297AF-6519-407B-867F-AC4F2608A24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575" b="-2045"/>
          <a:stretch>
            <a:fillRect/>
          </a:stretch>
        </p:blipFill>
        <p:spPr bwMode="auto">
          <a:xfrm>
            <a:off x="252413" y="2655888"/>
            <a:ext cx="1498600" cy="528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9EED3C8E-3CDE-4D79-A4EB-DE256320E9E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2349500"/>
            <a:ext cx="1728787" cy="296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41543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25750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2604941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2858905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265785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08163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BE6FF5E-07DA-4B89-B715-6E19F831BEA3}"/>
              </a:ext>
            </a:extLst>
          </p:cNvPr>
          <p:cNvSpPr/>
          <p:nvPr userDrawn="1"/>
        </p:nvSpPr>
        <p:spPr>
          <a:xfrm>
            <a:off x="323850" y="6604000"/>
            <a:ext cx="6769100" cy="230188"/>
          </a:xfrm>
          <a:prstGeom prst="rect">
            <a:avLst/>
          </a:prstGeom>
        </p:spPr>
        <p:txBody>
          <a:bodyPr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en-US" sz="900" dirty="0">
                <a:solidFill>
                  <a:schemeClr val="bg1">
                    <a:lumMod val="65000"/>
                  </a:schemeClr>
                </a:solidFill>
                <a:latin typeface="Arial" charset="0"/>
                <a:ea typeface="+mn-ea"/>
                <a:cs typeface="Arial" charset="0"/>
              </a:rPr>
              <a:t>The information contained in this document may be privileged and confidential and thus protected from disclosure</a:t>
            </a:r>
            <a:endParaRPr kumimoji="0" lang="ko-KR" altLang="en-US" sz="900" dirty="0">
              <a:solidFill>
                <a:schemeClr val="bg1">
                  <a:lumMod val="65000"/>
                </a:schemeClr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2411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229523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414501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683178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39921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그림 1">
            <a:extLst>
              <a:ext uri="{FF2B5EF4-FFF2-40B4-BE49-F238E27FC236}">
                <a16:creationId xmlns:a16="http://schemas.microsoft.com/office/drawing/2014/main" id="{BB67A7F6-BFFB-4832-B11C-31A3C3558AE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75" t="20592" r="33426" b="72507"/>
          <a:stretch>
            <a:fillRect/>
          </a:stretch>
        </p:blipFill>
        <p:spPr bwMode="auto">
          <a:xfrm>
            <a:off x="7766050" y="6584950"/>
            <a:ext cx="1368425" cy="26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6">
            <a:extLst>
              <a:ext uri="{FF2B5EF4-FFF2-40B4-BE49-F238E27FC236}">
                <a16:creationId xmlns:a16="http://schemas.microsoft.com/office/drawing/2014/main" id="{04234A19-3EAB-4D32-A573-4A01376C44D8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0" y="481013"/>
            <a:ext cx="542925" cy="60325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dirty="0">
              <a:solidFill>
                <a:prstClr val="black"/>
              </a:solidFill>
              <a:latin typeface="Lucida Sans Unicode"/>
              <a:ea typeface="+mn-ea"/>
            </a:endParaRPr>
          </a:p>
        </p:txBody>
      </p:sp>
      <p:sp>
        <p:nvSpPr>
          <p:cNvPr id="8" name="Rectangle 36">
            <a:extLst>
              <a:ext uri="{FF2B5EF4-FFF2-40B4-BE49-F238E27FC236}">
                <a16:creationId xmlns:a16="http://schemas.microsoft.com/office/drawing/2014/main" id="{071F7991-6104-4317-9C80-4574C36DA0D5}"/>
              </a:ext>
            </a:extLst>
          </p:cNvPr>
          <p:cNvSpPr>
            <a:spLocks noChangeArrowheads="1"/>
          </p:cNvSpPr>
          <p:nvPr userDrawn="1"/>
        </p:nvSpPr>
        <p:spPr bwMode="white">
          <a:xfrm>
            <a:off x="628650" y="481013"/>
            <a:ext cx="8515350" cy="6032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latinLnBrk="0" hangingPunct="1"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9CF50959-B8E2-4238-A88F-6395F53E7E37}"/>
              </a:ext>
            </a:extLst>
          </p:cNvPr>
          <p:cNvSpPr/>
          <p:nvPr userDrawn="1"/>
        </p:nvSpPr>
        <p:spPr>
          <a:xfrm>
            <a:off x="9525" y="6516688"/>
            <a:ext cx="6769100" cy="374650"/>
          </a:xfrm>
          <a:prstGeom prst="rect">
            <a:avLst/>
          </a:prstGeom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eaLnBrk="1" hangingPunct="1">
              <a:lnSpc>
                <a:spcPts val="1100"/>
              </a:lnSpc>
            </a:pPr>
            <a:r>
              <a:rPr kumimoji="0" lang="ko-KR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kumimoji="0" lang="en-US" altLang="ko-KR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. </a:t>
            </a:r>
            <a:endParaRPr kumimoji="0" lang="en-US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  <a:p>
            <a:pPr eaLnBrk="1" hangingPunct="1">
              <a:lnSpc>
                <a:spcPts val="1100"/>
              </a:lnSpc>
            </a:pPr>
            <a:r>
              <a:rPr kumimoji="0" lang="en-US" altLang="en-US" sz="800">
                <a:solidFill>
                  <a:srgbClr val="D9D9D9"/>
                </a:solidFill>
                <a:latin typeface="Arial" panose="020B0604020202020204" pitchFamily="34" charset="0"/>
                <a:ea typeface="맑은 고딕" panose="020B0503020000020004" pitchFamily="50" charset="-127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kumimoji="0" lang="ko-KR" altLang="en-US" sz="800">
              <a:solidFill>
                <a:srgbClr val="D9D9D9"/>
              </a:solidFill>
              <a:latin typeface="Arial" panose="020B0604020202020204" pitchFamily="34" charset="0"/>
              <a:ea typeface="맑은 고딕" panose="020B0503020000020004" pitchFamily="50" charset="-127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8" r:id="rId7"/>
    <p:sldLayoutId id="2147483693" r:id="rId8"/>
    <p:sldLayoutId id="2147483694" r:id="rId9"/>
    <p:sldLayoutId id="2147483695" r:id="rId10"/>
    <p:sldLayoutId id="2147483696" r:id="rId11"/>
  </p:sldLayoutIdLst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맑은 고딕" pitchFamily="50" charset="-127"/>
          <a:ea typeface="맑은 고딕" pitchFamily="50" charset="-127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j-lt"/>
          <a:ea typeface="맑은 고딕" pitchFamily="50" charset="-127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  <a:ea typeface="맑은 고딕" pitchFamily="50" charset="-127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  <a:ea typeface="맑은 고딕" pitchFamily="50" charset="-127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  <a:ea typeface="맑은 고딕" pitchFamily="50" charset="-127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.xml"/><Relationship Id="rId7" Type="http://schemas.openxmlformats.org/officeDocument/2006/relationships/image" Target="../media/image5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4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w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01" name="Group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061778"/>
              </p:ext>
            </p:extLst>
          </p:nvPr>
        </p:nvGraphicFramePr>
        <p:xfrm>
          <a:off x="60663" y="620689"/>
          <a:ext cx="9047224" cy="6134100"/>
        </p:xfrm>
        <a:graphic>
          <a:graphicData uri="http://schemas.openxmlformats.org/drawingml/2006/table">
            <a:tbl>
              <a:tblPr/>
              <a:tblGrid>
                <a:gridCol w="3938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8728">
                  <a:extLst>
                    <a:ext uri="{9D8B030D-6E8A-4147-A177-3AD203B41FA5}">
                      <a16:colId xmlns:a16="http://schemas.microsoft.com/office/drawing/2014/main" val="3009445602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928379235"/>
                    </a:ext>
                  </a:extLst>
                </a:gridCol>
                <a:gridCol w="3385372">
                  <a:extLst>
                    <a:ext uri="{9D8B030D-6E8A-4147-A177-3AD203B41FA5}">
                      <a16:colId xmlns:a16="http://schemas.microsoft.com/office/drawing/2014/main" val="127737306"/>
                    </a:ext>
                  </a:extLst>
                </a:gridCol>
                <a:gridCol w="695564">
                  <a:extLst>
                    <a:ext uri="{9D8B030D-6E8A-4147-A177-3AD203B41FA5}">
                      <a16:colId xmlns:a16="http://schemas.microsoft.com/office/drawing/2014/main" val="3436073209"/>
                    </a:ext>
                  </a:extLst>
                </a:gridCol>
                <a:gridCol w="391332">
                  <a:extLst>
                    <a:ext uri="{9D8B030D-6E8A-4147-A177-3AD203B41FA5}">
                      <a16:colId xmlns:a16="http://schemas.microsoft.com/office/drawing/2014/main" val="3779175015"/>
                    </a:ext>
                  </a:extLst>
                </a:gridCol>
              </a:tblGrid>
              <a:tr h="144015"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항목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PJT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조치내용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5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10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800" b="0" kern="1200" dirty="0" smtClean="0">
                          <a:solidFill>
                            <a:schemeClr val="tx1"/>
                          </a:solidFill>
                          <a:latin typeface="+mj-lt"/>
                          <a:ea typeface="+mn-ea"/>
                          <a:cs typeface="+mn-cs"/>
                        </a:rPr>
                        <a:t>비고</a:t>
                      </a: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이벤트 일정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BFBFBF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0216462"/>
                  </a:ext>
                </a:extLst>
              </a:tr>
              <a:tr h="697840">
                <a:tc gridSpan="6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lang="en-US" altLang="ko-KR" sz="900" b="0" kern="1200" dirty="0">
                        <a:solidFill>
                          <a:schemeClr val="tx1"/>
                        </a:solidFill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521804"/>
                  </a:ext>
                </a:extLst>
              </a:tr>
              <a:tr h="255985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프로젝트</a:t>
                      </a:r>
                      <a:endParaRPr lang="ko-KR" altLang="en-US" sz="900" b="0" kern="1200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5871022"/>
                  </a:ext>
                </a:extLst>
              </a:tr>
              <a:tr h="17786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이전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2026-03-23】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LIN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TransmError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원인 분석 및 해결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Echo-driven TX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모델 적용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(TIEN/TCIEN →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단일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ISR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방식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ADC ISR-chained Scan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구현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(blocking while(EOC)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제거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IRQ22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활용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환경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TransmError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0%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tx_cnt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=177,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tx_ok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=177, err=0)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ADC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아키텍처 개선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(QV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프로젝트 비교 분석 기반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QV(RH850) HW scan group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패턴을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STM8 ISR chain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으로 재현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sensing_service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non-blocking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전환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hal_adc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래퍼 경유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 Legacy blocking read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는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init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-time calibration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전용으로 분리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데이터 구조 개선 설계 검토 완료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(~3/23)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struct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pipeline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 스케줄러 적용 확인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sys_sensing_t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sys_diag_t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sys_heater_t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모듈 내부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_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ctx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패턴 전환은 미착수 → 다음 작업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2026-03-24】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>
                          <a:schemeClr val="tx1"/>
                        </a:buClr>
                        <a:buSzPts val="1000"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12V </a:t>
                      </a:r>
                      <a:r>
                        <a:rPr lang="en-US" altLang="ko-KR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TransmError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원인 추적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계속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1) WWDG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비활성화 상태에서 재시험 → 여전히 주기적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mute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발생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2) MCU VDD brownout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가설 검증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pin44(PD3/TIM2_CC2)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를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VDD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로 오인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 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측정 오류 발견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3)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J4 pin4(5VCC), MCU pin7(VDD) </a:t>
                      </a:r>
                      <a:r>
                        <a:rPr lang="ko-KR" altLang="en-US" sz="900" b="0" i="0" u="none" strike="noStrike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정측정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안정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5V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확인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4) DCDC/LDO brownout 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가설 폐기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/>
                      </a:r>
                      <a:b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5) MMA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Board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동일 코드 린 정상동작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– </a:t>
                      </a:r>
                      <a:r>
                        <a:rPr lang="ko-KR" altLang="en-US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이슈 </a:t>
                      </a:r>
                      <a:r>
                        <a:rPr lang="en-US" altLang="ko-KR" sz="900" b="0" i="0" u="none" strike="noStrike" kern="1200" baseline="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CLOSE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en-US" altLang="ko-KR" sz="1600" dirty="0" smtClean="0">
                        <a:latin typeface="+mj-lt"/>
                      </a:endParaRPr>
                    </a:p>
                    <a:p>
                      <a:pPr latinLnBrk="1"/>
                      <a:endParaRPr lang="ko-KR" altLang="en-US" sz="16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439979"/>
                  </a:ext>
                </a:extLst>
              </a:tr>
              <a:tr h="15582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SX3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-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【</a:t>
                      </a:r>
                      <a:r>
                        <a:rPr lang="ko-KR" altLang="en-US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금일 수행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 </a:t>
                      </a:r>
                      <a:r>
                        <a:rPr lang="en-US" altLang="ko-KR" sz="900" b="0" i="0" u="none" strike="noStrike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2026-03-24】</a:t>
                      </a: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900" b="0" i="0" u="none" strike="noStrike" dirty="0" smtClean="0">
                          <a:effectLst/>
                          <a:latin typeface="+mj-lt"/>
                        </a:rPr>
                        <a:t>보드 입수 </a:t>
                      </a: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New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Architecture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이식 준비 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(~3/30)</a:t>
                      </a:r>
                    </a:p>
                    <a:p>
                      <a:pPr marL="171450" marR="0" indent="-17145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="0" i="0" u="none" strike="noStrike" dirty="0" smtClean="0">
                          <a:effectLst/>
                          <a:latin typeface="+mj-lt"/>
                        </a:rPr>
                        <a:t>QV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S/W writing </a:t>
                      </a:r>
                      <a:r>
                        <a:rPr lang="ko-KR" altLang="en-US" sz="900" b="0" i="0" u="none" strike="noStrike" baseline="0" dirty="0" smtClean="0">
                          <a:effectLst/>
                          <a:latin typeface="+mj-lt"/>
                        </a:rPr>
                        <a:t>후 기본 동작 검증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 (~</a:t>
                      </a:r>
                      <a:r>
                        <a:rPr lang="en-US" altLang="ko-KR" sz="900" b="0" i="0" u="none" strike="noStrike" baseline="0" dirty="0" smtClean="0">
                          <a:effectLst/>
                          <a:latin typeface="+mj-lt"/>
                        </a:rPr>
                        <a:t>3/24)</a:t>
                      </a:r>
                      <a:endParaRPr lang="en-US" altLang="ko-KR" sz="900" b="0" i="0" u="none" strike="noStrike" dirty="0">
                        <a:effectLst/>
                        <a:latin typeface="+mj-lt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4515112"/>
                  </a:ext>
                </a:extLst>
              </a:tr>
              <a:tr h="12096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effectLst/>
                        </a:rPr>
                        <a:t>-</a:t>
                      </a:r>
                      <a:endParaRPr lang="ko-KR" altLang="ko-KR" sz="900" dirty="0" smtClean="0">
                        <a:effectLst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24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0" i="0" u="none" strike="noStrike" kern="1200" dirty="0" smtClean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86360" marR="86360" marT="43307" marB="43307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240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60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9703407"/>
                  </a:ext>
                </a:extLst>
              </a:tr>
              <a:tr h="282970">
                <a:tc grid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0" kern="12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+mj-lt"/>
                          <a:ea typeface="맑은 고딕"/>
                          <a:cs typeface="+mn-cs"/>
                        </a:rPr>
                        <a:t>이슈 및 리스크 사항</a:t>
                      </a: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b="0" kern="1200" dirty="0">
                        <a:solidFill>
                          <a:schemeClr val="tx1"/>
                        </a:solidFill>
                        <a:latin typeface="+mn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9415221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XV1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목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or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금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PCB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) –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lt"/>
                          <a:ea typeface="+mn-ea"/>
                          <a:cs typeface="+mn-cs"/>
                        </a:rPr>
                        <a:t> writing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en-US" altLang="ko-KR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975098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2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900" dirty="0" smtClean="0">
                          <a:latin typeface="+mj-lt"/>
                        </a:rPr>
                        <a:t>SX3</a:t>
                      </a:r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+mj-lt"/>
                        </a:rPr>
                        <a:t>금 </a:t>
                      </a:r>
                      <a:r>
                        <a:rPr lang="en-US" altLang="ko-KR" sz="900" dirty="0" smtClean="0">
                          <a:latin typeface="+mj-lt"/>
                        </a:rPr>
                        <a:t>or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차주 </a:t>
                      </a:r>
                      <a:r>
                        <a:rPr lang="en-US" altLang="ko-KR" sz="900" baseline="0" dirty="0" smtClean="0">
                          <a:latin typeface="+mj-lt"/>
                        </a:rPr>
                        <a:t>PCB </a:t>
                      </a:r>
                      <a:r>
                        <a:rPr lang="ko-KR" altLang="en-US" sz="900" baseline="0" dirty="0" smtClean="0">
                          <a:latin typeface="+mj-lt"/>
                        </a:rPr>
                        <a:t>전달 예정 해당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PCB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 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SW writing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요청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(Peripheral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검증 用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 - QV Cyber Security </a:t>
                      </a:r>
                      <a:r>
                        <a:rPr kumimoji="1" lang="ko-KR" altLang="en-US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 적용</a:t>
                      </a:r>
                      <a:r>
                        <a:rPr kumimoji="1" lang="en-US" altLang="ko-KR" sz="9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writing</a:t>
                      </a: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rgbClr val="FF0000"/>
                        </a:buClr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2088093"/>
                  </a:ext>
                </a:extLst>
              </a:tr>
              <a:tr h="38907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3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kern="1200" dirty="0" smtClean="0">
                          <a:solidFill>
                            <a:schemeClr val="tx1"/>
                          </a:solidFill>
                          <a:latin typeface="+mj-lt"/>
                          <a:ea typeface="맑은 고딕"/>
                          <a:cs typeface="+mn-cs"/>
                        </a:rPr>
                        <a:t>Y2V</a:t>
                      </a:r>
                      <a:endParaRPr lang="ko-KR" altLang="en-US" sz="900" b="0" kern="1200" dirty="0">
                        <a:solidFill>
                          <a:schemeClr val="tx1"/>
                        </a:solidFill>
                        <a:latin typeface="+mj-lt"/>
                        <a:ea typeface="맑은 고딕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228600" marR="0" lvl="0" indent="-22860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1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1" lang="ko-KR" altLang="en-US" sz="900" b="0" i="0" u="none" strike="noStrike" kern="1200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+mn-cs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>
                        <a:latin typeface="+mj-lt"/>
                      </a:endParaRPr>
                    </a:p>
                  </a:txBody>
                  <a:tcPr marL="86400" marR="86400" marT="43277" marB="4327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9096545"/>
                  </a:ext>
                </a:extLst>
              </a:tr>
            </a:tbl>
          </a:graphicData>
        </a:graphic>
      </p:graphicFrame>
      <p:sp>
        <p:nvSpPr>
          <p:cNvPr id="4" name="Text Box 3"/>
          <p:cNvSpPr txBox="1">
            <a:spLocks noChangeArrowheads="1"/>
          </p:cNvSpPr>
          <p:nvPr/>
        </p:nvSpPr>
        <p:spPr>
          <a:xfrm>
            <a:off x="191" y="50111"/>
            <a:ext cx="5003857" cy="415498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anchor="ctr">
            <a:spAutoFit/>
          </a:bodyPr>
          <a:lstStyle>
            <a:lvl1pPr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1pPr>
            <a:lvl2pPr marL="742950" indent="-28575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2pPr>
            <a:lvl3pPr marL="11430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3pPr>
            <a:lvl4pPr marL="16002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4pPr>
            <a:lvl5pPr marL="2057400" indent="-228600" eaLnBrk="0" hangingPunct="0"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1400">
                <a:solidFill>
                  <a:schemeClr val="tx1"/>
                </a:solidFill>
                <a:latin typeface="Impact"/>
                <a:ea typeface="굴림"/>
              </a:defRPr>
            </a:lvl9pPr>
          </a:lstStyle>
          <a:p>
            <a:pPr eaLnBrk="1" hangingPunct="1">
              <a:spcBef>
                <a:spcPct val="50000"/>
              </a:spcBef>
              <a:spcAft>
                <a:spcPts val="0"/>
              </a:spcAft>
              <a:buFont typeface="Wingdings"/>
              <a:buChar char="v"/>
              <a:defRPr/>
            </a:pPr>
            <a:r>
              <a:rPr lang="en-US" altLang="ko-KR" sz="2100" b="1" dirty="0">
                <a:latin typeface="+mj-lt"/>
                <a:ea typeface="+mn-ea"/>
              </a:rPr>
              <a:t> </a:t>
            </a:r>
            <a:r>
              <a:rPr lang="ko-KR" altLang="en-US" sz="2100" b="1" dirty="0" err="1" smtClean="0">
                <a:latin typeface="+mj-lt"/>
                <a:ea typeface="+mn-ea"/>
              </a:rPr>
              <a:t>조현진</a:t>
            </a:r>
            <a:endParaRPr lang="ko-KR" altLang="en-US" sz="2100" b="1" dirty="0">
              <a:latin typeface="+mj-lt"/>
              <a:ea typeface="+mn-ea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4743123" y="14561"/>
            <a:ext cx="4392488" cy="448791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r>
              <a:rPr lang="en-US" altLang="ko-KR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생각을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바꾸고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002060"/>
                </a:solidFill>
                <a:latin typeface="+mj-lt"/>
              </a:rPr>
              <a:t>연구소를</a:t>
            </a:r>
            <a:r>
              <a:rPr lang="ko-KR" altLang="en-US" dirty="0" smtClean="0">
                <a:latin typeface="+mj-lt"/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  <a:latin typeface="+mj-lt"/>
              </a:rPr>
              <a:t>다시 만든다</a:t>
            </a:r>
            <a:r>
              <a:rPr lang="ko-KR" altLang="en-US" dirty="0" smtClean="0">
                <a:latin typeface="+mj-lt"/>
              </a:rPr>
              <a:t> </a:t>
            </a:r>
            <a:r>
              <a:rPr lang="en-US" altLang="ko-KR" dirty="0" smtClean="0">
                <a:solidFill>
                  <a:srgbClr val="002060"/>
                </a:solidFill>
                <a:latin typeface="+mj-lt"/>
              </a:rPr>
              <a:t>“</a:t>
            </a:r>
            <a:endParaRPr lang="ko-KR" altLang="en-US" dirty="0">
              <a:solidFill>
                <a:srgbClr val="002060"/>
              </a:solidFill>
              <a:latin typeface="+mj-lt"/>
            </a:endParaRPr>
          </a:p>
        </p:txBody>
      </p:sp>
      <p:graphicFrame>
        <p:nvGraphicFramePr>
          <p:cNvPr id="5" name="개체 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0604155"/>
              </p:ext>
            </p:extLst>
          </p:nvPr>
        </p:nvGraphicFramePr>
        <p:xfrm>
          <a:off x="8839157" y="2173543"/>
          <a:ext cx="180000" cy="180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8" name="워크시트" showAsIcon="1" r:id="rId4" imgW="380880" imgH="771480" progId="Excel.Sheet.12">
                  <p:embed/>
                </p:oleObj>
              </mc:Choice>
              <mc:Fallback>
                <p:oleObj name="워크시트" showAsIcon="1" r:id="rId4" imgW="380880" imgH="771480" progId="Excel.Sheet.12">
                  <p:embed/>
                  <p:pic>
                    <p:nvPicPr>
                      <p:cNvPr id="0" name=""/>
                      <p:cNvPicPr preferRelativeResize="0"/>
                      <p:nvPr/>
                    </p:nvPicPr>
                    <p:blipFill>
                      <a:blip r:embed="rId5">
                        <a:lum bright="-100000" contrast="-100000"/>
                      </a:blip>
                      <a:stretch>
                        <a:fillRect/>
                      </a:stretch>
                    </p:blipFill>
                    <p:spPr>
                      <a:xfrm>
                        <a:off x="8839157" y="2173543"/>
                        <a:ext cx="180000" cy="180000"/>
                      </a:xfrm>
                      <a:prstGeom prst="rect">
                        <a:avLst/>
                      </a:prstGeom>
                      <a:solidFill>
                        <a:schemeClr val="tx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그룹 2"/>
          <p:cNvGrpSpPr>
            <a:grpSpLocks/>
          </p:cNvGrpSpPr>
          <p:nvPr/>
        </p:nvGrpSpPr>
        <p:grpSpPr>
          <a:xfrm>
            <a:off x="60663" y="1152597"/>
            <a:ext cx="9047223" cy="720000"/>
            <a:chOff x="160617" y="1128968"/>
            <a:chExt cx="8761689" cy="694788"/>
          </a:xfrm>
        </p:grpSpPr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BCA9A9AC-F9D9-3CBA-A872-D74F9CD3A92B}"/>
                </a:ext>
              </a:extLst>
            </p:cNvPr>
            <p:cNvCxnSpPr/>
            <p:nvPr/>
          </p:nvCxnSpPr>
          <p:spPr>
            <a:xfrm>
              <a:off x="160617" y="1395267"/>
              <a:ext cx="8761689" cy="0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Text Box 185">
              <a:extLst>
                <a:ext uri="{FF2B5EF4-FFF2-40B4-BE49-F238E27FC236}">
                  <a16:creationId xmlns:a16="http://schemas.microsoft.com/office/drawing/2014/main" id="{06A2D032-A3BC-040A-39BB-A634AB1EC5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740352" y="1128968"/>
              <a:ext cx="1008112" cy="51366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lIns="0" tIns="0" rIns="0" bIns="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ko-KR" sz="800" b="1" i="0" u="none" strike="noStrike" kern="0" cap="none" spc="0" normalizeH="0" baseline="0" noProof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052253" y="1605939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3528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HW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팀 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SW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전달</a:t>
              </a: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/>
              </a:r>
              <a:b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en-US" altLang="ko-KR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: Peripheral </a:t>
              </a:r>
              <a:r>
                <a:rPr kumimoji="0" lang="ko-KR" altLang="en-US" sz="7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검증 用</a:t>
              </a:r>
              <a:endParaRPr kumimoji="0" lang="en-US" altLang="ko-KR" sz="7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1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67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~3/23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4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71912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6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월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15</a:t>
              </a: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일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DV</a:t>
              </a:r>
              <a:b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</a:br>
              <a:r>
                <a:rPr kumimoji="0" lang="ko-KR" altLang="en-US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대비 </a:t>
              </a:r>
              <a:r>
                <a:rPr kumimoji="0" lang="en-US" altLang="ko-KR" sz="800" b="1" i="0" u="none" strike="noStrike" kern="0" cap="none" spc="0" normalizeH="0" baseline="0" noProof="1" smtClean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j-lt"/>
                  <a:ea typeface="현대하모니 L" pitchFamily="18" charset="-127"/>
                  <a:cs typeface="+mn-cs"/>
                </a:rPr>
                <a:t>SW</a:t>
              </a: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5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4833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~6/12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6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5936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7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5317" y="160831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18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444208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19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59320" y="1605939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0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47776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lvl="0" fontAlgn="auto" latinLnBrk="0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5</a:t>
              </a: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월 초</a:t>
              </a:r>
              <a:r>
                <a:rPr kumimoji="0" lang="en-US" altLang="ko-KR" sz="800" kern="0" noProof="1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EMC</a:t>
              </a:r>
              <a:b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</a:br>
              <a:r>
                <a:rPr kumimoji="0" lang="ko-KR" altLang="en-US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대비</a:t>
              </a:r>
              <a:r>
                <a:rPr kumimoji="0" lang="en-US" altLang="ko-KR" sz="800" kern="0" noProof="1" smtClean="0">
                  <a:solidFill>
                    <a:prstClr val="black"/>
                  </a:solidFill>
                  <a:latin typeface="+mj-lt"/>
                  <a:ea typeface="현대하모니 L" pitchFamily="18" charset="-127"/>
                </a:rPr>
                <a:t> SW</a:t>
              </a:r>
              <a:endParaRPr kumimoji="0" lang="en-US" altLang="ko-KR" sz="800" kern="0" noProof="1">
                <a:solidFill>
                  <a:prstClr val="black"/>
                </a:solidFill>
                <a:latin typeface="+mj-lt"/>
                <a:ea typeface="현대하모니 L" pitchFamily="18" charset="-127"/>
              </a:endParaRPr>
            </a:p>
          </p:txBody>
        </p:sp>
        <p:sp>
          <p:nvSpPr>
            <p:cNvPr id="21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16481" y="1608312"/>
              <a:ext cx="481222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~4/27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  <p:sp>
          <p:nvSpPr>
            <p:cNvPr id="22" name="Text Box 189">
              <a:extLst>
                <a:ext uri="{FF2B5EF4-FFF2-40B4-BE49-F238E27FC236}">
                  <a16:creationId xmlns:a16="http://schemas.microsoft.com/office/drawing/2014/main" id="{1EEA1D54-ED25-71EF-4055-D0110823FF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20072" y="1128968"/>
              <a:ext cx="1008000" cy="514712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wrap="none" lIns="90000" tIns="46800" rIns="90000" bIns="46800" anchor="ctr"/>
            <a:lstStyle>
              <a:defPPr>
                <a:defRPr lang="ko-KR"/>
              </a:defPPr>
              <a:lvl1pPr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1pPr>
              <a:lvl2pPr marL="4572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2pPr>
              <a:lvl3pPr marL="9144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3pPr>
              <a:lvl4pPr marL="13716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4pPr>
              <a:lvl5pPr marL="1828800" algn="ctr" rtl="0" fontAlgn="base" latinLnBrk="1">
                <a:spcBef>
                  <a:spcPct val="0"/>
                </a:spcBef>
                <a:spcAft>
                  <a:spcPct val="0"/>
                </a:spcAft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5pPr>
              <a:lvl6pPr marL="22860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6pPr>
              <a:lvl7pPr marL="27432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7pPr>
              <a:lvl8pPr marL="32004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8pPr>
              <a:lvl9pPr marL="3657600" algn="l" defTabSz="914400" rtl="0" eaLnBrk="1" latinLnBrk="1" hangingPunct="1">
                <a:defRPr kumimoji="1" b="1" kern="1200">
                  <a:solidFill>
                    <a:schemeClr val="tx1"/>
                  </a:solidFill>
                  <a:latin typeface="Gulim" pitchFamily="50" charset="-127"/>
                  <a:ea typeface="Gulim" pitchFamily="50" charset="-127"/>
                  <a:cs typeface="+mn-cs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ko-KR" sz="800" b="1" i="0" u="none" strike="noStrike" kern="0" cap="none" spc="0" normalizeH="0" baseline="0" noProof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현대하모니 L" pitchFamily="18" charset="-127"/>
                <a:cs typeface="+mn-cs"/>
              </a:endParaRPr>
            </a:p>
          </p:txBody>
        </p:sp>
        <p:sp>
          <p:nvSpPr>
            <p:cNvPr id="23" name="TextBox 69">
              <a:extLst>
                <a:ext uri="{FF2B5EF4-FFF2-40B4-BE49-F238E27FC236}">
                  <a16:creationId xmlns:a16="http://schemas.microsoft.com/office/drawing/2014/main" id="{62C567A0-7A50-B02D-163E-38E19C1C61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528623" y="1608312"/>
              <a:ext cx="386644" cy="2154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latinLnBrk="1">
                <a:spcBef>
                  <a:spcPct val="20000"/>
                </a:spcBef>
                <a:buChar char="•"/>
                <a:defRPr kumimoji="1" sz="32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1pPr>
              <a:lvl2pPr marL="742950" indent="-285750" latinLnBrk="1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2pPr>
              <a:lvl3pPr marL="1143000" indent="-228600" latinLnBrk="1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3pPr>
              <a:lvl4pPr marL="1600200" indent="-228600" latinLnBrk="1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4pPr>
              <a:lvl5pPr marL="2057400" indent="-228600" latinLnBrk="1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굴림" panose="020B0600000101010101" pitchFamily="50" charset="-127"/>
                  <a:ea typeface="굴림" panose="020B0600000101010101" pitchFamily="50" charset="-127"/>
                </a:defRPr>
              </a:lvl9pPr>
            </a:lstStyle>
            <a:p>
              <a:pPr marL="0" marR="0" lvl="0" indent="0" algn="l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800" b="1" noProof="1" smtClean="0">
                  <a:solidFill>
                    <a:srgbClr val="0000FF"/>
                  </a:solidFill>
                  <a:latin typeface="+mj-lt"/>
                  <a:ea typeface="현대하모니 L" panose="02020603020101020101" pitchFamily="18" charset="-127"/>
                  <a:sym typeface="Wingdings" panose="05000000000000000000" pitchFamily="2" charset="2"/>
                </a:rPr>
                <a:t>TBD</a:t>
              </a:r>
              <a:endParaRPr kumimoji="1" lang="ko-KR" altLang="en-US" sz="800" b="1" i="0" u="none" strike="noStrike" kern="1200" cap="none" spc="0" normalizeH="0" baseline="0" noProof="1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j-lt"/>
                <a:ea typeface="현대하모니 L" panose="02020603020101020101" pitchFamily="18" charset="-127"/>
              </a:endParaRPr>
            </a:p>
          </p:txBody>
        </p:sp>
      </p:grpSp>
      <p:graphicFrame>
        <p:nvGraphicFramePr>
          <p:cNvPr id="26" name="개체 25">
            <a:hlinkClick r:id="" action="ppaction://ole?verb=0"/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96345322"/>
              </p:ext>
            </p:extLst>
          </p:nvPr>
        </p:nvGraphicFramePr>
        <p:xfrm>
          <a:off x="8615214" y="2467173"/>
          <a:ext cx="627886" cy="529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69" name="프레젠테이션" showAsIcon="1" r:id="rId6" imgW="914400" imgH="771480" progId="PowerPoint.Show.12">
                  <p:embed/>
                </p:oleObj>
              </mc:Choice>
              <mc:Fallback>
                <p:oleObj name="프레젠테이션" showAsIcon="1" r:id="rId6" imgW="914400" imgH="771480" progId="PowerPoint.Show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8615214" y="2467173"/>
                        <a:ext cx="627886" cy="5297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" name="개체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19873381"/>
              </p:ext>
            </p:extLst>
          </p:nvPr>
        </p:nvGraphicFramePr>
        <p:xfrm>
          <a:off x="8612589" y="2852936"/>
          <a:ext cx="631542" cy="5572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70" name="문서" showAsIcon="1" r:id="rId8" imgW="914400" imgH="816480" progId="Word.Document.12">
                  <p:embed/>
                </p:oleObj>
              </mc:Choice>
              <mc:Fallback>
                <p:oleObj name="문서" showAsIcon="1" r:id="rId8" imgW="914400" imgH="816480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8612589" y="2852936"/>
                        <a:ext cx="631542" cy="5572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71538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>
        <a:noFill/>
        <a:ln w="9525" cap="flat" cmpd="sng" algn="ctr">
          <a:noFill/>
          <a:prstDash val="solid"/>
          <a:round/>
          <a:headEnd w="med" len="med"/>
          <a:tailEnd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100" b="0" i="0" u="none" strike="noStrike" cap="none" normalizeH="0" baseline="0" smtClean="0">
            <a:solidFill>
              <a:schemeClr val="bg1"/>
            </a:solidFill>
            <a:effectLst/>
            <a:latin typeface="Verdana"/>
            <a:ea typeface="굴림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26603</TotalTime>
  <Words>156</Words>
  <Application>Microsoft Office PowerPoint</Application>
  <PresentationFormat>화면 슬라이드 쇼(4:3)</PresentationFormat>
  <Paragraphs>45</Paragraphs>
  <Slides>1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3</vt:i4>
      </vt:variant>
      <vt:variant>
        <vt:lpstr>슬라이드 제목</vt:lpstr>
      </vt:variant>
      <vt:variant>
        <vt:i4>1</vt:i4>
      </vt:variant>
    </vt:vector>
  </HeadingPairs>
  <TitlesOfParts>
    <vt:vector size="12" baseType="lpstr">
      <vt:lpstr>굴림</vt:lpstr>
      <vt:lpstr>맑은 고딕</vt:lpstr>
      <vt:lpstr>현대하모니 L</vt:lpstr>
      <vt:lpstr>Arial</vt:lpstr>
      <vt:lpstr>Lucida Sans Unicode</vt:lpstr>
      <vt:lpstr>Verdana</vt:lpstr>
      <vt:lpstr>Wingdings</vt:lpstr>
      <vt:lpstr>제안서 템플릿</vt:lpstr>
      <vt:lpstr>워크시트</vt:lpstr>
      <vt:lpstr>프레젠테이션</vt:lpstr>
      <vt:lpstr>문서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6498</cp:revision>
  <dcterms:created xsi:type="dcterms:W3CDTF">2019-10-24T04:42:23Z</dcterms:created>
  <dcterms:modified xsi:type="dcterms:W3CDTF">2026-03-24T09:14:45Z</dcterms:modified>
  <cp:version/>
</cp:coreProperties>
</file>