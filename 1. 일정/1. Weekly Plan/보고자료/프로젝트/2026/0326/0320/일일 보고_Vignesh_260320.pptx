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709" r:id="rId1"/>
  </p:sldMasterIdLst>
  <p:notesMasterIdLst>
    <p:notesMasterId r:id="rId4"/>
  </p:notesMasterIdLst>
  <p:handoutMasterIdLst>
    <p:handoutMasterId r:id="rId5"/>
  </p:handoutMasterIdLst>
  <p:sldIdLst>
    <p:sldId id="1137" r:id="rId2"/>
    <p:sldId id="1138" r:id="rId3"/>
  </p:sldIdLst>
  <p:sldSz cx="9144000" cy="6858000" type="screen4x3"/>
  <p:notesSz cx="6802438" cy="99345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71ce5d532fb71a9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66" autoAdjust="0"/>
    <p:restoredTop sz="96378" autoAdjust="0"/>
  </p:normalViewPr>
  <p:slideViewPr>
    <p:cSldViewPr snapToObjects="1">
      <p:cViewPr varScale="1">
        <p:scale>
          <a:sx n="150" d="100"/>
          <a:sy n="150" d="100"/>
        </p:scale>
        <p:origin x="60" y="138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4F0EACC-29E1-4123-AB74-F69792B7420C}" type="datetime1">
              <a:rPr lang="ko-KR" altLang="en-US"/>
              <a:pPr>
                <a:defRPr/>
              </a:pPr>
              <a:t>2026-03-20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C5AD38E4-52FB-405C-8E19-6A254CCE20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67648E-ACAE-4A84-9CB2-88D8D686B020}" type="datetime1">
              <a:rPr lang="ko-KR" altLang="en-US"/>
              <a:pPr>
                <a:defRPr/>
              </a:pPr>
              <a:t>2026-03-20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1550"/>
            <a:ext cx="5441950" cy="39116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29ED2F5D-67AF-441D-A814-CF7ACE32B2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16853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230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FAD228E9-8FB4-4FE0-8960-343D0C70C80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FE218359-3438-4B51-8D6A-457052163E4C}"/>
              </a:ext>
            </a:extLst>
          </p:cNvPr>
          <p:cNvSpPr>
            <a:spLocks/>
          </p:cNvSpPr>
          <p:nvPr userDrawn="1"/>
        </p:nvSpPr>
        <p:spPr bwMode="gray">
          <a:xfrm>
            <a:off x="0" y="3284538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17CFAC85-6B30-4974-950D-358A0033D0C3}"/>
              </a:ext>
            </a:extLst>
          </p:cNvPr>
          <p:cNvSpPr>
            <a:spLocks/>
          </p:cNvSpPr>
          <p:nvPr userDrawn="1"/>
        </p:nvSpPr>
        <p:spPr bwMode="gray">
          <a:xfrm>
            <a:off x="1908175" y="2276475"/>
            <a:ext cx="7240588" cy="1008063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B53297AF-6519-407B-867F-AC4F2608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5" b="-2045"/>
          <a:stretch>
            <a:fillRect/>
          </a:stretch>
        </p:blipFill>
        <p:spPr bwMode="auto">
          <a:xfrm>
            <a:off x="252413" y="2655888"/>
            <a:ext cx="14986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EED3C8E-3CDE-4D79-A4EB-DE256320E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49500"/>
            <a:ext cx="1728787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6049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858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657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3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E6FF5E-07DA-4B89-B715-6E19F831BEA3}"/>
              </a:ext>
            </a:extLst>
          </p:cNvPr>
          <p:cNvSpPr/>
          <p:nvPr userDrawn="1"/>
        </p:nvSpPr>
        <p:spPr>
          <a:xfrm>
            <a:off x="323850" y="6604000"/>
            <a:ext cx="6769100" cy="230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Arial" charset="0"/>
              </a:rPr>
              <a:t>The information contained in this document may be privileged and confidential and thus protected from disclosure</a:t>
            </a:r>
            <a:endParaRPr kumimoji="0" lang="ko-KR" altLang="en-US" sz="9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1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2952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4145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3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99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1">
            <a:extLst>
              <a:ext uri="{FF2B5EF4-FFF2-40B4-BE49-F238E27FC236}">
                <a16:creationId xmlns:a16="http://schemas.microsoft.com/office/drawing/2014/main" id="{BB67A7F6-BFFB-4832-B11C-31A3C3558A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5" t="20592" r="33426" b="72507"/>
          <a:stretch>
            <a:fillRect/>
          </a:stretch>
        </p:blipFill>
        <p:spPr bwMode="auto">
          <a:xfrm>
            <a:off x="7766050" y="6584950"/>
            <a:ext cx="1368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04234A19-3EAB-4D32-A573-4A01376C44D8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481013"/>
            <a:ext cx="542925" cy="603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black"/>
              </a:solidFill>
              <a:latin typeface="Lucida Sans Unicode"/>
              <a:ea typeface="+mn-ea"/>
            </a:endParaRP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071F7991-6104-4317-9C80-4574C36DA0D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628650" y="481013"/>
            <a:ext cx="8515350" cy="603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50959-B8E2-4238-A88F-6395F53E7E37}"/>
              </a:ext>
            </a:extLst>
          </p:cNvPr>
          <p:cNvSpPr/>
          <p:nvPr userDrawn="1"/>
        </p:nvSpPr>
        <p:spPr>
          <a:xfrm>
            <a:off x="9525" y="6516688"/>
            <a:ext cx="6769100" cy="374650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00"/>
              </a:lnSpc>
            </a:pPr>
            <a:r>
              <a:rPr kumimoji="0" lang="ko-KR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eaLnBrk="1" hangingPunct="1">
              <a:lnSpc>
                <a:spcPts val="1100"/>
              </a:lnSpc>
            </a:pPr>
            <a:r>
              <a:rPr kumimoji="0" lang="en-US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8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  <a:ea typeface="맑은 고딕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  <a:ea typeface="맑은 고딕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5763214"/>
              </p:ext>
            </p:extLst>
          </p:nvPr>
        </p:nvGraphicFramePr>
        <p:xfrm>
          <a:off x="228233" y="764704"/>
          <a:ext cx="8856985" cy="5242902"/>
        </p:xfrm>
        <a:graphic>
          <a:graphicData uri="http://schemas.openxmlformats.org/drawingml/2006/table">
            <a:tbl>
              <a:tblPr/>
              <a:tblGrid>
                <a:gridCol w="620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269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5314756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524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2453">
                  <a:extLst>
                    <a:ext uri="{9D8B030D-6E8A-4147-A177-3AD203B41FA5}">
                      <a16:colId xmlns:a16="http://schemas.microsoft.com/office/drawing/2014/main" val="1673713884"/>
                    </a:ext>
                  </a:extLst>
                </a:gridCol>
              </a:tblGrid>
              <a:tr h="182082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082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금일 수행 업무</a:t>
                      </a: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17523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CI30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dirty="0" smtClean="0"/>
                        <a:t>2P Calibration:</a:t>
                      </a:r>
                      <a:endParaRPr lang="en-US" sz="900" dirty="0" smtClean="0"/>
                    </a:p>
                    <a:p>
                      <a:r>
                        <a:rPr lang="en-US" sz="900" dirty="0" smtClean="0"/>
                        <a:t>Performed detailed analysis of motor driver (</a:t>
                      </a:r>
                      <a:r>
                        <a:rPr lang="en-US" sz="900" dirty="0" err="1" smtClean="0"/>
                        <a:t>motor_driver.c</a:t>
                      </a:r>
                      <a:r>
                        <a:rPr lang="en-US" sz="900" dirty="0" smtClean="0"/>
                        <a:t>) behavior.</a:t>
                      </a:r>
                    </a:p>
                    <a:p>
                      <a:r>
                        <a:rPr lang="en-US" sz="900" dirty="0" smtClean="0"/>
                        <a:t>Confirmed:</a:t>
                      </a:r>
                    </a:p>
                    <a:p>
                      <a:pPr lvl="1"/>
                      <a:r>
                        <a:rPr lang="en-US" sz="900" dirty="0" smtClean="0"/>
                        <a:t>Direction reversal is only applied during </a:t>
                      </a:r>
                      <a:r>
                        <a:rPr lang="en-US" sz="900" b="1" dirty="0" smtClean="0"/>
                        <a:t>HOLD → RUN transition</a:t>
                      </a:r>
                      <a:r>
                        <a:rPr lang="en-US" sz="900" dirty="0" smtClean="0"/>
                        <a:t>.</a:t>
                      </a:r>
                    </a:p>
                    <a:p>
                      <a:pPr lvl="1"/>
                      <a:r>
                        <a:rPr lang="en-US" sz="900" dirty="0" smtClean="0"/>
                        <a:t>Target updates during RUN do not ensure reversal.</a:t>
                      </a:r>
                    </a:p>
                    <a:p>
                      <a:r>
                        <a:rPr lang="en-US" sz="900" dirty="0" smtClean="0"/>
                        <a:t>Implemented controlled reversal logic using:</a:t>
                      </a:r>
                    </a:p>
                    <a:p>
                      <a:pPr lvl="1"/>
                      <a:r>
                        <a:rPr lang="en-US" sz="900" dirty="0" smtClean="0"/>
                        <a:t>Driver reset (OFF → ON)</a:t>
                      </a:r>
                    </a:p>
                    <a:p>
                      <a:pPr lvl="1"/>
                      <a:r>
                        <a:rPr lang="en-US" sz="900" dirty="0" smtClean="0"/>
                        <a:t>Explicit direction setting (CW / CCW)</a:t>
                      </a:r>
                    </a:p>
                    <a:p>
                      <a:r>
                        <a:rPr lang="en-US" sz="900" dirty="0" smtClean="0"/>
                        <a:t>Improved calibration sequence:</a:t>
                      </a:r>
                    </a:p>
                    <a:p>
                      <a:pPr lvl="1"/>
                      <a:r>
                        <a:rPr lang="en-US" sz="900" dirty="0" smtClean="0"/>
                        <a:t>Removed continuous target updates</a:t>
                      </a:r>
                    </a:p>
                    <a:p>
                      <a:pPr lvl="1"/>
                      <a:r>
                        <a:rPr lang="en-US" sz="900" dirty="0" smtClean="0"/>
                        <a:t>Added controlled state-based motion</a:t>
                      </a:r>
                    </a:p>
                    <a:p>
                      <a:pPr lvl="1"/>
                      <a:r>
                        <a:rPr lang="en-US" sz="900" dirty="0" smtClean="0"/>
                        <a:t>Integrated stall detection handling</a:t>
                      </a:r>
                    </a:p>
                    <a:p>
                      <a:r>
                        <a:rPr lang="en-US" sz="900" b="1" dirty="0" smtClean="0"/>
                        <a:t>Current Behavior (New Observation):</a:t>
                      </a:r>
                      <a:endParaRPr lang="en-US" sz="900" dirty="0" smtClean="0"/>
                    </a:p>
                    <a:p>
                      <a:r>
                        <a:rPr lang="en-US" sz="900" dirty="0" smtClean="0"/>
                        <a:t>After reaching second end (End B):</a:t>
                      </a:r>
                    </a:p>
                    <a:p>
                      <a:pPr lvl="1"/>
                      <a:r>
                        <a:rPr lang="en-US" sz="900" dirty="0" smtClean="0"/>
                        <a:t>Motor attempts reversal </a:t>
                      </a:r>
                      <a:r>
                        <a:rPr lang="en-US" sz="900" b="1" dirty="0" smtClean="0"/>
                        <a:t>multiple times (3–4 attempts)</a:t>
                      </a:r>
                      <a:r>
                        <a:rPr lang="en-US" sz="900" dirty="0" smtClean="0"/>
                        <a:t>.</a:t>
                      </a:r>
                    </a:p>
                    <a:p>
                      <a:pPr lvl="1"/>
                      <a:r>
                        <a:rPr lang="en-US" sz="900" dirty="0" smtClean="0"/>
                        <a:t>Moves back toward first end (End A).</a:t>
                      </a:r>
                    </a:p>
                    <a:p>
                      <a:pPr lvl="1"/>
                      <a:r>
                        <a:rPr lang="en-US" sz="900" dirty="0" smtClean="0"/>
                        <a:t>Then again reverses direction.</a:t>
                      </a:r>
                    </a:p>
                    <a:p>
                      <a:pPr lvl="1"/>
                      <a:r>
                        <a:rPr lang="en-US" sz="900" dirty="0" smtClean="0"/>
                        <a:t>This cycle </a:t>
                      </a:r>
                      <a:r>
                        <a:rPr lang="en-US" sz="900" b="1" dirty="0" smtClean="0"/>
                        <a:t>repeats continuously</a:t>
                      </a:r>
                      <a:r>
                        <a:rPr lang="en-US" sz="900" dirty="0" smtClean="0"/>
                        <a:t>.</a:t>
                      </a:r>
                    </a:p>
                    <a:p>
                      <a:pPr lvl="1"/>
                      <a:endParaRPr lang="en-US" sz="900" dirty="0" smtClean="0"/>
                    </a:p>
                    <a:p>
                      <a:endParaRPr lang="en-US" sz="1000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O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39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4515112"/>
                  </a:ext>
                </a:extLst>
              </a:tr>
              <a:tr h="182082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10900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CI30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Calibration not fully stable yet.</a:t>
                      </a:r>
                    </a:p>
                    <a:p>
                      <a:r>
                        <a:rPr lang="en-US" sz="900" dirty="0" smtClean="0"/>
                        <a:t>Motor reaches first end (End A) correctly.</a:t>
                      </a:r>
                    </a:p>
                    <a:p>
                      <a:r>
                        <a:rPr lang="en-US" sz="900" dirty="0" smtClean="0"/>
                        <a:t>Reverse movement:</a:t>
                      </a:r>
                    </a:p>
                    <a:p>
                      <a:r>
                        <a:rPr lang="en-IN" sz="900" dirty="0" smtClean="0"/>
                        <a:t>Infinite calibration</a:t>
                      </a:r>
                      <a:endParaRPr lang="en-US" sz="900" dirty="0" smtClean="0"/>
                    </a:p>
                    <a:p>
                      <a:r>
                        <a:rPr lang="en-US" sz="900" dirty="0" smtClean="0"/>
                        <a:t>Sometimes delayed or not initiated.</a:t>
                      </a:r>
                    </a:p>
                    <a:p>
                      <a:r>
                        <a:rPr lang="en-US" sz="900" dirty="0" smtClean="0"/>
                        <a:t>Occasionally depends on starting position.</a:t>
                      </a:r>
                    </a:p>
                    <a:p>
                      <a:r>
                        <a:rPr lang="en-US" sz="900" dirty="0" smtClean="0"/>
                        <a:t>Observed oscillation near end regions in some cases.</a:t>
                      </a:r>
                    </a:p>
                    <a:p>
                      <a:endParaRPr lang="en-US" sz="900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096545"/>
                  </a:ext>
                </a:extLst>
              </a:tr>
              <a:tr h="182082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익일 계획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481213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-108520" y="9253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</a:t>
            </a:r>
            <a:r>
              <a:rPr lang="en-US" altLang="ko-KR" sz="2100" b="1" dirty="0" smtClean="0">
                <a:latin typeface="+mn-ea"/>
                <a:ea typeface="+mn-ea"/>
              </a:rPr>
              <a:t> </a:t>
            </a:r>
            <a:r>
              <a:rPr lang="en-US" altLang="ko-KR" sz="2100" b="1" dirty="0" err="1" smtClean="0">
                <a:latin typeface="+mn-ea"/>
                <a:ea typeface="+mn-ea"/>
              </a:rPr>
              <a:t>Vignesh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71538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1220462"/>
              </p:ext>
            </p:extLst>
          </p:nvPr>
        </p:nvGraphicFramePr>
        <p:xfrm>
          <a:off x="228233" y="764705"/>
          <a:ext cx="8856985" cy="6956368"/>
        </p:xfrm>
        <a:graphic>
          <a:graphicData uri="http://schemas.openxmlformats.org/drawingml/2006/table">
            <a:tbl>
              <a:tblPr/>
              <a:tblGrid>
                <a:gridCol w="620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269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5314756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524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2453">
                  <a:extLst>
                    <a:ext uri="{9D8B030D-6E8A-4147-A177-3AD203B41FA5}">
                      <a16:colId xmlns:a16="http://schemas.microsoft.com/office/drawing/2014/main" val="1673713884"/>
                    </a:ext>
                  </a:extLst>
                </a:gridCol>
              </a:tblGrid>
              <a:tr h="213968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266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익일 계획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2278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CI30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Stabilize reversal logic completely:</a:t>
                      </a:r>
                    </a:p>
                    <a:p>
                      <a:r>
                        <a:rPr lang="en-US" sz="900" dirty="0" smtClean="0"/>
                        <a:t>Enforce </a:t>
                      </a:r>
                      <a:r>
                        <a:rPr lang="en-US" sz="900" b="1" dirty="0" smtClean="0"/>
                        <a:t>HOLD → direction set → RUN sequence</a:t>
                      </a:r>
                      <a:endParaRPr lang="en-US" sz="900" dirty="0" smtClean="0"/>
                    </a:p>
                    <a:p>
                      <a:r>
                        <a:rPr lang="en-US" sz="900" dirty="0" smtClean="0"/>
                        <a:t>Ensure motor exits stopper region before reverse detection</a:t>
                      </a:r>
                    </a:p>
                    <a:p>
                      <a:r>
                        <a:rPr lang="en-US" sz="900" dirty="0" smtClean="0"/>
                        <a:t>Validate full calibration sequence:</a:t>
                      </a:r>
                    </a:p>
                    <a:p>
                      <a:r>
                        <a:rPr lang="en-US" sz="900" dirty="0" smtClean="0"/>
                        <a:t>Move to End A (stall)</a:t>
                      </a:r>
                    </a:p>
                    <a:p>
                      <a:r>
                        <a:rPr lang="en-US" sz="900" dirty="0" smtClean="0"/>
                        <a:t>Clear stall + enter HOLD</a:t>
                      </a:r>
                    </a:p>
                    <a:p>
                      <a:r>
                        <a:rPr lang="en-US" sz="900" dirty="0" smtClean="0"/>
                        <a:t>Reverse direction</a:t>
                      </a:r>
                    </a:p>
                    <a:p>
                      <a:r>
                        <a:rPr lang="en-US" sz="900" dirty="0" smtClean="0"/>
                        <a:t>Move to End B</a:t>
                      </a:r>
                    </a:p>
                    <a:p>
                      <a:r>
                        <a:rPr lang="en-US" sz="900" dirty="0" smtClean="0"/>
                        <a:t>Capture full span</a:t>
                      </a:r>
                    </a:p>
                    <a:p>
                      <a:r>
                        <a:rPr lang="en-US" sz="900" dirty="0" smtClean="0"/>
                        <a:t>Improve robustness:</a:t>
                      </a:r>
                    </a:p>
                    <a:p>
                      <a:r>
                        <a:rPr lang="en-US" sz="900" dirty="0" smtClean="0"/>
                        <a:t>Add retry mechanism (max 2–3 attempts)</a:t>
                      </a:r>
                    </a:p>
                    <a:p>
                      <a:r>
                        <a:rPr lang="en-US" sz="900" dirty="0" smtClean="0"/>
                        <a:t>Add timeout handling</a:t>
                      </a:r>
                    </a:p>
                    <a:p>
                      <a:r>
                        <a:rPr lang="en-US" sz="900" dirty="0" smtClean="0"/>
                        <a:t>Handle edge cases:</a:t>
                      </a:r>
                    </a:p>
                    <a:p>
                      <a:r>
                        <a:rPr lang="en-US" sz="900" dirty="0" smtClean="0"/>
                        <a:t>Start at End A</a:t>
                      </a:r>
                    </a:p>
                    <a:p>
                      <a:r>
                        <a:rPr lang="en-US" sz="900" dirty="0" smtClean="0"/>
                        <a:t>Start at End B</a:t>
                      </a:r>
                    </a:p>
                    <a:p>
                      <a:r>
                        <a:rPr lang="en-US" sz="900" dirty="0" smtClean="0"/>
                        <a:t>Near-end starting position</a:t>
                      </a:r>
                    </a:p>
                    <a:p>
                      <a:r>
                        <a:rPr lang="en-US" sz="900" dirty="0" smtClean="0"/>
                        <a:t>Mid-range starting position</a:t>
                      </a:r>
                    </a:p>
                    <a:p>
                      <a:r>
                        <a:rPr lang="en-US" sz="900" dirty="0" smtClean="0"/>
                        <a:t>Eliminate oscillation completely</a:t>
                      </a:r>
                    </a:p>
                    <a:p>
                      <a:r>
                        <a:rPr lang="en-US" sz="900" dirty="0" smtClean="0"/>
                        <a:t>After stabilization:</a:t>
                      </a:r>
                    </a:p>
                    <a:p>
                      <a:r>
                        <a:rPr lang="en-US" sz="900" dirty="0" smtClean="0"/>
                        <a:t>Enable Default operation (CMD 0)</a:t>
                      </a:r>
                    </a:p>
                    <a:p>
                      <a:r>
                        <a:rPr lang="en-US" sz="900" dirty="0" smtClean="0"/>
                        <a:t>Enable Allow operation (CMD 1) only after successful calibration</a:t>
                      </a:r>
                    </a:p>
                    <a:p>
                      <a:endParaRPr lang="en-US" sz="900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O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39979"/>
                  </a:ext>
                </a:extLst>
              </a:tr>
              <a:tr h="2266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4515112"/>
                  </a:ext>
                </a:extLst>
              </a:tr>
              <a:tr h="213968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altLang="ko-KR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Summary</a:t>
                      </a:r>
                      <a:endParaRPr lang="ko-KR" altLang="en-US" sz="1000" b="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7566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CI30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The system now correctly detects both end positions; however, calibration does not terminate properly.</a:t>
                      </a:r>
                    </a:p>
                    <a:p>
                      <a:r>
                        <a:rPr lang="en-US" sz="1000" dirty="0" smtClean="0"/>
                        <a:t>After reaching the second end, the motor repeatedly attempts to reverse direction, causing continuous oscillation between end positions.</a:t>
                      </a:r>
                    </a:p>
                    <a:p>
                      <a:r>
                        <a:rPr lang="en-US" sz="1000" dirty="0" smtClean="0"/>
                        <a:t>This confirms that while </a:t>
                      </a:r>
                      <a:r>
                        <a:rPr lang="en-US" sz="1000" b="1" dirty="0" smtClean="0"/>
                        <a:t>direction control and stall detection are functioning</a:t>
                      </a:r>
                      <a:r>
                        <a:rPr lang="en-US" sz="1000" dirty="0" smtClean="0"/>
                        <a:t>, the calibration state machine lacks a proper </a:t>
                      </a:r>
                      <a:r>
                        <a:rPr lang="en-US" sz="1000" b="1" dirty="0" smtClean="0"/>
                        <a:t>termination condition and lock mechanism</a:t>
                      </a:r>
                      <a:r>
                        <a:rPr lang="en-US" sz="1000" dirty="0" smtClean="0"/>
                        <a:t>.</a:t>
                      </a:r>
                    </a:p>
                    <a:p>
                      <a:r>
                        <a:rPr lang="en-US" sz="1000" dirty="0" smtClean="0"/>
                        <a:t>Next steps focus on enforcing a strict </a:t>
                      </a:r>
                      <a:r>
                        <a:rPr lang="en-US" sz="1000" b="1" dirty="0" smtClean="0"/>
                        <a:t>end-of-calibration stop condition</a:t>
                      </a:r>
                      <a:r>
                        <a:rPr lang="en-US" sz="1000" dirty="0" smtClean="0"/>
                        <a:t> to achieve stable and repeatable 2-point calibration.</a:t>
                      </a:r>
                    </a:p>
                    <a:p>
                      <a:endParaRPr lang="en-US" sz="1000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096545"/>
                  </a:ext>
                </a:extLst>
              </a:tr>
              <a:tr h="226651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481213"/>
                  </a:ext>
                </a:extLst>
              </a:tr>
              <a:tr h="11399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CI30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887807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-108520" y="9253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</a:t>
            </a:r>
            <a:r>
              <a:rPr lang="en-US" altLang="ko-KR" sz="2100" b="1" dirty="0" smtClean="0">
                <a:latin typeface="+mn-ea"/>
                <a:ea typeface="+mn-ea"/>
              </a:rPr>
              <a:t> </a:t>
            </a:r>
            <a:r>
              <a:rPr lang="en-US" altLang="ko-KR" sz="2100" b="1" dirty="0" err="1" smtClean="0">
                <a:latin typeface="+mn-ea"/>
                <a:ea typeface="+mn-ea"/>
              </a:rPr>
              <a:t>Vignesh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93831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100" b="0" i="0" u="none" strike="noStrike" cap="none" normalizeH="0" baseline="0" smtClean="0">
            <a:solidFill>
              <a:schemeClr val="bg1"/>
            </a:solidFill>
            <a:effectLst/>
            <a:latin typeface="Verdana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26444</TotalTime>
  <Words>397</Words>
  <Application>Microsoft Office PowerPoint</Application>
  <PresentationFormat>On-screen Show (4:3)</PresentationFormat>
  <Paragraphs>83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굴림</vt:lpstr>
      <vt:lpstr>맑은 고딕</vt:lpstr>
      <vt:lpstr>Arial</vt:lpstr>
      <vt:lpstr>Lucida Sans Unicode</vt:lpstr>
      <vt:lpstr>Verdana</vt:lpstr>
      <vt:lpstr>Wingdings</vt:lpstr>
      <vt:lpstr>현대하모니 B</vt:lpstr>
      <vt:lpstr>제안서 템플릿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user</cp:lastModifiedBy>
  <cp:revision>6484</cp:revision>
  <dcterms:created xsi:type="dcterms:W3CDTF">2019-10-24T04:42:23Z</dcterms:created>
  <dcterms:modified xsi:type="dcterms:W3CDTF">2026-03-20T08:37:35Z</dcterms:modified>
  <cp:version/>
</cp:coreProperties>
</file>