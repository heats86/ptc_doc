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37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FBFB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14" d="100"/>
          <a:sy n="114" d="100"/>
        </p:scale>
        <p:origin x="1710" y="10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253751"/>
              </p:ext>
            </p:extLst>
          </p:nvPr>
        </p:nvGraphicFramePr>
        <p:xfrm>
          <a:off x="60663" y="620689"/>
          <a:ext cx="9047224" cy="6090733"/>
        </p:xfrm>
        <a:graphic>
          <a:graphicData uri="http://schemas.openxmlformats.org/drawingml/2006/table">
            <a:tbl>
              <a:tblPr/>
              <a:tblGrid>
                <a:gridCol w="393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72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3752805">
                  <a:extLst>
                    <a:ext uri="{9D8B030D-6E8A-4147-A177-3AD203B41FA5}">
                      <a16:colId xmlns:a16="http://schemas.microsoft.com/office/drawing/2014/main" val="2928379235"/>
                    </a:ext>
                  </a:extLst>
                </a:gridCol>
                <a:gridCol w="3304975">
                  <a:extLst>
                    <a:ext uri="{9D8B030D-6E8A-4147-A177-3AD203B41FA5}">
                      <a16:colId xmlns:a16="http://schemas.microsoft.com/office/drawing/2014/main" val="127737306"/>
                    </a:ext>
                  </a:extLst>
                </a:gridCol>
                <a:gridCol w="695564">
                  <a:extLst>
                    <a:ext uri="{9D8B030D-6E8A-4147-A177-3AD203B41FA5}">
                      <a16:colId xmlns:a16="http://schemas.microsoft.com/office/drawing/2014/main" val="3436073209"/>
                    </a:ext>
                  </a:extLst>
                </a:gridCol>
                <a:gridCol w="391332">
                  <a:extLst>
                    <a:ext uri="{9D8B030D-6E8A-4147-A177-3AD203B41FA5}">
                      <a16:colId xmlns:a16="http://schemas.microsoft.com/office/drawing/2014/main" val="3779175015"/>
                    </a:ext>
                  </a:extLst>
                </a:gridCol>
              </a:tblGrid>
              <a:tr h="14401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PJT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5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85">
                <a:tc gridSpan="6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216462"/>
                  </a:ext>
                </a:extLst>
              </a:tr>
              <a:tr h="697840">
                <a:tc gridSpan="6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21804"/>
                  </a:ext>
                </a:extLst>
              </a:tr>
              <a:tr h="255985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프로젝트</a:t>
                      </a:r>
                      <a:endParaRPr lang="ko-KR" altLang="en-US" sz="9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7786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Y2V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이전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- 2026-03-25】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Scheduler v1.0 </a:t>
                      </a:r>
                      <a:r>
                        <a:rPr lang="ko-KR" altLang="en-US" sz="900" dirty="0" smtClean="0"/>
                        <a:t>적용 완료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1)</a:t>
                      </a:r>
                      <a:r>
                        <a:rPr lang="en-US" altLang="ko-KR" sz="900" baseline="0" dirty="0" smtClean="0"/>
                        <a:t> </a:t>
                      </a:r>
                      <a:r>
                        <a:rPr lang="en-US" altLang="ko-KR" sz="900" dirty="0" smtClean="0"/>
                        <a:t>static task table + stage-return pipeline + </a:t>
                      </a:r>
                      <a:r>
                        <a:rPr lang="ko-KR" altLang="en-US" sz="900" dirty="0" smtClean="0"/>
                        <a:t>스케줄링 계측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2) </a:t>
                      </a:r>
                      <a:r>
                        <a:rPr lang="ko-KR" altLang="en-US" sz="900" dirty="0" err="1" smtClean="0"/>
                        <a:t>디버거</a:t>
                      </a:r>
                      <a:r>
                        <a:rPr lang="ko-KR" altLang="en-US" sz="900" dirty="0" smtClean="0"/>
                        <a:t> 검증</a:t>
                      </a:r>
                      <a:r>
                        <a:rPr lang="en-US" altLang="ko-KR" sz="900" dirty="0" smtClean="0"/>
                        <a:t>: tick/skip </a:t>
                      </a:r>
                      <a:r>
                        <a:rPr lang="ko-KR" altLang="en-US" sz="900" dirty="0" smtClean="0"/>
                        <a:t>비율 </a:t>
                      </a:r>
                      <a:r>
                        <a:rPr lang="en-US" altLang="ko-KR" sz="900" dirty="0" smtClean="0"/>
                        <a:t>10.01 (10ms </a:t>
                      </a:r>
                      <a:r>
                        <a:rPr lang="ko-KR" altLang="en-US" sz="900" dirty="0" smtClean="0"/>
                        <a:t>정확</a:t>
                      </a:r>
                      <a:r>
                        <a:rPr lang="en-US" altLang="ko-KR" sz="900" dirty="0" smtClean="0"/>
                        <a:t>), miss=0, late=0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HS Gate </a:t>
                      </a:r>
                      <a:r>
                        <a:rPr lang="ko-KR" altLang="en-US" sz="900" dirty="0" smtClean="0"/>
                        <a:t>제어 체인 완성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1) </a:t>
                      </a:r>
                      <a:r>
                        <a:rPr lang="en-US" altLang="ko-KR" sz="900" dirty="0" err="1" smtClean="0"/>
                        <a:t>heater_ctrl</a:t>
                      </a:r>
                      <a:r>
                        <a:rPr lang="en-US" altLang="ko-KR" sz="900" dirty="0" smtClean="0"/>
                        <a:t> 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/>
                        <a:t> scheduler 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900" dirty="0" smtClean="0"/>
                        <a:t>RTE 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/>
                        <a:t> HAL 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/>
                        <a:t> PC3 GPIO</a:t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2) </a:t>
                      </a:r>
                      <a:r>
                        <a:rPr lang="ko-KR" altLang="en-US" sz="900" dirty="0" err="1" smtClean="0"/>
                        <a:t>디버거</a:t>
                      </a:r>
                      <a:r>
                        <a:rPr lang="ko-KR" altLang="en-US" sz="900" dirty="0" smtClean="0"/>
                        <a:t> 검증</a:t>
                      </a:r>
                      <a:r>
                        <a:rPr lang="en-US" altLang="ko-KR" sz="900" dirty="0" smtClean="0"/>
                        <a:t>: </a:t>
                      </a:r>
                      <a:r>
                        <a:rPr lang="en-US" altLang="ko-KR" sz="900" dirty="0" err="1" smtClean="0"/>
                        <a:t>init</a:t>
                      </a:r>
                      <a:r>
                        <a:rPr lang="en-US" altLang="ko-KR" sz="900" dirty="0" smtClean="0"/>
                        <a:t> OFF (PC3=0), MOE ON, CCR=0 </a:t>
                      </a:r>
                      <a:r>
                        <a:rPr lang="ko-KR" altLang="en-US" sz="900" dirty="0" smtClean="0"/>
                        <a:t>정상</a:t>
                      </a:r>
                      <a:endParaRPr lang="en-US" altLang="ko-KR" sz="900" dirty="0" smtClean="0"/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HV/</a:t>
                      </a:r>
                      <a:r>
                        <a:rPr lang="ko-KR" altLang="en-US" sz="900" dirty="0" smtClean="0"/>
                        <a:t>전류 </a:t>
                      </a:r>
                      <a:r>
                        <a:rPr lang="ko-KR" altLang="en-US" sz="900" dirty="0" err="1" smtClean="0"/>
                        <a:t>풀스케일</a:t>
                      </a:r>
                      <a:r>
                        <a:rPr lang="ko-KR" altLang="en-US" sz="900" dirty="0" smtClean="0"/>
                        <a:t> 확정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1)</a:t>
                      </a:r>
                      <a:r>
                        <a:rPr lang="en-US" altLang="ko-KR" sz="900" baseline="0" dirty="0" smtClean="0"/>
                        <a:t> </a:t>
                      </a:r>
                      <a:r>
                        <a:rPr lang="en-US" altLang="ko-KR" sz="900" dirty="0" smtClean="0"/>
                        <a:t>HV: 500V 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/>
                        <a:t> 753V (</a:t>
                      </a:r>
                      <a:r>
                        <a:rPr lang="ko-KR" altLang="en-US" sz="900" dirty="0" err="1" smtClean="0"/>
                        <a:t>분압비</a:t>
                      </a:r>
                      <a:r>
                        <a:rPr lang="ko-KR" altLang="en-US" sz="900" dirty="0" smtClean="0"/>
                        <a:t> </a:t>
                      </a:r>
                      <a:r>
                        <a:rPr lang="en-US" altLang="ko-KR" sz="900" dirty="0" smtClean="0"/>
                        <a:t>0.00664, HW</a:t>
                      </a:r>
                      <a:r>
                        <a:rPr lang="ko-KR" altLang="en-US" sz="900" dirty="0" smtClean="0"/>
                        <a:t>팀 확인</a:t>
                      </a:r>
                      <a:r>
                        <a:rPr lang="en-US" altLang="ko-KR" sz="900" dirty="0" smtClean="0"/>
                        <a:t>)</a:t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2)</a:t>
                      </a:r>
                      <a:r>
                        <a:rPr lang="en-US" altLang="ko-KR" sz="900" baseline="0" dirty="0" smtClean="0"/>
                        <a:t> </a:t>
                      </a:r>
                      <a:r>
                        <a:rPr lang="ko-KR" altLang="en-US" sz="900" dirty="0" smtClean="0"/>
                        <a:t>전류</a:t>
                      </a:r>
                      <a:r>
                        <a:rPr lang="en-US" altLang="ko-KR" sz="900" dirty="0" smtClean="0"/>
                        <a:t>: 30A 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/>
                        <a:t> 50A (Shunt 1m</a:t>
                      </a:r>
                      <a:r>
                        <a:rPr lang="el-GR" altLang="ko-KR" sz="900" dirty="0" smtClean="0"/>
                        <a:t>Ω × </a:t>
                      </a:r>
                      <a:r>
                        <a:rPr lang="en-US" altLang="ko-KR" sz="900" dirty="0" smtClean="0"/>
                        <a:t>Gain 100, </a:t>
                      </a:r>
                      <a:r>
                        <a:rPr lang="ko-KR" altLang="en-US" sz="900" dirty="0" smtClean="0"/>
                        <a:t>회로도 확인</a:t>
                      </a:r>
                      <a:r>
                        <a:rPr lang="en-US" altLang="ko-KR" sz="900" dirty="0" smtClean="0"/>
                        <a:t>)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Debug Override HV UV/OV </a:t>
                      </a:r>
                      <a:r>
                        <a:rPr lang="ko-KR" altLang="en-US" sz="900" dirty="0" smtClean="0"/>
                        <a:t>검증 </a:t>
                      </a:r>
                      <a:r>
                        <a:rPr lang="en-US" altLang="ko-KR" sz="900" dirty="0" smtClean="0"/>
                        <a:t>(753V </a:t>
                      </a:r>
                      <a:r>
                        <a:rPr lang="ko-KR" altLang="en-US" sz="900" dirty="0" smtClean="0"/>
                        <a:t>기준</a:t>
                      </a:r>
                      <a:r>
                        <a:rPr lang="en-US" altLang="ko-KR" sz="900" dirty="0" smtClean="0"/>
                        <a:t>)</a:t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1) UV </a:t>
                      </a:r>
                      <a:r>
                        <a:rPr lang="ko-KR" altLang="en-US" sz="900" dirty="0" smtClean="0"/>
                        <a:t>해제 </a:t>
                      </a:r>
                      <a:r>
                        <a:rPr lang="en-US" altLang="ko-KR" sz="900" dirty="0" smtClean="0"/>
                        <a:t>(ADC=300, ~221V)</a:t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2) OV </a:t>
                      </a:r>
                      <a:r>
                        <a:rPr lang="ko-KR" altLang="en-US" sz="900" dirty="0" smtClean="0"/>
                        <a:t>진입 </a:t>
                      </a:r>
                      <a:r>
                        <a:rPr lang="en-US" altLang="ko-KR" sz="900" dirty="0" smtClean="0"/>
                        <a:t>(ADC=700, ~515V)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.</a:t>
                      </a:r>
                      <a:r>
                        <a:rPr lang="en-US" altLang="ko-KR" sz="900" dirty="0" err="1" smtClean="0"/>
                        <a:t>ubsct</a:t>
                      </a:r>
                      <a:r>
                        <a:rPr lang="en-US" altLang="ko-KR" sz="900" dirty="0" smtClean="0"/>
                        <a:t> </a:t>
                      </a:r>
                      <a:r>
                        <a:rPr lang="ko-KR" altLang="en-US" sz="900" dirty="0" smtClean="0"/>
                        <a:t>메모리 </a:t>
                      </a:r>
                      <a:r>
                        <a:rPr lang="en-US" altLang="ko-KR" sz="900" dirty="0" smtClean="0"/>
                        <a:t>Overflow </a:t>
                      </a:r>
                      <a:r>
                        <a:rPr lang="ko-KR" altLang="en-US" sz="900" dirty="0" smtClean="0"/>
                        <a:t>해결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1) Release/Debug </a:t>
                      </a:r>
                      <a:r>
                        <a:rPr lang="ko-KR" altLang="en-US" sz="900" dirty="0" smtClean="0"/>
                        <a:t>메모리 모델 통일 </a:t>
                      </a:r>
                      <a:r>
                        <a:rPr lang="en-US" altLang="ko-KR" sz="900" dirty="0" smtClean="0"/>
                        <a:t>(+</a:t>
                      </a:r>
                      <a:r>
                        <a:rPr lang="en-US" altLang="ko-KR" sz="900" dirty="0" err="1" smtClean="0"/>
                        <a:t>modsl</a:t>
                      </a:r>
                      <a:r>
                        <a:rPr lang="en-US" altLang="ko-KR" sz="900" dirty="0" smtClean="0"/>
                        <a:t>)</a:t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2) CRT </a:t>
                      </a:r>
                      <a:r>
                        <a:rPr lang="ko-KR" altLang="en-US" sz="900" dirty="0" smtClean="0"/>
                        <a:t>충돌 해결 </a:t>
                      </a:r>
                      <a:r>
                        <a:rPr lang="en-US" altLang="ko-KR" sz="900" dirty="0" smtClean="0"/>
                        <a:t>(Custom .</a:t>
                      </a:r>
                      <a:r>
                        <a:rPr lang="en-US" altLang="ko-KR" sz="900" dirty="0" err="1" smtClean="0"/>
                        <a:t>lkf</a:t>
                      </a:r>
                      <a:r>
                        <a:rPr lang="en-US" altLang="ko-KR" sz="900" dirty="0" smtClean="0"/>
                        <a:t>)</a:t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3) RAM </a:t>
                      </a:r>
                      <a:r>
                        <a:rPr lang="ko-KR" altLang="en-US" sz="900" dirty="0" smtClean="0"/>
                        <a:t>사용률 </a:t>
                      </a:r>
                      <a:r>
                        <a:rPr lang="en-US" altLang="ko-KR" sz="900" dirty="0" smtClean="0"/>
                        <a:t>26% (</a:t>
                      </a:r>
                      <a:r>
                        <a:rPr lang="ko-KR" altLang="en-US" sz="900" dirty="0" smtClean="0"/>
                        <a:t>여유 충분</a:t>
                      </a:r>
                      <a:r>
                        <a:rPr lang="en-US" altLang="ko-KR" sz="900" dirty="0" smtClean="0"/>
                        <a:t>)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금일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2026-03-30】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진단 프레임 인프라 구축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(0x3C/0x3D)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hal_lin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ID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TX shadow + Classic checksum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CANoe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 완료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lin_diag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v1.1 (middleware)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3-layer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구조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hal_lin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lin_service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lin_diag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store-and-pop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패턴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(middleware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직접 </a:t>
                      </a:r>
                      <a:r>
                        <a:rPr lang="ko-KR" altLang="en-US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호출금지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3)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NAD/PCI/SID </a:t>
                      </a:r>
                      <a:r>
                        <a:rPr lang="ko-KR" altLang="en-US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파싱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Sleep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명령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(NAD=0x00)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감지</a:t>
                      </a:r>
                      <a:endParaRPr lang="en-US" altLang="ko-KR" sz="900" b="0" i="0" u="none" strike="noStrike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dcm_manager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v1.0 (app)</a:t>
                      </a:r>
                      <a:b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Pipeline Stage 8 (</a:t>
                      </a:r>
                      <a:r>
                        <a:rPr lang="en-US" altLang="ko-KR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actuator_apply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이후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Sleep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 머신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NONE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REQUESTED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ENTERING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HALTED</a:t>
                      </a:r>
                      <a:b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3) UDS SID </a:t>
                      </a:r>
                      <a:r>
                        <a:rPr lang="ko-KR" altLang="en-US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핸들러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SessionControl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ECUReset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TesterPresent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b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</a:t>
                      </a:r>
                      <a:r>
                        <a:rPr lang="en-US" altLang="ko-KR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ReadByID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(stub)</a:t>
                      </a:r>
                      <a:b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4)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모든 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middleware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접근 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RTE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경유 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(AUTOSAR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준수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heater_ctrl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v2.1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hs_gate_on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7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곳 반영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RTE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호출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순수 계산 모듈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precheck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/discharge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enum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매직넘버 제거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dirty="0" smtClean="0">
                        <a:latin typeface="+mj-lt"/>
                      </a:endParaRPr>
                    </a:p>
                    <a:p>
                      <a:pPr latinLnBrk="1"/>
                      <a:endParaRPr lang="ko-KR" altLang="en-US" sz="16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1558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SX3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1209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effectLst/>
                        </a:rPr>
                        <a:t>-</a:t>
                      </a:r>
                      <a:endParaRPr lang="ko-KR" altLang="ko-KR" sz="900" dirty="0" smtClean="0">
                        <a:effectLst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703407"/>
                  </a:ext>
                </a:extLst>
              </a:tr>
              <a:tr h="28297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목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or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PCB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전달 예정 해당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에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SW writing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(Peripheral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검증 用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 – QV Cyber Security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미 적용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writing </a:t>
                      </a:r>
                      <a:b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: CAN-FD Driver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적용 후 전달 예정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(~4/7)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 smtClean="0">
                          <a:latin typeface="+mj-lt"/>
                        </a:rPr>
                        <a:t>SX3</a:t>
                      </a:r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latin typeface="+mj-lt"/>
                        </a:rPr>
                        <a:t>금 </a:t>
                      </a:r>
                      <a:r>
                        <a:rPr lang="en-US" altLang="ko-KR" sz="900" dirty="0" smtClean="0">
                          <a:latin typeface="+mj-lt"/>
                        </a:rPr>
                        <a:t>or</a:t>
                      </a:r>
                      <a:r>
                        <a:rPr lang="en-US" altLang="ko-KR" sz="900" baseline="0" dirty="0" smtClean="0">
                          <a:latin typeface="+mj-lt"/>
                        </a:rPr>
                        <a:t> </a:t>
                      </a:r>
                      <a:r>
                        <a:rPr lang="ko-KR" altLang="en-US" sz="900" baseline="0" dirty="0" smtClean="0">
                          <a:latin typeface="+mj-lt"/>
                        </a:rPr>
                        <a:t>차주 </a:t>
                      </a:r>
                      <a:r>
                        <a:rPr lang="en-US" altLang="ko-KR" sz="900" baseline="0" dirty="0" smtClean="0">
                          <a:latin typeface="+mj-lt"/>
                        </a:rPr>
                        <a:t>PCB </a:t>
                      </a:r>
                      <a:r>
                        <a:rPr lang="ko-KR" altLang="en-US" sz="900" baseline="0" dirty="0" smtClean="0">
                          <a:latin typeface="+mj-lt"/>
                        </a:rPr>
                        <a:t>전달 예정 해당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 writing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(Peripheral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 用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- QV Cyber Security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 적용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writing 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전달 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Y2V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+mj-lt"/>
                        </a:rPr>
                        <a:t>Sleep </a:t>
                      </a:r>
                      <a:r>
                        <a:rPr lang="ko-KR" altLang="en-US" sz="900" dirty="0" smtClean="0">
                          <a:latin typeface="+mj-lt"/>
                        </a:rPr>
                        <a:t>후 보드 </a:t>
                      </a:r>
                      <a:r>
                        <a:rPr lang="ko-KR" altLang="en-US" sz="900" dirty="0" err="1" smtClean="0">
                          <a:latin typeface="+mj-lt"/>
                        </a:rPr>
                        <a:t>소비전류</a:t>
                      </a:r>
                      <a:r>
                        <a:rPr lang="ko-KR" altLang="en-US" sz="900" dirty="0" smtClean="0">
                          <a:latin typeface="+mj-lt"/>
                        </a:rPr>
                        <a:t> </a:t>
                      </a:r>
                      <a:r>
                        <a:rPr lang="en-US" altLang="ko-KR" sz="900" dirty="0" smtClean="0">
                          <a:latin typeface="+mj-lt"/>
                        </a:rPr>
                        <a:t>0.09A </a:t>
                      </a:r>
                      <a:r>
                        <a:rPr lang="ko-KR" altLang="en-US" sz="900" dirty="0" err="1" smtClean="0">
                          <a:latin typeface="+mj-lt"/>
                        </a:rPr>
                        <a:t>미감소</a:t>
                      </a:r>
                      <a:r>
                        <a:rPr lang="ko-KR" altLang="en-US" sz="900" dirty="0" smtClean="0">
                          <a:latin typeface="+mj-lt"/>
                        </a:rPr>
                        <a:t> </a:t>
                      </a:r>
                      <a:r>
                        <a:rPr lang="en-US" altLang="ko-KR" sz="900" dirty="0" smtClean="0">
                          <a:latin typeface="+mj-lt"/>
                          <a:sym typeface="Wingdings" panose="05000000000000000000" pitchFamily="2" charset="2"/>
                        </a:rPr>
                        <a:t> H/W</a:t>
                      </a:r>
                      <a:r>
                        <a:rPr lang="ko-KR" altLang="en-US" sz="900" dirty="0" smtClean="0">
                          <a:latin typeface="+mj-lt"/>
                          <a:sym typeface="Wingdings" panose="05000000000000000000" pitchFamily="2" charset="2"/>
                        </a:rPr>
                        <a:t>팀 확인요청</a:t>
                      </a:r>
                      <a:r>
                        <a:rPr lang="en-US" altLang="ko-KR" sz="900" dirty="0" smtClean="0">
                          <a:latin typeface="+mj-lt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dirty="0" smtClean="0">
                          <a:latin typeface="+mj-lt"/>
                          <a:sym typeface="Wingdings" panose="05000000000000000000" pitchFamily="2" charset="2"/>
                        </a:rPr>
                        <a:t>익일</a:t>
                      </a:r>
                      <a:r>
                        <a:rPr lang="en-US" altLang="ko-KR" sz="900" dirty="0" smtClean="0">
                          <a:latin typeface="+mj-lt"/>
                          <a:sym typeface="Wingdings" panose="05000000000000000000" pitchFamily="2" charset="2"/>
                        </a:rPr>
                        <a:t>) : U6(NCV1455) </a:t>
                      </a:r>
                      <a:r>
                        <a:rPr lang="ko-KR" altLang="en-US" sz="900" dirty="0" err="1" smtClean="0">
                          <a:latin typeface="+mj-lt"/>
                          <a:sym typeface="Wingdings" panose="05000000000000000000" pitchFamily="2" charset="2"/>
                        </a:rPr>
                        <a:t>래치</a:t>
                      </a:r>
                      <a:r>
                        <a:rPr lang="ko-KR" altLang="en-US" sz="900" dirty="0" smtClean="0">
                          <a:latin typeface="+mj-lt"/>
                          <a:sym typeface="Wingdings" panose="05000000000000000000" pitchFamily="2" charset="2"/>
                        </a:rPr>
                        <a:t> 해제 메커니즘</a:t>
                      </a:r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228600" marR="0" lvl="0" indent="-22860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j-lt"/>
                <a:ea typeface="+mn-ea"/>
              </a:rPr>
              <a:t> </a:t>
            </a:r>
            <a:r>
              <a:rPr lang="ko-KR" altLang="en-US" sz="2100" b="1" dirty="0" err="1" smtClean="0">
                <a:latin typeface="+mj-lt"/>
                <a:ea typeface="+mn-ea"/>
              </a:rPr>
              <a:t>조현진</a:t>
            </a:r>
            <a:endParaRPr lang="ko-KR" altLang="en-US" sz="2100" b="1" dirty="0">
              <a:latin typeface="+mj-lt"/>
              <a:ea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43123" y="14561"/>
            <a:ext cx="4392488" cy="44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r>
              <a:rPr lang="en-US" altLang="ko-KR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생각을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바꾸고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연구소를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다시 만든다</a:t>
            </a:r>
            <a:r>
              <a:rPr lang="ko-KR" altLang="en-US" dirty="0" smtClean="0">
                <a:latin typeface="+mj-lt"/>
              </a:rPr>
              <a:t> </a:t>
            </a:r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endParaRPr lang="ko-KR" altLang="en-US" dirty="0">
              <a:solidFill>
                <a:srgbClr val="002060"/>
              </a:solidFill>
              <a:latin typeface="+mj-lt"/>
            </a:endParaRPr>
          </a:p>
        </p:txBody>
      </p:sp>
      <p:graphicFrame>
        <p:nvGraphicFramePr>
          <p:cNvPr id="5" name="개체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5054174"/>
              </p:ext>
            </p:extLst>
          </p:nvPr>
        </p:nvGraphicFramePr>
        <p:xfrm>
          <a:off x="8839157" y="2173543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" name="워크시트" showAsIcon="1" r:id="rId4" imgW="380880" imgH="771480" progId="Excel.Sheet.12">
                  <p:embed/>
                </p:oleObj>
              </mc:Choice>
              <mc:Fallback>
                <p:oleObj name="워크시트" showAsIcon="1" r:id="rId4" imgW="380880" imgH="771480" progId="Excel.Sheet.12">
                  <p:embed/>
                  <p:pic>
                    <p:nvPicPr>
                      <p:cNvPr id="0" name=""/>
                      <p:cNvPicPr preferRelativeResize="0"/>
                      <p:nvPr/>
                    </p:nvPicPr>
                    <p:blipFill>
                      <a:blip r:embed="rId5">
                        <a:lum bright="-100000" contras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8839157" y="2173543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그룹 2"/>
          <p:cNvGrpSpPr>
            <a:grpSpLocks/>
          </p:cNvGrpSpPr>
          <p:nvPr/>
        </p:nvGrpSpPr>
        <p:grpSpPr>
          <a:xfrm>
            <a:off x="60663" y="1152594"/>
            <a:ext cx="9047223" cy="694832"/>
            <a:chOff x="160617" y="1128968"/>
            <a:chExt cx="8761689" cy="670502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CA9A9AC-F9D9-3CBA-A872-D74F9CD3A92B}"/>
                </a:ext>
              </a:extLst>
            </p:cNvPr>
            <p:cNvCxnSpPr/>
            <p:nvPr/>
          </p:nvCxnSpPr>
          <p:spPr>
            <a:xfrm>
              <a:off x="160617" y="1395267"/>
              <a:ext cx="87616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 Box 185">
              <a:extLst>
                <a:ext uri="{FF2B5EF4-FFF2-40B4-BE49-F238E27FC236}">
                  <a16:creationId xmlns:a16="http://schemas.microsoft.com/office/drawing/2014/main" id="{06A2D032-A3BC-040A-39BB-A634AB1EC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0352" y="1128968"/>
              <a:ext cx="1008112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2253" y="1581654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HW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팀 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SW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전달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/>
              </a:r>
              <a:b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: Peripheral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검증 用</a:t>
              </a:r>
              <a:endParaRPr kumimoji="0" lang="en-US" altLang="ko-KR" sz="7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1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67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~3/23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4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912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6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월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15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일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DV</a:t>
              </a:r>
              <a:b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</a:b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대비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SW</a:t>
              </a: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5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833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~6/12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6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5936" y="1128968"/>
              <a:ext cx="1008000" cy="4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7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7623" y="1584026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8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4208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9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9320" y="1581654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0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776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5</a:t>
              </a: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월 초</a:t>
              </a:r>
              <a:r>
                <a:rPr kumimoji="0" lang="en-US" altLang="ko-KR" sz="800" kern="0" noProof="1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EMC</a:t>
              </a:r>
              <a:b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대비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SW</a:t>
              </a:r>
              <a:endParaRPr kumimoji="0" lang="en-US" altLang="ko-KR" sz="8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2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481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~4/27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072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2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8623" y="1584026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</p:grpSp>
      <p:graphicFrame>
        <p:nvGraphicFramePr>
          <p:cNvPr id="26" name="개체 25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121941"/>
              </p:ext>
            </p:extLst>
          </p:nvPr>
        </p:nvGraphicFramePr>
        <p:xfrm>
          <a:off x="8615214" y="2467173"/>
          <a:ext cx="627886" cy="529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" name="프레젠테이션" showAsIcon="1" r:id="rId6" imgW="914400" imgH="771480" progId="PowerPoint.Show.12">
                  <p:embed/>
                </p:oleObj>
              </mc:Choice>
              <mc:Fallback>
                <p:oleObj name="프레젠테이션" showAsIcon="1" r:id="rId6" imgW="91440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15214" y="2467173"/>
                        <a:ext cx="627886" cy="5297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2627136"/>
              </p:ext>
            </p:extLst>
          </p:nvPr>
        </p:nvGraphicFramePr>
        <p:xfrm>
          <a:off x="8612589" y="2852936"/>
          <a:ext cx="631542" cy="557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" name="문서" showAsIcon="1" r:id="rId8" imgW="914400" imgH="816480" progId="Word.Document.12">
                  <p:embed/>
                </p:oleObj>
              </mc:Choice>
              <mc:Fallback>
                <p:oleObj name="문서" showAsIcon="1" r:id="rId8" imgW="914400" imgH="816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612589" y="2852936"/>
                        <a:ext cx="631542" cy="5572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26687</TotalTime>
  <Words>155</Words>
  <Application>Microsoft Office PowerPoint</Application>
  <PresentationFormat>화면 슬라이드 쇼(4:3)</PresentationFormat>
  <Paragraphs>50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3</vt:i4>
      </vt:variant>
      <vt:variant>
        <vt:lpstr>슬라이드 제목</vt:lpstr>
      </vt:variant>
      <vt:variant>
        <vt:i4>1</vt:i4>
      </vt:variant>
    </vt:vector>
  </HeadingPairs>
  <TitlesOfParts>
    <vt:vector size="12" baseType="lpstr">
      <vt:lpstr>굴림</vt:lpstr>
      <vt:lpstr>맑은 고딕</vt:lpstr>
      <vt:lpstr>현대하모니 L</vt:lpstr>
      <vt:lpstr>Arial</vt:lpstr>
      <vt:lpstr>Lucida Sans Unicode</vt:lpstr>
      <vt:lpstr>Verdana</vt:lpstr>
      <vt:lpstr>Wingdings</vt:lpstr>
      <vt:lpstr>제안서 템플릿</vt:lpstr>
      <vt:lpstr>Microsoft Excel 워크시트</vt:lpstr>
      <vt:lpstr>프레젠테이션</vt:lpstr>
      <vt:lpstr>문서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6508</cp:revision>
  <dcterms:created xsi:type="dcterms:W3CDTF">2019-10-24T04:42:23Z</dcterms:created>
  <dcterms:modified xsi:type="dcterms:W3CDTF">2026-03-30T10:31:55Z</dcterms:modified>
  <cp:version/>
</cp:coreProperties>
</file>