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>
  <p:sldMasterIdLst>
    <p:sldMasterId id="2147483709" r:id="rId1"/>
  </p:sldMasterIdLst>
  <p:notesMasterIdLst>
    <p:notesMasterId r:id="rId23"/>
  </p:notesMasterIdLst>
  <p:handoutMasterIdLst>
    <p:handoutMasterId r:id="rId24"/>
  </p:handoutMasterIdLst>
  <p:sldIdLst>
    <p:sldId id="947" r:id="rId2"/>
    <p:sldId id="1137" r:id="rId3"/>
    <p:sldId id="1175" r:id="rId4"/>
    <p:sldId id="1170" r:id="rId5"/>
    <p:sldId id="1152" r:id="rId6"/>
    <p:sldId id="1153" r:id="rId7"/>
    <p:sldId id="1163" r:id="rId8"/>
    <p:sldId id="1155" r:id="rId9"/>
    <p:sldId id="1156" r:id="rId10"/>
    <p:sldId id="1158" r:id="rId11"/>
    <p:sldId id="1159" r:id="rId12"/>
    <p:sldId id="1160" r:id="rId13"/>
    <p:sldId id="1161" r:id="rId14"/>
    <p:sldId id="1162" r:id="rId15"/>
    <p:sldId id="1172" r:id="rId16"/>
    <p:sldId id="1173" r:id="rId17"/>
    <p:sldId id="1165" r:id="rId18"/>
    <p:sldId id="1166" r:id="rId19"/>
    <p:sldId id="1167" r:id="rId20"/>
    <p:sldId id="1174" r:id="rId21"/>
    <p:sldId id="1164" r:id="rId22"/>
  </p:sldIdLst>
  <p:sldSz cx="9144000" cy="6858000" type="screen4x3"/>
  <p:notesSz cx="6802438" cy="99345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08D4B1F-D1D2-4892-AC90-0F1C73CC5FC5}">
          <p14:sldIdLst>
            <p14:sldId id="947"/>
          </p14:sldIdLst>
        </p14:section>
        <p14:section name="지시내용/의사결정/리스크/이슈현황" id="{5588297A-0314-480D-89DF-96CA41CC583D}">
          <p14:sldIdLst>
            <p14:sldId id="1137"/>
            <p14:sldId id="1175"/>
            <p14:sldId id="1170"/>
          </p14:sldIdLst>
        </p14:section>
        <p14:section name="Air PTC" id="{B956D88F-70E2-4349-B8DC-375A4283FAA0}">
          <p14:sldIdLst>
            <p14:sldId id="1152"/>
            <p14:sldId id="1153"/>
            <p14:sldId id="1163"/>
            <p14:sldId id="1155"/>
            <p14:sldId id="1156"/>
            <p14:sldId id="1158"/>
            <p14:sldId id="1159"/>
            <p14:sldId id="1160"/>
            <p14:sldId id="1161"/>
            <p14:sldId id="1162"/>
            <p14:sldId id="1172"/>
            <p14:sldId id="1173"/>
          </p14:sldIdLst>
        </p14:section>
        <p14:section name="모터" id="{05E9A145-F0BD-4F31-BAA2-C9351D4631C5}">
          <p14:sldIdLst>
            <p14:sldId id="1165"/>
            <p14:sldId id="1166"/>
            <p14:sldId id="1167"/>
            <p14:sldId id="1174"/>
          </p14:sldIdLst>
        </p14:section>
        <p14:section name="공유 및 공지내용" id="{7B3D5BD4-254A-43C9-9404-EC10D85B8375}">
          <p14:sldIdLst>
            <p14:sldId id="11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5" clrIdx="0">
    <p:extLst>
      <p:ext uri="{19B8F6BF-5375-455C-9EA6-DF929625EA0E}">
        <p15:presenceInfo xmlns:p15="http://schemas.microsoft.com/office/powerpoint/2012/main" userId="71ce5d532fb71a9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76" autoAdjust="0"/>
    <p:restoredTop sz="96378" autoAdjust="0"/>
  </p:normalViewPr>
  <p:slideViewPr>
    <p:cSldViewPr snapToObjects="1">
      <p:cViewPr varScale="1">
        <p:scale>
          <a:sx n="115" d="100"/>
          <a:sy n="115" d="100"/>
        </p:scale>
        <p:origin x="1680" y="108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2026-03-31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2026-03-31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21685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65586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52609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43685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8435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764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53506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5164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98652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73621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5306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03248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99937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17235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59A-F5DC-19E0-116D-4EFA545E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69912-A69A-B719-FC57-4020CA55E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215D0-E3CA-9443-5CB4-E21E3F6B2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1B6E8-7393-65A7-39FB-126D5B93C1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07270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86963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85646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24529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41229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7C94E65-097A-4CA0-B953-83BB7887CD73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9844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5.e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4.bin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835696" y="2531570"/>
            <a:ext cx="7236296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scene3d>
            <a:camera prst="orthographicFront"/>
            <a:lightRig rig="balanced" dir="t"/>
          </a:scene3d>
          <a:sp3d prstMaterial="matte"/>
        </p:spPr>
        <p:txBody>
          <a:bodyPr wrap="square">
            <a:spAutoFit/>
            <a:flatTx/>
          </a:bodyPr>
          <a:lstStyle/>
          <a:p>
            <a:pPr algn="ctr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8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EV Heater </a:t>
            </a:r>
            <a:r>
              <a:rPr lang="en-US" altLang="ko-KR" sz="2800" b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S/W 1</a:t>
            </a:r>
            <a:r>
              <a:rPr lang="ko-KR" altLang="en-US" sz="2800" b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팀 </a:t>
            </a:r>
            <a:r>
              <a:rPr kumimoji="1" lang="ko-KR" altLang="en-US" sz="2800" b="1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주간보고</a:t>
            </a:r>
            <a:r>
              <a:rPr kumimoji="1" lang="ko-KR" altLang="en-US" sz="28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자료</a:t>
            </a:r>
            <a:endParaRPr kumimoji="1" lang="en-US" altLang="ko-KR" sz="2800" b="1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white">
          <a:xfrm>
            <a:off x="175710" y="6430690"/>
            <a:ext cx="9144000" cy="3231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fontAlgn="base" latinLnBrk="0">
              <a:spcBef>
                <a:spcPct val="50000"/>
              </a:spcBef>
              <a:spcAft>
                <a:spcPct val="0"/>
              </a:spcAft>
            </a:pPr>
            <a:r>
              <a:rPr lang="en-US" altLang="ko-KR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 Heater S/W 1</a:t>
            </a:r>
            <a:r>
              <a:rPr lang="ko-KR" alt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팀</a:t>
            </a:r>
            <a:endParaRPr lang="en-US" altLang="ko-KR" sz="15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white">
          <a:xfrm>
            <a:off x="7524328" y="6555211"/>
            <a:ext cx="1547664" cy="2769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 fontAlgn="base" latinLnBrk="0">
              <a:spcBef>
                <a:spcPct val="50000"/>
              </a:spcBef>
              <a:spcAft>
                <a:spcPct val="0"/>
              </a:spcAft>
            </a:pPr>
            <a:r>
              <a:rPr lang="en-US" altLang="ko-K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2026.03.26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5696" y="5301208"/>
            <a:ext cx="5934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28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28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 </a:t>
            </a:r>
            <a:r>
              <a:rPr lang="en-US" altLang="ko-KR" sz="28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”</a:t>
            </a:r>
            <a:endParaRPr lang="ko-KR" altLang="en-US" sz="28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11021" y="6061358"/>
            <a:ext cx="2273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우리산업㈜ 기술연구소</a:t>
            </a:r>
          </a:p>
        </p:txBody>
      </p:sp>
    </p:spTree>
    <p:extLst>
      <p:ext uri="{BB962C8B-B14F-4D97-AF65-F5344CB8AC3E}">
        <p14:creationId xmlns:p14="http://schemas.microsoft.com/office/powerpoint/2010/main" val="2454121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618705"/>
              </p:ext>
            </p:extLst>
          </p:nvPr>
        </p:nvGraphicFramePr>
        <p:xfrm>
          <a:off x="251520" y="980728"/>
          <a:ext cx="8676581" cy="5714880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538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6116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담당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MX5a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SP1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(04/06~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R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튜닝 반영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EOL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모드 추가된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결재 상신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(3/31)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SP1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물량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113EA,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리라이팅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(220EA) (3/31)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임제훈</a:t>
                      </a: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사원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439979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NX5e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HMMC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개발 회의 참석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2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PTC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에서 원가 절감 반영된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PTC Cost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에 대한 비교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자료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체코에서 알고 있는 </a:t>
                      </a:r>
                      <a:r>
                        <a:rPr kumimoji="1" lang="en-US" altLang="ko-KR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Capa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와 비교 시 </a:t>
                      </a:r>
                      <a:r>
                        <a:rPr kumimoji="1" lang="en-US" altLang="ko-KR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Capa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내역이 다름에 대한 확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인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 PV Test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를 국내 생산품으로 진행해도 된다는 증빙 자료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과거차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문제점 자료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 4.2 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목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 16:00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추가 미팅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908106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HE1i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자료 작성</a:t>
                      </a:r>
                      <a:endParaRPr kumimoji="1" lang="en-US" altLang="ko-KR" sz="105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Release Note, </a:t>
                      </a:r>
                      <a:r>
                        <a:rPr kumimoji="1" lang="ko-KR" altLang="en-US" sz="105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제어사양서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5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로직점검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체크리스트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CAN DB, S/W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바이너리 파일</a:t>
                      </a:r>
                      <a:endParaRPr kumimoji="1" lang="en-US" altLang="ko-KR" sz="105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</a:t>
                      </a:r>
                      <a:r>
                        <a:rPr kumimoji="1" lang="ko-KR" altLang="en-US" sz="105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영향성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평가서</a:t>
                      </a:r>
                      <a:endParaRPr kumimoji="1" lang="en-US" altLang="ko-KR" sz="105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R</a:t>
                      </a:r>
                      <a:r>
                        <a:rPr kumimoji="1" lang="ko-KR" altLang="en-US" sz="105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로직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튜닝 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(~4/2)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3.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인도법인 </a:t>
                      </a:r>
                      <a:r>
                        <a:rPr kumimoji="1" lang="ko-KR" altLang="en-US" sz="105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부트로더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업데이트 툴 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1EA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지원</a:t>
                      </a:r>
                      <a:endParaRPr kumimoji="1" lang="en-US" altLang="ko-KR" sz="105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인도 출장자를 통한 </a:t>
                      </a:r>
                      <a:r>
                        <a:rPr kumimoji="1" lang="ko-KR" altLang="en-US" sz="105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부트로더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동글 전달 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(3/31)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만약의 사태를 대비하여 완제품 기준 </a:t>
                      </a: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업데이트 할 수 있도록</a:t>
                      </a:r>
                      <a:endParaRPr kumimoji="1" lang="en-US" altLang="ko-KR" sz="105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5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업데이트 툴 요청</a:t>
                      </a:r>
                      <a:endParaRPr kumimoji="1" lang="en-US" altLang="ko-KR" sz="105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조현진 전임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251817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NQ6e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(NX5e C/O)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1. Proto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대 튜닝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(3/27)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LV, HV, Core Temp Sensor, Current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Proto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(03/31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NQ6e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바이너리로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라이팅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완료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(27EA)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25EA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납품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S/W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테스트 샘플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2EA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임제훈</a:t>
                      </a: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사원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611003"/>
                  </a:ext>
                </a:extLst>
              </a:tr>
            </a:tbl>
          </a:graphicData>
        </a:graphic>
      </p:graphicFrame>
      <p:sp>
        <p:nvSpPr>
          <p:cNvPr id="4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227731" y="641346"/>
            <a:ext cx="8700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EV Heater SW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1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팀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– PTC Heater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7153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5856034"/>
              </p:ext>
            </p:extLst>
          </p:nvPr>
        </p:nvGraphicFramePr>
        <p:xfrm>
          <a:off x="251520" y="980728"/>
          <a:ext cx="8676581" cy="4161850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538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320480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6116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담당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Y2V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1.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진행</a:t>
                      </a:r>
                      <a:endParaRPr lang="en-US" altLang="ko-KR" sz="1000" i="1" dirty="0" smtClean="0"/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000" dirty="0" smtClean="0">
                        <a:latin typeface="+mn-lt"/>
                      </a:endParaRP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baseline="0" dirty="0" smtClean="0">
                          <a:latin typeface="+mn-lt"/>
                        </a:rPr>
                        <a:t>   - </a:t>
                      </a:r>
                      <a:r>
                        <a:rPr lang="en-US" altLang="ko-KR" sz="1000" dirty="0" smtClean="0">
                          <a:latin typeface="+mn-lt"/>
                        </a:rPr>
                        <a:t>Scheduler v1.0 </a:t>
                      </a:r>
                      <a:r>
                        <a:rPr lang="ko-KR" altLang="en-US" sz="1000" dirty="0" smtClean="0">
                          <a:latin typeface="+mn-lt"/>
                        </a:rPr>
                        <a:t>적용 완료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static task table + stage-return pipeline + </a:t>
                      </a:r>
                      <a:r>
                        <a:rPr lang="ko-KR" altLang="en-US" sz="1000" dirty="0" smtClean="0">
                          <a:latin typeface="+mn-lt"/>
                        </a:rPr>
                        <a:t>스케줄링 계측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디버거</a:t>
                      </a:r>
                      <a:r>
                        <a:rPr lang="ko-KR" altLang="en-US" sz="1000" dirty="0" smtClean="0">
                          <a:latin typeface="+mn-lt"/>
                        </a:rPr>
                        <a:t> 검증</a:t>
                      </a:r>
                      <a:r>
                        <a:rPr lang="en-US" altLang="ko-KR" sz="1000" dirty="0" smtClean="0">
                          <a:latin typeface="+mn-lt"/>
                        </a:rPr>
                        <a:t>: tick/skip </a:t>
                      </a:r>
                      <a:r>
                        <a:rPr lang="ko-KR" altLang="en-US" sz="1000" dirty="0" smtClean="0">
                          <a:latin typeface="+mn-lt"/>
                        </a:rPr>
                        <a:t>비율 </a:t>
                      </a:r>
                      <a:r>
                        <a:rPr lang="en-US" altLang="ko-KR" sz="1000" dirty="0" smtClean="0">
                          <a:latin typeface="+mn-lt"/>
                        </a:rPr>
                        <a:t>10.01 (10ms </a:t>
                      </a:r>
                      <a:r>
                        <a:rPr lang="ko-KR" altLang="en-US" sz="1000" dirty="0" smtClean="0">
                          <a:latin typeface="+mn-lt"/>
                        </a:rPr>
                        <a:t>정확</a:t>
                      </a:r>
                      <a:r>
                        <a:rPr lang="en-US" altLang="ko-KR" sz="1000" dirty="0" smtClean="0">
                          <a:latin typeface="+mn-lt"/>
                        </a:rPr>
                        <a:t>), miss=0, late=0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- HS Gate </a:t>
                      </a:r>
                      <a:r>
                        <a:rPr lang="ko-KR" altLang="en-US" sz="1000" dirty="0" smtClean="0">
                          <a:latin typeface="+mn-lt"/>
                        </a:rPr>
                        <a:t>제어 체인 완성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heater_ctrl</a:t>
                      </a:r>
                      <a:r>
                        <a:rPr lang="en-US" altLang="ko-KR" sz="100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scheduler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000" dirty="0" smtClean="0">
                          <a:latin typeface="+mn-lt"/>
                        </a:rPr>
                        <a:t>RTE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HAL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PC3 GPIO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디버거</a:t>
                      </a:r>
                      <a:r>
                        <a:rPr lang="ko-KR" altLang="en-US" sz="1000" dirty="0" smtClean="0">
                          <a:latin typeface="+mn-lt"/>
                        </a:rPr>
                        <a:t> 검증</a:t>
                      </a:r>
                      <a:r>
                        <a:rPr lang="en-US" altLang="ko-KR" sz="1000" dirty="0" smtClean="0">
                          <a:latin typeface="+mn-lt"/>
                        </a:rPr>
                        <a:t>: 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init</a:t>
                      </a:r>
                      <a:r>
                        <a:rPr lang="en-US" altLang="ko-KR" sz="1000" dirty="0" smtClean="0">
                          <a:latin typeface="+mn-lt"/>
                        </a:rPr>
                        <a:t> OFF (PC3=0), MOE ON, CCR=0 </a:t>
                      </a:r>
                      <a:r>
                        <a:rPr lang="ko-KR" altLang="en-US" sz="1000" dirty="0" smtClean="0">
                          <a:latin typeface="+mn-lt"/>
                        </a:rPr>
                        <a:t>정상</a:t>
                      </a:r>
                      <a:endParaRPr lang="en-US" altLang="ko-KR" sz="1000" dirty="0" smtClean="0">
                        <a:latin typeface="+mn-lt"/>
                      </a:endParaRP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baseline="0" dirty="0" smtClean="0">
                          <a:latin typeface="+mn-lt"/>
                        </a:rPr>
                        <a:t>   - </a:t>
                      </a:r>
                      <a:r>
                        <a:rPr lang="en-US" altLang="ko-KR" sz="1000" dirty="0" smtClean="0">
                          <a:latin typeface="+mn-lt"/>
                        </a:rPr>
                        <a:t>HV/</a:t>
                      </a:r>
                      <a:r>
                        <a:rPr lang="ko-KR" altLang="en-US" sz="1000" dirty="0" smtClean="0">
                          <a:latin typeface="+mn-lt"/>
                        </a:rPr>
                        <a:t>전류 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풀스케일</a:t>
                      </a:r>
                      <a:r>
                        <a:rPr lang="ko-KR" altLang="en-US" sz="1000" dirty="0" smtClean="0">
                          <a:latin typeface="+mn-lt"/>
                        </a:rPr>
                        <a:t> 확정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HV: 500V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753V (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분압비</a:t>
                      </a:r>
                      <a:r>
                        <a:rPr lang="ko-KR" altLang="en-US" sz="100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0.00664, HW</a:t>
                      </a:r>
                      <a:r>
                        <a:rPr lang="ko-KR" altLang="en-US" sz="1000" dirty="0" smtClean="0">
                          <a:latin typeface="+mn-lt"/>
                        </a:rPr>
                        <a:t>팀 확인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ko-KR" altLang="en-US" sz="1000" dirty="0" smtClean="0">
                          <a:latin typeface="+mn-lt"/>
                        </a:rPr>
                        <a:t>전류</a:t>
                      </a:r>
                      <a:r>
                        <a:rPr lang="en-US" altLang="ko-KR" sz="1000" dirty="0" smtClean="0">
                          <a:latin typeface="+mn-lt"/>
                        </a:rPr>
                        <a:t>: 30A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50A (Shunt 1m</a:t>
                      </a:r>
                      <a:r>
                        <a:rPr lang="el-GR" altLang="ko-KR" sz="1000" dirty="0" smtClean="0">
                          <a:latin typeface="+mn-lt"/>
                        </a:rPr>
                        <a:t>Ω × </a:t>
                      </a:r>
                      <a:r>
                        <a:rPr lang="en-US" altLang="ko-KR" sz="1000" dirty="0" smtClean="0">
                          <a:latin typeface="+mn-lt"/>
                        </a:rPr>
                        <a:t>Gain 100, </a:t>
                      </a:r>
                      <a:r>
                        <a:rPr lang="ko-KR" altLang="en-US" sz="1000" dirty="0" smtClean="0">
                          <a:latin typeface="+mn-lt"/>
                        </a:rPr>
                        <a:t>회로도 확인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-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Debug Override HV UV/OV </a:t>
                      </a:r>
                      <a:r>
                        <a:rPr lang="ko-KR" altLang="en-US" sz="1000" dirty="0" smtClean="0">
                          <a:latin typeface="+mn-lt"/>
                        </a:rPr>
                        <a:t>검증 </a:t>
                      </a:r>
                      <a:r>
                        <a:rPr lang="en-US" altLang="ko-KR" sz="1000" dirty="0" smtClean="0">
                          <a:latin typeface="+mn-lt"/>
                        </a:rPr>
                        <a:t>(753V </a:t>
                      </a:r>
                      <a:r>
                        <a:rPr lang="ko-KR" altLang="en-US" sz="1000" dirty="0" smtClean="0">
                          <a:latin typeface="+mn-lt"/>
                        </a:rPr>
                        <a:t>기준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  : UV </a:t>
                      </a:r>
                      <a:r>
                        <a:rPr lang="ko-KR" altLang="en-US" sz="1000" dirty="0" smtClean="0">
                          <a:latin typeface="+mn-lt"/>
                        </a:rPr>
                        <a:t>해제 </a:t>
                      </a:r>
                      <a:r>
                        <a:rPr lang="en-US" altLang="ko-KR" sz="1000" dirty="0" smtClean="0">
                          <a:latin typeface="+mn-lt"/>
                        </a:rPr>
                        <a:t>(ADC=300, ~221V)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  : OV </a:t>
                      </a:r>
                      <a:r>
                        <a:rPr lang="ko-KR" altLang="en-US" sz="1000" dirty="0" smtClean="0">
                          <a:latin typeface="+mn-lt"/>
                        </a:rPr>
                        <a:t>진입 </a:t>
                      </a:r>
                      <a:r>
                        <a:rPr lang="en-US" altLang="ko-KR" sz="1000" dirty="0" smtClean="0">
                          <a:latin typeface="+mn-lt"/>
                        </a:rPr>
                        <a:t>(ADC=700, ~515V)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-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.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ubsct</a:t>
                      </a:r>
                      <a:r>
                        <a:rPr lang="en-US" altLang="ko-KR" sz="1000" dirty="0" smtClean="0">
                          <a:latin typeface="+mn-lt"/>
                        </a:rPr>
                        <a:t> </a:t>
                      </a:r>
                      <a:r>
                        <a:rPr lang="ko-KR" altLang="en-US" sz="1000" dirty="0" smtClean="0">
                          <a:latin typeface="+mn-lt"/>
                        </a:rPr>
                        <a:t>메모리 </a:t>
                      </a:r>
                      <a:r>
                        <a:rPr lang="en-US" altLang="ko-KR" sz="1000" dirty="0" smtClean="0">
                          <a:latin typeface="+mn-lt"/>
                        </a:rPr>
                        <a:t>Overflow </a:t>
                      </a:r>
                      <a:r>
                        <a:rPr lang="ko-KR" altLang="en-US" sz="1000" dirty="0" smtClean="0">
                          <a:latin typeface="+mn-lt"/>
                        </a:rPr>
                        <a:t>해결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Release/Debug </a:t>
                      </a:r>
                      <a:r>
                        <a:rPr lang="ko-KR" altLang="en-US" sz="1000" dirty="0" smtClean="0">
                          <a:latin typeface="+mn-lt"/>
                        </a:rPr>
                        <a:t>메모리 모델 통일 </a:t>
                      </a:r>
                      <a:r>
                        <a:rPr lang="en-US" altLang="ko-KR" sz="1000" dirty="0" smtClean="0">
                          <a:latin typeface="+mn-lt"/>
                        </a:rPr>
                        <a:t>(+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modsl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CRT </a:t>
                      </a:r>
                      <a:r>
                        <a:rPr lang="ko-KR" altLang="en-US" sz="1000" dirty="0" smtClean="0">
                          <a:latin typeface="+mn-lt"/>
                        </a:rPr>
                        <a:t>충돌 해결 </a:t>
                      </a:r>
                      <a:r>
                        <a:rPr lang="en-US" altLang="ko-KR" sz="1000" dirty="0" smtClean="0">
                          <a:latin typeface="+mn-lt"/>
                        </a:rPr>
                        <a:t>(Custom .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lkf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b="1" dirty="0" smtClean="0">
                          <a:latin typeface="+mn-lt"/>
                        </a:rPr>
                        <a:t>     : RAM </a:t>
                      </a:r>
                      <a:r>
                        <a:rPr lang="ko-KR" altLang="en-US" sz="1000" b="1" dirty="0" smtClean="0">
                          <a:latin typeface="+mn-lt"/>
                        </a:rPr>
                        <a:t>사용률 </a:t>
                      </a:r>
                      <a:r>
                        <a:rPr lang="en-US" altLang="ko-KR" sz="1000" b="1" dirty="0" smtClean="0">
                          <a:latin typeface="+mn-lt"/>
                        </a:rPr>
                        <a:t>26% (</a:t>
                      </a:r>
                      <a:r>
                        <a:rPr lang="ko-KR" altLang="en-US" sz="1000" b="1" dirty="0" smtClean="0">
                          <a:latin typeface="+mn-lt"/>
                        </a:rPr>
                        <a:t>여유 충분</a:t>
                      </a:r>
                      <a:r>
                        <a:rPr lang="en-US" altLang="ko-KR" sz="1000" b="1" dirty="0" smtClean="0">
                          <a:latin typeface="+mn-lt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</a:t>
                      </a:r>
                      <a:r>
                        <a:rPr lang="en-US" altLang="ko-KR" sz="100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 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진단 프레임 인프라 구축 </a:t>
                      </a: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(0x3C/0x3D)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en-US" altLang="ko-KR" sz="10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lin_diag</a:t>
                      </a: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v1.1 (middleware)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</a:t>
                      </a:r>
                      <a: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50" b="0" i="0" u="none" strike="noStrike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dcm_manager</a:t>
                      </a:r>
                      <a: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v1.0 (app)</a:t>
                      </a:r>
                      <a:b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en-US" altLang="ko-KR" sz="105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heater_ctrl</a:t>
                      </a:r>
                      <a: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v2.1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임제훈</a:t>
                      </a: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사원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439979"/>
                  </a:ext>
                </a:extLst>
              </a:tr>
            </a:tbl>
          </a:graphicData>
        </a:graphic>
      </p:graphicFrame>
      <p:sp>
        <p:nvSpPr>
          <p:cNvPr id="4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227731" y="641346"/>
            <a:ext cx="8700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EV Heater SW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1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팀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– PTC Heater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aphicFrame>
        <p:nvGraphicFramePr>
          <p:cNvPr id="7" name="개체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762659"/>
              </p:ext>
            </p:extLst>
          </p:nvPr>
        </p:nvGraphicFramePr>
        <p:xfrm>
          <a:off x="3131840" y="1538800"/>
          <a:ext cx="180000" cy="18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워크시트" showAsIcon="1" r:id="rId4" imgW="380880" imgH="771480" progId="Excel.Sheet.12">
                  <p:embed/>
                </p:oleObj>
              </mc:Choice>
              <mc:Fallback>
                <p:oleObj name="워크시트" showAsIcon="1" r:id="rId4" imgW="380880" imgH="771480" progId="Excel.Sheet.12">
                  <p:embed/>
                  <p:pic>
                    <p:nvPicPr>
                      <p:cNvPr id="30" name="개체 29"/>
                      <p:cNvPicPr preferRelativeResize="0"/>
                      <p:nvPr/>
                    </p:nvPicPr>
                    <p:blipFill>
                      <a:blip r:embed="rId5">
                        <a:lum bright="-100000" contrast="-100000"/>
                      </a:blip>
                      <a:stretch>
                        <a:fillRect/>
                      </a:stretch>
                    </p:blipFill>
                    <p:spPr>
                      <a:xfrm>
                        <a:off x="3131840" y="1538800"/>
                        <a:ext cx="180000" cy="180000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38768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50917"/>
              </p:ext>
            </p:extLst>
          </p:nvPr>
        </p:nvGraphicFramePr>
        <p:xfrm>
          <a:off x="251520" y="980728"/>
          <a:ext cx="8676581" cy="4203538"/>
        </p:xfrm>
        <a:graphic>
          <a:graphicData uri="http://schemas.openxmlformats.org/drawingml/2006/table">
            <a:tbl>
              <a:tblPr/>
              <a:tblGrid>
                <a:gridCol w="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5385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6836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행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담당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MV</a:t>
                      </a:r>
                      <a:r>
                        <a:rPr lang="en-US" altLang="ko-KR" sz="1000" b="0" kern="1200" baseline="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EMP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baseline="0" dirty="0"/>
                        <a:t> US4PE (MV C/O)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 dirty="0"/>
                        <a:t>1. </a:t>
                      </a:r>
                      <a:r>
                        <a:rPr lang="ko-KR" altLang="en-US" sz="1000" b="0" baseline="0" dirty="0"/>
                        <a:t>고객사</a:t>
                      </a:r>
                      <a:r>
                        <a:rPr lang="en-US" altLang="ko-KR" sz="1000" b="0" baseline="0" dirty="0"/>
                        <a:t>(</a:t>
                      </a:r>
                      <a:r>
                        <a:rPr lang="ko-KR" altLang="en-US" sz="1000" b="0" baseline="0" dirty="0" err="1"/>
                        <a:t>현대위아</a:t>
                      </a:r>
                      <a:r>
                        <a:rPr lang="en-US" altLang="ko-KR" sz="1000" b="0" baseline="0" dirty="0"/>
                        <a:t>) </a:t>
                      </a:r>
                      <a:r>
                        <a:rPr lang="ko-KR" altLang="en-US" sz="1000" b="0" baseline="0" dirty="0"/>
                        <a:t>로부터 이슈 접수</a:t>
                      </a:r>
                      <a:endParaRPr lang="en-US" altLang="ko-KR" sz="1000" b="0" baseline="0" dirty="0"/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 dirty="0"/>
                        <a:t>   </a:t>
                      </a:r>
                      <a:r>
                        <a:rPr lang="en-US" altLang="ko-KR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대책서 회신 </a:t>
                      </a:r>
                      <a:r>
                        <a:rPr lang="en-US" altLang="ko-KR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(3/25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="0" baseline="0" dirty="0" smtClean="0"/>
                        <a:t>  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대책서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기반으로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중순까지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S/W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 진행</a:t>
                      </a:r>
                      <a:endParaRPr lang="en-US" altLang="ko-KR" sz="1000" b="0" i="0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="0" baseline="0" dirty="0"/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오세영 수석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625904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prstClr val="black"/>
                          </a:solidFill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JG1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&lt;-&gt;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평가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4/1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한온시스템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본사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오세영 수석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이자효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책임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김진겸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전입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전압 변동 시험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-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이슈사항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전구간 전압 변동 대응 위한 전체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S/W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로직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변경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a. 500ms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동안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1m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샘플링 주기로 전압 저장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b. Stall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발생시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500ms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동안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Max, Min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전압 차가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Threshold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상일 경우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Stall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미발생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2P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진행 중 변동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감지시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2P Cal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재시작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     : 10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회 진행 시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2P Cal Error</a:t>
                      </a: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노멀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동작 중 변동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감지시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모터 정지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초 후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재시작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재 평가 이후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4/3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dirty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이자효</a:t>
                      </a:r>
                      <a:r>
                        <a:rPr lang="ko-KR" altLang="en-US" sz="10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책임</a:t>
                      </a:r>
                      <a:endParaRPr lang="en-US" altLang="ko-KR" sz="10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942919"/>
                  </a:ext>
                </a:extLst>
              </a:tr>
            </a:tbl>
          </a:graphicData>
        </a:graphic>
      </p:graphicFrame>
      <p:sp>
        <p:nvSpPr>
          <p:cNvPr id="4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>
                <a:latin typeface="+mn-ea"/>
                <a:ea typeface="+mn-ea"/>
              </a:rPr>
              <a:t>지시내용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의사결정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>
                <a:latin typeface="+mn-ea"/>
                <a:ea typeface="+mn-ea"/>
              </a:rPr>
              <a:t>리스크</a:t>
            </a:r>
            <a:r>
              <a:rPr lang="en-US" altLang="ko-KR" sz="2100" b="1" dirty="0">
                <a:latin typeface="+mn-ea"/>
                <a:ea typeface="+mn-ea"/>
              </a:rPr>
              <a:t>/</a:t>
            </a:r>
            <a:r>
              <a:rPr lang="ko-KR" altLang="en-US" sz="2100" b="1" dirty="0" err="1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227731" y="641346"/>
            <a:ext cx="8700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EV Heater SW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1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팀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- Motor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aphicFrame>
        <p:nvGraphicFramePr>
          <p:cNvPr id="6" name="개체 5">
            <a:hlinkClick r:id="" action="ppaction://ole?verb=0"/>
            <a:extLst>
              <a:ext uri="{FF2B5EF4-FFF2-40B4-BE49-F238E27FC236}">
                <a16:creationId xmlns:a16="http://schemas.microsoft.com/office/drawing/2014/main" id="{C66A2ED1-A06D-B379-5BA9-73B7176B62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2818486"/>
              </p:ext>
            </p:extLst>
          </p:nvPr>
        </p:nvGraphicFramePr>
        <p:xfrm>
          <a:off x="4788024" y="1675171"/>
          <a:ext cx="9144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9" name="프레젠테이션" showAsIcon="1" r:id="rId4" imgW="914400" imgH="771792" progId="PowerPoint.Show.12">
                  <p:embed/>
                </p:oleObj>
              </mc:Choice>
              <mc:Fallback>
                <p:oleObj name="프레젠테이션" showAsIcon="1" r:id="rId4" imgW="914400" imgH="771792" progId="PowerPoint.Show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788024" y="1675171"/>
                        <a:ext cx="9144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49573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618288"/>
              </p:ext>
            </p:extLst>
          </p:nvPr>
        </p:nvGraphicFramePr>
        <p:xfrm>
          <a:off x="11059" y="536956"/>
          <a:ext cx="9097445" cy="577236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978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8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976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1. SV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필드 클레임 관련 </a:t>
                      </a:r>
                      <a:r>
                        <a:rPr kumimoji="1" lang="en-US" altLang="ko-KR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SVm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문제 소지 파악 및 개선 대책 요청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공조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김응영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책임 연구원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SV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필드 클레임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438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건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438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건에 대하여 기구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/HW/SW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팀 업무 분장 후 회신 예정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(4/3)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49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lang="en-US" altLang="ko-KR" sz="1600" b="1" noProof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24.09.01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26.03.30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26.06.30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25.06.30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aphicFrame>
        <p:nvGraphicFramePr>
          <p:cNvPr id="29" name="개체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9065206"/>
              </p:ext>
            </p:extLst>
          </p:nvPr>
        </p:nvGraphicFramePr>
        <p:xfrm>
          <a:off x="3794286" y="2375120"/>
          <a:ext cx="739382" cy="6405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1" name="워크시트" showAsIcon="1" r:id="rId4" imgW="914400" imgH="792360" progId="Excel.Sheet.12">
                  <p:embed/>
                </p:oleObj>
              </mc:Choice>
              <mc:Fallback>
                <p:oleObj name="워크시트" showAsIcon="1" r:id="rId4" imgW="914400" imgH="792360" progId="Excel.Sheet.12">
                  <p:embed/>
                  <p:pic>
                    <p:nvPicPr>
                      <p:cNvPr id="2" name="개체 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794286" y="2375120"/>
                        <a:ext cx="739382" cy="6405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947148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373242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25.04.15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26.08.01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5702144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90427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SP1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(04/06~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R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튜닝 반영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EOL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모드 추가된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결재 상신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(3/31)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SP1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물량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113EA,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리라이팅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(220EA) (3/31)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795" y="665550"/>
            <a:ext cx="2787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>
                <a:solidFill>
                  <a:srgbClr val="FF0000"/>
                </a:solidFill>
              </a:endParaRPr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25.08.15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26.09.01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T2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450943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26.12.15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LP2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27.04.15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6914051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26.04.15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SP#1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7" name="그룹 20"/>
          <p:cNvGrpSpPr>
            <a:grpSpLocks noChangeAspect="1"/>
          </p:cNvGrpSpPr>
          <p:nvPr/>
        </p:nvGrpSpPr>
        <p:grpSpPr bwMode="auto">
          <a:xfrm>
            <a:off x="7623287" y="555242"/>
            <a:ext cx="1030567" cy="503686"/>
            <a:chOff x="0" y="137478"/>
            <a:chExt cx="604837" cy="480818"/>
          </a:xfrm>
        </p:grpSpPr>
        <p:sp>
          <p:nvSpPr>
            <p:cNvPr id="29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27.03.15</a:t>
              </a:r>
            </a:p>
          </p:txBody>
        </p:sp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</a:t>
              </a:r>
            </a:p>
          </p:txBody>
        </p:sp>
      </p:grpSp>
      <p:sp>
        <p:nvSpPr>
          <p:cNvPr id="31" name="위쪽 화살표 30"/>
          <p:cNvSpPr>
            <a:spLocks noChangeArrowheads="1"/>
          </p:cNvSpPr>
          <p:nvPr/>
        </p:nvSpPr>
        <p:spPr bwMode="auto">
          <a:xfrm rot="10800000">
            <a:off x="8077937" y="725422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TextBox 32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6208130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69257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lang="en-US" altLang="ko-KR" sz="1600" b="1" noProof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SP#1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4983388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53313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Core Temp Over 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증상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Heater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동작 없이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높은 온도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70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~ 100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수렴으로 인한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Fault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: </a:t>
                      </a:r>
                      <a:r>
                        <a:rPr kumimoji="1" lang="en-US" altLang="ko-KR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Falult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시나리오 재 문의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3/31)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현 상황 및 대책 방안 정리 하여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다음 주 회신 예정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정재근 책임 연구원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),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HMMC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개발 회의 참석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2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PTC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에서 원가 절감 반영된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세대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PTC Cost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에 대한 비교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자료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체코에서 알고 있는 </a:t>
                      </a:r>
                      <a:r>
                        <a:rPr kumimoji="1" lang="en-US" altLang="ko-KR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Capa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와 비교 시 </a:t>
                      </a:r>
                      <a:r>
                        <a:rPr kumimoji="1" lang="en-US" altLang="ko-KR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Capa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내역이 다름에 대한 확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인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 PV Test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를 국내 생산품으로 진행해도 된다는 증빙 자료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과거차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문제점 자료 요청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 4.2 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목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 16:00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추가 미팅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25.06.01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26.02.15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26.09.21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27.03.15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54439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7704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24.12.15</a:t>
              </a: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25.08.15</a:t>
              </a: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25.09.30</a:t>
              </a: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26.04.27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26.04.27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26.07.15</a:t>
              </a: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26.7.20</a:t>
              </a: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26.9.30</a:t>
              </a: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25.05.01</a:t>
              </a: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25.11.15</a:t>
              </a: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RHD</a:t>
            </a:r>
            <a:endParaRPr lang="ko-KR" altLang="en-US" sz="10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LHD</a:t>
            </a:r>
            <a:endParaRPr lang="ko-KR" altLang="en-US" sz="1000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199735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44469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1.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개발 진행</a:t>
                      </a:r>
                      <a:endParaRPr lang="en-US" altLang="ko-KR" sz="1000" i="1" dirty="0" smtClean="0"/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000" dirty="0" smtClean="0">
                        <a:latin typeface="+mn-lt"/>
                      </a:endParaRP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baseline="0" dirty="0" smtClean="0">
                          <a:latin typeface="+mn-lt"/>
                        </a:rPr>
                        <a:t>   - </a:t>
                      </a:r>
                      <a:r>
                        <a:rPr lang="en-US" altLang="ko-KR" sz="1000" dirty="0" smtClean="0">
                          <a:latin typeface="+mn-lt"/>
                        </a:rPr>
                        <a:t>Scheduler v1.0 </a:t>
                      </a:r>
                      <a:r>
                        <a:rPr lang="ko-KR" altLang="en-US" sz="1000" dirty="0" smtClean="0">
                          <a:latin typeface="+mn-lt"/>
                        </a:rPr>
                        <a:t>적용 완료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static task table + stage-return pipeline + </a:t>
                      </a:r>
                      <a:r>
                        <a:rPr lang="ko-KR" altLang="en-US" sz="1000" dirty="0" smtClean="0">
                          <a:latin typeface="+mn-lt"/>
                        </a:rPr>
                        <a:t>스케줄링 계측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디버거</a:t>
                      </a:r>
                      <a:r>
                        <a:rPr lang="ko-KR" altLang="en-US" sz="1000" dirty="0" smtClean="0">
                          <a:latin typeface="+mn-lt"/>
                        </a:rPr>
                        <a:t> 검증</a:t>
                      </a:r>
                      <a:r>
                        <a:rPr lang="en-US" altLang="ko-KR" sz="1000" dirty="0" smtClean="0">
                          <a:latin typeface="+mn-lt"/>
                        </a:rPr>
                        <a:t>: tick/skip </a:t>
                      </a:r>
                      <a:r>
                        <a:rPr lang="ko-KR" altLang="en-US" sz="1000" dirty="0" smtClean="0">
                          <a:latin typeface="+mn-lt"/>
                        </a:rPr>
                        <a:t>비율 </a:t>
                      </a:r>
                      <a:r>
                        <a:rPr lang="en-US" altLang="ko-KR" sz="1000" dirty="0" smtClean="0">
                          <a:latin typeface="+mn-lt"/>
                        </a:rPr>
                        <a:t>10.01 (10ms </a:t>
                      </a:r>
                      <a:r>
                        <a:rPr lang="ko-KR" altLang="en-US" sz="1000" dirty="0" smtClean="0">
                          <a:latin typeface="+mn-lt"/>
                        </a:rPr>
                        <a:t>정확</a:t>
                      </a:r>
                      <a:r>
                        <a:rPr lang="en-US" altLang="ko-KR" sz="1000" dirty="0" smtClean="0">
                          <a:latin typeface="+mn-lt"/>
                        </a:rPr>
                        <a:t>), miss=0, late=0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- HS Gate </a:t>
                      </a:r>
                      <a:r>
                        <a:rPr lang="ko-KR" altLang="en-US" sz="1000" dirty="0" smtClean="0">
                          <a:latin typeface="+mn-lt"/>
                        </a:rPr>
                        <a:t>제어 체인 완성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heater_ctrl</a:t>
                      </a:r>
                      <a:r>
                        <a:rPr lang="en-US" altLang="ko-KR" sz="100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scheduler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000" dirty="0" smtClean="0">
                          <a:latin typeface="+mn-lt"/>
                        </a:rPr>
                        <a:t>RTE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HAL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PC3 GPIO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디버거</a:t>
                      </a:r>
                      <a:r>
                        <a:rPr lang="ko-KR" altLang="en-US" sz="1000" dirty="0" smtClean="0">
                          <a:latin typeface="+mn-lt"/>
                        </a:rPr>
                        <a:t> 검증</a:t>
                      </a:r>
                      <a:r>
                        <a:rPr lang="en-US" altLang="ko-KR" sz="1000" dirty="0" smtClean="0">
                          <a:latin typeface="+mn-lt"/>
                        </a:rPr>
                        <a:t>: 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init</a:t>
                      </a:r>
                      <a:r>
                        <a:rPr lang="en-US" altLang="ko-KR" sz="1000" dirty="0" smtClean="0">
                          <a:latin typeface="+mn-lt"/>
                        </a:rPr>
                        <a:t> OFF (PC3=0), MOE ON, CCR=0 </a:t>
                      </a:r>
                      <a:r>
                        <a:rPr lang="ko-KR" altLang="en-US" sz="1000" dirty="0" smtClean="0">
                          <a:latin typeface="+mn-lt"/>
                        </a:rPr>
                        <a:t>정상</a:t>
                      </a:r>
                      <a:endParaRPr lang="en-US" altLang="ko-KR" sz="1000" dirty="0" smtClean="0">
                        <a:latin typeface="+mn-lt"/>
                      </a:endParaRP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baseline="0" dirty="0" smtClean="0">
                          <a:latin typeface="+mn-lt"/>
                        </a:rPr>
                        <a:t>   - </a:t>
                      </a:r>
                      <a:r>
                        <a:rPr lang="en-US" altLang="ko-KR" sz="1000" dirty="0" smtClean="0">
                          <a:latin typeface="+mn-lt"/>
                        </a:rPr>
                        <a:t>HV/</a:t>
                      </a:r>
                      <a:r>
                        <a:rPr lang="ko-KR" altLang="en-US" sz="1000" dirty="0" smtClean="0">
                          <a:latin typeface="+mn-lt"/>
                        </a:rPr>
                        <a:t>전류 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풀스케일</a:t>
                      </a:r>
                      <a:r>
                        <a:rPr lang="ko-KR" altLang="en-US" sz="1000" dirty="0" smtClean="0">
                          <a:latin typeface="+mn-lt"/>
                        </a:rPr>
                        <a:t> 확정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HV: 500V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753V (</a:t>
                      </a:r>
                      <a:r>
                        <a:rPr lang="ko-KR" altLang="en-US" sz="1000" dirty="0" err="1" smtClean="0">
                          <a:latin typeface="+mn-lt"/>
                        </a:rPr>
                        <a:t>분압비</a:t>
                      </a:r>
                      <a:r>
                        <a:rPr lang="ko-KR" altLang="en-US" sz="100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0.00664, HW</a:t>
                      </a:r>
                      <a:r>
                        <a:rPr lang="ko-KR" altLang="en-US" sz="1000" dirty="0" smtClean="0">
                          <a:latin typeface="+mn-lt"/>
                        </a:rPr>
                        <a:t>팀 확인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ko-KR" altLang="en-US" sz="1000" dirty="0" smtClean="0">
                          <a:latin typeface="+mn-lt"/>
                        </a:rPr>
                        <a:t>전류</a:t>
                      </a:r>
                      <a:r>
                        <a:rPr lang="en-US" altLang="ko-KR" sz="1000" dirty="0" smtClean="0">
                          <a:latin typeface="+mn-lt"/>
                        </a:rPr>
                        <a:t>: 30A </a:t>
                      </a:r>
                      <a:r>
                        <a:rPr lang="en-US" altLang="ko-KR" sz="1000" dirty="0" smtClean="0">
                          <a:latin typeface="+mn-lt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altLang="ko-KR" sz="1000" dirty="0" smtClean="0">
                          <a:latin typeface="+mn-lt"/>
                        </a:rPr>
                        <a:t> 50A (Shunt 1m</a:t>
                      </a:r>
                      <a:r>
                        <a:rPr lang="el-GR" altLang="ko-KR" sz="1000" dirty="0" smtClean="0">
                          <a:latin typeface="+mn-lt"/>
                        </a:rPr>
                        <a:t>Ω × </a:t>
                      </a:r>
                      <a:r>
                        <a:rPr lang="en-US" altLang="ko-KR" sz="1000" dirty="0" smtClean="0">
                          <a:latin typeface="+mn-lt"/>
                        </a:rPr>
                        <a:t>Gain 100, </a:t>
                      </a:r>
                      <a:r>
                        <a:rPr lang="ko-KR" altLang="en-US" sz="1000" dirty="0" smtClean="0">
                          <a:latin typeface="+mn-lt"/>
                        </a:rPr>
                        <a:t>회로도 확인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-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Debug Override HV UV/OV </a:t>
                      </a:r>
                      <a:r>
                        <a:rPr lang="ko-KR" altLang="en-US" sz="1000" dirty="0" smtClean="0">
                          <a:latin typeface="+mn-lt"/>
                        </a:rPr>
                        <a:t>검증 </a:t>
                      </a:r>
                      <a:r>
                        <a:rPr lang="en-US" altLang="ko-KR" sz="1000" dirty="0" smtClean="0">
                          <a:latin typeface="+mn-lt"/>
                        </a:rPr>
                        <a:t>(753V </a:t>
                      </a:r>
                      <a:r>
                        <a:rPr lang="ko-KR" altLang="en-US" sz="1000" dirty="0" smtClean="0">
                          <a:latin typeface="+mn-lt"/>
                        </a:rPr>
                        <a:t>기준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  : UV </a:t>
                      </a:r>
                      <a:r>
                        <a:rPr lang="ko-KR" altLang="en-US" sz="1000" dirty="0" smtClean="0">
                          <a:latin typeface="+mn-lt"/>
                        </a:rPr>
                        <a:t>해제 </a:t>
                      </a:r>
                      <a:r>
                        <a:rPr lang="en-US" altLang="ko-KR" sz="1000" dirty="0" smtClean="0">
                          <a:latin typeface="+mn-lt"/>
                        </a:rPr>
                        <a:t>(ADC=300, ~221V)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  : OV </a:t>
                      </a:r>
                      <a:r>
                        <a:rPr lang="ko-KR" altLang="en-US" sz="1000" dirty="0" smtClean="0">
                          <a:latin typeface="+mn-lt"/>
                        </a:rPr>
                        <a:t>진입 </a:t>
                      </a:r>
                      <a:r>
                        <a:rPr lang="en-US" altLang="ko-KR" sz="1000" dirty="0" smtClean="0">
                          <a:latin typeface="+mn-lt"/>
                        </a:rPr>
                        <a:t>(ADC=700, ~515V)</a:t>
                      </a:r>
                    </a:p>
                    <a:p>
                      <a:pPr marL="0" marR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ts val="24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ts val="1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latin typeface="+mn-lt"/>
                        </a:rPr>
                        <a:t>   -</a:t>
                      </a:r>
                      <a:r>
                        <a:rPr lang="en-US" altLang="ko-KR" sz="1000" baseline="0" dirty="0" smtClean="0">
                          <a:latin typeface="+mn-lt"/>
                        </a:rPr>
                        <a:t> </a:t>
                      </a:r>
                      <a:r>
                        <a:rPr lang="en-US" altLang="ko-KR" sz="1000" dirty="0" smtClean="0">
                          <a:latin typeface="+mn-lt"/>
                        </a:rPr>
                        <a:t>.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ubsct</a:t>
                      </a:r>
                      <a:r>
                        <a:rPr lang="en-US" altLang="ko-KR" sz="1000" dirty="0" smtClean="0">
                          <a:latin typeface="+mn-lt"/>
                        </a:rPr>
                        <a:t> </a:t>
                      </a:r>
                      <a:r>
                        <a:rPr lang="ko-KR" altLang="en-US" sz="1000" dirty="0" smtClean="0">
                          <a:latin typeface="+mn-lt"/>
                        </a:rPr>
                        <a:t>메모리 </a:t>
                      </a:r>
                      <a:r>
                        <a:rPr lang="en-US" altLang="ko-KR" sz="1000" dirty="0" smtClean="0">
                          <a:latin typeface="+mn-lt"/>
                        </a:rPr>
                        <a:t>Overflow </a:t>
                      </a:r>
                      <a:r>
                        <a:rPr lang="ko-KR" altLang="en-US" sz="1000" dirty="0" smtClean="0">
                          <a:latin typeface="+mn-lt"/>
                        </a:rPr>
                        <a:t>해결</a:t>
                      </a:r>
                      <a:r>
                        <a:rPr lang="en-US" altLang="ko-KR" sz="1000" dirty="0" smtClean="0">
                          <a:latin typeface="+mn-lt"/>
                        </a:rPr>
                        <a:t/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Release/Debug </a:t>
                      </a:r>
                      <a:r>
                        <a:rPr lang="ko-KR" altLang="en-US" sz="1000" dirty="0" smtClean="0">
                          <a:latin typeface="+mn-lt"/>
                        </a:rPr>
                        <a:t>메모리 모델 통일 </a:t>
                      </a:r>
                      <a:r>
                        <a:rPr lang="en-US" altLang="ko-KR" sz="1000" dirty="0" smtClean="0">
                          <a:latin typeface="+mn-lt"/>
                        </a:rPr>
                        <a:t>(+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modsl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CRT </a:t>
                      </a:r>
                      <a:r>
                        <a:rPr lang="ko-KR" altLang="en-US" sz="1000" dirty="0" smtClean="0">
                          <a:latin typeface="+mn-lt"/>
                        </a:rPr>
                        <a:t>충돌 해결 </a:t>
                      </a:r>
                      <a:r>
                        <a:rPr lang="en-US" altLang="ko-KR" sz="1000" dirty="0" smtClean="0">
                          <a:latin typeface="+mn-lt"/>
                        </a:rPr>
                        <a:t>(Custom .</a:t>
                      </a:r>
                      <a:r>
                        <a:rPr lang="en-US" altLang="ko-KR" sz="1000" dirty="0" err="1" smtClean="0">
                          <a:latin typeface="+mn-lt"/>
                        </a:rPr>
                        <a:t>lkf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  <a:br>
                        <a:rPr lang="en-US" altLang="ko-KR" sz="1000" dirty="0" smtClean="0">
                          <a:latin typeface="+mn-lt"/>
                        </a:rPr>
                      </a:br>
                      <a:r>
                        <a:rPr lang="en-US" altLang="ko-KR" sz="1000" dirty="0" smtClean="0">
                          <a:latin typeface="+mn-lt"/>
                        </a:rPr>
                        <a:t>     : RAM </a:t>
                      </a:r>
                      <a:r>
                        <a:rPr lang="ko-KR" altLang="en-US" sz="1000" dirty="0" smtClean="0">
                          <a:latin typeface="+mn-lt"/>
                        </a:rPr>
                        <a:t>사용률 </a:t>
                      </a:r>
                      <a:r>
                        <a:rPr lang="en-US" altLang="ko-KR" sz="1000" dirty="0" smtClean="0">
                          <a:latin typeface="+mn-lt"/>
                        </a:rPr>
                        <a:t>26% (</a:t>
                      </a:r>
                      <a:r>
                        <a:rPr lang="ko-KR" altLang="en-US" sz="1000" dirty="0" smtClean="0">
                          <a:latin typeface="+mn-lt"/>
                        </a:rPr>
                        <a:t>여유 충분</a:t>
                      </a:r>
                      <a:r>
                        <a:rPr lang="en-US" altLang="ko-KR" sz="1000" dirty="0" smtClean="0">
                          <a:latin typeface="+mn-lt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</a:t>
                      </a:r>
                      <a:r>
                        <a:rPr lang="en-US" altLang="ko-KR" sz="100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 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진단 프레임 인프라 구축 </a:t>
                      </a: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(0x3C/0x3D)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en-US" altLang="ko-KR" sz="100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lin_diag</a:t>
                      </a:r>
                      <a:r>
                        <a:rPr lang="en-US" altLang="ko-KR" sz="1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v1.1 (middleware)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</a:t>
                      </a:r>
                      <a: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50" b="0" i="0" u="none" strike="noStrike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dcm_manager</a:t>
                      </a:r>
                      <a: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v1.0 (app)</a:t>
                      </a:r>
                      <a:b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050" b="0" i="0" u="none" strike="noStrike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en-US" altLang="ko-KR" sz="1050" b="0" i="0" u="none" strike="noStrike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heater_ctrl</a:t>
                      </a:r>
                      <a: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v2.1</a:t>
                      </a:r>
                      <a:b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lang="en-US" altLang="ko-KR" sz="105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US" altLang="ko-KR" sz="1050" dirty="0" smtClean="0">
                        <a:latin typeface="+mn-lt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Y2V (Suzuki)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전임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-</a:t>
              </a: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TextBox 28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aphicFrame>
        <p:nvGraphicFramePr>
          <p:cNvPr id="30" name="개체 2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16512319"/>
              </p:ext>
            </p:extLst>
          </p:nvPr>
        </p:nvGraphicFramePr>
        <p:xfrm>
          <a:off x="1745696" y="1628800"/>
          <a:ext cx="180000" cy="18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24" name="워크시트" showAsIcon="1" r:id="rId4" imgW="380880" imgH="771480" progId="Excel.Sheet.12">
                  <p:embed/>
                </p:oleObj>
              </mc:Choice>
              <mc:Fallback>
                <p:oleObj name="워크시트" showAsIcon="1" r:id="rId4" imgW="380880" imgH="771480" progId="Excel.Sheet.12">
                  <p:embed/>
                  <p:pic>
                    <p:nvPicPr>
                      <p:cNvPr id="5" name="개체 4"/>
                      <p:cNvPicPr preferRelativeResize="0"/>
                      <p:nvPr/>
                    </p:nvPicPr>
                    <p:blipFill>
                      <a:blip r:embed="rId5">
                        <a:lum bright="-100000" contrast="-100000"/>
                      </a:blip>
                      <a:stretch>
                        <a:fillRect/>
                      </a:stretch>
                    </p:blipFill>
                    <p:spPr>
                      <a:xfrm>
                        <a:off x="1745696" y="1628800"/>
                        <a:ext cx="180000" cy="180000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424719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99640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차주 </a:t>
                      </a:r>
                      <a:r>
                        <a:rPr lang="en-US" altLang="ko-KR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입수 예정</a:t>
                      </a:r>
                      <a:endParaRPr lang="en-US" altLang="ko-KR" sz="1000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r>
                        <a:rPr lang="en-US" altLang="ko-KR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 writing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팀 전달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000" b="1" i="0" u="none" strike="noStrike" kern="1200" cap="none" spc="0" normalizeH="0" baseline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</a:t>
            </a:r>
            <a:r>
              <a:rPr kumimoji="0" lang="ko-KR" altLang="en-US" sz="1000" b="1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 전임</a:t>
            </a:r>
            <a:r>
              <a:rPr kumimoji="0" lang="en-US" altLang="ko-KR" sz="1000" b="1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6103298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50800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400" b="1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자료 작성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Release Note,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제어사양서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로직점검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체크리스트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CAN DB,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바이너리 파일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영향성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평가서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로직 튜닝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(~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4/2)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3.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인도법인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부트로더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업데이트 툴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1EA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지원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인도 출장자를 통한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부트로더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동글 전달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(3/31)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만약의 사태를 대비하여 완제품 기준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업데이트 할 수 있도록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업데이트 툴 요청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 SP1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대응에 따른 진행 계획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현지 생산 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Proto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생산 진행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R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완료 이후 평택 입고 시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업데이후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계획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(~4/3)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R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튜닝값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이외 변경 사항 없음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SP1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약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200EA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 dirty="0" err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25.10.15</a:t>
              </a: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26.5.11</a:t>
              </a: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26.09.21</a:t>
              </a: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26.12.1</a:t>
              </a: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26.3.31</a:t>
              </a: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RHD</a:t>
            </a:r>
            <a:endParaRPr lang="ko-KR" altLang="en-US" sz="1000" b="1" dirty="0"/>
          </a:p>
        </p:txBody>
      </p:sp>
      <p:sp>
        <p:nvSpPr>
          <p:cNvPr id="43" name="TextBox 42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dirty="0"/>
              <a:t>LHD</a:t>
            </a:r>
            <a:endParaRPr lang="ko-KR" altLang="en-US" sz="1000" b="1" dirty="0"/>
          </a:p>
        </p:txBody>
      </p:sp>
      <p:sp>
        <p:nvSpPr>
          <p:cNvPr id="44" name="Rectangle 46"/>
          <p:cNvSpPr>
            <a:spLocks noChangeArrowheads="1"/>
          </p:cNvSpPr>
          <p:nvPr/>
        </p:nvSpPr>
        <p:spPr bwMode="auto">
          <a:xfrm>
            <a:off x="5351969" y="970381"/>
            <a:ext cx="1008918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000"/>
            </a:pPr>
            <a:r>
              <a:rPr lang="en-US" altLang="ko-KR" sz="1000" dirty="0">
                <a:latin typeface="+mn-ea"/>
              </a:rPr>
              <a:t>26.5.11</a:t>
            </a:r>
          </a:p>
        </p:txBody>
      </p:sp>
      <p:sp>
        <p:nvSpPr>
          <p:cNvPr id="46" name="Rectangle 46"/>
          <p:cNvSpPr>
            <a:spLocks noChangeArrowheads="1"/>
          </p:cNvSpPr>
          <p:nvPr/>
        </p:nvSpPr>
        <p:spPr bwMode="auto">
          <a:xfrm>
            <a:off x="6766636" y="970381"/>
            <a:ext cx="1045724" cy="2667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000"/>
            </a:pPr>
            <a:r>
              <a:rPr lang="en-US" altLang="ko-KR" sz="1000" dirty="0">
                <a:latin typeface="+mn-ea"/>
              </a:rPr>
              <a:t>26.09.21</a:t>
            </a:r>
          </a:p>
        </p:txBody>
      </p:sp>
      <p:sp>
        <p:nvSpPr>
          <p:cNvPr id="47" name="Rectangle 46"/>
          <p:cNvSpPr>
            <a:spLocks noChangeArrowheads="1"/>
          </p:cNvSpPr>
          <p:nvPr/>
        </p:nvSpPr>
        <p:spPr bwMode="auto">
          <a:xfrm>
            <a:off x="8221953" y="963155"/>
            <a:ext cx="1030567" cy="2667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000"/>
            </a:pPr>
            <a:r>
              <a:rPr lang="en-US" altLang="ko-KR" sz="1000" dirty="0">
                <a:latin typeface="+mn-ea"/>
              </a:rPr>
              <a:t>26.12.1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395" y="1867069"/>
            <a:ext cx="3742482" cy="57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63341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87381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CAN-FD Driver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후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전달 예정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H/W, ~4/7)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XV1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463722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0033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1. Proto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시료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대 튜닝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(3/27)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LV, HV, Core Temp Sensor, Current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Proto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(03/31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납품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NQ6e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바이너리로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라이팅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완료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(27EA)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: 25EA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납품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S/W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테스트 샘플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2EA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NQ6e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 사원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26.7.1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26.12.25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27.10.31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  <p:grpSp>
        <p:nvGrpSpPr>
          <p:cNvPr id="43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0548" y="536609"/>
            <a:ext cx="1030567" cy="528565"/>
            <a:chOff x="0" y="131540"/>
            <a:chExt cx="604837" cy="504569"/>
          </a:xfrm>
        </p:grpSpPr>
        <p:sp>
          <p:nvSpPr>
            <p:cNvPr id="44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81517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27.6.16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6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1540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7" name="위쪽 화살표 46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985051" y="715558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01841835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77C1C4-A3C9-668F-8BD4-A4EFBA02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EC9F43-DC7A-B554-0027-7324B6D81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62448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lang="en-US" altLang="ko-KR" sz="1000" b="0" i="0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>
            <a:extLst>
              <a:ext uri="{FF2B5EF4-FFF2-40B4-BE49-F238E27FC236}">
                <a16:creationId xmlns:a16="http://schemas.microsoft.com/office/drawing/2014/main" id="{CB876340-F09E-504A-0DE6-114696226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2CF65C-1B93-0A3B-5E44-8AFA81767C77}"/>
              </a:ext>
            </a:extLst>
          </p:cNvPr>
          <p:cNvSpPr txBox="1"/>
          <p:nvPr/>
        </p:nvSpPr>
        <p:spPr>
          <a:xfrm>
            <a:off x="378983" y="692696"/>
            <a:ext cx="34920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SANDEN Air PTC 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66AB7CCE-AC66-EE6E-395C-571BC498E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>
            <a:extLst>
              <a:ext uri="{FF2B5EF4-FFF2-40B4-BE49-F238E27FC236}">
                <a16:creationId xmlns:a16="http://schemas.microsoft.com/office/drawing/2014/main" id="{42209463-6C29-0498-9738-0B38AC6B0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>
            <a:extLst>
              <a:ext uri="{FF2B5EF4-FFF2-40B4-BE49-F238E27FC236}">
                <a16:creationId xmlns:a16="http://schemas.microsoft.com/office/drawing/2014/main" id="{3B6089FB-B4EB-1309-6C6C-FED38C4B60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>
              <a:extLst>
                <a:ext uri="{FF2B5EF4-FFF2-40B4-BE49-F238E27FC236}">
                  <a16:creationId xmlns:a16="http://schemas.microsoft.com/office/drawing/2014/main" id="{AAE4A6DE-BB43-36E7-DE06-5E054232AE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>
              <a:extLst>
                <a:ext uri="{FF2B5EF4-FFF2-40B4-BE49-F238E27FC236}">
                  <a16:creationId xmlns:a16="http://schemas.microsoft.com/office/drawing/2014/main" id="{F51CE518-D8CE-56D1-343E-27D125A2A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2" name="Rectangle 46">
              <a:extLst>
                <a:ext uri="{FF2B5EF4-FFF2-40B4-BE49-F238E27FC236}">
                  <a16:creationId xmlns:a16="http://schemas.microsoft.com/office/drawing/2014/main" id="{F3A4B264-7845-009C-FF8C-557C315E6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>
            <a:extLst>
              <a:ext uri="{FF2B5EF4-FFF2-40B4-BE49-F238E27FC236}">
                <a16:creationId xmlns:a16="http://schemas.microsoft.com/office/drawing/2014/main" id="{7E0CAE91-9272-F3B5-CD0D-3AFB7A1CE1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>
              <a:extLst>
                <a:ext uri="{FF2B5EF4-FFF2-40B4-BE49-F238E27FC236}">
                  <a16:creationId xmlns:a16="http://schemas.microsoft.com/office/drawing/2014/main" id="{F8ABE3AE-D061-7541-EAD2-43767972A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5" name="Rectangle 46">
              <a:extLst>
                <a:ext uri="{FF2B5EF4-FFF2-40B4-BE49-F238E27FC236}">
                  <a16:creationId xmlns:a16="http://schemas.microsoft.com/office/drawing/2014/main" id="{FFA98DA7-63D9-A7D1-041A-EFEFAF440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>
            <a:extLst>
              <a:ext uri="{FF2B5EF4-FFF2-40B4-BE49-F238E27FC236}">
                <a16:creationId xmlns:a16="http://schemas.microsoft.com/office/drawing/2014/main" id="{750DF511-D71D-F326-17B2-0EE47CB64A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>
              <a:extLst>
                <a:ext uri="{FF2B5EF4-FFF2-40B4-BE49-F238E27FC236}">
                  <a16:creationId xmlns:a16="http://schemas.microsoft.com/office/drawing/2014/main" id="{E0A6356D-33B1-90F5-B763-DD783D8E31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38" name="Rectangle 46">
              <a:extLst>
                <a:ext uri="{FF2B5EF4-FFF2-40B4-BE49-F238E27FC236}">
                  <a16:creationId xmlns:a16="http://schemas.microsoft.com/office/drawing/2014/main" id="{BEACA4F1-757A-2F05-2660-65AA94460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>
            <a:extLst>
              <a:ext uri="{FF2B5EF4-FFF2-40B4-BE49-F238E27FC236}">
                <a16:creationId xmlns:a16="http://schemas.microsoft.com/office/drawing/2014/main" id="{C5BF8B83-4345-6C57-8E1F-BFDCBAA0A78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>
              <a:extLst>
                <a:ext uri="{FF2B5EF4-FFF2-40B4-BE49-F238E27FC236}">
                  <a16:creationId xmlns:a16="http://schemas.microsoft.com/office/drawing/2014/main" id="{E9CBA838-F613-EBE3-A3C2-BF909FA0D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41" name="Rectangle 46">
              <a:extLst>
                <a:ext uri="{FF2B5EF4-FFF2-40B4-BE49-F238E27FC236}">
                  <a16:creationId xmlns:a16="http://schemas.microsoft.com/office/drawing/2014/main" id="{D1A4D78E-BAE4-C1A1-6328-D02A354D9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>
            <a:extLst>
              <a:ext uri="{FF2B5EF4-FFF2-40B4-BE49-F238E27FC236}">
                <a16:creationId xmlns:a16="http://schemas.microsoft.com/office/drawing/2014/main" id="{B49122A4-88BD-0054-D8CF-A93D750E9C34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>
            <a:extLst>
              <a:ext uri="{FF2B5EF4-FFF2-40B4-BE49-F238E27FC236}">
                <a16:creationId xmlns:a16="http://schemas.microsoft.com/office/drawing/2014/main" id="{F46E8ED4-9848-0689-4E79-EB131E9CE3EB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>
            <a:extLst>
              <a:ext uri="{FF2B5EF4-FFF2-40B4-BE49-F238E27FC236}">
                <a16:creationId xmlns:a16="http://schemas.microsoft.com/office/drawing/2014/main" id="{E05634CE-AE3B-D45F-21FE-DBFF0A3F527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>
            <a:extLst>
              <a:ext uri="{FF2B5EF4-FFF2-40B4-BE49-F238E27FC236}">
                <a16:creationId xmlns:a16="http://schemas.microsoft.com/office/drawing/2014/main" id="{3EB16624-EBF9-0AB7-9CC9-079849BA10A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>
              <a:extLst>
                <a:ext uri="{FF2B5EF4-FFF2-40B4-BE49-F238E27FC236}">
                  <a16:creationId xmlns:a16="http://schemas.microsoft.com/office/drawing/2014/main" id="{C15B97AA-D88E-1E3C-FBEE-4ECBD07CF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>
              <a:extLst>
                <a:ext uri="{FF2B5EF4-FFF2-40B4-BE49-F238E27FC236}">
                  <a16:creationId xmlns:a16="http://schemas.microsoft.com/office/drawing/2014/main" id="{E6EAD7CF-A9FE-431C-DB9B-3DB87A1CB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>
            <a:extLst>
              <a:ext uri="{FF2B5EF4-FFF2-40B4-BE49-F238E27FC236}">
                <a16:creationId xmlns:a16="http://schemas.microsoft.com/office/drawing/2014/main" id="{4F775F6C-7A60-7FEA-0734-E5152504240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946970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483919"/>
              </p:ext>
            </p:extLst>
          </p:nvPr>
        </p:nvGraphicFramePr>
        <p:xfrm>
          <a:off x="11059" y="548680"/>
          <a:ext cx="9097445" cy="4988607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70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1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933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우리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&lt;-&gt;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4/1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한온시스템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본사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참석자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오세영 수석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이자효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책임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김진겸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전입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전압 변동 시험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-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이슈사항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전구간 전압 변동 대응 위한 전체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S/W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로직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변경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a. 500ms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동안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1m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샘플링 주기로 전압 저장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b. Stall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발생시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500ms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동안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Max, Min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전압 차가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Threshold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이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상일 경우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, Stall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미발생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2P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진행 중 변동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감지시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2P Cal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재시작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     : 10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회 진행 시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2P Cal Error</a:t>
                      </a: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</a:rPr>
                        <a:t>          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노멀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동작 중 변동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감지시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 모터 정지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초 후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+mn-cs"/>
                          <a:sym typeface="Wingdings" panose="05000000000000000000" pitchFamily="2" charset="2"/>
                        </a:rPr>
                        <a:t>재시작</a:t>
                      </a:r>
                      <a:endParaRPr lang="en-US" altLang="ko-KR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재 평가 이후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진행 </a:t>
                      </a:r>
                      <a:r>
                        <a:rPr kumimoji="1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4/3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548680"/>
            <a:ext cx="36654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JG</a:t>
            </a:r>
            <a:endParaRPr lang="en-US" altLang="ko-KR" sz="1600" b="1" noProof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이자효 </a:t>
            </a:r>
            <a:r>
              <a:rPr lang="ko-KR" altLang="en-US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책임</a:t>
            </a:r>
            <a:r>
              <a:rPr lang="en-US" altLang="ko-KR" sz="10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0009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4644008" y="548680"/>
            <a:ext cx="1008918" cy="520355"/>
            <a:chOff x="0" y="134593"/>
            <a:chExt cx="604837" cy="496731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25.9.15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5364088" y="547221"/>
            <a:ext cx="1045724" cy="519163"/>
            <a:chOff x="0" y="135732"/>
            <a:chExt cx="604837" cy="495592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3.1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7941410" y="528347"/>
            <a:ext cx="1030567" cy="530581"/>
            <a:chOff x="0" y="111804"/>
            <a:chExt cx="604837" cy="506492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11804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07605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5827196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395913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16"/>
          <p:cNvGrpSpPr>
            <a:grpSpLocks noChangeAspect="1"/>
          </p:cNvGrpSpPr>
          <p:nvPr/>
        </p:nvGrpSpPr>
        <p:grpSpPr bwMode="auto">
          <a:xfrm>
            <a:off x="7452320" y="524823"/>
            <a:ext cx="1045724" cy="537093"/>
            <a:chOff x="0" y="118616"/>
            <a:chExt cx="604837" cy="512708"/>
          </a:xfrm>
        </p:grpSpPr>
        <p:sp>
          <p:nvSpPr>
            <p:cNvPr id="4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4" name="Rectangle 46"/>
            <p:cNvSpPr>
              <a:spLocks noChangeArrowheads="1"/>
            </p:cNvSpPr>
            <p:nvPr/>
          </p:nvSpPr>
          <p:spPr bwMode="auto">
            <a:xfrm>
              <a:off x="26297" y="118616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46" name="위쪽 화살표 45"/>
          <p:cNvSpPr>
            <a:spLocks noChangeArrowheads="1"/>
          </p:cNvSpPr>
          <p:nvPr/>
        </p:nvSpPr>
        <p:spPr bwMode="auto">
          <a:xfrm rot="10800000">
            <a:off x="7915428" y="71761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47" name="그룹 16"/>
          <p:cNvGrpSpPr>
            <a:grpSpLocks noChangeAspect="1"/>
          </p:cNvGrpSpPr>
          <p:nvPr/>
        </p:nvGrpSpPr>
        <p:grpSpPr bwMode="auto">
          <a:xfrm>
            <a:off x="6190572" y="541559"/>
            <a:ext cx="1045724" cy="519163"/>
            <a:chOff x="0" y="135732"/>
            <a:chExt cx="604837" cy="495592"/>
          </a:xfrm>
        </p:grpSpPr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4.30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Post P#2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</p:grpSp>
      <p:sp>
        <p:nvSpPr>
          <p:cNvPr id="51" name="위쪽 화살표 50"/>
          <p:cNvSpPr>
            <a:spLocks noChangeArrowheads="1"/>
          </p:cNvSpPr>
          <p:nvPr/>
        </p:nvSpPr>
        <p:spPr bwMode="auto">
          <a:xfrm rot="10800000">
            <a:off x="6653680" y="716425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804248" y="533573"/>
            <a:ext cx="1045724" cy="519163"/>
            <a:chOff x="0" y="135732"/>
            <a:chExt cx="604837" cy="495592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767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Pre 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55" name="위쪽 화살표 54"/>
          <p:cNvSpPr>
            <a:spLocks noChangeArrowheads="1"/>
          </p:cNvSpPr>
          <p:nvPr/>
        </p:nvSpPr>
        <p:spPr bwMode="auto">
          <a:xfrm rot="10800000">
            <a:off x="7267356" y="70843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Box 55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97193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892885"/>
              </p:ext>
            </p:extLst>
          </p:nvPr>
        </p:nvGraphicFramePr>
        <p:xfrm>
          <a:off x="23277" y="568922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 smtClean="0"/>
                        <a:t>1. </a:t>
                      </a:r>
                      <a:r>
                        <a:rPr lang="ko-KR" altLang="en-US" sz="1000" baseline="0" dirty="0" smtClean="0"/>
                        <a:t>담당 미국 출장 복귀 </a:t>
                      </a:r>
                      <a:r>
                        <a:rPr lang="en-US" altLang="ko-KR" sz="1000" baseline="0" dirty="0" smtClean="0"/>
                        <a:t>(4/5)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 smtClean="0"/>
                        <a:t>   </a:t>
                      </a:r>
                      <a:r>
                        <a:rPr lang="ko-KR" altLang="en-US" sz="1000" baseline="0" dirty="0" smtClean="0"/>
                        <a:t>진행 사항 </a:t>
                      </a:r>
                      <a:r>
                        <a:rPr lang="en-US" altLang="ko-KR" sz="1000" baseline="0" dirty="0" smtClean="0"/>
                        <a:t>: </a:t>
                      </a:r>
                      <a:r>
                        <a:rPr lang="en-US" altLang="ko-KR" sz="1000" baseline="0" dirty="0" err="1" smtClean="0"/>
                        <a:t>Fedex</a:t>
                      </a:r>
                      <a:r>
                        <a:rPr lang="en-US" altLang="ko-KR" sz="1000" baseline="0" dirty="0" smtClean="0"/>
                        <a:t> </a:t>
                      </a:r>
                      <a:r>
                        <a:rPr lang="ko-KR" altLang="en-US" sz="1000" baseline="0" dirty="0" smtClean="0"/>
                        <a:t>통관 지연으로 반송 처리 예정</a:t>
                      </a:r>
                      <a:r>
                        <a:rPr lang="en-US" altLang="ko-KR" sz="1000" baseline="0" dirty="0" smtClean="0"/>
                        <a:t>.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altLang="ko-KR" sz="1000" baseline="0" dirty="0" smtClean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 smtClean="0"/>
                        <a:t>   </a:t>
                      </a:r>
                      <a:endParaRPr lang="en-US" altLang="ko-KR" sz="1000" b="0" baseline="0" dirty="0"/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aseline="0" dirty="0"/>
                        <a:t>1. S/W 2</a:t>
                      </a:r>
                      <a:r>
                        <a:rPr lang="ko-KR" altLang="en-US" sz="1000" baseline="0" dirty="0"/>
                        <a:t>차 검증 </a:t>
                      </a:r>
                      <a:endParaRPr lang="en-US" altLang="ko-KR" sz="100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/>
                        <a:t>   - </a:t>
                      </a:r>
                      <a:r>
                        <a:rPr lang="ko-KR" altLang="en-US" sz="1000" b="0" baseline="0" dirty="0"/>
                        <a:t>주최 </a:t>
                      </a:r>
                      <a:r>
                        <a:rPr lang="en-US" altLang="ko-KR" sz="1000" b="0" baseline="0" dirty="0"/>
                        <a:t>: HKMC </a:t>
                      </a:r>
                      <a:r>
                        <a:rPr lang="ko-KR" altLang="en-US" sz="1000" b="0" baseline="0" dirty="0"/>
                        <a:t>열에너지 시스템 팀</a:t>
                      </a:r>
                      <a:endParaRPr lang="en-US" altLang="ko-KR" sz="1000" b="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ko-KR" sz="1000" b="0" baseline="0" dirty="0"/>
                        <a:t>   - </a:t>
                      </a:r>
                      <a:r>
                        <a:rPr lang="ko-KR" altLang="en-US" sz="1000" b="0" baseline="0" dirty="0"/>
                        <a:t>날짜 </a:t>
                      </a:r>
                      <a:r>
                        <a:rPr lang="en-US" altLang="ko-KR" sz="1000" b="0" baseline="0" dirty="0"/>
                        <a:t>:  4</a:t>
                      </a:r>
                      <a:r>
                        <a:rPr lang="ko-KR" altLang="en-US" sz="1000" b="0" baseline="0" dirty="0"/>
                        <a:t>월 </a:t>
                      </a:r>
                      <a:r>
                        <a:rPr lang="en-US" altLang="ko-KR" sz="1000" b="0" baseline="0" dirty="0"/>
                        <a:t>13</a:t>
                      </a:r>
                      <a:r>
                        <a:rPr lang="ko-KR" altLang="en-US" sz="1000" b="0" baseline="0" dirty="0"/>
                        <a:t>일 </a:t>
                      </a:r>
                      <a:endParaRPr lang="en-US" altLang="ko-KR" sz="1000" b="0" baseline="0" dirty="0"/>
                    </a:p>
                    <a:p>
                      <a:pPr>
                        <a:lnSpc>
                          <a:spcPct val="150000"/>
                        </a:lnSpc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4WayValve</a:t>
            </a:r>
            <a:endParaRPr lang="en-US" altLang="ko-KR" sz="1600" b="1" noProof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김강일 사원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30067124-8453-5C6A-93B2-0084155B464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0775" y="890142"/>
            <a:ext cx="5659939" cy="22121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/>
                <a:ea typeface="굴림"/>
                <a:cs typeface="+mn-cs"/>
              </a:defRPr>
            </a:lvl9pPr>
          </a:lstStyle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805588E-37E0-DA9C-9E52-6EF1AD7529F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456238" y="568922"/>
            <a:ext cx="3187913" cy="537127"/>
            <a:chOff x="-1281992" y="105555"/>
            <a:chExt cx="1886829" cy="512741"/>
          </a:xfrm>
        </p:grpSpPr>
        <p:sp>
          <p:nvSpPr>
            <p:cNvPr id="24" name="위쪽 화살표 43">
              <a:extLst>
                <a:ext uri="{FF2B5EF4-FFF2-40B4-BE49-F238E27FC236}">
                  <a16:creationId xmlns:a16="http://schemas.microsoft.com/office/drawing/2014/main" id="{E0709667-4385-E76D-9399-32558DCAC5C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25" name="Rectangle 46">
              <a:extLst>
                <a:ext uri="{FF2B5EF4-FFF2-40B4-BE49-F238E27FC236}">
                  <a16:creationId xmlns:a16="http://schemas.microsoft.com/office/drawing/2014/main" id="{C7EBFE63-D8F4-B105-5A57-623F85F04E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26" name="Rectangle 46">
              <a:extLst>
                <a:ext uri="{FF2B5EF4-FFF2-40B4-BE49-F238E27FC236}">
                  <a16:creationId xmlns:a16="http://schemas.microsoft.com/office/drawing/2014/main" id="{56F80903-B688-9B8F-CD2A-3FA145339E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74" y="105555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SP#1/26.4.15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27" name="Rectangle 46">
              <a:extLst>
                <a:ext uri="{FF2B5EF4-FFF2-40B4-BE49-F238E27FC236}">
                  <a16:creationId xmlns:a16="http://schemas.microsoft.com/office/drawing/2014/main" id="{B6762560-C205-27BD-75DA-9C3AADCEA7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281992" y="105555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HKMC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BC0F4A86-8683-956B-19DD-FCF2D5434FF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477919" y="922850"/>
            <a:ext cx="1201051" cy="505237"/>
            <a:chOff x="-106029" y="135997"/>
            <a:chExt cx="710866" cy="482299"/>
          </a:xfrm>
        </p:grpSpPr>
        <p:sp>
          <p:nvSpPr>
            <p:cNvPr id="21" name="위쪽 화살표 16">
              <a:extLst>
                <a:ext uri="{FF2B5EF4-FFF2-40B4-BE49-F238E27FC236}">
                  <a16:creationId xmlns:a16="http://schemas.microsoft.com/office/drawing/2014/main" id="{BE46A58D-A4FB-0A8B-1DE9-DB373B0006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164" y="135997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22" name="Rectangle 46">
              <a:extLst>
                <a:ext uri="{FF2B5EF4-FFF2-40B4-BE49-F238E27FC236}">
                  <a16:creationId xmlns:a16="http://schemas.microsoft.com/office/drawing/2014/main" id="{FEB624E9-40A7-DF0A-4C48-AF6444BE69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23" name="Rectangle 46">
              <a:extLst>
                <a:ext uri="{FF2B5EF4-FFF2-40B4-BE49-F238E27FC236}">
                  <a16:creationId xmlns:a16="http://schemas.microsoft.com/office/drawing/2014/main" id="{A777D1AD-0636-E4C5-BA30-133A00D46B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06029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LP#1/26.4.10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C00DEF4-8788-57FF-DA2B-594C005446D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496450" y="922850"/>
            <a:ext cx="2030699" cy="505237"/>
            <a:chOff x="-597073" y="135997"/>
            <a:chExt cx="1201910" cy="482299"/>
          </a:xfrm>
        </p:grpSpPr>
        <p:sp>
          <p:nvSpPr>
            <p:cNvPr id="17" name="위쪽 화살표 20">
              <a:extLst>
                <a:ext uri="{FF2B5EF4-FFF2-40B4-BE49-F238E27FC236}">
                  <a16:creationId xmlns:a16="http://schemas.microsoft.com/office/drawing/2014/main" id="{BDEA3A61-615E-7F7B-2003-F6DCF40C0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164" y="135997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18" name="Rectangle 46">
              <a:extLst>
                <a:ext uri="{FF2B5EF4-FFF2-40B4-BE49-F238E27FC236}">
                  <a16:creationId xmlns:a16="http://schemas.microsoft.com/office/drawing/2014/main" id="{17C6086D-B563-6D54-C0D0-E3D777FFB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19" name="Rectangle 46">
              <a:extLst>
                <a:ext uri="{FF2B5EF4-FFF2-40B4-BE49-F238E27FC236}">
                  <a16:creationId xmlns:a16="http://schemas.microsoft.com/office/drawing/2014/main" id="{361C656E-746F-00CB-1497-7C289E593D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06029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SP#1/26.3.01</a:t>
              </a:r>
            </a:p>
          </p:txBody>
        </p:sp>
        <p:sp>
          <p:nvSpPr>
            <p:cNvPr id="20" name="Rectangle 46">
              <a:extLst>
                <a:ext uri="{FF2B5EF4-FFF2-40B4-BE49-F238E27FC236}">
                  <a16:creationId xmlns:a16="http://schemas.microsoft.com/office/drawing/2014/main" id="{DB98EFF7-86FD-6B88-B74F-7C09154D57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597073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ko-KR" altLang="en-US" sz="1000" dirty="0" err="1">
                  <a:latin typeface="+mn-ea"/>
                </a:rPr>
                <a:t>명화공업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0FB415B-A012-7F7B-8FDD-5D1E5CE2E5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64142" y="922850"/>
            <a:ext cx="1201051" cy="505237"/>
            <a:chOff x="-106029" y="135997"/>
            <a:chExt cx="710866" cy="482299"/>
          </a:xfrm>
        </p:grpSpPr>
        <p:sp>
          <p:nvSpPr>
            <p:cNvPr id="14" name="위쪽 화살표 24">
              <a:extLst>
                <a:ext uri="{FF2B5EF4-FFF2-40B4-BE49-F238E27FC236}">
                  <a16:creationId xmlns:a16="http://schemas.microsoft.com/office/drawing/2014/main" id="{496F9014-A832-7626-E95A-4B7FF4B8D9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164" y="135997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15" name="Rectangle 46">
              <a:extLst>
                <a:ext uri="{FF2B5EF4-FFF2-40B4-BE49-F238E27FC236}">
                  <a16:creationId xmlns:a16="http://schemas.microsoft.com/office/drawing/2014/main" id="{2A839B0E-1738-90BC-7A56-3F578FEEE9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16" name="Rectangle 46">
              <a:extLst>
                <a:ext uri="{FF2B5EF4-FFF2-40B4-BE49-F238E27FC236}">
                  <a16:creationId xmlns:a16="http://schemas.microsoft.com/office/drawing/2014/main" id="{8154AC2C-6E7A-ED2F-3AC5-B3BE349FB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06029" y="183583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LP#2/26.6.20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980FD3B4-B1FA-26CD-0359-89AA4F86964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06955" y="568922"/>
            <a:ext cx="1021909" cy="537127"/>
            <a:chOff x="0" y="105555"/>
            <a:chExt cx="604837" cy="512741"/>
          </a:xfrm>
        </p:grpSpPr>
        <p:sp>
          <p:nvSpPr>
            <p:cNvPr id="9" name="위쪽 화살표 29">
              <a:extLst>
                <a:ext uri="{FF2B5EF4-FFF2-40B4-BE49-F238E27FC236}">
                  <a16:creationId xmlns:a16="http://schemas.microsoft.com/office/drawing/2014/main" id="{DD48BA24-C629-D4F8-CC84-F0BFDA6CEA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defPPr>
                <a:defRPr lang="ko-KR"/>
              </a:defPPr>
              <a:lvl1pPr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1pPr>
              <a:lvl2pPr marL="4572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2pPr>
              <a:lvl3pPr marL="9144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3pPr>
              <a:lvl4pPr marL="13716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4pPr>
              <a:lvl5pPr marL="1828800" algn="l" rtl="0" fontAlgn="base" latinLnBrk="1">
                <a:spcBef>
                  <a:spcPct val="0"/>
                </a:spcBef>
                <a:spcAft>
                  <a:spcPct val="0"/>
                </a:spcAft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umimoji="1" kern="1200">
                  <a:solidFill>
                    <a:schemeClr val="tx1"/>
                  </a:solidFill>
                  <a:latin typeface="굴림"/>
                  <a:ea typeface="굴림"/>
                  <a:cs typeface="+mn-cs"/>
                </a:defRPr>
              </a:lvl9pPr>
            </a:lstStyle>
            <a:p>
              <a:endParaRPr lang="ko-KR" altLang="en-US" sz="2400"/>
            </a:p>
          </p:txBody>
        </p:sp>
        <p:sp>
          <p:nvSpPr>
            <p:cNvPr id="11" name="Rectangle 46">
              <a:extLst>
                <a:ext uri="{FF2B5EF4-FFF2-40B4-BE49-F238E27FC236}">
                  <a16:creationId xmlns:a16="http://schemas.microsoft.com/office/drawing/2014/main" id="{8C695C70-0F44-8284-77CD-DE7481205E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13" name="Rectangle 46">
              <a:extLst>
                <a:ext uri="{FF2B5EF4-FFF2-40B4-BE49-F238E27FC236}">
                  <a16:creationId xmlns:a16="http://schemas.microsoft.com/office/drawing/2014/main" id="{B7F64395-E7FC-5293-E3BD-68B193395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74" y="105555"/>
              <a:ext cx="57775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defPPr>
                <a:defRPr lang="ko-KR"/>
              </a:defPPr>
              <a:lvl1pPr marL="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rtl="0" fontAlgn="base" latinLnBrk="1">
                <a:spcBef>
                  <a:spcPct val="0"/>
                </a:spcBef>
                <a:spcAft>
                  <a:spcPct val="0"/>
                </a:spcAft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1" hangingPunct="1">
                <a:defRPr kumimoji="1" sz="1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LP#1/26.7.15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69622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759509"/>
              </p:ext>
            </p:extLst>
          </p:nvPr>
        </p:nvGraphicFramePr>
        <p:xfrm>
          <a:off x="0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aseline="0" dirty="0"/>
                        <a:t>1. </a:t>
                      </a:r>
                      <a:r>
                        <a:rPr lang="ko-KR" altLang="en-US" sz="1000" baseline="0" dirty="0" smtClean="0"/>
                        <a:t>소음 감소 검토</a:t>
                      </a:r>
                      <a:endParaRPr lang="en-US" altLang="ko-KR" sz="1000" baseline="0" dirty="0"/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aseline="0" dirty="0"/>
                        <a:t>   : </a:t>
                      </a:r>
                      <a:r>
                        <a:rPr lang="en-US" altLang="ko-KR" sz="1000" baseline="0" dirty="0" smtClean="0"/>
                        <a:t>JG1</a:t>
                      </a:r>
                      <a:r>
                        <a:rPr lang="ko-KR" altLang="en-US" sz="1000" baseline="0" dirty="0" smtClean="0"/>
                        <a:t>과 동일 모터를 사용하나</a:t>
                      </a:r>
                      <a:r>
                        <a:rPr lang="en-US" altLang="ko-KR" sz="1000" baseline="0" dirty="0" smtClean="0"/>
                        <a:t>, </a:t>
                      </a:r>
                      <a:r>
                        <a:rPr lang="ko-KR" altLang="en-US" sz="1000" baseline="0" dirty="0" smtClean="0"/>
                        <a:t>소음 발생으로 인하여 검토 요청 입수</a:t>
                      </a:r>
                      <a:r>
                        <a:rPr lang="en-US" altLang="ko-KR" sz="1000" baseline="0" dirty="0" smtClean="0"/>
                        <a:t>     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baseline="0" dirty="0" smtClean="0"/>
                        <a:t>    (3/31)</a:t>
                      </a:r>
                      <a:endParaRPr lang="en-US" altLang="ko-KR" sz="1000" baseline="0" dirty="0"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aseline="0" dirty="0"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aseline="0" dirty="0"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CI30 Stepper Act’r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Vignesh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전임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9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5" cy="505516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7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8559028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97502"/>
              </p:ext>
            </p:extLst>
          </p:nvPr>
        </p:nvGraphicFramePr>
        <p:xfrm>
          <a:off x="0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8297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176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(3/27~4/2)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(4/3~4/9)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endParaRPr lang="en-US" altLang="ko-KR" sz="1000" baseline="0" dirty="0"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Denso STLA XEV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이자효 책임</a:t>
            </a:r>
            <a:r>
              <a:rPr lang="en-US" altLang="ko-KR" sz="1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9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5" cy="505516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7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2" name="위쪽 화살표 6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4" name="위쪽 화살표 63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65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13531"/>
            <a:chOff x="0" y="134593"/>
            <a:chExt cx="604837" cy="490217"/>
          </a:xfrm>
        </p:grpSpPr>
        <p:sp>
          <p:nvSpPr>
            <p:cNvPr id="66" name="Rectangle 46"/>
            <p:cNvSpPr>
              <a:spLocks noChangeArrowheads="1"/>
            </p:cNvSpPr>
            <p:nvPr/>
          </p:nvSpPr>
          <p:spPr bwMode="auto">
            <a:xfrm>
              <a:off x="0" y="370218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>
                  <a:latin typeface="+mn-ea"/>
                </a:rPr>
                <a:t>MCAR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8" name="위쪽 화살표 67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Box 26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185461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/>
          </p:cNvSpPr>
          <p:nvPr/>
        </p:nvSpPr>
        <p:spPr bwMode="auto">
          <a:xfrm>
            <a:off x="176506" y="7775"/>
            <a:ext cx="6879981" cy="468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400" tIns="44200" rIns="88400" bIns="44200" anchor="ctr"/>
          <a:lstStyle/>
          <a:p>
            <a:pPr algn="l">
              <a:spcBef>
                <a:spcPct val="0"/>
              </a:spcBef>
            </a:pPr>
            <a:r>
              <a:rPr lang="en-US" altLang="ko-KR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EV Heater SW2</a:t>
            </a:r>
            <a:r>
              <a:rPr lang="ko-KR" altLang="en-US" sz="2400" dirty="0">
                <a:solidFill>
                  <a:srgbClr val="000000"/>
                </a:solidFill>
                <a:latin typeface="현대하모니 M" pitchFamily="18" charset="-127"/>
                <a:ea typeface="현대하모니 M" pitchFamily="18" charset="-127"/>
              </a:rPr>
              <a:t>팀 업무분장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53132"/>
              </p:ext>
            </p:extLst>
          </p:nvPr>
        </p:nvGraphicFramePr>
        <p:xfrm>
          <a:off x="3203848" y="790125"/>
          <a:ext cx="2592288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오세영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팀장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1.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팀 관리 업무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. Air PTC SW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 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Act’r/Valve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및 관리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3285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320259"/>
              </p:ext>
            </p:extLst>
          </p:nvPr>
        </p:nvGraphicFramePr>
        <p:xfrm>
          <a:off x="1122973" y="3722451"/>
          <a:ext cx="1907290" cy="119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65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임제훈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2166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SVm, BJ1, NX5e, HE1i,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  AY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SU2i, KY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448762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1122973" y="2530955"/>
          <a:ext cx="1907290" cy="1126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859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조현진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전임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840622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Air PTC SW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SX3e, NEaW, MX5a, QV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고품 분석 및 대응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  - MVa, Nea, Mea, Cva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541145"/>
              </p:ext>
            </p:extLst>
          </p:nvPr>
        </p:nvGraphicFramePr>
        <p:xfrm>
          <a:off x="5863244" y="3721993"/>
          <a:ext cx="1907290" cy="100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79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최은혁 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22984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Actuator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JG1, RS4PE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cxnSp>
        <p:nvCxnSpPr>
          <p:cNvPr id="17" name="꺾인 연결선 16"/>
          <p:cNvCxnSpPr>
            <a:stCxn id="8" idx="0"/>
            <a:endCxn id="7" idx="2"/>
          </p:cNvCxnSpPr>
          <p:nvPr/>
        </p:nvCxnSpPr>
        <p:spPr bwMode="auto">
          <a:xfrm rot="5400000" flipH="1" flipV="1">
            <a:off x="4049548" y="2075948"/>
            <a:ext cx="900635" cy="524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꺾인 연결선 17"/>
          <p:cNvCxnSpPr>
            <a:stCxn id="14" idx="0"/>
            <a:endCxn id="7" idx="2"/>
          </p:cNvCxnSpPr>
          <p:nvPr/>
        </p:nvCxnSpPr>
        <p:spPr bwMode="auto">
          <a:xfrm rot="16200000" flipV="1">
            <a:off x="5272277" y="858464"/>
            <a:ext cx="888659" cy="242823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꺾인 연결선 18"/>
          <p:cNvCxnSpPr>
            <a:stCxn id="13" idx="0"/>
            <a:endCxn id="7" idx="2"/>
          </p:cNvCxnSpPr>
          <p:nvPr/>
        </p:nvCxnSpPr>
        <p:spPr bwMode="auto">
          <a:xfrm rot="5400000" flipH="1" flipV="1">
            <a:off x="2838201" y="866669"/>
            <a:ext cx="902704" cy="2425870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518298"/>
              </p:ext>
            </p:extLst>
          </p:nvPr>
        </p:nvGraphicFramePr>
        <p:xfrm>
          <a:off x="5863244" y="4839008"/>
          <a:ext cx="1907290" cy="116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2572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김강일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912057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- 4Way/6Way Valve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183099"/>
              </p:ext>
            </p:extLst>
          </p:nvPr>
        </p:nvGraphicFramePr>
        <p:xfrm>
          <a:off x="3558879" y="3722451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김진겸 사원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1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. Air PTC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2. Motor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검증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 3. ES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1130583" y="4980630"/>
            <a:ext cx="189968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PTC</a:t>
            </a:r>
            <a:endParaRPr lang="ko-KR" altLang="en-US" sz="1200"/>
          </a:p>
        </p:txBody>
      </p:sp>
      <p:sp>
        <p:nvSpPr>
          <p:cNvPr id="20" name="직사각형 19"/>
          <p:cNvSpPr/>
          <p:nvPr/>
        </p:nvSpPr>
        <p:spPr>
          <a:xfrm>
            <a:off x="5863244" y="6058276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3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Motor</a:t>
            </a:r>
            <a:endParaRPr lang="ko-KR" altLang="en-US" sz="1200"/>
          </a:p>
        </p:txBody>
      </p:sp>
      <p:sp>
        <p:nvSpPr>
          <p:cNvPr id="21" name="직사각형 20"/>
          <p:cNvSpPr/>
          <p:nvPr/>
        </p:nvSpPr>
        <p:spPr>
          <a:xfrm>
            <a:off x="3554859" y="4899174"/>
            <a:ext cx="1907290" cy="216024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 w="1270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공통업무</a:t>
            </a:r>
            <a:endParaRPr lang="en-US" altLang="ko-KR" sz="120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7652669"/>
              </p:ext>
            </p:extLst>
          </p:nvPr>
        </p:nvGraphicFramePr>
        <p:xfrm>
          <a:off x="5868144" y="2521662"/>
          <a:ext cx="1907290" cy="1085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028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이자효 책임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3065"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lang="ko-KR" altLang="en-US" sz="105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</a:rPr>
                        <a:t>CI30 Stepper </a:t>
                      </a:r>
                      <a:r>
                        <a:rPr lang="en-US" altLang="ko-KR" sz="1100" baseline="0">
                          <a:solidFill>
                            <a:schemeClr val="tx1"/>
                          </a:solidFill>
                        </a:rPr>
                        <a:t>Act’r </a:t>
                      </a:r>
                      <a:r>
                        <a:rPr lang="ko-KR" altLang="en-US" sz="1100" baseline="0">
                          <a:solidFill>
                            <a:schemeClr val="tx1"/>
                          </a:solidFill>
                        </a:rPr>
                        <a:t>개발</a:t>
                      </a:r>
                      <a:endParaRPr lang="en-US" altLang="ko-KR" sz="110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2. BLDC Motor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 지원</a:t>
                      </a:r>
                      <a:endParaRPr lang="en-US" altLang="ko-KR" sz="1100" b="0" baseline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3. Act’r/Valve </a:t>
                      </a:r>
                      <a:r>
                        <a:rPr lang="ko-KR" altLang="en-US" sz="1100" b="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개발 지원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659113"/>
                  </a:ext>
                </a:extLst>
              </a:tr>
            </a:tbl>
          </a:graphicData>
        </a:graphic>
      </p:graphicFrame>
      <p:graphicFrame>
        <p:nvGraphicFramePr>
          <p:cNvPr id="22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394486"/>
              </p:ext>
            </p:extLst>
          </p:nvPr>
        </p:nvGraphicFramePr>
        <p:xfrm>
          <a:off x="3558879" y="2516911"/>
          <a:ext cx="1907290" cy="11041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290">
                  <a:extLst>
                    <a:ext uri="{9D8B030D-6E8A-4147-A177-3AD203B41FA5}">
                      <a16:colId xmlns:a16="http://schemas.microsoft.com/office/drawing/2014/main" val="39824983"/>
                    </a:ext>
                  </a:extLst>
                </a:gridCol>
              </a:tblGrid>
              <a:tr h="3146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VIGNESH </a:t>
                      </a:r>
                      <a:r>
                        <a:rPr lang="ko-KR" altLang="en-US" sz="1200">
                          <a:solidFill>
                            <a:schemeClr val="tx1"/>
                          </a:solidFill>
                        </a:rPr>
                        <a:t>전임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844538"/>
                  </a:ext>
                </a:extLst>
              </a:tr>
              <a:tr h="789519"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1. Motor Control Zig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2. S/W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정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동적 검증 수행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279165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28064" y="116632"/>
            <a:ext cx="3480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“ 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생각을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바꾸고</a:t>
            </a:r>
            <a:r>
              <a:rPr lang="ko-KR" altLang="en-US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연구소를 </a:t>
            </a:r>
            <a:r>
              <a:rPr lang="ko-KR" altLang="en-US" sz="1600">
                <a:solidFill>
                  <a:srgbClr val="FF000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다시 만든다</a:t>
            </a:r>
            <a:r>
              <a:rPr lang="en-US" altLang="ko-KR" sz="1600">
                <a:solidFill>
                  <a:srgbClr val="002060"/>
                </a:solidFill>
                <a:latin typeface="현대하모니 B" panose="02020603020101020101" pitchFamily="18" charset="-127"/>
                <a:ea typeface="현대하모니 B" panose="02020603020101020101" pitchFamily="18" charset="-127"/>
              </a:rPr>
              <a:t> ”</a:t>
            </a:r>
            <a:endParaRPr lang="ko-KR" altLang="en-US" sz="1600">
              <a:solidFill>
                <a:srgbClr val="002060"/>
              </a:solidFill>
              <a:latin typeface="현대하모니 B" panose="02020603020101020101" pitchFamily="18" charset="-127"/>
              <a:ea typeface="현대하모니 B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0506531"/>
      </p:ext>
    </p:extLst>
  </p:cSld>
  <p:clrMapOvr>
    <a:masterClrMapping/>
  </p:clrMapOvr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27383</TotalTime>
  <Words>2189</Words>
  <Application>Microsoft Office PowerPoint</Application>
  <PresentationFormat>화면 슬라이드 쇼(4:3)</PresentationFormat>
  <Paragraphs>640</Paragraphs>
  <Slides>21</Slides>
  <Notes>20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굴림</vt:lpstr>
      <vt:lpstr>맑은 고딕</vt:lpstr>
      <vt:lpstr>현대하모니 B</vt:lpstr>
      <vt:lpstr>현대하모니 M</vt:lpstr>
      <vt:lpstr>Arial</vt:lpstr>
      <vt:lpstr>Lucida Sans Unicode</vt:lpstr>
      <vt:lpstr>Verdana</vt:lpstr>
      <vt:lpstr>Wingdings</vt:lpstr>
      <vt:lpstr>제안서 템플릿</vt:lpstr>
      <vt:lpstr>Microsoft PowerPoint 프레젠테이션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Woory</cp:lastModifiedBy>
  <cp:revision>6575</cp:revision>
  <dcterms:created xsi:type="dcterms:W3CDTF">2019-10-24T04:42:23Z</dcterms:created>
  <dcterms:modified xsi:type="dcterms:W3CDTF">2026-03-31T09:16:21Z</dcterms:modified>
  <cp:version/>
</cp:coreProperties>
</file>