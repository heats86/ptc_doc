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23"/>
  </p:notesMasterIdLst>
  <p:handoutMasterIdLst>
    <p:handoutMasterId r:id="rId24"/>
  </p:handoutMasterIdLst>
  <p:sldIdLst>
    <p:sldId id="947" r:id="rId2"/>
    <p:sldId id="1137" r:id="rId3"/>
    <p:sldId id="1170" r:id="rId4"/>
    <p:sldId id="1171" r:id="rId5"/>
    <p:sldId id="1152" r:id="rId6"/>
    <p:sldId id="1153" r:id="rId7"/>
    <p:sldId id="1163" r:id="rId8"/>
    <p:sldId id="1155" r:id="rId9"/>
    <p:sldId id="1156" r:id="rId10"/>
    <p:sldId id="1158" r:id="rId11"/>
    <p:sldId id="1159" r:id="rId12"/>
    <p:sldId id="1160" r:id="rId13"/>
    <p:sldId id="1161" r:id="rId14"/>
    <p:sldId id="1162" r:id="rId15"/>
    <p:sldId id="1172" r:id="rId16"/>
    <p:sldId id="1173" r:id="rId17"/>
    <p:sldId id="1165" r:id="rId18"/>
    <p:sldId id="1166" r:id="rId19"/>
    <p:sldId id="1167" r:id="rId20"/>
    <p:sldId id="1174" r:id="rId21"/>
    <p:sldId id="1164" r:id="rId2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08D4B1F-D1D2-4892-AC90-0F1C73CC5FC5}">
          <p14:sldIdLst>
            <p14:sldId id="947"/>
          </p14:sldIdLst>
        </p14:section>
        <p14:section name="지시내용/의사결정/리스크/이슈현황" id="{5588297A-0314-480D-89DF-96CA41CC583D}">
          <p14:sldIdLst>
            <p14:sldId id="1137"/>
            <p14:sldId id="1170"/>
            <p14:sldId id="1171"/>
          </p14:sldIdLst>
        </p14:section>
        <p14:section name="Air PTC" id="{B956D88F-70E2-4349-B8DC-375A4283FAA0}">
          <p14:sldIdLst>
            <p14:sldId id="1152"/>
            <p14:sldId id="1153"/>
            <p14:sldId id="1163"/>
            <p14:sldId id="1155"/>
            <p14:sldId id="1156"/>
            <p14:sldId id="1158"/>
            <p14:sldId id="1159"/>
            <p14:sldId id="1160"/>
            <p14:sldId id="1161"/>
            <p14:sldId id="1162"/>
            <p14:sldId id="1172"/>
            <p14:sldId id="1173"/>
          </p14:sldIdLst>
        </p14:section>
        <p14:section name="모터" id="{05E9A145-F0BD-4F31-BAA2-C9351D4631C5}">
          <p14:sldIdLst>
            <p14:sldId id="1165"/>
            <p14:sldId id="1166"/>
            <p14:sldId id="1167"/>
            <p14:sldId id="1174"/>
          </p14:sldIdLst>
        </p14:section>
        <p14:section name="공유 및 공지내용" id="{7B3D5BD4-254A-43C9-9404-EC10D85B8375}">
          <p14:sldIdLst>
            <p14:sldId id="11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09" d="100"/>
          <a:sy n="109" d="100"/>
        </p:scale>
        <p:origin x="1860" y="10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2609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070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4368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8435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64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350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164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865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362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5306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3248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99937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17235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07270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6963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5646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4529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41229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9844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35696" y="2531570"/>
            <a:ext cx="7236296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>
            <a:spAutoFit/>
            <a:flatTx/>
          </a:bodyPr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EV Heater </a:t>
            </a:r>
            <a:r>
              <a:rPr lang="en-US" altLang="ko-KR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S/W 1</a:t>
            </a:r>
            <a:r>
              <a:rPr lang="ko-KR" altLang="en-US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팀 </a:t>
            </a:r>
            <a:r>
              <a:rPr kumimoji="1" lang="ko-KR" altLang="en-US" sz="2800" b="1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주간보고</a:t>
            </a:r>
            <a:r>
              <a:rPr kumimoji="1" lang="ko-KR" altLang="en-US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자료</a:t>
            </a:r>
            <a:endParaRPr kumimoji="1" lang="en-US" altLang="ko-KR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white">
          <a:xfrm>
            <a:off x="175710" y="6430690"/>
            <a:ext cx="9144000" cy="3231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 Heater S/W 1</a:t>
            </a:r>
            <a:r>
              <a:rPr lang="ko-KR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팀</a:t>
            </a:r>
            <a:endParaRPr lang="en-US" altLang="ko-K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white">
          <a:xfrm>
            <a:off x="7524328" y="6555211"/>
            <a:ext cx="15476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2026.03.26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5696" y="5301208"/>
            <a:ext cx="5934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28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28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 </a:t>
            </a:r>
            <a:r>
              <a:rPr lang="en-US" altLang="ko-KR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”</a:t>
            </a:r>
            <a:endParaRPr lang="ko-KR" altLang="en-US" sz="28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11021" y="6061358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우리산업㈜ 기술연구소</a:t>
            </a:r>
          </a:p>
        </p:txBody>
      </p:sp>
    </p:spTree>
    <p:extLst>
      <p:ext uri="{BB962C8B-B14F-4D97-AF65-F5344CB8AC3E}">
        <p14:creationId xmlns:p14="http://schemas.microsoft.com/office/powerpoint/2010/main" val="245412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585853"/>
              </p:ext>
            </p:extLst>
          </p:nvPr>
        </p:nvGraphicFramePr>
        <p:xfrm>
          <a:off x="251520" y="980728"/>
          <a:ext cx="8676581" cy="5189862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611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/>
                        <a:t>MX5a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SP1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(04/06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납품 예정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S/W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(~03/27)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반영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모드 추가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S/W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건 적용하여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리라이팅 진행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말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200EA)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Y2V</a:t>
                      </a:r>
                      <a:endParaRPr lang="ko-KR" altLang="en-US" sz="1000" b="0" kern="120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/>
                        <a:t>1.</a:t>
                      </a:r>
                      <a:r>
                        <a:rPr lang="en-US" altLang="ko-KR" sz="1050" baseline="0"/>
                        <a:t> </a:t>
                      </a:r>
                      <a:r>
                        <a:rPr lang="en-US" altLang="ko-KR" sz="1050"/>
                        <a:t>Design Review </a:t>
                      </a:r>
                      <a:r>
                        <a:rPr lang="ko-KR" altLang="en-US" sz="1050"/>
                        <a:t>진행</a:t>
                      </a:r>
                      <a:r>
                        <a:rPr lang="en-US" altLang="ko-KR" sz="1050"/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i="1"/>
                        <a:t>   - </a:t>
                      </a:r>
                      <a:r>
                        <a:rPr lang="ko-KR" altLang="en-US" sz="1050" i="0"/>
                        <a:t>일정 </a:t>
                      </a:r>
                      <a:endParaRPr lang="en-US" altLang="ko-KR" sz="1050" i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i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i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i="0"/>
                    </a:p>
                    <a:p>
                      <a:r>
                        <a:rPr lang="en-US" altLang="ko-KR" sz="1000" i="0"/>
                        <a:t>    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 EMC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위한 초도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 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배포 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(26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월말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: 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컨트롤 지그 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 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및 배포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(26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월말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: DV 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및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 S/W 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배포 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(26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월말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Gate#2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리뷰</a:t>
                      </a:r>
                      <a:r>
                        <a:rPr lang="en-US" altLang="ko-KR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 </a:t>
                      </a:r>
                      <a:endParaRPr lang="en-US" altLang="ko-KR" sz="1000" b="0" i="0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lang="en-US" altLang="ko-KR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3/20, 16:00</a:t>
                      </a:r>
                    </a:p>
                    <a:p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lang="ko-KR" altLang="en-US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진행 </a:t>
                      </a:r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조현진 전임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251817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SX3k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PCB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검증위한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(H/W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신규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진행 중으로 기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QV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프로젝트로 대응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3/20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조현진 전임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27545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/>
                        <a:t>NQ6e</a:t>
                      </a:r>
                      <a:endParaRPr lang="ko-KR" altLang="en-US" sz="1000" b="0" kern="120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Proto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(3/27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납품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샘플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입수일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3/20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S/W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기능 시험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~3/25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 사원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11003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– PTC Heater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347607"/>
              </p:ext>
            </p:extLst>
          </p:nvPr>
        </p:nvGraphicFramePr>
        <p:xfrm>
          <a:off x="3131840" y="4509120"/>
          <a:ext cx="3810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워크시트" showAsIcon="1" r:id="rId3" imgW="380880" imgH="771480" progId="Excel.Sheet.12">
                  <p:embed/>
                </p:oleObj>
              </mc:Choice>
              <mc:Fallback>
                <p:oleObj name="워크시트" showAsIcon="1" r:id="rId3" imgW="38088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31840" y="4509120"/>
                        <a:ext cx="3810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3728" y="2832300"/>
            <a:ext cx="3742482" cy="57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492500"/>
              </p:ext>
            </p:extLst>
          </p:nvPr>
        </p:nvGraphicFramePr>
        <p:xfrm>
          <a:off x="251520" y="980728"/>
          <a:ext cx="8676581" cy="4266530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683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4WayValve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/>
                        <a:t>1. EOL &lt;-&gt; Master Sample / </a:t>
                      </a:r>
                      <a:r>
                        <a:rPr lang="ko-KR" altLang="en-US" sz="1000" baseline="0"/>
                        <a:t>각도 측정 장비 편차에 따른 원인 분석 </a:t>
                      </a:r>
                      <a:endParaRPr lang="en-US" altLang="ko-KR" sz="1000" baseline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/>
                        <a:t>   </a:t>
                      </a:r>
                      <a:r>
                        <a:rPr lang="ko-KR" altLang="en-US" sz="1000" baseline="0"/>
                        <a:t>회의 참석</a:t>
                      </a:r>
                      <a:endParaRPr lang="en-US" altLang="ko-KR" sz="1000" baseline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/>
                        <a:t>   - </a:t>
                      </a:r>
                      <a:r>
                        <a:rPr lang="ko-KR" altLang="en-US" sz="1000" baseline="0"/>
                        <a:t>일자 </a:t>
                      </a:r>
                      <a:r>
                        <a:rPr lang="en-US" altLang="ko-KR" sz="1000" baseline="0"/>
                        <a:t>: 3/19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1" baseline="0"/>
                        <a:t>   </a:t>
                      </a:r>
                      <a:r>
                        <a:rPr lang="en-US" altLang="ko-KR" sz="1000" b="0" baseline="0"/>
                        <a:t>- </a:t>
                      </a:r>
                      <a:r>
                        <a:rPr lang="ko-KR" altLang="en-US" sz="1000" b="0" baseline="0"/>
                        <a:t>장소 </a:t>
                      </a:r>
                      <a:r>
                        <a:rPr lang="en-US" altLang="ko-KR" sz="1000" b="0" baseline="0"/>
                        <a:t>: </a:t>
                      </a:r>
                      <a:r>
                        <a:rPr lang="ko-KR" altLang="en-US" sz="1000" b="0" baseline="0"/>
                        <a:t>평택공장</a:t>
                      </a:r>
                      <a:endParaRPr lang="en-US" altLang="ko-KR" sz="1000" b="0" baseline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/>
                        <a:t>   - </a:t>
                      </a:r>
                      <a:r>
                        <a:rPr lang="ko-KR" altLang="en-US" sz="1000" b="0" baseline="0"/>
                        <a:t>참석자 </a:t>
                      </a:r>
                      <a:r>
                        <a:rPr lang="en-US" altLang="ko-KR" sz="1000" b="0" baseline="0"/>
                        <a:t>: </a:t>
                      </a:r>
                      <a:r>
                        <a:rPr lang="ko-KR" altLang="en-US" sz="1000" b="0" baseline="0"/>
                        <a:t>품질</a:t>
                      </a:r>
                      <a:r>
                        <a:rPr lang="en-US" altLang="ko-KR" sz="1000" b="0" baseline="0"/>
                        <a:t>, </a:t>
                      </a:r>
                      <a:r>
                        <a:rPr lang="ko-KR" altLang="en-US" sz="1000" b="0" baseline="0"/>
                        <a:t>제조</a:t>
                      </a:r>
                      <a:r>
                        <a:rPr lang="en-US" altLang="ko-KR" sz="1000" b="0" baseline="0"/>
                        <a:t>, PM, </a:t>
                      </a:r>
                      <a:r>
                        <a:rPr lang="ko-KR" altLang="en-US" sz="1000" b="0" baseline="0"/>
                        <a:t>기구</a:t>
                      </a:r>
                      <a:r>
                        <a:rPr lang="en-US" altLang="ko-KR" sz="1000" b="0" baseline="0"/>
                        <a:t>, H/W, S/W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/>
                        <a:t>   - </a:t>
                      </a:r>
                      <a:r>
                        <a:rPr lang="ko-KR" altLang="en-US" sz="1000" b="0" baseline="0"/>
                        <a:t>각도 편차 </a:t>
                      </a:r>
                      <a:r>
                        <a:rPr lang="en-US" altLang="ko-KR" sz="1000" b="0" baseline="0"/>
                        <a:t>: </a:t>
                      </a:r>
                      <a:r>
                        <a:rPr lang="ko-KR" altLang="en-US" sz="1000" b="0" baseline="0"/>
                        <a:t>약 </a:t>
                      </a:r>
                      <a:r>
                        <a:rPr lang="en-US" altLang="ko-KR" sz="1000" b="0" baseline="0"/>
                        <a:t>7</a:t>
                      </a:r>
                      <a:r>
                        <a:rPr lang="ko-KR" altLang="en-US" sz="1000" b="0" baseline="0"/>
                        <a:t>도</a:t>
                      </a:r>
                      <a:r>
                        <a:rPr lang="en-US" altLang="ko-KR" sz="1000" b="0" baseline="0"/>
                        <a:t>        </a:t>
                      </a:r>
                      <a:endParaRPr lang="en-US" altLang="ko-KR" sz="1000" b="1" baseline="0"/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ko-KR" sz="1000" b="0" baseline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/>
                        <a:t>2. S/W 2</a:t>
                      </a:r>
                      <a:r>
                        <a:rPr lang="ko-KR" altLang="en-US" sz="1000" baseline="0"/>
                        <a:t>차 검증 </a:t>
                      </a:r>
                      <a:endParaRPr lang="en-US" altLang="ko-KR" sz="1000" baseline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/>
                        <a:t>   - </a:t>
                      </a:r>
                      <a:r>
                        <a:rPr lang="ko-KR" altLang="en-US" sz="1000" b="0" baseline="0"/>
                        <a:t>주최 </a:t>
                      </a:r>
                      <a:r>
                        <a:rPr lang="en-US" altLang="ko-KR" sz="1000" b="0" baseline="0"/>
                        <a:t>: </a:t>
                      </a:r>
                      <a:r>
                        <a:rPr lang="ko-KR" altLang="en-US" sz="1000" b="0" baseline="0"/>
                        <a:t>기능 사양대비 </a:t>
                      </a:r>
                      <a:r>
                        <a:rPr lang="en-US" altLang="ko-KR" sz="1000" b="0" baseline="0"/>
                        <a:t>S/W </a:t>
                      </a:r>
                      <a:r>
                        <a:rPr lang="ko-KR" altLang="en-US" sz="1000" b="0" baseline="0"/>
                        <a:t>설계 검증</a:t>
                      </a:r>
                      <a:endParaRPr lang="en-US" altLang="ko-KR" sz="1000" b="0" baseline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/>
                        <a:t>   - </a:t>
                      </a:r>
                      <a:r>
                        <a:rPr lang="ko-KR" altLang="en-US" sz="1000" b="0" baseline="0"/>
                        <a:t>날짜 </a:t>
                      </a:r>
                      <a:r>
                        <a:rPr lang="en-US" altLang="ko-KR" sz="1000" b="0" baseline="0"/>
                        <a:t>:  4</a:t>
                      </a:r>
                      <a:r>
                        <a:rPr lang="ko-KR" altLang="en-US" sz="1000" b="0" baseline="0"/>
                        <a:t>월 </a:t>
                      </a:r>
                      <a:r>
                        <a:rPr lang="en-US" altLang="ko-KR" sz="1000" b="0" baseline="0"/>
                        <a:t>10</a:t>
                      </a:r>
                      <a:r>
                        <a:rPr lang="ko-KR" altLang="en-US" sz="1000" b="0" baseline="0"/>
                        <a:t>일 고객사로 제안 </a:t>
                      </a:r>
                      <a:endParaRPr lang="en-US" altLang="ko-KR" sz="1000" b="0" baseline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김강일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MV</a:t>
                      </a:r>
                      <a:r>
                        <a:rPr lang="en-US" altLang="ko-KR" sz="1000" b="0" kern="1200" baseline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EMP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/>
                        <a:t> US4PE (MV C/O)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baseline="0"/>
                        <a:t>1. </a:t>
                      </a:r>
                      <a:r>
                        <a:rPr lang="ko-KR" altLang="en-US" sz="1000" b="0" baseline="0"/>
                        <a:t>고객사</a:t>
                      </a:r>
                      <a:r>
                        <a:rPr lang="en-US" altLang="ko-KR" sz="1000" b="0" baseline="0"/>
                        <a:t>(</a:t>
                      </a:r>
                      <a:r>
                        <a:rPr lang="ko-KR" altLang="en-US" sz="1000" b="0" baseline="0"/>
                        <a:t>현대위아</a:t>
                      </a:r>
                      <a:r>
                        <a:rPr lang="en-US" altLang="ko-KR" sz="1000" b="0" baseline="0"/>
                        <a:t>) </a:t>
                      </a:r>
                      <a:r>
                        <a:rPr lang="ko-KR" altLang="en-US" sz="1000" b="0" baseline="0"/>
                        <a:t>로부터 이슈 접수</a:t>
                      </a:r>
                      <a:endParaRPr lang="en-US" altLang="ko-KR" sz="1000" b="0" baseline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baseline="0"/>
                        <a:t>   </a:t>
                      </a:r>
                      <a:r>
                        <a:rPr lang="en-US" altLang="ko-KR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전압강하 시험</a:t>
                      </a:r>
                      <a:r>
                        <a:rPr lang="ko-KR" altLang="en-US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 영구 </a:t>
                      </a:r>
                      <a:r>
                        <a:rPr lang="en-US" altLang="ko-KR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lang="ko-KR" altLang="en-US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진입에 따른 분석 요청</a:t>
                      </a:r>
                      <a:endParaRPr lang="en-US" altLang="ko-KR" sz="1000" b="0" i="0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영구 </a:t>
                      </a:r>
                      <a:r>
                        <a:rPr lang="en-US" altLang="ko-KR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Fault </a:t>
                      </a:r>
                      <a:r>
                        <a:rPr lang="ko-KR" altLang="en-US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진입 분석 결과</a:t>
                      </a:r>
                      <a:endParaRPr lang="en-US" altLang="ko-KR" sz="1000" b="0" i="0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 - Motor Open Fault / Short Fault / </a:t>
                      </a:r>
                      <a:r>
                        <a:rPr lang="en-US" altLang="ko-KR" sz="1000" b="0" i="0" kern="1200" baseline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MCU VCC UV Fault</a:t>
                      </a:r>
                      <a:endParaRPr lang="en-US" altLang="ko-KR" sz="1000" b="0" i="0" kern="120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baseline="0"/>
                        <a:t>   - </a:t>
                      </a:r>
                      <a:r>
                        <a:rPr lang="ko-KR" altLang="en-US" sz="1000" b="0" baseline="0"/>
                        <a:t>영하 </a:t>
                      </a:r>
                      <a:r>
                        <a:rPr lang="en-US" altLang="ko-KR" sz="1000" b="0" baseline="0"/>
                        <a:t>30</a:t>
                      </a:r>
                      <a:r>
                        <a:rPr lang="ko-KR" altLang="en-US" sz="1000" b="0" baseline="0"/>
                        <a:t>도 에서 </a:t>
                      </a:r>
                      <a:r>
                        <a:rPr lang="en-US" altLang="ko-KR" sz="1000" b="0" baseline="0"/>
                        <a:t>Valve </a:t>
                      </a:r>
                      <a:r>
                        <a:rPr lang="ko-KR" altLang="en-US" sz="1000" b="0" baseline="0"/>
                        <a:t>타겟 미수행 </a:t>
                      </a:r>
                      <a:endParaRPr lang="en-US" altLang="ko-KR" sz="1000" b="0" baseline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baseline="0"/>
                        <a:t>      : </a:t>
                      </a:r>
                      <a:r>
                        <a:rPr lang="ko-KR" altLang="en-US" sz="1000" b="0" baseline="0"/>
                        <a:t>기구팀 시험 시 지원 예정</a:t>
                      </a:r>
                      <a:endParaRPr lang="en-US" altLang="ko-KR" sz="1000" b="0" baseline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오세영 수석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625904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Motor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4797152"/>
            <a:ext cx="2831557" cy="178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7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632720"/>
              </p:ext>
            </p:extLst>
          </p:nvPr>
        </p:nvGraphicFramePr>
        <p:xfrm>
          <a:off x="251520" y="980728"/>
          <a:ext cx="8676581" cy="5194625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827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JG1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P2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용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및 시험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(3/16)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완료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(3/15)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크랭킹 및 악의파형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개외 기능 정상 동작 확인 완료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 시험 및 스톨 및 부스트 발생 시의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2P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조건 기능 확인완료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S/W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업데이트 진행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(912EA)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S/W Version : V1.02.01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용도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&lt;-&gt;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합동 평가 진행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3/17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한온시스템 본사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참석자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이자효 책임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박준형 전임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전압 변동 시험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  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결과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 Cranking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및 악의파형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23case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시험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승인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(P2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적용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0" i="0" kern="120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  </a:t>
                      </a:r>
                      <a:r>
                        <a:rPr lang="en-US" altLang="ko-KR" sz="1000" b="0" i="0" kern="1200" baseline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        </a:t>
                      </a:r>
                      <a:r>
                        <a:rPr lang="ko-KR" altLang="en-US" sz="1000" b="0" i="0" kern="1200" baseline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실차에서 발생 하지 않는 전압 변동 시험 </a:t>
                      </a:r>
                      <a:r>
                        <a:rPr lang="en-US" altLang="ko-KR" sz="1000" b="0" i="0" kern="1200" baseline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 S/W </a:t>
                      </a:r>
                      <a:r>
                        <a:rPr lang="ko-KR" altLang="en-US" sz="1000" b="0" i="0" kern="1200" baseline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변경 요청</a:t>
                      </a:r>
                      <a:endParaRPr lang="en-US" altLang="ko-KR" sz="1000" b="0" i="0" kern="1200" baseline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baseline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          (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M(SOP) 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단계 적용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000" b="0" i="0" kern="12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1" i="0" kern="12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우리산업 의견 </a:t>
                      </a:r>
                      <a:r>
                        <a:rPr lang="en-US" altLang="ko-KR" sz="1000" b="1" i="0" kern="12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1" i="0" kern="12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극악 조건의 전압 변동은 실차에서 문제가 </a:t>
                      </a:r>
                      <a:endParaRPr lang="en-US" altLang="ko-KR" sz="1000" b="1" i="0" kern="1200">
                        <a:solidFill>
                          <a:srgbClr val="0000FF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1" i="0" kern="12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                             </a:t>
                      </a:r>
                      <a:r>
                        <a:rPr lang="ko-KR" altLang="en-US" sz="1000" b="1" i="0" kern="12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있다고 판단</a:t>
                      </a:r>
                      <a:r>
                        <a:rPr lang="en-US" altLang="ko-KR" sz="1000" b="1" i="0" kern="1200" baseline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1" i="0" kern="1200" baseline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되며</a:t>
                      </a:r>
                      <a:r>
                        <a:rPr lang="en-US" altLang="ko-KR" sz="1000" b="1" i="0" kern="1200" baseline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i="0" kern="1200" baseline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스톨 발생 후 </a:t>
                      </a:r>
                      <a:r>
                        <a:rPr lang="en-US" altLang="ko-KR" sz="1000" b="1" i="0" kern="1200" baseline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Off-On </a:t>
                      </a:r>
                      <a:r>
                        <a:rPr lang="ko-KR" altLang="en-US" sz="1000" b="1" i="0" kern="1200" baseline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시 </a:t>
                      </a:r>
                      <a:endParaRPr lang="en-US" altLang="ko-KR" sz="1000" b="1" i="0" kern="1200" baseline="0">
                        <a:solidFill>
                          <a:srgbClr val="0000FF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1" i="0" kern="1200" baseline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                             </a:t>
                      </a:r>
                      <a:r>
                        <a:rPr lang="ko-KR" altLang="en-US" sz="1000" b="1" i="0" kern="1200" baseline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다시 </a:t>
                      </a:r>
                      <a:r>
                        <a:rPr lang="en-US" altLang="ko-KR" sz="1000" b="1" i="0" kern="1200" baseline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2P CAL </a:t>
                      </a:r>
                      <a:r>
                        <a:rPr lang="ko-KR" altLang="en-US" sz="1000" b="1" i="0" kern="1200" baseline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진행이 맞다고 판단</a:t>
                      </a:r>
                      <a:endParaRPr lang="en-US" altLang="ko-KR" sz="1000" b="1" i="0" kern="120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 </a:t>
                      </a:r>
                      <a:r>
                        <a:rPr lang="ko-KR" altLang="en-US" sz="1000" b="1" i="0" kern="12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한온</a:t>
                      </a:r>
                      <a:r>
                        <a:rPr lang="ko-KR" altLang="en-US" sz="1000" b="1" i="0" kern="12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의견 </a:t>
                      </a:r>
                      <a:r>
                        <a:rPr lang="en-US" altLang="ko-KR" sz="1000" b="1" i="0" kern="12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1" i="0" kern="12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극악 조건이며</a:t>
                      </a:r>
                      <a:r>
                        <a:rPr lang="en-US" altLang="ko-KR" sz="1000" b="1" i="0" kern="12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i="0" kern="12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드문 조건인것은 이해하나</a:t>
                      </a:r>
                      <a:r>
                        <a:rPr lang="en-US" altLang="ko-KR" sz="1000" b="1" i="0" kern="12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i="0" kern="12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동작 </a:t>
                      </a:r>
                      <a:endParaRPr lang="en-US" altLang="ko-KR" sz="1000" b="1" i="0" kern="1200">
                        <a:solidFill>
                          <a:srgbClr val="0000FF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1" i="0" kern="12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                       </a:t>
                      </a:r>
                      <a:r>
                        <a:rPr lang="ko-KR" altLang="en-US" sz="1000" b="1" i="0" kern="120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범위 내에서는 스톨 미발생이 맞다고 판단</a:t>
                      </a:r>
                      <a:endParaRPr lang="en-US" altLang="ko-KR" sz="1000" b="1" i="0" kern="120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-</a:t>
                      </a:r>
                      <a:r>
                        <a:rPr lang="en-US" altLang="ko-KR" sz="1000" b="0" i="0" kern="1200" baseline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S/W </a:t>
                      </a:r>
                      <a:r>
                        <a:rPr lang="ko-KR" altLang="en-US" sz="1000" b="0" i="0" kern="1200" baseline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변경 및 시험 </a:t>
                      </a:r>
                      <a:r>
                        <a:rPr lang="en-US" altLang="ko-KR" sz="1000" b="0" i="0" kern="1200" baseline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 ~3/20</a:t>
                      </a:r>
                    </a:p>
                    <a:p>
                      <a:r>
                        <a:rPr lang="en-US" altLang="ko-KR" sz="1000" b="0" i="0" kern="1200" baseline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baseline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한온 합동 재 평가 </a:t>
                      </a:r>
                      <a:r>
                        <a:rPr lang="en-US" altLang="ko-KR" sz="1000" b="0" i="0" kern="1200" baseline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  <a:cs typeface="+mn-cs"/>
                        </a:rPr>
                        <a:t>: 3/23</a:t>
                      </a:r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endParaRPr lang="ko-KR" altLang="en-US" sz="1000" b="0" i="0" kern="120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설계변경 진행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합동 재 평가 이후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진행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3/25</a:t>
                      </a:r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이자효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책임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Motor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4077072"/>
            <a:ext cx="3551120" cy="150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1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289500"/>
              </p:ext>
            </p:extLst>
          </p:nvPr>
        </p:nvGraphicFramePr>
        <p:xfrm>
          <a:off x="11059" y="536956"/>
          <a:ext cx="9097445" cy="577236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978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7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9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6653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26.03.30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26.06.30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25.06.30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47148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373242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716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25.04.15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570214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08465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고전압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전력 증대 사양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개발 사항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(~03/25)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R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개발 사항 자료 작성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(90%)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고객사 회신 완료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(3/25)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SP1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(04/06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납품 예정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(~03/27)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반영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모드 추가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건 적용하여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리라이팅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말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113EA)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795" y="665550"/>
            <a:ext cx="27876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>
                <a:solidFill>
                  <a:srgbClr val="FF0000"/>
                </a:solidFill>
              </a:endParaRPr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25.08.15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26.09.01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T2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450943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26.12.15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27.04.15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6914051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SP#1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7" name="그룹 20"/>
          <p:cNvGrpSpPr>
            <a:grpSpLocks noChangeAspect="1"/>
          </p:cNvGrpSpPr>
          <p:nvPr/>
        </p:nvGrpSpPr>
        <p:grpSpPr bwMode="auto">
          <a:xfrm>
            <a:off x="7623287" y="555242"/>
            <a:ext cx="1030567" cy="503686"/>
            <a:chOff x="0" y="137478"/>
            <a:chExt cx="604837" cy="480818"/>
          </a:xfrm>
        </p:grpSpPr>
        <p:sp>
          <p:nvSpPr>
            <p:cNvPr id="29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27.03.15</a:t>
              </a:r>
            </a:p>
          </p:txBody>
        </p:sp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</a:t>
              </a:r>
            </a:p>
          </p:txBody>
        </p:sp>
      </p:grpSp>
      <p:sp>
        <p:nvSpPr>
          <p:cNvPr id="31" name="위쪽 화살표 30"/>
          <p:cNvSpPr>
            <a:spLocks noChangeArrowheads="1"/>
          </p:cNvSpPr>
          <p:nvPr/>
        </p:nvSpPr>
        <p:spPr bwMode="auto">
          <a:xfrm rot="10800000">
            <a:off x="8077937" y="725422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TextBox 3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20813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69257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356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498338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99188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Core Temp Over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증상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Heater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동작 없이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높은 온도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70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100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수렴으로 인한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Falult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시나리오 재 문의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(3/19)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현 상황 및 대책 방안 정리 하여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다음 주 회신 예정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정재근 책임 연구원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40838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25.06.01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26.09.21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27.03.15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954439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37704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284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24.12.15</a:t>
              </a: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25.09.30</a:t>
              </a: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26.04.27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26.04.27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26.07.15</a:t>
              </a: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26.7.20</a:t>
              </a: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26.9.30</a:t>
              </a: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25.05.01</a:t>
              </a: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25.11.15</a:t>
              </a: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RHD</a:t>
            </a:r>
            <a:endParaRPr lang="ko-KR" altLang="en-US" sz="10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LHD</a:t>
            </a:r>
            <a:endParaRPr lang="ko-KR" altLang="en-US" sz="10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199735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330650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New Board Writing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  <a:endParaRPr lang="en-US" altLang="ko-KR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보드 입수 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  <a:r>
                        <a:rPr lang="en-US" altLang="ko-KR" sz="105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Architecture </a:t>
                      </a:r>
                      <a:r>
                        <a:rPr lang="ko-KR" altLang="en-US" sz="105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이식 준비 </a:t>
                      </a:r>
                      <a:r>
                        <a:rPr lang="en-US" altLang="ko-KR" sz="105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(~3/30)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QV</a:t>
                      </a:r>
                      <a:r>
                        <a:rPr lang="en-US" altLang="ko-KR" sz="105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S/W writing </a:t>
                      </a:r>
                      <a:r>
                        <a:rPr lang="ko-KR" altLang="en-US" sz="105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 기본 동작 검증</a:t>
                      </a:r>
                      <a:r>
                        <a:rPr lang="en-US" altLang="ko-KR" sz="105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(~3/24)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New Board LIN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송신 에러 원인 분석 및 해결</a:t>
                      </a:r>
                      <a:endParaRPr lang="en-US" altLang="ko-KR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MMA Board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동일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동작 시 정상 동작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(3/25)</a:t>
                      </a:r>
                    </a:p>
                    <a:p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ADC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아키텍처 개선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(QV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비교 분석 기반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lang="ko-KR" altLang="en-US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진행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i="1" dirty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842157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Y2V (Suzuki)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-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TextBox 28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475839"/>
              </p:ext>
            </p:extLst>
          </p:nvPr>
        </p:nvGraphicFramePr>
        <p:xfrm>
          <a:off x="1641612" y="3284984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워크시트" showAsIcon="1" r:id="rId3" imgW="914400" imgH="771480" progId="Excel.Sheet.12">
                  <p:embed/>
                </p:oleObj>
              </mc:Choice>
              <mc:Fallback>
                <p:oleObj name="워크시트" showAsIcon="1" r:id="rId3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41612" y="3284984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24719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01665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PCB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검증위한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(H/W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보드 입수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Architecture 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이식 준비 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(~3/30)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QV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S/W writing 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 기본 동작 검증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(~3/24)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452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000" b="1" i="0" u="none" strike="noStrike" kern="1200" cap="none" spc="0" normalizeH="0" baseline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kumimoji="0" lang="ko-KR" altLang="en-US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 전임</a:t>
            </a:r>
            <a:r>
              <a:rPr kumimoji="0" lang="en-US" altLang="ko-KR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103298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495703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자료 작성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Release Note,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제어사양서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로직점검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체크리스트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CAN DB,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바이너리 파일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영향성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평가서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R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 튜닝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(~4/2)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SP1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대응에 따른 진행 계획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현지 생산 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생산 진행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R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완료 이후 평택 입고 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업데이후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납품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계획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(~4/3)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: 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튜닝값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이외 변경 사항 없음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SP1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200EA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25.10.15</a:t>
              </a: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26.5.11</a:t>
              </a: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26.09.21</a:t>
              </a: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26.12.1</a:t>
              </a: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26.3.31</a:t>
              </a: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RHD</a:t>
            </a:r>
            <a:endParaRPr lang="ko-KR" altLang="en-US" sz="10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LHD</a:t>
            </a:r>
            <a:endParaRPr lang="ko-KR" altLang="en-US" sz="1000" b="1" dirty="0"/>
          </a:p>
        </p:txBody>
      </p:sp>
      <p:sp>
        <p:nvSpPr>
          <p:cNvPr id="44" name="Rectangle 46"/>
          <p:cNvSpPr>
            <a:spLocks noChangeArrowheads="1"/>
          </p:cNvSpPr>
          <p:nvPr/>
        </p:nvSpPr>
        <p:spPr bwMode="auto">
          <a:xfrm>
            <a:off x="5351969" y="970381"/>
            <a:ext cx="100891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26.5.11</a:t>
            </a:r>
          </a:p>
        </p:txBody>
      </p:sp>
      <p:sp>
        <p:nvSpPr>
          <p:cNvPr id="46" name="Rectangle 46"/>
          <p:cNvSpPr>
            <a:spLocks noChangeArrowheads="1"/>
          </p:cNvSpPr>
          <p:nvPr/>
        </p:nvSpPr>
        <p:spPr bwMode="auto">
          <a:xfrm>
            <a:off x="6766636" y="970381"/>
            <a:ext cx="1045724" cy="26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26.09.21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8221953" y="963155"/>
            <a:ext cx="1030567" cy="26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26.12.1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395" y="1867069"/>
            <a:ext cx="3742482" cy="57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334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10354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XV1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463722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46104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NQ6e Proto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자료 작성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Release Note,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제어 사양서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 점검 체크리스트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시험 샘플 수령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3/20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3/26)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현재 제작된 샘플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성능 저하로 다시 제작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NQ6e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26.7.1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26.12.25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27.10.31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pSp>
        <p:nvGrpSpPr>
          <p:cNvPr id="43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30548" y="536609"/>
            <a:ext cx="1030567" cy="528565"/>
            <a:chOff x="0" y="131540"/>
            <a:chExt cx="604837" cy="504569"/>
          </a:xfrm>
        </p:grpSpPr>
        <p:sp>
          <p:nvSpPr>
            <p:cNvPr id="44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81517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27.6.16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1540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47" name="위쪽 화살표 46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985051" y="715558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01841835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624480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SANDEN Air PTC 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946970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741333"/>
              </p:ext>
            </p:extLst>
          </p:nvPr>
        </p:nvGraphicFramePr>
        <p:xfrm>
          <a:off x="11059" y="548680"/>
          <a:ext cx="9097445" cy="4988607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70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9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&lt;-&gt;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합동 평가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3/26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한온시스템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본사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참석자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이자효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책임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박준형 전임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전압 변동 시험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이슈사항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: 2P Cal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시 악의 전압 변동 시나리오 확정 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S/W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구현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 2P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시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스톨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 발생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            a.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전압 변동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미발생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 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회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리트라이후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Stall Err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판정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            b.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전압 변동 발생 시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리트라이를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 진행 하나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리트라이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 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             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운트는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 증가 하지 않음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            c.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전압 변동 발생 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9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회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리트라이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 진행 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 Cal Err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판정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방문 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B or C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제안하여 확정예정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설계변경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합동 재 평가 이후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3/31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548680"/>
            <a:ext cx="36654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JG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이자효 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책임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0009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4644008" y="548680"/>
            <a:ext cx="1008918" cy="520355"/>
            <a:chOff x="0" y="134593"/>
            <a:chExt cx="604837" cy="496731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5364088" y="547221"/>
            <a:ext cx="1045724" cy="519163"/>
            <a:chOff x="0" y="135732"/>
            <a:chExt cx="604837" cy="495592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3.1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7941410" y="528347"/>
            <a:ext cx="1030567" cy="530581"/>
            <a:chOff x="0" y="111804"/>
            <a:chExt cx="604837" cy="506492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11804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07605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5827196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395913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8" name="그룹 16"/>
          <p:cNvGrpSpPr>
            <a:grpSpLocks noChangeAspect="1"/>
          </p:cNvGrpSpPr>
          <p:nvPr/>
        </p:nvGrpSpPr>
        <p:grpSpPr bwMode="auto">
          <a:xfrm>
            <a:off x="7452320" y="524823"/>
            <a:ext cx="1045724" cy="537093"/>
            <a:chOff x="0" y="118616"/>
            <a:chExt cx="604837" cy="512708"/>
          </a:xfrm>
        </p:grpSpPr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26297" y="118616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46" name="위쪽 화살표 45"/>
          <p:cNvSpPr>
            <a:spLocks noChangeArrowheads="1"/>
          </p:cNvSpPr>
          <p:nvPr/>
        </p:nvSpPr>
        <p:spPr bwMode="auto">
          <a:xfrm rot="10800000">
            <a:off x="7915428" y="71761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47" name="그룹 16"/>
          <p:cNvGrpSpPr>
            <a:grpSpLocks noChangeAspect="1"/>
          </p:cNvGrpSpPr>
          <p:nvPr/>
        </p:nvGrpSpPr>
        <p:grpSpPr bwMode="auto">
          <a:xfrm>
            <a:off x="6190572" y="541559"/>
            <a:ext cx="1045724" cy="519163"/>
            <a:chOff x="0" y="135732"/>
            <a:chExt cx="604837" cy="495592"/>
          </a:xfrm>
        </p:grpSpPr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4.30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Post 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51" name="위쪽 화살표 50"/>
          <p:cNvSpPr>
            <a:spLocks noChangeArrowheads="1"/>
          </p:cNvSpPr>
          <p:nvPr/>
        </p:nvSpPr>
        <p:spPr bwMode="auto">
          <a:xfrm rot="10800000">
            <a:off x="6653680" y="716425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804248" y="533573"/>
            <a:ext cx="1045724" cy="519163"/>
            <a:chOff x="0" y="135732"/>
            <a:chExt cx="604837" cy="495592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Pre 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55" name="위쪽 화살표 54"/>
          <p:cNvSpPr>
            <a:spLocks noChangeArrowheads="1"/>
          </p:cNvSpPr>
          <p:nvPr/>
        </p:nvSpPr>
        <p:spPr bwMode="auto">
          <a:xfrm rot="10800000">
            <a:off x="7267356" y="70843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TextBox 5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997193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561739"/>
              </p:ext>
            </p:extLst>
          </p:nvPr>
        </p:nvGraphicFramePr>
        <p:xfrm>
          <a:off x="23277" y="568922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1. EOL &lt;-&gt; Master Sample / </a:t>
                      </a:r>
                      <a:r>
                        <a:rPr lang="ko-KR" altLang="en-US" sz="1000" baseline="0" dirty="0"/>
                        <a:t>각도 측정 장비 편차에 따른 원인 분석 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/>
                        <a:t>양산금형 도면 대비 제품 실측 결과 </a:t>
                      </a:r>
                      <a:r>
                        <a:rPr lang="en-US" altLang="ko-KR" sz="1000" baseline="0" dirty="0"/>
                        <a:t>: </a:t>
                      </a:r>
                      <a:r>
                        <a:rPr lang="ko-KR" altLang="en-US" sz="1000" baseline="0" dirty="0"/>
                        <a:t>문제없음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S/W </a:t>
                      </a:r>
                      <a:r>
                        <a:rPr lang="ko-KR" altLang="en-US" sz="1000" baseline="0" dirty="0" err="1"/>
                        <a:t>파라미터값</a:t>
                      </a:r>
                      <a:r>
                        <a:rPr lang="ko-KR" altLang="en-US" sz="1000" baseline="0" dirty="0"/>
                        <a:t> </a:t>
                      </a:r>
                      <a:r>
                        <a:rPr lang="en-US" altLang="ko-KR" sz="1000" baseline="0" dirty="0"/>
                        <a:t>18.5 </a:t>
                      </a: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17.3 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으로 변경 완료</a:t>
                      </a:r>
                      <a:endParaRPr lang="en-US" altLang="ko-KR" sz="1000" baseline="0" dirty="0">
                        <a:sym typeface="Wingdings" panose="05000000000000000000" pitchFamily="2" charset="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     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각도 지그 기준 </a:t>
                      </a: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90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도 확인 완료</a:t>
                      </a: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2. </a:t>
                      </a:r>
                      <a:r>
                        <a:rPr lang="ko-KR" altLang="en-US" sz="1000" baseline="0" dirty="0" err="1"/>
                        <a:t>한온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공정 감사 진행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dirty="0"/>
                        <a:t>   - </a:t>
                      </a:r>
                      <a:r>
                        <a:rPr lang="ko-KR" altLang="en-US" sz="1000" b="0" baseline="0" dirty="0"/>
                        <a:t>일자 </a:t>
                      </a:r>
                      <a:r>
                        <a:rPr lang="en-US" altLang="ko-KR" sz="1000" b="0" baseline="0" dirty="0"/>
                        <a:t>: 3/25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dirty="0"/>
                        <a:t>   - </a:t>
                      </a:r>
                      <a:r>
                        <a:rPr lang="ko-KR" altLang="en-US" sz="1000" b="0" baseline="0" dirty="0"/>
                        <a:t>장소 </a:t>
                      </a:r>
                      <a:r>
                        <a:rPr lang="en-US" altLang="ko-KR" sz="1000" b="0" baseline="0" dirty="0"/>
                        <a:t>: </a:t>
                      </a:r>
                      <a:r>
                        <a:rPr lang="ko-KR" altLang="en-US" sz="1000" b="0" baseline="0" dirty="0" err="1"/>
                        <a:t>우리산업</a:t>
                      </a:r>
                      <a:r>
                        <a:rPr lang="ko-KR" altLang="en-US" sz="1000" b="0" baseline="0" dirty="0"/>
                        <a:t> 평택공장</a:t>
                      </a:r>
                      <a:endParaRPr lang="en-US" altLang="ko-KR" sz="1000" b="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dirty="0"/>
                        <a:t>   - EOL </a:t>
                      </a:r>
                      <a:r>
                        <a:rPr lang="ko-KR" altLang="en-US" sz="1000" b="0" baseline="0" dirty="0"/>
                        <a:t>요구 개선</a:t>
                      </a:r>
                      <a:endParaRPr lang="en-US" altLang="ko-KR" sz="1000" b="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dirty="0"/>
                        <a:t>      : </a:t>
                      </a:r>
                      <a:r>
                        <a:rPr lang="ko-KR" altLang="en-US" sz="1000" b="0" baseline="0" dirty="0"/>
                        <a:t>구동</a:t>
                      </a:r>
                      <a:r>
                        <a:rPr lang="en-US" altLang="ko-KR" sz="1000" b="0" baseline="0" dirty="0"/>
                        <a:t>/Stall </a:t>
                      </a:r>
                      <a:r>
                        <a:rPr lang="ko-KR" altLang="en-US" sz="1000" b="0" baseline="0" dirty="0"/>
                        <a:t>전류 </a:t>
                      </a:r>
                      <a:r>
                        <a:rPr lang="en-US" altLang="ko-KR" sz="1000" b="0" baseline="0" dirty="0"/>
                        <a:t>MIN </a:t>
                      </a:r>
                      <a:r>
                        <a:rPr lang="ko-KR" altLang="en-US" sz="1000" b="0" baseline="0" dirty="0"/>
                        <a:t>값 선정 필요</a:t>
                      </a:r>
                      <a:endParaRPr lang="en-US" altLang="ko-KR" sz="1000" b="0" baseline="0" dirty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1. S/W 2</a:t>
                      </a:r>
                      <a:r>
                        <a:rPr lang="ko-KR" altLang="en-US" sz="1000" baseline="0" dirty="0"/>
                        <a:t>차 검증 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dirty="0"/>
                        <a:t>   - </a:t>
                      </a:r>
                      <a:r>
                        <a:rPr lang="ko-KR" altLang="en-US" sz="1000" b="0" baseline="0" dirty="0"/>
                        <a:t>주최 </a:t>
                      </a:r>
                      <a:r>
                        <a:rPr lang="en-US" altLang="ko-KR" sz="1000" b="0" baseline="0" dirty="0"/>
                        <a:t>: HKMC </a:t>
                      </a:r>
                      <a:r>
                        <a:rPr lang="ko-KR" altLang="en-US" sz="1000" b="0" baseline="0" dirty="0"/>
                        <a:t>열에너지 시스템 팀</a:t>
                      </a:r>
                      <a:endParaRPr lang="en-US" altLang="ko-KR" sz="1000" b="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dirty="0"/>
                        <a:t>   - </a:t>
                      </a:r>
                      <a:r>
                        <a:rPr lang="ko-KR" altLang="en-US" sz="1000" b="0" baseline="0" dirty="0"/>
                        <a:t>날짜 </a:t>
                      </a:r>
                      <a:r>
                        <a:rPr lang="en-US" altLang="ko-KR" sz="1000" b="0" baseline="0" dirty="0"/>
                        <a:t>:  4</a:t>
                      </a:r>
                      <a:r>
                        <a:rPr lang="ko-KR" altLang="en-US" sz="1000" b="0" baseline="0" dirty="0"/>
                        <a:t>월 </a:t>
                      </a:r>
                      <a:r>
                        <a:rPr lang="en-US" altLang="ko-KR" sz="1000" b="0" baseline="0" dirty="0"/>
                        <a:t>13</a:t>
                      </a:r>
                      <a:r>
                        <a:rPr lang="ko-KR" altLang="en-US" sz="1000" b="0" baseline="0" dirty="0"/>
                        <a:t>일 </a:t>
                      </a:r>
                      <a:endParaRPr lang="en-US" altLang="ko-KR" sz="1000" b="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4WayValve</a:t>
            </a:r>
            <a:endParaRPr lang="en-US" altLang="ko-KR" sz="1600" b="1" noProof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김강일 사원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30067124-8453-5C6A-93B2-0084155B4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0775" y="890142"/>
            <a:ext cx="5659939" cy="22121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9pPr>
          </a:lstStyle>
          <a:p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805588E-37E0-DA9C-9E52-6EF1AD7529F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56238" y="568922"/>
            <a:ext cx="3187913" cy="537127"/>
            <a:chOff x="-1281992" y="105555"/>
            <a:chExt cx="1886829" cy="512741"/>
          </a:xfrm>
        </p:grpSpPr>
        <p:sp>
          <p:nvSpPr>
            <p:cNvPr id="24" name="위쪽 화살표 43">
              <a:extLst>
                <a:ext uri="{FF2B5EF4-FFF2-40B4-BE49-F238E27FC236}">
                  <a16:creationId xmlns:a16="http://schemas.microsoft.com/office/drawing/2014/main" id="{E0709667-4385-E76D-9399-32558DCAC5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25" name="Rectangle 46">
              <a:extLst>
                <a:ext uri="{FF2B5EF4-FFF2-40B4-BE49-F238E27FC236}">
                  <a16:creationId xmlns:a16="http://schemas.microsoft.com/office/drawing/2014/main" id="{C7EBFE63-D8F4-B105-5A57-623F85F04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6" name="Rectangle 46">
              <a:extLst>
                <a:ext uri="{FF2B5EF4-FFF2-40B4-BE49-F238E27FC236}">
                  <a16:creationId xmlns:a16="http://schemas.microsoft.com/office/drawing/2014/main" id="{56F80903-B688-9B8F-CD2A-3FA145339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SP#1/26.4.15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7" name="Rectangle 46">
              <a:extLst>
                <a:ext uri="{FF2B5EF4-FFF2-40B4-BE49-F238E27FC236}">
                  <a16:creationId xmlns:a16="http://schemas.microsoft.com/office/drawing/2014/main" id="{B6762560-C205-27BD-75DA-9C3AADCEA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281992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HKMC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C0F4A86-8683-956B-19DD-FCF2D5434FF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77919" y="922850"/>
            <a:ext cx="1201051" cy="505237"/>
            <a:chOff x="-106029" y="135997"/>
            <a:chExt cx="710866" cy="482299"/>
          </a:xfrm>
        </p:grpSpPr>
        <p:sp>
          <p:nvSpPr>
            <p:cNvPr id="21" name="위쪽 화살표 16">
              <a:extLst>
                <a:ext uri="{FF2B5EF4-FFF2-40B4-BE49-F238E27FC236}">
                  <a16:creationId xmlns:a16="http://schemas.microsoft.com/office/drawing/2014/main" id="{BE46A58D-A4FB-0A8B-1DE9-DB373B000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22" name="Rectangle 46">
              <a:extLst>
                <a:ext uri="{FF2B5EF4-FFF2-40B4-BE49-F238E27FC236}">
                  <a16:creationId xmlns:a16="http://schemas.microsoft.com/office/drawing/2014/main" id="{FEB624E9-40A7-DF0A-4C48-AF6444BE6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3" name="Rectangle 46">
              <a:extLst>
                <a:ext uri="{FF2B5EF4-FFF2-40B4-BE49-F238E27FC236}">
                  <a16:creationId xmlns:a16="http://schemas.microsoft.com/office/drawing/2014/main" id="{A777D1AD-0636-E4C5-BA30-133A00D46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LP#1/26.4.10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C00DEF4-8788-57FF-DA2B-594C005446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96450" y="922850"/>
            <a:ext cx="2030699" cy="505237"/>
            <a:chOff x="-597073" y="135997"/>
            <a:chExt cx="1201910" cy="482299"/>
          </a:xfrm>
        </p:grpSpPr>
        <p:sp>
          <p:nvSpPr>
            <p:cNvPr id="17" name="위쪽 화살표 20">
              <a:extLst>
                <a:ext uri="{FF2B5EF4-FFF2-40B4-BE49-F238E27FC236}">
                  <a16:creationId xmlns:a16="http://schemas.microsoft.com/office/drawing/2014/main" id="{BDEA3A61-615E-7F7B-2003-F6DCF40C0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8" name="Rectangle 46">
              <a:extLst>
                <a:ext uri="{FF2B5EF4-FFF2-40B4-BE49-F238E27FC236}">
                  <a16:creationId xmlns:a16="http://schemas.microsoft.com/office/drawing/2014/main" id="{17C6086D-B563-6D54-C0D0-E3D777FFB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9" name="Rectangle 46">
              <a:extLst>
                <a:ext uri="{FF2B5EF4-FFF2-40B4-BE49-F238E27FC236}">
                  <a16:creationId xmlns:a16="http://schemas.microsoft.com/office/drawing/2014/main" id="{361C656E-746F-00CB-1497-7C289E593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SP#1/26.3.01</a:t>
              </a:r>
            </a:p>
          </p:txBody>
        </p:sp>
        <p:sp>
          <p:nvSpPr>
            <p:cNvPr id="20" name="Rectangle 46">
              <a:extLst>
                <a:ext uri="{FF2B5EF4-FFF2-40B4-BE49-F238E27FC236}">
                  <a16:creationId xmlns:a16="http://schemas.microsoft.com/office/drawing/2014/main" id="{DB98EFF7-86FD-6B88-B74F-7C09154D5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597073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ko-KR" altLang="en-US" sz="1000" dirty="0" err="1">
                  <a:latin typeface="+mn-ea"/>
                </a:rPr>
                <a:t>명화공업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0FB415B-A012-7F7B-8FDD-5D1E5CE2E5D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64142" y="922850"/>
            <a:ext cx="1201051" cy="505237"/>
            <a:chOff x="-106029" y="135997"/>
            <a:chExt cx="710866" cy="482299"/>
          </a:xfrm>
        </p:grpSpPr>
        <p:sp>
          <p:nvSpPr>
            <p:cNvPr id="14" name="위쪽 화살표 24">
              <a:extLst>
                <a:ext uri="{FF2B5EF4-FFF2-40B4-BE49-F238E27FC236}">
                  <a16:creationId xmlns:a16="http://schemas.microsoft.com/office/drawing/2014/main" id="{496F9014-A832-7626-E95A-4B7FF4B8D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5" name="Rectangle 46">
              <a:extLst>
                <a:ext uri="{FF2B5EF4-FFF2-40B4-BE49-F238E27FC236}">
                  <a16:creationId xmlns:a16="http://schemas.microsoft.com/office/drawing/2014/main" id="{2A839B0E-1738-90BC-7A56-3F578FEEE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6" name="Rectangle 46">
              <a:extLst>
                <a:ext uri="{FF2B5EF4-FFF2-40B4-BE49-F238E27FC236}">
                  <a16:creationId xmlns:a16="http://schemas.microsoft.com/office/drawing/2014/main" id="{8154AC2C-6E7A-ED2F-3AC5-B3BE349FB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LP#2/26.6.20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80FD3B4-B1FA-26CD-0359-89AA4F86964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06955" y="568922"/>
            <a:ext cx="1021909" cy="537127"/>
            <a:chOff x="0" y="105555"/>
            <a:chExt cx="604837" cy="512741"/>
          </a:xfrm>
        </p:grpSpPr>
        <p:sp>
          <p:nvSpPr>
            <p:cNvPr id="9" name="위쪽 화살표 29">
              <a:extLst>
                <a:ext uri="{FF2B5EF4-FFF2-40B4-BE49-F238E27FC236}">
                  <a16:creationId xmlns:a16="http://schemas.microsoft.com/office/drawing/2014/main" id="{DD48BA24-C629-D4F8-CC84-F0BFDA6CEA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1" name="Rectangle 46">
              <a:extLst>
                <a:ext uri="{FF2B5EF4-FFF2-40B4-BE49-F238E27FC236}">
                  <a16:creationId xmlns:a16="http://schemas.microsoft.com/office/drawing/2014/main" id="{8C695C70-0F44-8284-77CD-DE7481205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3" name="Rectangle 46">
              <a:extLst>
                <a:ext uri="{FF2B5EF4-FFF2-40B4-BE49-F238E27FC236}">
                  <a16:creationId xmlns:a16="http://schemas.microsoft.com/office/drawing/2014/main" id="{B7F64395-E7FC-5293-E3BD-68B193395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LP#1/26.7.15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94DB8ACA-4124-A8D0-7171-00617D676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450" y="2513724"/>
            <a:ext cx="2295098" cy="255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69622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362824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/>
                        <a:t>1. NovoSense </a:t>
                      </a:r>
                      <a:r>
                        <a:rPr lang="ko-KR" altLang="en-US" sz="1000" baseline="0"/>
                        <a:t>개발 환경 구성 완료</a:t>
                      </a:r>
                      <a:endParaRPr lang="en-US" altLang="ko-KR" sz="1000" baseline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/>
                        <a:t>   : 2P CAL </a:t>
                      </a:r>
                      <a:r>
                        <a:rPr lang="ko-KR" altLang="en-US" sz="1000" baseline="0"/>
                        <a:t>기능 및 </a:t>
                      </a:r>
                      <a:r>
                        <a:rPr lang="en-US" altLang="ko-KR" sz="1000" baseline="0"/>
                        <a:t>S/W</a:t>
                      </a:r>
                      <a:r>
                        <a:rPr lang="ko-KR" altLang="en-US" sz="1000" baseline="0"/>
                        <a:t> 분석</a:t>
                      </a:r>
                      <a:endParaRPr lang="en-US" altLang="ko-KR" sz="1000" baseline="0"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ko-KR" sz="1000" baseline="0"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ko-KR" sz="1000" baseline="0"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CI30 Stepper Act’r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Vignesh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전임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9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5" cy="505516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7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855902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397502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(3/20~3/26)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ko-KR" sz="1000" baseline="0" dirty="0"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Denso STLA XEV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이자효 책임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9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5" cy="505516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7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185461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/>
          </p:cNvSpPr>
          <p:nvPr/>
        </p:nvSpPr>
        <p:spPr bwMode="auto">
          <a:xfrm>
            <a:off x="176506" y="7775"/>
            <a:ext cx="6879981" cy="468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400" tIns="44200" rIns="88400" bIns="44200" anchor="ctr"/>
          <a:lstStyle/>
          <a:p>
            <a:pPr algn="l"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EV Heater SW2</a:t>
            </a:r>
            <a:r>
              <a:rPr lang="ko-KR" altLang="en-US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팀 업무분장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353132"/>
              </p:ext>
            </p:extLst>
          </p:nvPr>
        </p:nvGraphicFramePr>
        <p:xfrm>
          <a:off x="3203848" y="790125"/>
          <a:ext cx="2592288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오세영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팀장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팀 관리 업무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. Air PTC SW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 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Act’r/Valve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3285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320259"/>
              </p:ext>
            </p:extLst>
          </p:nvPr>
        </p:nvGraphicFramePr>
        <p:xfrm>
          <a:off x="1122973" y="3722451"/>
          <a:ext cx="1907290" cy="119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6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임제훈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216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SVm, BJ1, NX5e, HE1i,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  AY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SU2i, KY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44876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122973" y="2530955"/>
          <a:ext cx="1907290" cy="1126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5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조현진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전임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0622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SX3e, NEaW, MX5a, QV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MVa, Nea, Mea, Cva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541145"/>
              </p:ext>
            </p:extLst>
          </p:nvPr>
        </p:nvGraphicFramePr>
        <p:xfrm>
          <a:off x="5863244" y="3721993"/>
          <a:ext cx="1907290" cy="100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79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최은혁 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22984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Actuator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JG1, RS4PE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cxnSp>
        <p:nvCxnSpPr>
          <p:cNvPr id="17" name="꺾인 연결선 16"/>
          <p:cNvCxnSpPr>
            <a:stCxn id="8" idx="0"/>
            <a:endCxn id="7" idx="2"/>
          </p:cNvCxnSpPr>
          <p:nvPr/>
        </p:nvCxnSpPr>
        <p:spPr bwMode="auto">
          <a:xfrm rot="5400000" flipH="1" flipV="1">
            <a:off x="4049548" y="2075948"/>
            <a:ext cx="900635" cy="524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꺾인 연결선 17"/>
          <p:cNvCxnSpPr>
            <a:stCxn id="14" idx="0"/>
            <a:endCxn id="7" idx="2"/>
          </p:cNvCxnSpPr>
          <p:nvPr/>
        </p:nvCxnSpPr>
        <p:spPr bwMode="auto">
          <a:xfrm rot="16200000" flipV="1">
            <a:off x="5272277" y="858464"/>
            <a:ext cx="888659" cy="242823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꺾인 연결선 18"/>
          <p:cNvCxnSpPr>
            <a:stCxn id="13" idx="0"/>
            <a:endCxn id="7" idx="2"/>
          </p:cNvCxnSpPr>
          <p:nvPr/>
        </p:nvCxnSpPr>
        <p:spPr bwMode="auto">
          <a:xfrm rot="5400000" flipH="1" flipV="1">
            <a:off x="2838201" y="866669"/>
            <a:ext cx="902704" cy="2425870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518298"/>
              </p:ext>
            </p:extLst>
          </p:nvPr>
        </p:nvGraphicFramePr>
        <p:xfrm>
          <a:off x="5863244" y="4839008"/>
          <a:ext cx="1907290" cy="116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572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김강일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912057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- 4Way/6Way Valve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183099"/>
              </p:ext>
            </p:extLst>
          </p:nvPr>
        </p:nvGraphicFramePr>
        <p:xfrm>
          <a:off x="3558879" y="3722451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김진겸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Air PTC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Motor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ES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30583" y="4980630"/>
            <a:ext cx="189968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PTC</a:t>
            </a:r>
            <a:endParaRPr lang="ko-KR" altLang="en-US" sz="1200"/>
          </a:p>
        </p:txBody>
      </p:sp>
      <p:sp>
        <p:nvSpPr>
          <p:cNvPr id="20" name="직사각형 19"/>
          <p:cNvSpPr/>
          <p:nvPr/>
        </p:nvSpPr>
        <p:spPr>
          <a:xfrm>
            <a:off x="5863244" y="6058276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Motor</a:t>
            </a:r>
            <a:endParaRPr lang="ko-KR" altLang="en-US" sz="1200"/>
          </a:p>
        </p:txBody>
      </p:sp>
      <p:sp>
        <p:nvSpPr>
          <p:cNvPr id="21" name="직사각형 20"/>
          <p:cNvSpPr/>
          <p:nvPr/>
        </p:nvSpPr>
        <p:spPr>
          <a:xfrm>
            <a:off x="3554859" y="4899174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공통업무</a:t>
            </a:r>
            <a:endParaRPr lang="en-US" altLang="ko-KR" sz="120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652669"/>
              </p:ext>
            </p:extLst>
          </p:nvPr>
        </p:nvGraphicFramePr>
        <p:xfrm>
          <a:off x="5868144" y="2521662"/>
          <a:ext cx="1907290" cy="1085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02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이자효 책임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306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CI30 Stepper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Act’r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2. BLDC Motor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지원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3. Act’r/Valve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지원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394486"/>
              </p:ext>
            </p:extLst>
          </p:nvPr>
        </p:nvGraphicFramePr>
        <p:xfrm>
          <a:off x="3558879" y="2516911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VIGNESH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1. Motor Control Zig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2. S/W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정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동적 검증 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0506531"/>
      </p:ext>
    </p:extLst>
  </p:cSld>
  <p:clrMapOvr>
    <a:masterClrMapping/>
  </p:clrMapOvr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27184</TotalTime>
  <Words>2545</Words>
  <Application>Microsoft Office PowerPoint</Application>
  <PresentationFormat>화면 슬라이드 쇼(4:3)</PresentationFormat>
  <Paragraphs>638</Paragraphs>
  <Slides>21</Slides>
  <Notes>20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1" baseType="lpstr">
      <vt:lpstr>굴림</vt:lpstr>
      <vt:lpstr>맑은 고딕</vt:lpstr>
      <vt:lpstr>현대하모니 B</vt:lpstr>
      <vt:lpstr>현대하모니 M</vt:lpstr>
      <vt:lpstr>Arial</vt:lpstr>
      <vt:lpstr>Lucida Sans Unicode</vt:lpstr>
      <vt:lpstr>Verdana</vt:lpstr>
      <vt:lpstr>Wingdings</vt:lpstr>
      <vt:lpstr>제안서 템플릿</vt:lpstr>
      <vt:lpstr>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세영 오</cp:lastModifiedBy>
  <cp:revision>6540</cp:revision>
  <dcterms:created xsi:type="dcterms:W3CDTF">2019-10-24T04:42:23Z</dcterms:created>
  <dcterms:modified xsi:type="dcterms:W3CDTF">2026-03-25T08:07:46Z</dcterms:modified>
  <cp:version/>
</cp:coreProperties>
</file>