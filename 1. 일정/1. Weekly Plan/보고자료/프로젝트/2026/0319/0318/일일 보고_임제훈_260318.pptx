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709" r:id="rId1"/>
  </p:sldMasterIdLst>
  <p:notesMasterIdLst>
    <p:notesMasterId r:id="rId7"/>
  </p:notesMasterIdLst>
  <p:handoutMasterIdLst>
    <p:handoutMasterId r:id="rId8"/>
  </p:handoutMasterIdLst>
  <p:sldIdLst>
    <p:sldId id="1137" r:id="rId2"/>
    <p:sldId id="1138" r:id="rId3"/>
    <p:sldId id="1139" r:id="rId4"/>
    <p:sldId id="1140" r:id="rId5"/>
    <p:sldId id="1141" r:id="rId6"/>
  </p:sldIdLst>
  <p:sldSz cx="9144000" cy="6858000" type="screen4x3"/>
  <p:notesSz cx="6802438" cy="993457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71ce5d532fb71a9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76" autoAdjust="0"/>
    <p:restoredTop sz="96378" autoAdjust="0"/>
  </p:normalViewPr>
  <p:slideViewPr>
    <p:cSldViewPr snapToObjects="1">
      <p:cViewPr varScale="1">
        <p:scale>
          <a:sx n="114" d="100"/>
          <a:sy n="114" d="100"/>
        </p:scale>
        <p:origin x="1710" y="102"/>
      </p:cViewPr>
      <p:guideLst>
        <p:guide orient="horz" pos="2159"/>
        <p:guide pos="2879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40" d="100"/>
        <a:sy n="140" d="100"/>
      </p:scale>
      <p:origin x="0" y="-5916"/>
    </p:cViewPr>
  </p:sorterViewPr>
  <p:notesViewPr>
    <p:cSldViewPr snapToObjects="1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4F0EACC-29E1-4123-AB74-F69792B7420C}" type="datetime1">
              <a:rPr lang="ko-KR" altLang="en-US"/>
              <a:pPr>
                <a:defRPr/>
              </a:pPr>
              <a:t>2026-03-18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C5AD38E4-52FB-405C-8E19-6A254CCE20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B67648E-ACAE-4A84-9CB2-88D8D686B020}" type="datetime1">
              <a:rPr lang="ko-KR" altLang="en-US"/>
              <a:pPr>
                <a:defRPr/>
              </a:pPr>
              <a:t>2026-03-18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66813" y="1241425"/>
            <a:ext cx="4468812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81550"/>
            <a:ext cx="5441950" cy="39116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29ED2F5D-67AF-441D-A814-CF7ACE32B2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16853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01323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36997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41603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389641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>
            <a:extLst>
              <a:ext uri="{FF2B5EF4-FFF2-40B4-BE49-F238E27FC236}">
                <a16:creationId xmlns:a16="http://schemas.microsoft.com/office/drawing/2014/main" id="{FAD228E9-8FB4-4FE0-8960-343D0C70C809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-26988"/>
            <a:ext cx="9144000" cy="23034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" name="Freeform 38">
            <a:extLst>
              <a:ext uri="{FF2B5EF4-FFF2-40B4-BE49-F238E27FC236}">
                <a16:creationId xmlns:a16="http://schemas.microsoft.com/office/drawing/2014/main" id="{FE218359-3438-4B51-8D6A-457052163E4C}"/>
              </a:ext>
            </a:extLst>
          </p:cNvPr>
          <p:cNvSpPr>
            <a:spLocks/>
          </p:cNvSpPr>
          <p:nvPr userDrawn="1"/>
        </p:nvSpPr>
        <p:spPr bwMode="gray">
          <a:xfrm>
            <a:off x="0" y="3284538"/>
            <a:ext cx="1911350" cy="4619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4" y="0"/>
              </a:cxn>
              <a:cxn ang="0">
                <a:pos x="1041" y="291"/>
              </a:cxn>
              <a:cxn ang="0">
                <a:pos x="0" y="286"/>
              </a:cxn>
              <a:cxn ang="0">
                <a:pos x="0" y="0"/>
              </a:cxn>
            </a:cxnLst>
            <a:rect l="0" t="0" r="r" b="b"/>
            <a:pathLst>
              <a:path w="1204" h="291">
                <a:moveTo>
                  <a:pt x="0" y="0"/>
                </a:moveTo>
                <a:lnTo>
                  <a:pt x="1204" y="0"/>
                </a:lnTo>
                <a:lnTo>
                  <a:pt x="1041" y="291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" name="Freeform 44">
            <a:extLst>
              <a:ext uri="{FF2B5EF4-FFF2-40B4-BE49-F238E27FC236}">
                <a16:creationId xmlns:a16="http://schemas.microsoft.com/office/drawing/2014/main" id="{17CFAC85-6B30-4974-950D-358A0033D0C3}"/>
              </a:ext>
            </a:extLst>
          </p:cNvPr>
          <p:cNvSpPr>
            <a:spLocks/>
          </p:cNvSpPr>
          <p:nvPr userDrawn="1"/>
        </p:nvSpPr>
        <p:spPr bwMode="gray">
          <a:xfrm>
            <a:off x="1908175" y="2276475"/>
            <a:ext cx="7240588" cy="1008063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solidFill>
            <a:srgbClr val="CC0000">
              <a:alpha val="74902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5" name="Picture 46">
            <a:extLst>
              <a:ext uri="{FF2B5EF4-FFF2-40B4-BE49-F238E27FC236}">
                <a16:creationId xmlns:a16="http://schemas.microsoft.com/office/drawing/2014/main" id="{B53297AF-6519-407B-867F-AC4F2608A2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75" b="-2045"/>
          <a:stretch>
            <a:fillRect/>
          </a:stretch>
        </p:blipFill>
        <p:spPr bwMode="auto">
          <a:xfrm>
            <a:off x="252413" y="2655888"/>
            <a:ext cx="1498600" cy="52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">
            <a:extLst>
              <a:ext uri="{FF2B5EF4-FFF2-40B4-BE49-F238E27FC236}">
                <a16:creationId xmlns:a16="http://schemas.microsoft.com/office/drawing/2014/main" id="{9EED3C8E-3CDE-4D79-A4EB-DE256320E9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349500"/>
            <a:ext cx="1728787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1543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2575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260494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285890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26578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81637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BE6FF5E-07DA-4B89-B715-6E19F831BEA3}"/>
              </a:ext>
            </a:extLst>
          </p:cNvPr>
          <p:cNvSpPr/>
          <p:nvPr userDrawn="1"/>
        </p:nvSpPr>
        <p:spPr>
          <a:xfrm>
            <a:off x="323850" y="6604000"/>
            <a:ext cx="6769100" cy="230188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en-US" sz="900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+mn-ea"/>
                <a:cs typeface="Arial" charset="0"/>
              </a:rPr>
              <a:t>The information contained in this document may be privileged and confidential and thus protected from disclosure</a:t>
            </a:r>
            <a:endParaRPr kumimoji="0" lang="ko-KR" altLang="en-US" sz="900" dirty="0">
              <a:solidFill>
                <a:schemeClr val="bg1">
                  <a:lumMod val="6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24118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229523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541450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83178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39921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그림 1">
            <a:extLst>
              <a:ext uri="{FF2B5EF4-FFF2-40B4-BE49-F238E27FC236}">
                <a16:creationId xmlns:a16="http://schemas.microsoft.com/office/drawing/2014/main" id="{BB67A7F6-BFFB-4832-B11C-31A3C3558AE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75" t="20592" r="33426" b="72507"/>
          <a:stretch>
            <a:fillRect/>
          </a:stretch>
        </p:blipFill>
        <p:spPr bwMode="auto">
          <a:xfrm>
            <a:off x="7766050" y="6584950"/>
            <a:ext cx="13684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6">
            <a:extLst>
              <a:ext uri="{FF2B5EF4-FFF2-40B4-BE49-F238E27FC236}">
                <a16:creationId xmlns:a16="http://schemas.microsoft.com/office/drawing/2014/main" id="{04234A19-3EAB-4D32-A573-4A01376C44D8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481013"/>
            <a:ext cx="542925" cy="60325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solidFill>
                <a:prstClr val="black"/>
              </a:solidFill>
              <a:latin typeface="Lucida Sans Unicode"/>
              <a:ea typeface="+mn-ea"/>
            </a:endParaRPr>
          </a:p>
        </p:txBody>
      </p:sp>
      <p:sp>
        <p:nvSpPr>
          <p:cNvPr id="8" name="Rectangle 36">
            <a:extLst>
              <a:ext uri="{FF2B5EF4-FFF2-40B4-BE49-F238E27FC236}">
                <a16:creationId xmlns:a16="http://schemas.microsoft.com/office/drawing/2014/main" id="{071F7991-6104-4317-9C80-4574C36DA0D5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628650" y="481013"/>
            <a:ext cx="8515350" cy="6032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latinLnBrk="0" hangingPunct="1">
              <a:defRPr/>
            </a:pPr>
            <a:endParaRPr kumimoji="0" lang="ko-KR" altLang="en-US" sz="1100" dirty="0">
              <a:solidFill>
                <a:srgbClr val="FFFFFF"/>
              </a:solidFill>
              <a:latin typeface="Verdana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CF50959-B8E2-4238-A88F-6395F53E7E37}"/>
              </a:ext>
            </a:extLst>
          </p:cNvPr>
          <p:cNvSpPr/>
          <p:nvPr userDrawn="1"/>
        </p:nvSpPr>
        <p:spPr>
          <a:xfrm>
            <a:off x="9525" y="6516688"/>
            <a:ext cx="6769100" cy="374650"/>
          </a:xfrm>
          <a:prstGeom prst="rect">
            <a:avLst/>
          </a:prstGeom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00"/>
              </a:lnSpc>
            </a:pPr>
            <a:r>
              <a:rPr kumimoji="0" lang="ko-KR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본 문서는 우리산업㈜의 자산으로 회사의 승인없이 외부 유포 및 공개가 금지 됩니다</a:t>
            </a:r>
            <a:r>
              <a:rPr kumimoji="0" lang="en-US" altLang="ko-KR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endParaRPr kumimoji="0" lang="en-US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eaLnBrk="1" hangingPunct="1">
              <a:lnSpc>
                <a:spcPts val="1100"/>
              </a:lnSpc>
            </a:pPr>
            <a:r>
              <a:rPr kumimoji="0" lang="en-US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The information contained in this document may be privileged and confidential and thus protected from disclosure.</a:t>
            </a:r>
            <a:endParaRPr kumimoji="0" lang="ko-KR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8" r:id="rId7"/>
    <p:sldLayoutId id="2147483693" r:id="rId8"/>
    <p:sldLayoutId id="2147483694" r:id="rId9"/>
    <p:sldLayoutId id="2147483695" r:id="rId10"/>
    <p:sldLayoutId id="2147483696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j-lt"/>
          <a:ea typeface="맑은 고딕" pitchFamily="50" charset="-127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j-lt"/>
          <a:ea typeface="맑은 고딕" pitchFamily="50" charset="-127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ea typeface="맑은 고딕" pitchFamily="50" charset="-127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  <a:ea typeface="맑은 고딕" pitchFamily="50" charset="-127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3237922"/>
              </p:ext>
            </p:extLst>
          </p:nvPr>
        </p:nvGraphicFramePr>
        <p:xfrm>
          <a:off x="107504" y="620688"/>
          <a:ext cx="8928993" cy="5969536"/>
        </p:xfrm>
        <a:graphic>
          <a:graphicData uri="http://schemas.openxmlformats.org/drawingml/2006/table">
            <a:tbl>
              <a:tblPr/>
              <a:tblGrid>
                <a:gridCol w="625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91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5357967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758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8570">
                  <a:extLst>
                    <a:ext uri="{9D8B030D-6E8A-4147-A177-3AD203B41FA5}">
                      <a16:colId xmlns:a16="http://schemas.microsoft.com/office/drawing/2014/main" val="16737138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항목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완료 여부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금일 수행 업무</a:t>
                      </a: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rgbClr val="0000FF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15078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PTC </a:t>
                      </a:r>
                      <a:r>
                        <a:rPr lang="ko-KR" altLang="en-US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성능 증대 관련</a:t>
                      </a:r>
                      <a:endParaRPr lang="en-US" altLang="ko-KR" sz="9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err="1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고객사</a:t>
                      </a:r>
                      <a:r>
                        <a:rPr lang="ko-KR" altLang="en-US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대응</a:t>
                      </a:r>
                      <a:endParaRPr lang="en-US" altLang="ko-KR" sz="9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1. R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로직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개발현황 자료 작성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1) R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로직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튜닝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(100%)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: 100_110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측정 데이터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: -40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℃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40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℃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R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로직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영향성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검증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2) R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로직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평가 결과 작성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(100%)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: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블로워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단수 별 작동 여부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블로워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가변 시 정상 동작 구간 영향도 평가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3) R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로직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개요 작성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(80%)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: R Sensing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컨셉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전류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센싱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Threshold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저항 산정 및 이유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: R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로직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컨셉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: Temp Sensor &amp; R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로직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운용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로직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컨셉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(100%)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4)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회신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: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익일 예정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4515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2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EOL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2. MX5a EOL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모드 추가 및 마스터 샘플 성능 측정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- EOL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모드 추가 및 동작 검증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(100%)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-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마스터 샘플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3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대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듀티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81%, 95%,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풍량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300kph, 400kph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기준 성능 측정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: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듀티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별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측정 시간 확정 필요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: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칼로리 일정 이슈로 야간 측정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-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마스터 샘플 측정 데이터 기반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EOL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성능 검사 기준표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작성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3. EOL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셋업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검토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- S/W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버전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- LV Cut Off Test 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- HV Cut Off Test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da-DK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-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성능 검사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야간 성능 측정 예정</a:t>
                      </a: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9186450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이슈 및 리스크 사항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088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MX5a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03/20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까지 마스터 샘플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평택 공장 박민우 선임에게 전달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SP1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납품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(04/06~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한온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납품 예정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R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로직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튜닝 반영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EOL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모드 추가된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설계 변경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(~03/27)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SP1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물량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입고 위치 확인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S/W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리라이팅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진행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3138441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익일 계획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4812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MX5a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1. R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로직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개발현황 자료 회신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2.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마스터 샘플 측정 데이터 기반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EOL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성능 검사 기준표 작성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0180489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en-US" altLang="ko-KR" sz="2100" b="1" dirty="0" smtClean="0">
                <a:latin typeface="+mn-ea"/>
                <a:ea typeface="+mn-ea"/>
              </a:rPr>
              <a:t>MX5a</a:t>
            </a:r>
            <a:endParaRPr lang="ko-KR" altLang="en-US" sz="2100" b="1" dirty="0">
              <a:latin typeface="+mn-ea"/>
              <a:ea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graphicFrame>
        <p:nvGraphicFramePr>
          <p:cNvPr id="2" name="개체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3440902"/>
              </p:ext>
            </p:extLst>
          </p:nvPr>
        </p:nvGraphicFramePr>
        <p:xfrm>
          <a:off x="3491880" y="1340768"/>
          <a:ext cx="402343" cy="3394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9" name="워크시트" showAsIcon="1" r:id="rId4" imgW="914400" imgH="771480" progId="Excel.Sheet.12">
                  <p:embed/>
                </p:oleObj>
              </mc:Choice>
              <mc:Fallback>
                <p:oleObj name="워크시트" showAsIcon="1" r:id="rId4" imgW="914400" imgH="77148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491880" y="1340768"/>
                        <a:ext cx="402343" cy="3394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개체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8934786"/>
              </p:ext>
            </p:extLst>
          </p:nvPr>
        </p:nvGraphicFramePr>
        <p:xfrm>
          <a:off x="3995936" y="1533649"/>
          <a:ext cx="347486" cy="293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0" name="워크시트" showAsIcon="1" r:id="rId6" imgW="914400" imgH="771480" progId="Excel.Sheet.12">
                  <p:embed/>
                </p:oleObj>
              </mc:Choice>
              <mc:Fallback>
                <p:oleObj name="워크시트" showAsIcon="1" r:id="rId6" imgW="914400" imgH="77148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995936" y="1533649"/>
                        <a:ext cx="347486" cy="293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71538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7288237"/>
              </p:ext>
            </p:extLst>
          </p:nvPr>
        </p:nvGraphicFramePr>
        <p:xfrm>
          <a:off x="107504" y="620688"/>
          <a:ext cx="8928993" cy="3735860"/>
        </p:xfrm>
        <a:graphic>
          <a:graphicData uri="http://schemas.openxmlformats.org/drawingml/2006/table">
            <a:tbl>
              <a:tblPr/>
              <a:tblGrid>
                <a:gridCol w="625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91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5357967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758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8570">
                  <a:extLst>
                    <a:ext uri="{9D8B030D-6E8A-4147-A177-3AD203B41FA5}">
                      <a16:colId xmlns:a16="http://schemas.microsoft.com/office/drawing/2014/main" val="16737138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항목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완료 여부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금일 수행 업무</a:t>
                      </a: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rgbClr val="0000FF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Proto </a:t>
                      </a:r>
                      <a:r>
                        <a:rPr lang="ko-KR" altLang="en-US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대응</a:t>
                      </a:r>
                      <a:endParaRPr lang="en-US" altLang="ko-KR" sz="9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1. NX5e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와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변경점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비교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NX5e Pilot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사양과 동일하나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샤시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와이어 길이 다름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전압 범위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240V ~ 413V, Core Temp 85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℃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리밋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리커버리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90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℃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Fault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RATED MAX 6,300W, LINEAR MAX 7,000W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918645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2. NQ6e Proto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대응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1)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승인도 수령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2) </a:t>
                      </a:r>
                      <a:r>
                        <a:rPr kumimoji="1" lang="en-US" altLang="ko-KR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Git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폴더 생성 필요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3) S/W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시험 샘플 수령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(~3/20)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4) NX5e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와 동일한 버전 및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S/W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적용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캐리 오버 제품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5) LV, HV,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전력 값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체크리스트 기반 점검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6) Proto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납품 샘플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S/W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라이팅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180145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이슈 및 리스크 사항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088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NQ6e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Proto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납품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(03/27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한온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납품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S/W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시험 샘플 수령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03/20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예정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NX5e PHEV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와 동일 증상 가능성 있음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(Core Temp Over Fault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증상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096545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익일 계획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4812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0180489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en-US" altLang="ko-KR" sz="2100" b="1" dirty="0" smtClean="0">
                <a:latin typeface="+mn-ea"/>
                <a:ea typeface="+mn-ea"/>
              </a:rPr>
              <a:t>NQ6e</a:t>
            </a:r>
            <a:endParaRPr lang="ko-KR" altLang="en-US" sz="2100" b="1" dirty="0">
              <a:latin typeface="+mn-ea"/>
              <a:ea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39300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5929303"/>
              </p:ext>
            </p:extLst>
          </p:nvPr>
        </p:nvGraphicFramePr>
        <p:xfrm>
          <a:off x="107504" y="620688"/>
          <a:ext cx="8928993" cy="2689186"/>
        </p:xfrm>
        <a:graphic>
          <a:graphicData uri="http://schemas.openxmlformats.org/drawingml/2006/table">
            <a:tbl>
              <a:tblPr/>
              <a:tblGrid>
                <a:gridCol w="625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91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5357967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758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8570">
                  <a:extLst>
                    <a:ext uri="{9D8B030D-6E8A-4147-A177-3AD203B41FA5}">
                      <a16:colId xmlns:a16="http://schemas.microsoft.com/office/drawing/2014/main" val="16737138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항목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완료 여부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금일 수행 업무</a:t>
                      </a: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rgbClr val="0000FF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사이버 보안 대응</a:t>
                      </a:r>
                      <a:endParaRPr lang="en-US" altLang="ko-KR" sz="9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1.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사이버 보안 활성화 시점 문의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사이버보안품질연구팀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윤승구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매니저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- M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단계 적용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유선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2.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공정 검사 시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Secure Debug, OTP 2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가지 다 확인 하는지 문의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메일 문의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- Secure Debug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확인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유선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-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유선 통화 시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OTP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내용 없었음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: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메일 회신 필요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4515112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이슈 및 리스크 사항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088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NX5e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Core Temp Over Fault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증상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NX5e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공조 담당자에게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03/12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메일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재발송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담당자 수신 완료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회신 없음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유선 통화 필요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7080035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익일 계획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4812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NX5e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1.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공조 담당자 유선 통화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0180489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en-US" altLang="ko-KR" sz="2100" b="1" dirty="0" smtClean="0">
                <a:latin typeface="+mn-ea"/>
                <a:ea typeface="+mn-ea"/>
              </a:rPr>
              <a:t>NX5e</a:t>
            </a:r>
            <a:endParaRPr lang="ko-KR" altLang="en-US" sz="2100" b="1" dirty="0">
              <a:latin typeface="+mn-ea"/>
              <a:ea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60326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3966839"/>
              </p:ext>
            </p:extLst>
          </p:nvPr>
        </p:nvGraphicFramePr>
        <p:xfrm>
          <a:off x="107504" y="620688"/>
          <a:ext cx="8928993" cy="3512146"/>
        </p:xfrm>
        <a:graphic>
          <a:graphicData uri="http://schemas.openxmlformats.org/drawingml/2006/table">
            <a:tbl>
              <a:tblPr/>
              <a:tblGrid>
                <a:gridCol w="625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91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5357967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758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8570">
                  <a:extLst>
                    <a:ext uri="{9D8B030D-6E8A-4147-A177-3AD203B41FA5}">
                      <a16:colId xmlns:a16="http://schemas.microsoft.com/office/drawing/2014/main" val="16737138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항목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완료 여부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금일 수행 업무</a:t>
                      </a: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rgbClr val="0000FF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9186450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이슈 및 리스크 사항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088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HE1i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SP1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납품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(04/15 ~ 04/20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두원 납품 예정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04/03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까지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R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로직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튜닝 및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설계변경 필요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SP1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물량 파악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SP1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물량 평택 도착 시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리라이팅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필요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4784099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익일 계획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4812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HE1i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1. R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로직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튜닝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포인트 기준 수립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야간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1) -40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℃ 튜닝 값 별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Cut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온도 및 유효 대기 시간 체크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2)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튜닝 값 선정 후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저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중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고전압 구간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95%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초반 저항 역전 현상 체크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: 95%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초반 역전 없을 시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듀티별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저항 역전 현상 체크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3) </a:t>
                      </a:r>
                      <a:r>
                        <a:rPr kumimoji="1" lang="en-US" altLang="ko-KR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Thd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저항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저항 하강 속도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확인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: R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로직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영향성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평가 시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저항 마진 계산용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4)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저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중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고전압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듀티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별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Cut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안되는 구간 찾기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5)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듀티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별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Cut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핀 온도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Cut Temp Sensor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온도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Cut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시간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en-US" altLang="ko-KR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thd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저항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유효 대기 시간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체크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6) R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로직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영향성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검증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7) -20 ~ 80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℃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듀티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별 검증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0180489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en-US" altLang="ko-KR" sz="2100" b="1" dirty="0" smtClean="0">
                <a:latin typeface="+mn-ea"/>
                <a:ea typeface="+mn-ea"/>
              </a:rPr>
              <a:t>HE1i</a:t>
            </a:r>
            <a:endParaRPr lang="ko-KR" altLang="en-US" sz="2100" b="1" dirty="0">
              <a:latin typeface="+mn-ea"/>
              <a:ea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52837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1287379"/>
              </p:ext>
            </p:extLst>
          </p:nvPr>
        </p:nvGraphicFramePr>
        <p:xfrm>
          <a:off x="107504" y="620688"/>
          <a:ext cx="8928993" cy="1729066"/>
        </p:xfrm>
        <a:graphic>
          <a:graphicData uri="http://schemas.openxmlformats.org/drawingml/2006/table">
            <a:tbl>
              <a:tblPr/>
              <a:tblGrid>
                <a:gridCol w="625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91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5357967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758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8570">
                  <a:extLst>
                    <a:ext uri="{9D8B030D-6E8A-4147-A177-3AD203B41FA5}">
                      <a16:colId xmlns:a16="http://schemas.microsoft.com/office/drawing/2014/main" val="16737138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항목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완료 여부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금일 수행 업무</a:t>
                      </a: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rgbClr val="0000FF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9186450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이슈 및 리스크 사항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088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문서 중앙화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원격 제어 시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PC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사용 불가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6374815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익일 계획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4812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0180489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ko-KR" altLang="en-US" sz="2100" b="1" dirty="0" smtClean="0">
                <a:latin typeface="+mn-ea"/>
                <a:ea typeface="+mn-ea"/>
              </a:rPr>
              <a:t>문서 중앙화</a:t>
            </a:r>
            <a:endParaRPr lang="ko-KR" altLang="en-US" sz="2100" b="1" dirty="0">
              <a:latin typeface="+mn-ea"/>
              <a:ea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8105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제안서 템플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>
        <a:noFill/>
        <a:ln w="9525" cap="flat" cmpd="sng" algn="ctr">
          <a:noFill/>
          <a:prstDash val="solid"/>
          <a:round/>
          <a:headEnd w="med" len="med"/>
          <a:tailEnd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100" b="0" i="0" u="none" strike="noStrike" cap="none" normalizeH="0" baseline="0" smtClean="0">
            <a:solidFill>
              <a:schemeClr val="bg1"/>
            </a:solidFill>
            <a:effectLst/>
            <a:latin typeface="Verdana"/>
            <a:ea typeface="굴림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26671</TotalTime>
  <Words>860</Words>
  <Application>Microsoft Office PowerPoint</Application>
  <PresentationFormat>화면 슬라이드 쇼(4:3)</PresentationFormat>
  <Paragraphs>147</Paragraphs>
  <Slides>5</Slides>
  <Notes>5</Notes>
  <HiddenSlides>0</HiddenSlides>
  <MMClips>0</MMClips>
  <ScaleCrop>false</ScaleCrop>
  <HeadingPairs>
    <vt:vector size="8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4" baseType="lpstr">
      <vt:lpstr>굴림</vt:lpstr>
      <vt:lpstr>맑은 고딕</vt:lpstr>
      <vt:lpstr>현대하모니 B</vt:lpstr>
      <vt:lpstr>Arial</vt:lpstr>
      <vt:lpstr>Lucida Sans Unicode</vt:lpstr>
      <vt:lpstr>Verdana</vt:lpstr>
      <vt:lpstr>Wingdings</vt:lpstr>
      <vt:lpstr>제안서 템플릿</vt:lpstr>
      <vt:lpstr>워크시트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Simon Jun</dc:creator>
  <cp:lastModifiedBy>WOORY</cp:lastModifiedBy>
  <cp:revision>6517</cp:revision>
  <dcterms:created xsi:type="dcterms:W3CDTF">2019-10-24T04:42:23Z</dcterms:created>
  <dcterms:modified xsi:type="dcterms:W3CDTF">2026-03-18T10:15:43Z</dcterms:modified>
  <cp:version/>
</cp:coreProperties>
</file>