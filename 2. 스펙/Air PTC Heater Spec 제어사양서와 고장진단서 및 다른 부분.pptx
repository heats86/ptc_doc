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1" r:id="rId1"/>
  </p:sldMasterIdLst>
  <p:notesMasterIdLst>
    <p:notesMasterId r:id="rId18"/>
  </p:notesMasterIdLst>
  <p:handoutMasterIdLst>
    <p:handoutMasterId r:id="rId19"/>
  </p:handoutMasterIdLst>
  <p:sldIdLst>
    <p:sldId id="533" r:id="rId2"/>
    <p:sldId id="532" r:id="rId3"/>
    <p:sldId id="534" r:id="rId4"/>
    <p:sldId id="535" r:id="rId5"/>
    <p:sldId id="536" r:id="rId6"/>
    <p:sldId id="537" r:id="rId7"/>
    <p:sldId id="538" r:id="rId8"/>
    <p:sldId id="539" r:id="rId9"/>
    <p:sldId id="540" r:id="rId10"/>
    <p:sldId id="541" r:id="rId11"/>
    <p:sldId id="542" r:id="rId12"/>
    <p:sldId id="543" r:id="rId13"/>
    <p:sldId id="544" r:id="rId14"/>
    <p:sldId id="545" r:id="rId15"/>
    <p:sldId id="546" r:id="rId16"/>
    <p:sldId id="547" r:id="rId17"/>
  </p:sldIdLst>
  <p:sldSz cx="9144000" cy="6858000" type="screen4x3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71">
          <p15:clr>
            <a:srgbClr val="A4A3A4"/>
          </p15:clr>
        </p15:guide>
        <p15:guide id="2" orient="horz" pos="2069">
          <p15:clr>
            <a:srgbClr val="A4A3A4"/>
          </p15:clr>
        </p15:guide>
        <p15:guide id="3" orient="horz" pos="2976">
          <p15:clr>
            <a:srgbClr val="A4A3A4"/>
          </p15:clr>
        </p15:guide>
        <p15:guide id="4" pos="975">
          <p15:clr>
            <a:srgbClr val="A4A3A4"/>
          </p15:clr>
        </p15:guide>
        <p15:guide id="6" pos="4150">
          <p15:clr>
            <a:srgbClr val="A4A3A4"/>
          </p15:clr>
        </p15:guide>
        <p15:guide id="7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FF3300"/>
    <a:srgbClr val="FF9999"/>
    <a:srgbClr val="FF7C80"/>
    <a:srgbClr val="FFFF66"/>
    <a:srgbClr val="FF99FF"/>
    <a:srgbClr val="0000FF"/>
    <a:srgbClr val="99CCFF"/>
    <a:srgbClr val="FF0000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48" autoAdjust="0"/>
    <p:restoredTop sz="94560" autoAdjust="0"/>
  </p:normalViewPr>
  <p:slideViewPr>
    <p:cSldViewPr snapToObjects="1">
      <p:cViewPr varScale="1">
        <p:scale>
          <a:sx n="115" d="100"/>
          <a:sy n="115" d="100"/>
        </p:scale>
        <p:origin x="1662" y="108"/>
      </p:cViewPr>
      <p:guideLst>
        <p:guide orient="horz" pos="1071"/>
        <p:guide orient="horz" pos="2069"/>
        <p:guide orient="horz" pos="2976"/>
        <p:guide pos="975"/>
        <p:guide pos="415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86" tIns="45743" rIns="91486" bIns="45743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5839" y="0"/>
            <a:ext cx="2949787" cy="498693"/>
          </a:xfrm>
          <a:prstGeom prst="rect">
            <a:avLst/>
          </a:prstGeom>
        </p:spPr>
        <p:txBody>
          <a:bodyPr vert="horz" lIns="91486" tIns="45743" rIns="91486" bIns="45743" rtlCol="0"/>
          <a:lstStyle>
            <a:lvl1pPr algn="r">
              <a:defRPr sz="1200"/>
            </a:lvl1pPr>
          </a:lstStyle>
          <a:p>
            <a:fld id="{0F9C7889-A84F-49D1-BD5A-0C9403740ED6}" type="datetimeFigureOut">
              <a:rPr lang="ko-KR" altLang="en-US" smtClean="0"/>
              <a:pPr/>
              <a:t>2025-02-20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0648"/>
            <a:ext cx="2949787" cy="498692"/>
          </a:xfrm>
          <a:prstGeom prst="rect">
            <a:avLst/>
          </a:prstGeom>
        </p:spPr>
        <p:txBody>
          <a:bodyPr vert="horz" lIns="91486" tIns="45743" rIns="91486" bIns="45743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5839" y="9440648"/>
            <a:ext cx="2949787" cy="498692"/>
          </a:xfrm>
          <a:prstGeom prst="rect">
            <a:avLst/>
          </a:prstGeom>
        </p:spPr>
        <p:txBody>
          <a:bodyPr vert="horz" lIns="91486" tIns="45743" rIns="91486" bIns="45743" rtlCol="0" anchor="b"/>
          <a:lstStyle>
            <a:lvl1pPr algn="r">
              <a:defRPr sz="1200"/>
            </a:lvl1pPr>
          </a:lstStyle>
          <a:p>
            <a:fld id="{7FACC8F6-5469-4F2F-A461-25A096C9479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028876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86" tIns="45743" rIns="91486" bIns="45743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9" y="0"/>
            <a:ext cx="2949787" cy="498693"/>
          </a:xfrm>
          <a:prstGeom prst="rect">
            <a:avLst/>
          </a:prstGeom>
        </p:spPr>
        <p:txBody>
          <a:bodyPr vert="horz" lIns="91486" tIns="45743" rIns="91486" bIns="45743" rtlCol="0"/>
          <a:lstStyle>
            <a:lvl1pPr algn="r">
              <a:defRPr sz="1200"/>
            </a:lvl1pPr>
          </a:lstStyle>
          <a:p>
            <a:fld id="{95102FC6-FE94-47A7-84EE-A54FBD2777CB}" type="datetimeFigureOut">
              <a:rPr lang="ko-KR" altLang="en-US" smtClean="0"/>
              <a:pPr/>
              <a:t>2025-02-20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8400" y="1241425"/>
            <a:ext cx="4470400" cy="3354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86" tIns="45743" rIns="91486" bIns="45743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1486" tIns="45743" rIns="91486" bIns="45743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8"/>
            <a:ext cx="2949787" cy="498692"/>
          </a:xfrm>
          <a:prstGeom prst="rect">
            <a:avLst/>
          </a:prstGeom>
        </p:spPr>
        <p:txBody>
          <a:bodyPr vert="horz" lIns="91486" tIns="45743" rIns="91486" bIns="45743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9" y="9440648"/>
            <a:ext cx="2949787" cy="498692"/>
          </a:xfrm>
          <a:prstGeom prst="rect">
            <a:avLst/>
          </a:prstGeom>
        </p:spPr>
        <p:txBody>
          <a:bodyPr vert="horz" lIns="91486" tIns="45743" rIns="91486" bIns="45743" rtlCol="0" anchor="b"/>
          <a:lstStyle>
            <a:lvl1pPr algn="r">
              <a:defRPr sz="1200"/>
            </a:lvl1pPr>
          </a:lstStyle>
          <a:p>
            <a:fld id="{17C94E65-097A-4CA0-B953-83BB7887CD7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814105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6"/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100" dirty="0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17" name="Freeform 38"/>
          <p:cNvSpPr>
            <a:spLocks/>
          </p:cNvSpPr>
          <p:nvPr userDrawn="1"/>
        </p:nvSpPr>
        <p:spPr bwMode="gray">
          <a:xfrm>
            <a:off x="0" y="3284984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100" dirty="0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18" name="Freeform 44"/>
          <p:cNvSpPr>
            <a:spLocks/>
          </p:cNvSpPr>
          <p:nvPr userDrawn="1"/>
        </p:nvSpPr>
        <p:spPr bwMode="gray">
          <a:xfrm>
            <a:off x="1908175" y="2276475"/>
            <a:ext cx="7240588" cy="1008509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100" dirty="0">
              <a:solidFill>
                <a:srgbClr val="FFFFFF"/>
              </a:solidFill>
              <a:ea typeface="굴림" pitchFamily="50" charset="-127"/>
            </a:endParaRPr>
          </a:p>
        </p:txBody>
      </p:sp>
      <p:pic>
        <p:nvPicPr>
          <p:cNvPr id="19" name="Picture 46"/>
          <p:cNvPicPr>
            <a:picLocks noChangeAspect="1" noChangeArrowheads="1"/>
          </p:cNvPicPr>
          <p:nvPr userDrawn="1"/>
        </p:nvPicPr>
        <p:blipFill>
          <a:blip r:embed="rId2" cstate="print"/>
          <a:srcRect l="36575" b="-2045"/>
          <a:stretch>
            <a:fillRect/>
          </a:stretch>
        </p:blipFill>
        <p:spPr bwMode="auto">
          <a:xfrm>
            <a:off x="252413" y="2655217"/>
            <a:ext cx="1498600" cy="52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1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388" y="2348880"/>
            <a:ext cx="1728316" cy="297581"/>
          </a:xfrm>
          <a:prstGeom prst="rect">
            <a:avLst/>
          </a:prstGeom>
          <a:noFill/>
          <a:ln w="1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323528" y="6604084"/>
            <a:ext cx="6768752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cs typeface="Arial" charset="0"/>
              </a:rPr>
              <a:t>The information contained in this document may be privileged and confidential and thus protected from disclosure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 rotWithShape="1">
          <a:blip r:embed="rId13" cstate="print"/>
          <a:srcRect l="26775" t="20591" r="33426" b="72507"/>
          <a:stretch/>
        </p:blipFill>
        <p:spPr>
          <a:xfrm>
            <a:off x="7766135" y="6585166"/>
            <a:ext cx="1368152" cy="266957"/>
          </a:xfrm>
          <a:prstGeom prst="rect">
            <a:avLst/>
          </a:prstGeom>
        </p:spPr>
      </p:pic>
      <p:sp>
        <p:nvSpPr>
          <p:cNvPr id="7" name="Rectangle 36"/>
          <p:cNvSpPr>
            <a:spLocks noChangeArrowheads="1"/>
          </p:cNvSpPr>
          <p:nvPr userDrawn="1"/>
        </p:nvSpPr>
        <p:spPr bwMode="white">
          <a:xfrm>
            <a:off x="0" y="480312"/>
            <a:ext cx="543464" cy="60384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lang="ko-KR" altLang="en-US" dirty="0">
              <a:solidFill>
                <a:prstClr val="black"/>
              </a:solidFill>
              <a:latin typeface="Lucida Sans Unicode"/>
            </a:endParaRPr>
          </a:p>
        </p:txBody>
      </p:sp>
      <p:sp>
        <p:nvSpPr>
          <p:cNvPr id="8" name="Rectangle 36"/>
          <p:cNvSpPr>
            <a:spLocks noChangeArrowheads="1"/>
          </p:cNvSpPr>
          <p:nvPr userDrawn="1"/>
        </p:nvSpPr>
        <p:spPr bwMode="white">
          <a:xfrm>
            <a:off x="628650" y="480313"/>
            <a:ext cx="8515350" cy="6038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fontAlgn="base" latinLnBrk="0" hangingPunct="1">
              <a:spcBef>
                <a:spcPct val="0"/>
              </a:spcBef>
              <a:spcAft>
                <a:spcPct val="0"/>
              </a:spcAft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/>
          <p:cNvSpPr/>
          <p:nvPr userDrawn="1"/>
        </p:nvSpPr>
        <p:spPr>
          <a:xfrm>
            <a:off x="9858" y="6516798"/>
            <a:ext cx="6768752" cy="374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</a:pPr>
            <a:r>
              <a:rPr lang="ko-KR" altLang="en-US" sz="8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lang="en-US" altLang="ko-KR" sz="8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altLang="en-US" sz="8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ts val="1100"/>
              </a:lnSpc>
            </a:pPr>
            <a:r>
              <a:rPr lang="en-US" altLang="en-US" sz="8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lang="ko-KR" altLang="en-US" sz="8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800">
          <a:solidFill>
            <a:schemeClr val="tx1"/>
          </a:solidFill>
          <a:latin typeface="+mj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39752" y="2484185"/>
            <a:ext cx="6804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smtClean="0">
                <a:latin typeface="+mj-lt"/>
              </a:rPr>
              <a:t>제어사양서와 </a:t>
            </a:r>
            <a:r>
              <a:rPr lang="ko-KR" altLang="en-US" sz="3200" b="1" dirty="0" err="1" smtClean="0">
                <a:latin typeface="+mj-lt"/>
              </a:rPr>
              <a:t>고장진단서</a:t>
            </a:r>
            <a:r>
              <a:rPr lang="ko-KR" altLang="en-US" sz="3200" b="1" dirty="0" smtClean="0">
                <a:latin typeface="+mj-lt"/>
              </a:rPr>
              <a:t> 다른 부분 </a:t>
            </a:r>
            <a:endParaRPr lang="ko-KR" altLang="en-US" sz="3200" b="1" dirty="0">
              <a:latin typeface="+mj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176665" y="4869160"/>
            <a:ext cx="2808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 err="1" smtClean="0"/>
              <a:t>임제훈</a:t>
            </a:r>
            <a:endParaRPr lang="en-US" altLang="ko-KR" b="1" dirty="0"/>
          </a:p>
          <a:p>
            <a:pPr algn="ctr"/>
            <a:r>
              <a:rPr lang="en-US" altLang="ko-KR" b="1" dirty="0" smtClean="0"/>
              <a:t>2025. 2. 14.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293080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" y="53643"/>
            <a:ext cx="9143999" cy="357168"/>
          </a:xfrm>
          <a:prstGeom prst="rect">
            <a:avLst/>
          </a:prstGeom>
          <a:solidFill>
            <a:srgbClr val="00206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64008" tIns="41148" rIns="64008" bIns="41148" anchor="ctr"/>
          <a:lstStyle/>
          <a:p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■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1. 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목차</a:t>
            </a:r>
            <a:endParaRPr lang="ko-KR" altLang="en-US" dirty="0">
              <a:solidFill>
                <a:srgbClr val="FFFFFF"/>
              </a:solidFill>
              <a:latin typeface="+mj-lt"/>
              <a:ea typeface="돋움" pitchFamily="50" charset="-127"/>
            </a:endParaRPr>
          </a:p>
        </p:txBody>
      </p:sp>
      <p:sp>
        <p:nvSpPr>
          <p:cNvPr id="30" name="TextBox 275"/>
          <p:cNvSpPr txBox="1">
            <a:spLocks noChangeArrowheads="1"/>
          </p:cNvSpPr>
          <p:nvPr/>
        </p:nvSpPr>
        <p:spPr bwMode="auto">
          <a:xfrm>
            <a:off x="1" y="548680"/>
            <a:ext cx="112562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2200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■ </a:t>
            </a:r>
            <a:r>
              <a:rPr lang="ko-KR" altLang="en-US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목차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467544" y="1268760"/>
            <a:ext cx="806489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1. </a:t>
            </a:r>
            <a:r>
              <a:rPr lang="en-US" altLang="ko-KR" sz="1600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MVa</a:t>
            </a:r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, </a:t>
            </a:r>
            <a:r>
              <a:rPr lang="en-US" altLang="ko-KR" sz="1600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MEa</a:t>
            </a:r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, </a:t>
            </a:r>
            <a:r>
              <a:rPr lang="en-US" altLang="ko-KR" sz="1600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NEa</a:t>
            </a:r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제어사양서와 </a:t>
            </a:r>
            <a:r>
              <a:rPr lang="ko-KR" altLang="en-US" sz="1600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고장진단서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 다른 부분</a:t>
            </a:r>
            <a:endParaRPr lang="en-US" altLang="ko-KR" sz="160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467544" y="2053194"/>
            <a:ext cx="806489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2. SU2i, AY, KY 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제어사양서와 </a:t>
            </a:r>
            <a:r>
              <a:rPr lang="ko-KR" altLang="en-US" sz="1600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고장진단서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 다른 부분</a:t>
            </a:r>
            <a:endParaRPr lang="en-US" altLang="ko-KR" sz="160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67544" y="2992251"/>
            <a:ext cx="806489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3. QV 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제어사양서와 </a:t>
            </a:r>
            <a:r>
              <a:rPr lang="ko-KR" altLang="en-US" sz="1600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고장진단서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 다른 부분</a:t>
            </a:r>
            <a:endParaRPr lang="en-US" altLang="ko-KR" sz="160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7544" y="3931308"/>
            <a:ext cx="806489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4. SUZUKI</a:t>
            </a:r>
            <a:r>
              <a:rPr lang="en-US" altLang="ko-KR" sz="1600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Communication List 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틀린 부분</a:t>
            </a:r>
            <a:endParaRPr lang="en-US" altLang="ko-KR" sz="160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467544" y="4870365"/>
            <a:ext cx="806489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5. 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보고 사항</a:t>
            </a:r>
            <a:endParaRPr lang="en-US" altLang="ko-KR" sz="160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467544" y="5809422"/>
            <a:ext cx="806489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6. 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조치 사항</a:t>
            </a:r>
            <a:endParaRPr lang="en-US" altLang="ko-KR" sz="160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64004586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" y="53643"/>
            <a:ext cx="9143999" cy="357168"/>
          </a:xfrm>
          <a:prstGeom prst="rect">
            <a:avLst/>
          </a:prstGeom>
          <a:solidFill>
            <a:srgbClr val="00206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64008" tIns="41148" rIns="64008" bIns="41148" anchor="ctr"/>
          <a:lstStyle/>
          <a:p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■ </a:t>
            </a:r>
            <a:r>
              <a:rPr lang="en-US" altLang="ko-KR" dirty="0" err="1">
                <a:solidFill>
                  <a:schemeClr val="bg1"/>
                </a:solidFill>
                <a:latin typeface="맑은 고딕" panose="020B0503020000020004" pitchFamily="50" charset="-127"/>
              </a:rPr>
              <a:t>MVa</a:t>
            </a:r>
            <a:r>
              <a:rPr lang="en-US" altLang="ko-KR" dirty="0">
                <a:solidFill>
                  <a:schemeClr val="bg1"/>
                </a:solidFill>
                <a:latin typeface="맑은 고딕" panose="020B0503020000020004" pitchFamily="50" charset="-127"/>
              </a:rPr>
              <a:t>, </a:t>
            </a:r>
            <a:r>
              <a:rPr lang="en-US" altLang="ko-KR" dirty="0" err="1">
                <a:solidFill>
                  <a:schemeClr val="bg1"/>
                </a:solidFill>
                <a:latin typeface="맑은 고딕" panose="020B0503020000020004" pitchFamily="50" charset="-127"/>
              </a:rPr>
              <a:t>MEa</a:t>
            </a:r>
            <a:r>
              <a:rPr lang="en-US" altLang="ko-KR" dirty="0">
                <a:solidFill>
                  <a:schemeClr val="bg1"/>
                </a:solidFill>
                <a:latin typeface="맑은 고딕" panose="020B0503020000020004" pitchFamily="50" charset="-127"/>
              </a:rPr>
              <a:t>, </a:t>
            </a:r>
            <a:r>
              <a:rPr lang="en-US" altLang="ko-KR" dirty="0" err="1">
                <a:solidFill>
                  <a:schemeClr val="bg1"/>
                </a:solidFill>
                <a:latin typeface="맑은 고딕" panose="020B0503020000020004" pitchFamily="50" charset="-127"/>
              </a:rPr>
              <a:t>NEa</a:t>
            </a:r>
            <a:r>
              <a:rPr lang="en-US" altLang="ko-KR" dirty="0">
                <a:solidFill>
                  <a:schemeClr val="bg1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dirty="0">
                <a:solidFill>
                  <a:schemeClr val="bg1"/>
                </a:solidFill>
                <a:latin typeface="맑은 고딕" panose="020B0503020000020004" pitchFamily="50" charset="-127"/>
              </a:rPr>
              <a:t>제어사양서와 </a:t>
            </a:r>
            <a:r>
              <a:rPr lang="ko-KR" altLang="en-US" dirty="0" err="1">
                <a:solidFill>
                  <a:schemeClr val="bg1"/>
                </a:solidFill>
                <a:latin typeface="맑은 고딕" panose="020B0503020000020004" pitchFamily="50" charset="-127"/>
              </a:rPr>
              <a:t>고장진단서</a:t>
            </a:r>
            <a:r>
              <a:rPr lang="ko-KR" altLang="en-US" dirty="0">
                <a:solidFill>
                  <a:schemeClr val="bg1"/>
                </a:solidFill>
                <a:latin typeface="맑은 고딕" panose="020B0503020000020004" pitchFamily="50" charset="-127"/>
              </a:rPr>
              <a:t> 다른 부분</a:t>
            </a:r>
            <a:endParaRPr lang="ko-KR" altLang="en-US" dirty="0">
              <a:solidFill>
                <a:schemeClr val="bg1"/>
              </a:solidFill>
              <a:latin typeface="+mj-lt"/>
              <a:ea typeface="돋움" pitchFamily="50" charset="-127"/>
            </a:endParaRPr>
          </a:p>
        </p:txBody>
      </p:sp>
      <p:sp>
        <p:nvSpPr>
          <p:cNvPr id="30" name="TextBox 275"/>
          <p:cNvSpPr txBox="1">
            <a:spLocks noChangeArrowheads="1"/>
          </p:cNvSpPr>
          <p:nvPr/>
        </p:nvSpPr>
        <p:spPr bwMode="auto">
          <a:xfrm>
            <a:off x="1" y="548680"/>
            <a:ext cx="339868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2200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■ </a:t>
            </a:r>
            <a:r>
              <a:rPr lang="en-US" altLang="ko-KR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LV Sensing Fault </a:t>
            </a:r>
            <a:r>
              <a:rPr lang="ko-KR" altLang="en-US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조건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971" y="2311486"/>
            <a:ext cx="8892480" cy="628561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137970" y="1711952"/>
            <a:ext cx="156060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고장진단서</a:t>
            </a:r>
            <a:endParaRPr lang="en-US" altLang="ko-KR" sz="160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864" y="4544511"/>
            <a:ext cx="7544166" cy="1222911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137971" y="3798985"/>
            <a:ext cx="156060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제어사양서</a:t>
            </a:r>
            <a:endParaRPr lang="en-US" altLang="ko-KR" sz="160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875017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" y="53643"/>
            <a:ext cx="9143999" cy="357168"/>
          </a:xfrm>
          <a:prstGeom prst="rect">
            <a:avLst/>
          </a:prstGeom>
          <a:solidFill>
            <a:srgbClr val="00206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64008" tIns="41148" rIns="64008" bIns="41148" anchor="ctr"/>
          <a:lstStyle/>
          <a:p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■ </a:t>
            </a:r>
            <a:r>
              <a:rPr lang="en-US" altLang="ko-KR" dirty="0" err="1">
                <a:solidFill>
                  <a:schemeClr val="bg1"/>
                </a:solidFill>
                <a:latin typeface="맑은 고딕" panose="020B0503020000020004" pitchFamily="50" charset="-127"/>
              </a:rPr>
              <a:t>MVa</a:t>
            </a:r>
            <a:r>
              <a:rPr lang="en-US" altLang="ko-KR" dirty="0">
                <a:solidFill>
                  <a:schemeClr val="bg1"/>
                </a:solidFill>
                <a:latin typeface="맑은 고딕" panose="020B0503020000020004" pitchFamily="50" charset="-127"/>
              </a:rPr>
              <a:t>, </a:t>
            </a:r>
            <a:r>
              <a:rPr lang="en-US" altLang="ko-KR" dirty="0" err="1">
                <a:solidFill>
                  <a:schemeClr val="bg1"/>
                </a:solidFill>
                <a:latin typeface="맑은 고딕" panose="020B0503020000020004" pitchFamily="50" charset="-127"/>
              </a:rPr>
              <a:t>MEa</a:t>
            </a:r>
            <a:r>
              <a:rPr lang="en-US" altLang="ko-KR" dirty="0">
                <a:solidFill>
                  <a:schemeClr val="bg1"/>
                </a:solidFill>
                <a:latin typeface="맑은 고딕" panose="020B0503020000020004" pitchFamily="50" charset="-127"/>
              </a:rPr>
              <a:t>, </a:t>
            </a:r>
            <a:r>
              <a:rPr lang="en-US" altLang="ko-KR" dirty="0" err="1">
                <a:solidFill>
                  <a:schemeClr val="bg1"/>
                </a:solidFill>
                <a:latin typeface="맑은 고딕" panose="020B0503020000020004" pitchFamily="50" charset="-127"/>
              </a:rPr>
              <a:t>NEa</a:t>
            </a:r>
            <a:r>
              <a:rPr lang="en-US" altLang="ko-KR" dirty="0">
                <a:solidFill>
                  <a:schemeClr val="bg1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dirty="0">
                <a:solidFill>
                  <a:schemeClr val="bg1"/>
                </a:solidFill>
                <a:latin typeface="맑은 고딕" panose="020B0503020000020004" pitchFamily="50" charset="-127"/>
              </a:rPr>
              <a:t>제어사양서와 </a:t>
            </a:r>
            <a:r>
              <a:rPr lang="ko-KR" altLang="en-US" dirty="0" err="1">
                <a:solidFill>
                  <a:schemeClr val="bg1"/>
                </a:solidFill>
                <a:latin typeface="맑은 고딕" panose="020B0503020000020004" pitchFamily="50" charset="-127"/>
              </a:rPr>
              <a:t>고장진단서</a:t>
            </a:r>
            <a:r>
              <a:rPr lang="ko-KR" altLang="en-US" dirty="0">
                <a:solidFill>
                  <a:schemeClr val="bg1"/>
                </a:solidFill>
                <a:latin typeface="맑은 고딕" panose="020B0503020000020004" pitchFamily="50" charset="-127"/>
              </a:rPr>
              <a:t> 다른 부분</a:t>
            </a:r>
            <a:endParaRPr lang="ko-KR" altLang="en-US" dirty="0">
              <a:solidFill>
                <a:schemeClr val="bg1"/>
              </a:solidFill>
              <a:latin typeface="+mj-lt"/>
              <a:ea typeface="돋움" pitchFamily="50" charset="-127"/>
            </a:endParaRPr>
          </a:p>
        </p:txBody>
      </p:sp>
      <p:sp>
        <p:nvSpPr>
          <p:cNvPr id="30" name="TextBox 275"/>
          <p:cNvSpPr txBox="1">
            <a:spLocks noChangeArrowheads="1"/>
          </p:cNvSpPr>
          <p:nvPr/>
        </p:nvSpPr>
        <p:spPr bwMode="auto">
          <a:xfrm>
            <a:off x="1" y="548680"/>
            <a:ext cx="705834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2200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■ </a:t>
            </a:r>
            <a:r>
              <a:rPr lang="en-US" altLang="ko-KR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Core Temp </a:t>
            </a:r>
            <a:r>
              <a:rPr lang="en-US" altLang="ko-KR" sz="2200" dirty="0" err="1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Senseor</a:t>
            </a:r>
            <a:r>
              <a:rPr lang="en-US" altLang="ko-KR" sz="2200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CAN Signal, </a:t>
            </a:r>
            <a:r>
              <a:rPr lang="ko-KR" altLang="en-US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진단 해제 부등호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137970" y="1711952"/>
            <a:ext cx="156060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고장진단서</a:t>
            </a:r>
            <a:endParaRPr lang="en-US" altLang="ko-KR" sz="160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137971" y="3798985"/>
            <a:ext cx="156060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제어사양서</a:t>
            </a:r>
            <a:endParaRPr lang="en-US" altLang="ko-KR" sz="160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971" y="2412167"/>
            <a:ext cx="8532439" cy="83831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4218710"/>
            <a:ext cx="7571663" cy="2066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028878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" y="53643"/>
            <a:ext cx="9143999" cy="357168"/>
          </a:xfrm>
          <a:prstGeom prst="rect">
            <a:avLst/>
          </a:prstGeom>
          <a:solidFill>
            <a:srgbClr val="00206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64008" tIns="41148" rIns="64008" bIns="41148" anchor="ctr"/>
          <a:lstStyle/>
          <a:p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■ </a:t>
            </a:r>
            <a:r>
              <a:rPr lang="en-US" altLang="ko-KR" dirty="0" err="1">
                <a:solidFill>
                  <a:schemeClr val="bg1"/>
                </a:solidFill>
                <a:latin typeface="맑은 고딕" panose="020B0503020000020004" pitchFamily="50" charset="-127"/>
              </a:rPr>
              <a:t>MVa</a:t>
            </a:r>
            <a:r>
              <a:rPr lang="en-US" altLang="ko-KR" dirty="0">
                <a:solidFill>
                  <a:schemeClr val="bg1"/>
                </a:solidFill>
                <a:latin typeface="맑은 고딕" panose="020B0503020000020004" pitchFamily="50" charset="-127"/>
              </a:rPr>
              <a:t>, </a:t>
            </a:r>
            <a:r>
              <a:rPr lang="en-US" altLang="ko-KR" dirty="0" err="1">
                <a:solidFill>
                  <a:schemeClr val="bg1"/>
                </a:solidFill>
                <a:latin typeface="맑은 고딕" panose="020B0503020000020004" pitchFamily="50" charset="-127"/>
              </a:rPr>
              <a:t>MEa</a:t>
            </a:r>
            <a:r>
              <a:rPr lang="en-US" altLang="ko-KR" dirty="0">
                <a:solidFill>
                  <a:schemeClr val="bg1"/>
                </a:solidFill>
                <a:latin typeface="맑은 고딕" panose="020B0503020000020004" pitchFamily="50" charset="-127"/>
              </a:rPr>
              <a:t>, </a:t>
            </a:r>
            <a:r>
              <a:rPr lang="en-US" altLang="ko-KR" dirty="0" err="1">
                <a:solidFill>
                  <a:schemeClr val="bg1"/>
                </a:solidFill>
                <a:latin typeface="맑은 고딕" panose="020B0503020000020004" pitchFamily="50" charset="-127"/>
              </a:rPr>
              <a:t>NEa</a:t>
            </a:r>
            <a:r>
              <a:rPr lang="en-US" altLang="ko-KR" dirty="0">
                <a:solidFill>
                  <a:schemeClr val="bg1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dirty="0">
                <a:solidFill>
                  <a:schemeClr val="bg1"/>
                </a:solidFill>
                <a:latin typeface="맑은 고딕" panose="020B0503020000020004" pitchFamily="50" charset="-127"/>
              </a:rPr>
              <a:t>제어사양서와 </a:t>
            </a:r>
            <a:r>
              <a:rPr lang="ko-KR" altLang="en-US" dirty="0" err="1">
                <a:solidFill>
                  <a:schemeClr val="bg1"/>
                </a:solidFill>
                <a:latin typeface="맑은 고딕" panose="020B0503020000020004" pitchFamily="50" charset="-127"/>
              </a:rPr>
              <a:t>고장진단서</a:t>
            </a:r>
            <a:r>
              <a:rPr lang="ko-KR" altLang="en-US" dirty="0">
                <a:solidFill>
                  <a:schemeClr val="bg1"/>
                </a:solidFill>
                <a:latin typeface="맑은 고딕" panose="020B0503020000020004" pitchFamily="50" charset="-127"/>
              </a:rPr>
              <a:t> 다른 부분</a:t>
            </a:r>
            <a:endParaRPr lang="ko-KR" altLang="en-US" dirty="0">
              <a:solidFill>
                <a:schemeClr val="bg1"/>
              </a:solidFill>
              <a:latin typeface="+mj-lt"/>
              <a:ea typeface="돋움" pitchFamily="50" charset="-127"/>
            </a:endParaRPr>
          </a:p>
        </p:txBody>
      </p:sp>
      <p:sp>
        <p:nvSpPr>
          <p:cNvPr id="30" name="TextBox 275"/>
          <p:cNvSpPr txBox="1">
            <a:spLocks noChangeArrowheads="1"/>
          </p:cNvSpPr>
          <p:nvPr/>
        </p:nvSpPr>
        <p:spPr bwMode="auto">
          <a:xfrm>
            <a:off x="1" y="548680"/>
            <a:ext cx="536076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2200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■ </a:t>
            </a:r>
            <a:r>
              <a:rPr lang="en-US" altLang="ko-KR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PCB Temp </a:t>
            </a:r>
            <a:r>
              <a:rPr lang="en-US" altLang="ko-KR" sz="2200" dirty="0" err="1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Senseor</a:t>
            </a:r>
            <a:r>
              <a:rPr lang="en-US" altLang="ko-KR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진단 해제 부등호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137970" y="1711952"/>
            <a:ext cx="156060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고장진단서</a:t>
            </a:r>
            <a:endParaRPr lang="en-US" altLang="ko-KR" sz="160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137971" y="3798985"/>
            <a:ext cx="156060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제어사양서</a:t>
            </a:r>
            <a:endParaRPr lang="en-US" altLang="ko-KR" sz="160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2420888"/>
            <a:ext cx="8388424" cy="43845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503" y="4365104"/>
            <a:ext cx="7089087" cy="194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378694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" y="53643"/>
            <a:ext cx="9143999" cy="357168"/>
          </a:xfrm>
          <a:prstGeom prst="rect">
            <a:avLst/>
          </a:prstGeom>
          <a:solidFill>
            <a:srgbClr val="00206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64008" tIns="41148" rIns="64008" bIns="41148" anchor="ctr"/>
          <a:lstStyle/>
          <a:p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■ </a:t>
            </a:r>
            <a:r>
              <a:rPr lang="en-US" altLang="ko-KR" dirty="0" err="1">
                <a:solidFill>
                  <a:schemeClr val="bg1"/>
                </a:solidFill>
                <a:latin typeface="맑은 고딕" panose="020B0503020000020004" pitchFamily="50" charset="-127"/>
              </a:rPr>
              <a:t>MVa</a:t>
            </a:r>
            <a:r>
              <a:rPr lang="en-US" altLang="ko-KR" dirty="0">
                <a:solidFill>
                  <a:schemeClr val="bg1"/>
                </a:solidFill>
                <a:latin typeface="맑은 고딕" panose="020B0503020000020004" pitchFamily="50" charset="-127"/>
              </a:rPr>
              <a:t>, </a:t>
            </a:r>
            <a:r>
              <a:rPr lang="en-US" altLang="ko-KR" dirty="0" err="1">
                <a:solidFill>
                  <a:schemeClr val="bg1"/>
                </a:solidFill>
                <a:latin typeface="맑은 고딕" panose="020B0503020000020004" pitchFamily="50" charset="-127"/>
              </a:rPr>
              <a:t>MEa</a:t>
            </a:r>
            <a:r>
              <a:rPr lang="en-US" altLang="ko-KR" dirty="0">
                <a:solidFill>
                  <a:schemeClr val="bg1"/>
                </a:solidFill>
                <a:latin typeface="맑은 고딕" panose="020B0503020000020004" pitchFamily="50" charset="-127"/>
              </a:rPr>
              <a:t>, </a:t>
            </a:r>
            <a:r>
              <a:rPr lang="en-US" altLang="ko-KR" dirty="0" err="1">
                <a:solidFill>
                  <a:schemeClr val="bg1"/>
                </a:solidFill>
                <a:latin typeface="맑은 고딕" panose="020B0503020000020004" pitchFamily="50" charset="-127"/>
              </a:rPr>
              <a:t>NEa</a:t>
            </a:r>
            <a:r>
              <a:rPr lang="en-US" altLang="ko-KR" dirty="0">
                <a:solidFill>
                  <a:schemeClr val="bg1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dirty="0">
                <a:solidFill>
                  <a:schemeClr val="bg1"/>
                </a:solidFill>
                <a:latin typeface="맑은 고딕" panose="020B0503020000020004" pitchFamily="50" charset="-127"/>
              </a:rPr>
              <a:t>제어사양서와 </a:t>
            </a:r>
            <a:r>
              <a:rPr lang="ko-KR" altLang="en-US" dirty="0" err="1">
                <a:solidFill>
                  <a:schemeClr val="bg1"/>
                </a:solidFill>
                <a:latin typeface="맑은 고딕" panose="020B0503020000020004" pitchFamily="50" charset="-127"/>
              </a:rPr>
              <a:t>고장진단서</a:t>
            </a:r>
            <a:r>
              <a:rPr lang="ko-KR" altLang="en-US" dirty="0">
                <a:solidFill>
                  <a:schemeClr val="bg1"/>
                </a:solidFill>
                <a:latin typeface="맑은 고딕" panose="020B0503020000020004" pitchFamily="50" charset="-127"/>
              </a:rPr>
              <a:t> 다른 부분</a:t>
            </a:r>
            <a:endParaRPr lang="ko-KR" altLang="en-US" dirty="0">
              <a:solidFill>
                <a:schemeClr val="bg1"/>
              </a:solidFill>
              <a:latin typeface="+mj-lt"/>
              <a:ea typeface="돋움" pitchFamily="50" charset="-127"/>
            </a:endParaRPr>
          </a:p>
        </p:txBody>
      </p:sp>
      <p:sp>
        <p:nvSpPr>
          <p:cNvPr id="30" name="TextBox 275"/>
          <p:cNvSpPr txBox="1">
            <a:spLocks noChangeArrowheads="1"/>
          </p:cNvSpPr>
          <p:nvPr/>
        </p:nvSpPr>
        <p:spPr bwMode="auto">
          <a:xfrm>
            <a:off x="1" y="548680"/>
            <a:ext cx="255069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2200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■ </a:t>
            </a:r>
            <a:r>
              <a:rPr lang="en-US" altLang="ko-KR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IGBT Open </a:t>
            </a:r>
            <a:r>
              <a:rPr lang="ko-KR" altLang="en-US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조건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137970" y="1711952"/>
            <a:ext cx="156060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고장진단서</a:t>
            </a:r>
            <a:endParaRPr lang="en-US" altLang="ko-KR" sz="160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137971" y="3798985"/>
            <a:ext cx="156060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제어사양서</a:t>
            </a:r>
            <a:endParaRPr lang="en-US" altLang="ko-KR" sz="160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2347967"/>
            <a:ext cx="7884368" cy="869847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971" y="4437112"/>
            <a:ext cx="7746398" cy="1610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58562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" y="53643"/>
            <a:ext cx="9143999" cy="357168"/>
          </a:xfrm>
          <a:prstGeom prst="rect">
            <a:avLst/>
          </a:prstGeom>
          <a:solidFill>
            <a:srgbClr val="00206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64008" tIns="41148" rIns="64008" bIns="41148" anchor="ctr"/>
          <a:lstStyle/>
          <a:p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■ </a:t>
            </a:r>
            <a:r>
              <a:rPr lang="en-US" altLang="ko-KR" dirty="0" err="1">
                <a:solidFill>
                  <a:schemeClr val="bg1"/>
                </a:solidFill>
                <a:latin typeface="맑은 고딕" panose="020B0503020000020004" pitchFamily="50" charset="-127"/>
              </a:rPr>
              <a:t>MVa</a:t>
            </a:r>
            <a:r>
              <a:rPr lang="en-US" altLang="ko-KR" dirty="0">
                <a:solidFill>
                  <a:schemeClr val="bg1"/>
                </a:solidFill>
                <a:latin typeface="맑은 고딕" panose="020B0503020000020004" pitchFamily="50" charset="-127"/>
              </a:rPr>
              <a:t>, </a:t>
            </a:r>
            <a:r>
              <a:rPr lang="en-US" altLang="ko-KR" dirty="0" err="1">
                <a:solidFill>
                  <a:schemeClr val="bg1"/>
                </a:solidFill>
                <a:latin typeface="맑은 고딕" panose="020B0503020000020004" pitchFamily="50" charset="-127"/>
              </a:rPr>
              <a:t>MEa</a:t>
            </a:r>
            <a:r>
              <a:rPr lang="en-US" altLang="ko-KR" dirty="0">
                <a:solidFill>
                  <a:schemeClr val="bg1"/>
                </a:solidFill>
                <a:latin typeface="맑은 고딕" panose="020B0503020000020004" pitchFamily="50" charset="-127"/>
              </a:rPr>
              <a:t>, </a:t>
            </a:r>
            <a:r>
              <a:rPr lang="en-US" altLang="ko-KR" dirty="0" err="1">
                <a:solidFill>
                  <a:schemeClr val="bg1"/>
                </a:solidFill>
                <a:latin typeface="맑은 고딕" panose="020B0503020000020004" pitchFamily="50" charset="-127"/>
              </a:rPr>
              <a:t>NEa</a:t>
            </a:r>
            <a:r>
              <a:rPr lang="en-US" altLang="ko-KR" dirty="0">
                <a:solidFill>
                  <a:schemeClr val="bg1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dirty="0">
                <a:solidFill>
                  <a:schemeClr val="bg1"/>
                </a:solidFill>
                <a:latin typeface="맑은 고딕" panose="020B0503020000020004" pitchFamily="50" charset="-127"/>
              </a:rPr>
              <a:t>제어사양서와 </a:t>
            </a:r>
            <a:r>
              <a:rPr lang="ko-KR" altLang="en-US" dirty="0" err="1">
                <a:solidFill>
                  <a:schemeClr val="bg1"/>
                </a:solidFill>
                <a:latin typeface="맑은 고딕" panose="020B0503020000020004" pitchFamily="50" charset="-127"/>
              </a:rPr>
              <a:t>고장진단서</a:t>
            </a:r>
            <a:r>
              <a:rPr lang="ko-KR" altLang="en-US" dirty="0">
                <a:solidFill>
                  <a:schemeClr val="bg1"/>
                </a:solidFill>
                <a:latin typeface="맑은 고딕" panose="020B0503020000020004" pitchFamily="50" charset="-127"/>
              </a:rPr>
              <a:t> 다른 부분</a:t>
            </a:r>
            <a:endParaRPr lang="ko-KR" altLang="en-US" dirty="0">
              <a:solidFill>
                <a:schemeClr val="bg1"/>
              </a:solidFill>
              <a:latin typeface="+mj-lt"/>
              <a:ea typeface="돋움" pitchFamily="50" charset="-127"/>
            </a:endParaRPr>
          </a:p>
        </p:txBody>
      </p:sp>
      <p:sp>
        <p:nvSpPr>
          <p:cNvPr id="30" name="TextBox 275"/>
          <p:cNvSpPr txBox="1">
            <a:spLocks noChangeArrowheads="1"/>
          </p:cNvSpPr>
          <p:nvPr/>
        </p:nvSpPr>
        <p:spPr bwMode="auto">
          <a:xfrm>
            <a:off x="1" y="548680"/>
            <a:ext cx="260840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2200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■ </a:t>
            </a:r>
            <a:r>
              <a:rPr lang="en-US" altLang="ko-KR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IGBT Short </a:t>
            </a:r>
            <a:r>
              <a:rPr lang="ko-KR" altLang="en-US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조건</a:t>
            </a:r>
            <a:endParaRPr lang="en-US" altLang="ko-KR" sz="2200" dirty="0" smtClean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37970" y="1711952"/>
            <a:ext cx="156060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고장진단서</a:t>
            </a:r>
            <a:endParaRPr lang="en-US" altLang="ko-KR" sz="160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137971" y="3798985"/>
            <a:ext cx="156060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제어사양서</a:t>
            </a:r>
            <a:endParaRPr lang="en-US" altLang="ko-KR" sz="160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971" y="4339668"/>
            <a:ext cx="8466477" cy="182133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970" y="2377822"/>
            <a:ext cx="8244408" cy="852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292027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" y="53643"/>
            <a:ext cx="9143999" cy="357168"/>
          </a:xfrm>
          <a:prstGeom prst="rect">
            <a:avLst/>
          </a:prstGeom>
          <a:solidFill>
            <a:srgbClr val="00206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64008" tIns="41148" rIns="64008" bIns="41148" anchor="ctr"/>
          <a:lstStyle/>
          <a:p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■ </a:t>
            </a:r>
            <a:r>
              <a:rPr lang="en-US" altLang="ko-KR" dirty="0" smtClean="0">
                <a:solidFill>
                  <a:schemeClr val="bg1"/>
                </a:solidFill>
                <a:latin typeface="맑은 고딕" panose="020B0503020000020004" pitchFamily="50" charset="-127"/>
              </a:rPr>
              <a:t>SU2i, AY, KY </a:t>
            </a:r>
            <a:r>
              <a:rPr lang="ko-KR" altLang="en-US" dirty="0">
                <a:solidFill>
                  <a:schemeClr val="bg1"/>
                </a:solidFill>
                <a:latin typeface="맑은 고딕" panose="020B0503020000020004" pitchFamily="50" charset="-127"/>
              </a:rPr>
              <a:t>제어사양서와 </a:t>
            </a:r>
            <a:r>
              <a:rPr lang="ko-KR" altLang="en-US" dirty="0" err="1">
                <a:solidFill>
                  <a:schemeClr val="bg1"/>
                </a:solidFill>
                <a:latin typeface="맑은 고딕" panose="020B0503020000020004" pitchFamily="50" charset="-127"/>
              </a:rPr>
              <a:t>고장진단서</a:t>
            </a:r>
            <a:r>
              <a:rPr lang="ko-KR" altLang="en-US" dirty="0">
                <a:solidFill>
                  <a:schemeClr val="bg1"/>
                </a:solidFill>
                <a:latin typeface="맑은 고딕" panose="020B0503020000020004" pitchFamily="50" charset="-127"/>
              </a:rPr>
              <a:t> 다른 부분</a:t>
            </a:r>
            <a:endParaRPr lang="ko-KR" altLang="en-US" dirty="0">
              <a:solidFill>
                <a:schemeClr val="bg1"/>
              </a:solidFill>
              <a:latin typeface="+mj-lt"/>
              <a:ea typeface="돋움" pitchFamily="50" charset="-127"/>
            </a:endParaRPr>
          </a:p>
        </p:txBody>
      </p:sp>
      <p:sp>
        <p:nvSpPr>
          <p:cNvPr id="30" name="TextBox 275"/>
          <p:cNvSpPr txBox="1">
            <a:spLocks noChangeArrowheads="1"/>
          </p:cNvSpPr>
          <p:nvPr/>
        </p:nvSpPr>
        <p:spPr bwMode="auto">
          <a:xfrm>
            <a:off x="1" y="548680"/>
            <a:ext cx="366638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2200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■ </a:t>
            </a:r>
            <a:r>
              <a:rPr lang="en-US" altLang="ko-KR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Core Temp Over </a:t>
            </a:r>
            <a:r>
              <a:rPr lang="ko-KR" altLang="en-US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부등호</a:t>
            </a:r>
            <a:endParaRPr lang="en-US" altLang="ko-KR" sz="2200" dirty="0" smtClean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37970" y="1711952"/>
            <a:ext cx="156060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고장진단서</a:t>
            </a:r>
            <a:endParaRPr lang="en-US" altLang="ko-KR" sz="160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137971" y="3798985"/>
            <a:ext cx="156060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제어사양서</a:t>
            </a:r>
            <a:endParaRPr lang="en-US" altLang="ko-KR" sz="160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2294620"/>
            <a:ext cx="8460432" cy="675633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326" y="4365104"/>
            <a:ext cx="7653042" cy="18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81457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" y="53643"/>
            <a:ext cx="9143999" cy="357168"/>
          </a:xfrm>
          <a:prstGeom prst="rect">
            <a:avLst/>
          </a:prstGeom>
          <a:solidFill>
            <a:srgbClr val="00206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64008" tIns="41148" rIns="64008" bIns="41148" anchor="ctr"/>
          <a:lstStyle/>
          <a:p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■ </a:t>
            </a:r>
            <a:r>
              <a:rPr lang="en-US" altLang="ko-KR" dirty="0" smtClean="0">
                <a:solidFill>
                  <a:schemeClr val="bg1"/>
                </a:solidFill>
                <a:latin typeface="맑은 고딕" panose="020B0503020000020004" pitchFamily="50" charset="-127"/>
              </a:rPr>
              <a:t>SU2i, AY, KY </a:t>
            </a:r>
            <a:r>
              <a:rPr lang="ko-KR" altLang="en-US" dirty="0">
                <a:solidFill>
                  <a:schemeClr val="bg1"/>
                </a:solidFill>
                <a:latin typeface="맑은 고딕" panose="020B0503020000020004" pitchFamily="50" charset="-127"/>
              </a:rPr>
              <a:t>제어사양서와 </a:t>
            </a:r>
            <a:r>
              <a:rPr lang="ko-KR" altLang="en-US" dirty="0" err="1">
                <a:solidFill>
                  <a:schemeClr val="bg1"/>
                </a:solidFill>
                <a:latin typeface="맑은 고딕" panose="020B0503020000020004" pitchFamily="50" charset="-127"/>
              </a:rPr>
              <a:t>고장진단서</a:t>
            </a:r>
            <a:r>
              <a:rPr lang="ko-KR" altLang="en-US" dirty="0">
                <a:solidFill>
                  <a:schemeClr val="bg1"/>
                </a:solidFill>
                <a:latin typeface="맑은 고딕" panose="020B0503020000020004" pitchFamily="50" charset="-127"/>
              </a:rPr>
              <a:t> 다른 부분</a:t>
            </a:r>
            <a:endParaRPr lang="ko-KR" altLang="en-US" dirty="0">
              <a:solidFill>
                <a:schemeClr val="bg1"/>
              </a:solidFill>
              <a:latin typeface="+mj-lt"/>
              <a:ea typeface="돋움" pitchFamily="50" charset="-127"/>
            </a:endParaRPr>
          </a:p>
        </p:txBody>
      </p:sp>
      <p:sp>
        <p:nvSpPr>
          <p:cNvPr id="30" name="TextBox 275"/>
          <p:cNvSpPr txBox="1">
            <a:spLocks noChangeArrowheads="1"/>
          </p:cNvSpPr>
          <p:nvPr/>
        </p:nvSpPr>
        <p:spPr bwMode="auto">
          <a:xfrm>
            <a:off x="1" y="548680"/>
            <a:ext cx="358463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2200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■ </a:t>
            </a:r>
            <a:r>
              <a:rPr lang="en-US" altLang="ko-KR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PCB Temp Sensor </a:t>
            </a:r>
            <a:r>
              <a:rPr lang="ko-KR" altLang="en-US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조건</a:t>
            </a:r>
            <a:endParaRPr lang="en-US" altLang="ko-KR" sz="2200" dirty="0" smtClean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37970" y="1711952"/>
            <a:ext cx="156060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고장진단서</a:t>
            </a:r>
            <a:endParaRPr lang="en-US" altLang="ko-KR" sz="160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137971" y="3798985"/>
            <a:ext cx="156060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제어사양서</a:t>
            </a:r>
            <a:endParaRPr lang="en-US" altLang="ko-KR" sz="160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2492896"/>
            <a:ext cx="8388424" cy="401934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4509120"/>
            <a:ext cx="7924800" cy="1605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058422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" y="53643"/>
            <a:ext cx="9143999" cy="357168"/>
          </a:xfrm>
          <a:prstGeom prst="rect">
            <a:avLst/>
          </a:prstGeom>
          <a:solidFill>
            <a:srgbClr val="00206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64008" tIns="41148" rIns="64008" bIns="41148" anchor="ctr"/>
          <a:lstStyle/>
          <a:p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■ </a:t>
            </a:r>
            <a:r>
              <a:rPr lang="en-US" altLang="ko-KR" dirty="0" smtClean="0">
                <a:solidFill>
                  <a:schemeClr val="bg1"/>
                </a:solidFill>
                <a:latin typeface="맑은 고딕" panose="020B0503020000020004" pitchFamily="50" charset="-127"/>
              </a:rPr>
              <a:t>QV </a:t>
            </a:r>
            <a:r>
              <a:rPr lang="ko-KR" altLang="en-US" dirty="0">
                <a:solidFill>
                  <a:schemeClr val="bg1"/>
                </a:solidFill>
                <a:latin typeface="맑은 고딕" panose="020B0503020000020004" pitchFamily="50" charset="-127"/>
              </a:rPr>
              <a:t>제어사양서와 </a:t>
            </a:r>
            <a:r>
              <a:rPr lang="ko-KR" altLang="en-US" dirty="0" err="1">
                <a:solidFill>
                  <a:schemeClr val="bg1"/>
                </a:solidFill>
                <a:latin typeface="맑은 고딕" panose="020B0503020000020004" pitchFamily="50" charset="-127"/>
              </a:rPr>
              <a:t>고장진단서</a:t>
            </a:r>
            <a:r>
              <a:rPr lang="ko-KR" altLang="en-US" dirty="0">
                <a:solidFill>
                  <a:schemeClr val="bg1"/>
                </a:solidFill>
                <a:latin typeface="맑은 고딕" panose="020B0503020000020004" pitchFamily="50" charset="-127"/>
              </a:rPr>
              <a:t> 다른 부분</a:t>
            </a:r>
            <a:endParaRPr lang="ko-KR" altLang="en-US" dirty="0">
              <a:solidFill>
                <a:schemeClr val="bg1"/>
              </a:solidFill>
              <a:latin typeface="+mj-lt"/>
              <a:ea typeface="돋움" pitchFamily="50" charset="-127"/>
            </a:endParaRPr>
          </a:p>
        </p:txBody>
      </p:sp>
      <p:sp>
        <p:nvSpPr>
          <p:cNvPr id="30" name="TextBox 275"/>
          <p:cNvSpPr txBox="1">
            <a:spLocks noChangeArrowheads="1"/>
          </p:cNvSpPr>
          <p:nvPr/>
        </p:nvSpPr>
        <p:spPr bwMode="auto">
          <a:xfrm>
            <a:off x="1" y="548680"/>
            <a:ext cx="260840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2200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■ </a:t>
            </a:r>
            <a:r>
              <a:rPr lang="en-US" altLang="ko-KR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IGBT Short </a:t>
            </a:r>
            <a:r>
              <a:rPr lang="ko-KR" altLang="en-US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조건</a:t>
            </a:r>
            <a:endParaRPr lang="en-US" altLang="ko-KR" sz="2200" dirty="0" smtClean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37970" y="1711952"/>
            <a:ext cx="156060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고장진단서</a:t>
            </a:r>
            <a:endParaRPr lang="en-US" altLang="ko-KR" sz="160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137971" y="3798985"/>
            <a:ext cx="156060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제어사양서</a:t>
            </a:r>
            <a:endParaRPr lang="en-US" altLang="ko-KR" sz="160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2352007"/>
            <a:ext cx="8172400" cy="75207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4365104"/>
            <a:ext cx="8648700" cy="178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041283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" y="53643"/>
            <a:ext cx="9143999" cy="357168"/>
          </a:xfrm>
          <a:prstGeom prst="rect">
            <a:avLst/>
          </a:prstGeom>
          <a:solidFill>
            <a:srgbClr val="00206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64008" tIns="41148" rIns="64008" bIns="41148" anchor="ctr"/>
          <a:lstStyle/>
          <a:p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■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SUZUKI Communication List 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틀린 부분</a:t>
            </a:r>
            <a:endParaRPr lang="ko-KR" altLang="en-US" dirty="0">
              <a:solidFill>
                <a:schemeClr val="bg1"/>
              </a:solidFill>
              <a:latin typeface="+mj-lt"/>
              <a:ea typeface="돋움" pitchFamily="50" charset="-127"/>
            </a:endParaRPr>
          </a:p>
        </p:txBody>
      </p:sp>
      <p:sp>
        <p:nvSpPr>
          <p:cNvPr id="30" name="TextBox 275"/>
          <p:cNvSpPr txBox="1">
            <a:spLocks noChangeArrowheads="1"/>
          </p:cNvSpPr>
          <p:nvPr/>
        </p:nvSpPr>
        <p:spPr bwMode="auto">
          <a:xfrm>
            <a:off x="1" y="548680"/>
            <a:ext cx="357181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2200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■ </a:t>
            </a:r>
            <a:r>
              <a:rPr lang="en-US" altLang="ko-KR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Current Sensor </a:t>
            </a:r>
            <a:r>
              <a:rPr lang="ko-KR" altLang="en-US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부등호</a:t>
            </a:r>
            <a:endParaRPr lang="en-US" altLang="ko-KR" sz="2200" dirty="0" smtClean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98300" y="2050506"/>
            <a:ext cx="857211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Communication List 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부등호 방향이 틀림 </a:t>
            </a:r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Current Sensor Voltage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가 </a:t>
            </a:r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4.98V 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보다 커야 함  </a:t>
            </a:r>
            <a:endParaRPr lang="en-US" altLang="ko-KR" sz="160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970" y="2990621"/>
            <a:ext cx="8532440" cy="722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14674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" y="53643"/>
            <a:ext cx="9143999" cy="357168"/>
          </a:xfrm>
          <a:prstGeom prst="rect">
            <a:avLst/>
          </a:prstGeom>
          <a:solidFill>
            <a:srgbClr val="00206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64008" tIns="41148" rIns="64008" bIns="41148" anchor="ctr"/>
          <a:lstStyle/>
          <a:p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■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SUZUKI Communication List 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틀린 부분</a:t>
            </a:r>
            <a:endParaRPr lang="ko-KR" altLang="en-US" dirty="0">
              <a:solidFill>
                <a:schemeClr val="bg1"/>
              </a:solidFill>
              <a:latin typeface="+mj-lt"/>
              <a:ea typeface="돋움" pitchFamily="50" charset="-127"/>
            </a:endParaRPr>
          </a:p>
        </p:txBody>
      </p:sp>
      <p:sp>
        <p:nvSpPr>
          <p:cNvPr id="30" name="TextBox 275"/>
          <p:cNvSpPr txBox="1">
            <a:spLocks noChangeArrowheads="1"/>
          </p:cNvSpPr>
          <p:nvPr/>
        </p:nvSpPr>
        <p:spPr bwMode="auto">
          <a:xfrm>
            <a:off x="1" y="548680"/>
            <a:ext cx="400782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2200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■ </a:t>
            </a:r>
            <a:r>
              <a:rPr lang="en-US" altLang="ko-KR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Core Temp Sensor </a:t>
            </a:r>
            <a:r>
              <a:rPr lang="ko-KR" altLang="en-US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부등호</a:t>
            </a:r>
            <a:endParaRPr lang="en-US" altLang="ko-KR" sz="2200" dirty="0" smtClean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98300" y="2050506"/>
            <a:ext cx="857211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Communication List 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부등호 방향이 틀림 </a:t>
            </a:r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Sensor Voltage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가 </a:t>
            </a:r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4.98V 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보다 작아야 함</a:t>
            </a:r>
            <a:endParaRPr lang="en-US" altLang="ko-KR" sz="160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00" y="3133427"/>
            <a:ext cx="8892480" cy="653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315733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" y="53643"/>
            <a:ext cx="9143999" cy="357168"/>
          </a:xfrm>
          <a:prstGeom prst="rect">
            <a:avLst/>
          </a:prstGeom>
          <a:solidFill>
            <a:srgbClr val="00206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64008" tIns="41148" rIns="64008" bIns="41148" anchor="ctr"/>
          <a:lstStyle/>
          <a:p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■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SUZUKI Communication List 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틀린 부분</a:t>
            </a:r>
            <a:endParaRPr lang="ko-KR" altLang="en-US" dirty="0">
              <a:solidFill>
                <a:schemeClr val="bg1"/>
              </a:solidFill>
              <a:latin typeface="+mj-lt"/>
              <a:ea typeface="돋움" pitchFamily="50" charset="-127"/>
            </a:endParaRPr>
          </a:p>
        </p:txBody>
      </p:sp>
      <p:sp>
        <p:nvSpPr>
          <p:cNvPr id="30" name="TextBox 275"/>
          <p:cNvSpPr txBox="1">
            <a:spLocks noChangeArrowheads="1"/>
          </p:cNvSpPr>
          <p:nvPr/>
        </p:nvSpPr>
        <p:spPr bwMode="auto">
          <a:xfrm>
            <a:off x="1" y="548680"/>
            <a:ext cx="386676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2200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■ </a:t>
            </a:r>
            <a:r>
              <a:rPr lang="en-US" altLang="ko-KR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PCB Temp Sensor </a:t>
            </a:r>
            <a:r>
              <a:rPr lang="ko-KR" altLang="en-US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부등호</a:t>
            </a:r>
            <a:endParaRPr lang="en-US" altLang="ko-KR" sz="2200" dirty="0" smtClean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98300" y="2050506"/>
            <a:ext cx="857211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Communication List 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부등호 방향이 틀림 </a:t>
            </a:r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Sensor Voltage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가 </a:t>
            </a:r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4.98V 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보다 작아야 함</a:t>
            </a:r>
            <a:endParaRPr lang="en-US" altLang="ko-KR" sz="160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60" y="3110915"/>
            <a:ext cx="8892480" cy="634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047286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" y="53643"/>
            <a:ext cx="9143999" cy="357168"/>
          </a:xfrm>
          <a:prstGeom prst="rect">
            <a:avLst/>
          </a:prstGeom>
          <a:solidFill>
            <a:srgbClr val="00206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64008" tIns="41148" rIns="64008" bIns="41148" anchor="ctr"/>
          <a:lstStyle/>
          <a:p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■ </a:t>
            </a:r>
            <a:r>
              <a:rPr lang="en-US" altLang="ko-KR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SUZUKI Communication List </a:t>
            </a:r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틀린 부분</a:t>
            </a:r>
            <a:endParaRPr lang="ko-KR" altLang="en-US" dirty="0">
              <a:solidFill>
                <a:schemeClr val="bg1"/>
              </a:solidFill>
              <a:latin typeface="+mj-lt"/>
              <a:ea typeface="돋움" pitchFamily="50" charset="-127"/>
            </a:endParaRPr>
          </a:p>
        </p:txBody>
      </p:sp>
      <p:sp>
        <p:nvSpPr>
          <p:cNvPr id="30" name="TextBox 275"/>
          <p:cNvSpPr txBox="1">
            <a:spLocks noChangeArrowheads="1"/>
          </p:cNvSpPr>
          <p:nvPr/>
        </p:nvSpPr>
        <p:spPr bwMode="auto">
          <a:xfrm>
            <a:off x="1" y="548680"/>
            <a:ext cx="334899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2200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■ </a:t>
            </a:r>
            <a:r>
              <a:rPr lang="en-US" altLang="ko-KR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LV Over Voltage </a:t>
            </a:r>
            <a:r>
              <a:rPr lang="ko-KR" altLang="en-US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조건</a:t>
            </a:r>
            <a:endParaRPr lang="en-US" altLang="ko-KR" sz="2200" dirty="0" smtClean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98300" y="2050506"/>
            <a:ext cx="857211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Communication List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에서는 </a:t>
            </a:r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18V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라 되어 있지만 </a:t>
            </a:r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JIG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에 연결하여 </a:t>
            </a:r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LV 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테스트 결과</a:t>
            </a:r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,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16.8V 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이상 일 때 </a:t>
            </a:r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LV Over Error 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발생</a:t>
            </a:r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, 15.8V 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이하일 때 </a:t>
            </a:r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Error 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종료</a:t>
            </a:r>
            <a:endParaRPr lang="en-US" altLang="ko-KR" sz="160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00" y="3264094"/>
            <a:ext cx="8748464" cy="1101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668918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" y="53643"/>
            <a:ext cx="9143999" cy="357168"/>
          </a:xfrm>
          <a:prstGeom prst="rect">
            <a:avLst/>
          </a:prstGeom>
          <a:solidFill>
            <a:srgbClr val="00206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64008" tIns="41148" rIns="64008" bIns="41148" anchor="ctr"/>
          <a:lstStyle/>
          <a:p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■ 보고 사항</a:t>
            </a:r>
            <a:endParaRPr lang="ko-KR" altLang="en-US" dirty="0">
              <a:solidFill>
                <a:schemeClr val="bg1"/>
              </a:solidFill>
              <a:latin typeface="+mj-lt"/>
              <a:ea typeface="돋움" pitchFamily="50" charset="-127"/>
            </a:endParaRPr>
          </a:p>
        </p:txBody>
      </p:sp>
      <p:sp>
        <p:nvSpPr>
          <p:cNvPr id="30" name="TextBox 275"/>
          <p:cNvSpPr txBox="1">
            <a:spLocks noChangeArrowheads="1"/>
          </p:cNvSpPr>
          <p:nvPr/>
        </p:nvSpPr>
        <p:spPr bwMode="auto">
          <a:xfrm>
            <a:off x="1" y="548680"/>
            <a:ext cx="178446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2200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■ </a:t>
            </a:r>
            <a:r>
              <a:rPr lang="ko-KR" altLang="en-US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보고 사항</a:t>
            </a:r>
            <a:endParaRPr lang="en-US" altLang="ko-KR" sz="2200" dirty="0" smtClean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98300" y="2204864"/>
            <a:ext cx="8572110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Air PTC Heater Spec 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작성 중</a:t>
            </a:r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600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고장진단서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 기준으로 작성하였으며</a:t>
            </a:r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,</a:t>
            </a:r>
          </a:p>
          <a:p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고장진단서가 없는 경우 제어사양서만 보고 작성</a:t>
            </a:r>
            <a:endParaRPr lang="en-US" altLang="ko-KR" sz="1600" dirty="0" smtClean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endParaRPr lang="en-US" altLang="ko-KR" sz="1600" dirty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BJ1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은 </a:t>
            </a:r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QV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와 같은 </a:t>
            </a:r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SR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에 있었지만 관련 자료를 발견하지 못하여 성능만 작성</a:t>
            </a:r>
            <a:endParaRPr lang="en-US" altLang="ko-KR" sz="1600" dirty="0" smtClean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endParaRPr lang="en-US" altLang="ko-KR" sz="1600" dirty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SUZUKI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의 </a:t>
            </a:r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ESIR P/NO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는 </a:t>
            </a:r>
            <a:r>
              <a:rPr lang="ko-KR" altLang="en-US" sz="1600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공준석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600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전임에게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 문의하였고 아직 답변이 없어 작성하지 못함</a:t>
            </a:r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</a:p>
          <a:p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담당자는 확인하지 못하여 작성하지 못함</a:t>
            </a:r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</a:p>
          <a:p>
            <a:endParaRPr lang="en-US" altLang="ko-KR" sz="1600" dirty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MX5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는 </a:t>
            </a:r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FR, RR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로 나누어 </a:t>
            </a:r>
            <a:r>
              <a:rPr lang="en-US" altLang="ko-KR" sz="1600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MVa</a:t>
            </a:r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 FR, RR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의 내용으로 작성</a:t>
            </a:r>
            <a:endParaRPr lang="en-US" altLang="ko-KR" sz="1600" dirty="0" smtClean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endParaRPr lang="en-US" altLang="ko-KR" sz="1600" dirty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JKA, NX5e, NX6e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는 문서와 관련 내용들을 찾지 못하여 공란으로 작성</a:t>
            </a:r>
            <a:endParaRPr lang="en-US" altLang="ko-KR" sz="1600" dirty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3667129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1" y="53643"/>
            <a:ext cx="9143999" cy="357168"/>
          </a:xfrm>
          <a:prstGeom prst="rect">
            <a:avLst/>
          </a:prstGeom>
          <a:solidFill>
            <a:srgbClr val="00206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64008" tIns="41148" rIns="64008" bIns="41148" anchor="ctr"/>
          <a:lstStyle/>
          <a:p>
            <a:r>
              <a:rPr lang="ko-KR" altLang="en-US" dirty="0" smtClean="0">
                <a:solidFill>
                  <a:srgbClr val="FFFFFF"/>
                </a:solidFill>
                <a:latin typeface="+mj-lt"/>
                <a:ea typeface="돋움" pitchFamily="50" charset="-127"/>
              </a:rPr>
              <a:t>■ 조치 사항</a:t>
            </a:r>
            <a:endParaRPr lang="ko-KR" altLang="en-US" dirty="0">
              <a:solidFill>
                <a:schemeClr val="bg1"/>
              </a:solidFill>
              <a:latin typeface="+mj-lt"/>
              <a:ea typeface="돋움" pitchFamily="50" charset="-127"/>
            </a:endParaRPr>
          </a:p>
        </p:txBody>
      </p:sp>
      <p:sp>
        <p:nvSpPr>
          <p:cNvPr id="30" name="TextBox 275"/>
          <p:cNvSpPr txBox="1">
            <a:spLocks noChangeArrowheads="1"/>
          </p:cNvSpPr>
          <p:nvPr/>
        </p:nvSpPr>
        <p:spPr bwMode="auto">
          <a:xfrm>
            <a:off x="1" y="548680"/>
            <a:ext cx="178446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B2B2B2"/>
                </a:solidFill>
                <a:latin typeface="Impact" panose="020B080603090205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2200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■ </a:t>
            </a:r>
            <a:r>
              <a:rPr lang="ko-KR" altLang="en-US" sz="2200" dirty="0" smtClean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조치 사항</a:t>
            </a:r>
            <a:endParaRPr lang="en-US" altLang="ko-KR" sz="2200" dirty="0" smtClean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98300" y="1556792"/>
            <a:ext cx="857211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2025. 02. 18.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 - SUZUKI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는 정식 수주 단계가 아니라 </a:t>
            </a:r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Part Number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가 존재하지 않는다</a:t>
            </a:r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 - BJ1, QV, </a:t>
            </a:r>
            <a:r>
              <a:rPr lang="en-US" altLang="ko-KR" sz="1600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SVm</a:t>
            </a:r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변경 사항 적용하여 문서 작성 완료</a:t>
            </a:r>
            <a:endParaRPr lang="en-US" altLang="ko-KR" sz="1600" dirty="0" smtClean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  - 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제어사양서와 고장 진단서 </a:t>
            </a:r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App 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코드에 맞춰 수정 완료</a:t>
            </a:r>
            <a:endParaRPr lang="en-US" altLang="ko-KR" sz="1600" dirty="0" smtClean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 - </a:t>
            </a:r>
            <a:r>
              <a:rPr lang="en-US" altLang="ko-KR" sz="1600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Git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 새로운 </a:t>
            </a:r>
            <a:r>
              <a:rPr lang="ko-KR" altLang="en-US" sz="1600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브랜치에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Air PTC Heater Spec 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문서 </a:t>
            </a:r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push 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후 </a:t>
            </a:r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Merge Request 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요청 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완료</a:t>
            </a:r>
            <a:endParaRPr lang="en-US" altLang="ko-KR" sz="1600" dirty="0" smtClean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endParaRPr lang="en-US" altLang="ko-KR" sz="1600" dirty="0">
              <a:solidFill>
                <a:srgbClr val="000000"/>
              </a:solidFill>
              <a:latin typeface="맑은 고딕" panose="020B0503020000020004" pitchFamily="50" charset="-127"/>
            </a:endParaRPr>
          </a:p>
          <a:p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2025. 02. 20.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 - </a:t>
            </a:r>
            <a:r>
              <a:rPr lang="en-US" altLang="ko-KR" sz="1600" dirty="0" err="1" smtClean="0">
                <a:solidFill>
                  <a:srgbClr val="000000"/>
                </a:solidFill>
                <a:latin typeface="맑은 고딕" panose="020B0503020000020004" pitchFamily="50" charset="-127"/>
              </a:rPr>
              <a:t>SVm</a:t>
            </a:r>
            <a:r>
              <a:rPr lang="en-US" altLang="ko-KR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 HV Over Voltage 432, 412 [V] -&gt; 440, 420 [V] </a:t>
            </a:r>
            <a:r>
              <a:rPr lang="ko-KR" altLang="en-US" sz="1600" dirty="0" smtClean="0">
                <a:solidFill>
                  <a:srgbClr val="000000"/>
                </a:solidFill>
                <a:latin typeface="맑은 고딕" panose="020B0503020000020004" pitchFamily="50" charset="-127"/>
              </a:rPr>
              <a:t>로 변경 적용 완료</a:t>
            </a:r>
            <a:endParaRPr lang="en-US" altLang="ko-KR" sz="1600" dirty="0" smtClean="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35069770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1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4" charset="0"/>
            <a:ea typeface="굴림" pitchFamily="50" charset="-127"/>
          </a:defRPr>
        </a:defPPr>
      </a:lstStyle>
    </a:lnDef>
  </a:objectDefaults>
  <a:extraClrSchemeLst>
    <a:extraClrScheme>
      <a:clrScheme name="제안서 템플릿 1">
        <a:dk1>
          <a:srgbClr val="333333"/>
        </a:dk1>
        <a:lt1>
          <a:srgbClr val="FFFFFF"/>
        </a:lt1>
        <a:dk2>
          <a:srgbClr val="FFFFFF"/>
        </a:dk2>
        <a:lt2>
          <a:srgbClr val="B2B2B2"/>
        </a:lt2>
        <a:accent1>
          <a:srgbClr val="202AAE"/>
        </a:accent1>
        <a:accent2>
          <a:srgbClr val="CC5D36"/>
        </a:accent2>
        <a:accent3>
          <a:srgbClr val="FFFFFF"/>
        </a:accent3>
        <a:accent4>
          <a:srgbClr val="2A2A2A"/>
        </a:accent4>
        <a:accent5>
          <a:srgbClr val="ABACD3"/>
        </a:accent5>
        <a:accent6>
          <a:srgbClr val="B95330"/>
        </a:accent6>
        <a:hlink>
          <a:srgbClr val="1F7CD1"/>
        </a:hlink>
        <a:folHlink>
          <a:srgbClr val="6544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제안서 템플릿 2">
        <a:dk1>
          <a:srgbClr val="333333"/>
        </a:dk1>
        <a:lt1>
          <a:srgbClr val="FFFFFF"/>
        </a:lt1>
        <a:dk2>
          <a:srgbClr val="FFFFFF"/>
        </a:dk2>
        <a:lt2>
          <a:srgbClr val="B2B2B2"/>
        </a:lt2>
        <a:accent1>
          <a:srgbClr val="2C8EC4"/>
        </a:accent1>
        <a:accent2>
          <a:srgbClr val="CFBE6B"/>
        </a:accent2>
        <a:accent3>
          <a:srgbClr val="FFFFFF"/>
        </a:accent3>
        <a:accent4>
          <a:srgbClr val="2A2A2A"/>
        </a:accent4>
        <a:accent5>
          <a:srgbClr val="ACC6DE"/>
        </a:accent5>
        <a:accent6>
          <a:srgbClr val="BBAC60"/>
        </a:accent6>
        <a:hlink>
          <a:srgbClr val="7047D7"/>
        </a:hlink>
        <a:folHlink>
          <a:srgbClr val="185A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제안서 템플릿 3">
        <a:dk1>
          <a:srgbClr val="4D4D4D"/>
        </a:dk1>
        <a:lt1>
          <a:srgbClr val="FFFFFF"/>
        </a:lt1>
        <a:dk2>
          <a:srgbClr val="FFFFFF"/>
        </a:dk2>
        <a:lt2>
          <a:srgbClr val="B2B2B2"/>
        </a:lt2>
        <a:accent1>
          <a:srgbClr val="058089"/>
        </a:accent1>
        <a:accent2>
          <a:srgbClr val="99CC00"/>
        </a:accent2>
        <a:accent3>
          <a:srgbClr val="FFFFFF"/>
        </a:accent3>
        <a:accent4>
          <a:srgbClr val="404040"/>
        </a:accent4>
        <a:accent5>
          <a:srgbClr val="AAC0C4"/>
        </a:accent5>
        <a:accent6>
          <a:srgbClr val="8AB900"/>
        </a:accent6>
        <a:hlink>
          <a:srgbClr val="2CA9D0"/>
        </a:hlink>
        <a:folHlink>
          <a:srgbClr val="4841D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40559</TotalTime>
  <Words>483</Words>
  <Application>Microsoft Office PowerPoint</Application>
  <PresentationFormat>화면 슬라이드 쇼(4:3)</PresentationFormat>
  <Paragraphs>79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5" baseType="lpstr">
      <vt:lpstr>HY헤드라인M</vt:lpstr>
      <vt:lpstr>굴림</vt:lpstr>
      <vt:lpstr>돋움</vt:lpstr>
      <vt:lpstr>맑은 고딕</vt:lpstr>
      <vt:lpstr>Arial</vt:lpstr>
      <vt:lpstr>Lucida Sans Unicode</vt:lpstr>
      <vt:lpstr>Verdana</vt:lpstr>
      <vt:lpstr>Wingdings</vt:lpstr>
      <vt:lpstr>제안서 템플릿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Windows 사용자</cp:lastModifiedBy>
  <cp:revision>3828</cp:revision>
  <cp:lastPrinted>2023-07-17T01:24:22Z</cp:lastPrinted>
  <dcterms:created xsi:type="dcterms:W3CDTF">2019-10-24T04:42:23Z</dcterms:created>
  <dcterms:modified xsi:type="dcterms:W3CDTF">2025-02-20T07:46:50Z</dcterms:modified>
</cp:coreProperties>
</file>