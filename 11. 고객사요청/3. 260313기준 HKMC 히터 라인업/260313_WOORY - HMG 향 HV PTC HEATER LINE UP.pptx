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4"/>
    <p:sldMasterId id="2147483675" r:id="rId5"/>
  </p:sldMasterIdLst>
  <p:notesMasterIdLst>
    <p:notesMasterId r:id="rId8"/>
  </p:notesMasterIdLst>
  <p:handoutMasterIdLst>
    <p:handoutMasterId r:id="rId9"/>
  </p:handoutMasterIdLst>
  <p:sldIdLst>
    <p:sldId id="458" r:id="rId6"/>
    <p:sldId id="518" r:id="rId7"/>
  </p:sldIdLst>
  <p:sldSz cx="9144000" cy="6858000" type="screen4x3"/>
  <p:notesSz cx="6802438" cy="99345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2069">
          <p15:clr>
            <a:srgbClr val="A4A3A4"/>
          </p15:clr>
        </p15:guide>
        <p15:guide id="3" orient="horz" pos="2976">
          <p15:clr>
            <a:srgbClr val="A4A3A4"/>
          </p15:clr>
        </p15:guide>
        <p15:guide id="4" pos="975">
          <p15:clr>
            <a:srgbClr val="A4A3A4"/>
          </p15:clr>
        </p15:guide>
        <p15:guide id="6" pos="4150">
          <p15:clr>
            <a:srgbClr val="A4A3A4"/>
          </p15:clr>
        </p15:guide>
        <p15:guide id="7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FF99FF"/>
    <a:srgbClr val="FF33CC"/>
    <a:srgbClr val="FF3399"/>
    <a:srgbClr val="FF0000"/>
    <a:srgbClr val="CCCCFF"/>
    <a:srgbClr val="3399FF"/>
    <a:srgbClr val="99CCFF"/>
    <a:srgbClr val="B6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0" autoAdjust="0"/>
    <p:restoredTop sz="94560" autoAdjust="0"/>
  </p:normalViewPr>
  <p:slideViewPr>
    <p:cSldViewPr snapToObjects="1">
      <p:cViewPr varScale="1">
        <p:scale>
          <a:sx n="115" d="100"/>
          <a:sy n="115" d="100"/>
        </p:scale>
        <p:origin x="1242" y="108"/>
      </p:cViewPr>
      <p:guideLst>
        <p:guide orient="horz" pos="1071"/>
        <p:guide orient="horz" pos="2069"/>
        <p:guide orient="horz" pos="2976"/>
        <p:guide pos="975"/>
        <p:guide pos="415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3141" y="0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7889-A84F-49D1-BD5A-0C9403740ED6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23"/>
            <a:ext cx="2947723" cy="4984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3141" y="9436123"/>
            <a:ext cx="2947723" cy="4984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C8F6-5469-4F2F-A461-25A096C9479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288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3141" y="0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02FC6-FE94-47A7-84EE-A54FBD2777CB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244" y="4781014"/>
            <a:ext cx="5441950" cy="39117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23"/>
            <a:ext cx="2947723" cy="4984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3141" y="9436123"/>
            <a:ext cx="2947723" cy="4984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94E65-097A-4CA0-B953-83BB7887CD7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141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>
            <a:extLst>
              <a:ext uri="{FF2B5EF4-FFF2-40B4-BE49-F238E27FC236}">
                <a16:creationId xmlns:a16="http://schemas.microsoft.com/office/drawing/2014/main" id="{F51F3DCE-A581-4C73-4C38-8FD0986934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headEnd/>
            <a:tailEnd/>
          </a:ln>
        </p:spPr>
      </p:sp>
      <p:sp>
        <p:nvSpPr>
          <p:cNvPr id="33795" name="슬라이드 노트 개체 틀 2">
            <a:extLst>
              <a:ext uri="{FF2B5EF4-FFF2-40B4-BE49-F238E27FC236}">
                <a16:creationId xmlns:a16="http://schemas.microsoft.com/office/drawing/2014/main" id="{61F912A6-DAED-D114-CC72-80FCD5663B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ko-KR" altLang="en-US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3796" name="슬라이드 번호 개체 틀 3">
            <a:extLst>
              <a:ext uri="{FF2B5EF4-FFF2-40B4-BE49-F238E27FC236}">
                <a16:creationId xmlns:a16="http://schemas.microsoft.com/office/drawing/2014/main" id="{14590B08-877F-4614-21EF-4672AD890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3321" indent="-285893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572" indent="-228714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1000" indent="-228714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8429" indent="-228714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5857" indent="-228714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3286" indent="-228714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30715" indent="-228714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8143" indent="-228714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fld id="{9580D2AC-CF21-4187-9404-E0D5D0117720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맑은 고딕" panose="020B0503020000020004" pitchFamily="50" charset="-127"/>
                <a:cs typeface="Arial" panose="020B0604020202020204" pitchFamily="34" charset="0"/>
                <a:sym typeface="Times New Roman" panose="02020603050405020304" pitchFamily="18" charset="0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Times New Roman" panose="02020603050405020304" pitchFamily="18" charset="0"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맑은 고딕" panose="020B0503020000020004" pitchFamily="50" charset="-127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403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2627363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97410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285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49182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26287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34591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023079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34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644681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189822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953519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1883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3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 dirty="0" smtClean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3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32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051720" y="2204864"/>
            <a:ext cx="7236296" cy="107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solidFill>
                  <a:prstClr val="white"/>
                </a:solidFill>
                <a:latin typeface="Arial" panose="020B0604020202020204" pitchFamily="34" charset="0"/>
                <a:ea typeface="새굴림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WOORY Industrial</a:t>
            </a:r>
          </a:p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- HMG HV PTC HTR Line Up -</a:t>
            </a:r>
          </a:p>
        </p:txBody>
      </p:sp>
    </p:spTree>
    <p:extLst>
      <p:ext uri="{BB962C8B-B14F-4D97-AF65-F5344CB8AC3E}">
        <p14:creationId xmlns:p14="http://schemas.microsoft.com/office/powerpoint/2010/main" val="13147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12278"/>
              </p:ext>
            </p:extLst>
          </p:nvPr>
        </p:nvGraphicFramePr>
        <p:xfrm>
          <a:off x="99642" y="587436"/>
          <a:ext cx="8926418" cy="62461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989">
                  <a:extLst>
                    <a:ext uri="{9D8B030D-6E8A-4147-A177-3AD203B41FA5}">
                      <a16:colId xmlns:a16="http://schemas.microsoft.com/office/drawing/2014/main" val="2506937182"/>
                    </a:ext>
                  </a:extLst>
                </a:gridCol>
                <a:gridCol w="807429">
                  <a:extLst>
                    <a:ext uri="{9D8B030D-6E8A-4147-A177-3AD203B41FA5}">
                      <a16:colId xmlns:a16="http://schemas.microsoft.com/office/drawing/2014/main" val="74997896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04428704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97194719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60115999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35867863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389566417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135435155"/>
                    </a:ext>
                  </a:extLst>
                </a:gridCol>
              </a:tblGrid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차종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MVa</a:t>
                      </a: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 / </a:t>
                      </a:r>
                      <a:r>
                        <a:rPr kumimoji="0" lang="en-US" altLang="ko-KR" sz="8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MEa</a:t>
                      </a: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 / </a:t>
                      </a:r>
                      <a:r>
                        <a:rPr kumimoji="0" lang="en-US" altLang="ko-KR" sz="8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NEa</a:t>
                      </a: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 / </a:t>
                      </a:r>
                      <a:r>
                        <a:rPr kumimoji="0" lang="en-US" altLang="ko-KR" sz="8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CVa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MVa</a:t>
                      </a: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 / Mea (REAR)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SU2I / KY / AY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QV / </a:t>
                      </a:r>
                      <a:r>
                        <a:rPr kumimoji="0" lang="en-US" altLang="ko-KR" sz="8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SVm</a:t>
                      </a: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 / BJ1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OS EV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비고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617242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Production Site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WRA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WRA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WRI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WRS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WRK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684562"/>
                  </a:ext>
                </a:extLst>
              </a:tr>
              <a:tr h="178219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제품 형상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2">
                  <a:txBody>
                    <a:bodyPr/>
                    <a:lstStyle/>
                    <a:p>
                      <a:pPr algn="l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1. HV</a:t>
                      </a:r>
                      <a:r>
                        <a:rPr lang="en-US" altLang="ko-KR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CONNECTOR</a:t>
                      </a:r>
                    </a:p>
                    <a:p>
                      <a:pPr algn="l" fontAlgn="ctr"/>
                      <a:r>
                        <a:rPr lang="en-US" altLang="ko-KR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   - </a:t>
                      </a:r>
                      <a:r>
                        <a:rPr lang="ko-KR" altLang="en-US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업체 </a:t>
                      </a:r>
                      <a:r>
                        <a:rPr lang="en-US" altLang="ko-KR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: APTIVE</a:t>
                      </a:r>
                    </a:p>
                    <a:p>
                      <a:pPr algn="l" fontAlgn="ctr"/>
                      <a:r>
                        <a:rPr lang="en-US" altLang="ko-KR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   - P/N : 35415839</a:t>
                      </a:r>
                    </a:p>
                    <a:p>
                      <a:pPr algn="l" fontAlgn="ctr"/>
                      <a:endParaRPr lang="en-US" altLang="ko-KR" sz="800" b="1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800" b="1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800" b="1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800" b="1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800" b="1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800" b="1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l" fontAlgn="ctr"/>
                      <a:endParaRPr lang="en-US" altLang="ko-KR" sz="800" b="1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2. SIGNAL CONNECTOR</a:t>
                      </a:r>
                    </a:p>
                    <a:p>
                      <a:pPr algn="l" fontAlgn="ctr"/>
                      <a:r>
                        <a:rPr lang="en-US" altLang="ko-KR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  - </a:t>
                      </a:r>
                      <a:r>
                        <a:rPr lang="ko-KR" altLang="en-US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업체 </a:t>
                      </a:r>
                      <a:r>
                        <a:rPr lang="en-US" altLang="ko-KR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: KET</a:t>
                      </a:r>
                    </a:p>
                    <a:p>
                      <a:pPr algn="l" fontAlgn="ctr"/>
                      <a:r>
                        <a:rPr lang="en-US" altLang="ko-KR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  - P/N : MG651098-5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6767"/>
                  </a:ext>
                </a:extLst>
              </a:tr>
              <a:tr h="360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Size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Core Part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269(L) x 158(W) x 32(T)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185(L) x 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55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(W</a:t>
                      </a: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) x 32(T)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240(L) x 150(W) x 30(T)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69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(L</a:t>
                      </a: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) x 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34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(W</a:t>
                      </a: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) x 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3</a:t>
                      </a: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4.5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(T</a:t>
                      </a: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230(L)x185(W)x30(T)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57807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PWM </a:t>
                      </a:r>
                      <a:r>
                        <a:rPr lang="en-US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Part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80.7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(L</a:t>
                      </a: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) x 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80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(W</a:t>
                      </a: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) x 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4</a:t>
                      </a: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(T</a:t>
                      </a: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38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(L) </a:t>
                      </a: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x 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99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(W</a:t>
                      </a: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) x </a:t>
                      </a: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76.5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(T</a:t>
                      </a: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81(L) x 208(W) x 40(T)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78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(L</a:t>
                      </a: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) x </a:t>
                      </a: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175</a:t>
                      </a:r>
                      <a:r>
                        <a:rPr lang="pl-PL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(W</a:t>
                      </a:r>
                      <a:r>
                        <a:rPr lang="pl-PL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) x 40(T)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204.2(L)x88.5(W)x40(H)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42527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ZONE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상</a:t>
                      </a: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하 듀얼</a:t>
                      </a:r>
                      <a:endParaRPr lang="pl-PL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좌</a:t>
                      </a: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우 듀얼</a:t>
                      </a:r>
                      <a:endParaRPr lang="pl-PL" altLang="ko-KR" sz="800" b="1" kern="1200" dirty="0" smtClean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상</a:t>
                      </a: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하 듀얼</a:t>
                      </a:r>
                      <a:endParaRPr lang="pl-PL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상</a:t>
                      </a: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하 듀얼</a:t>
                      </a:r>
                      <a:endParaRPr lang="pl-PL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좌</a:t>
                      </a: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우 듀얼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283752"/>
                  </a:ext>
                </a:extLst>
              </a:tr>
              <a:tr h="3600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Nominal </a:t>
                      </a:r>
                      <a:b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Condition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Voltage (</a:t>
                      </a:r>
                      <a:r>
                        <a:rPr lang="en-US" sz="800" b="1" u="none" strike="noStrike" dirty="0" err="1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Vdc</a:t>
                      </a:r>
                      <a:r>
                        <a:rPr lang="en-US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654V</a:t>
                      </a:r>
                    </a:p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(240~890V)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654V</a:t>
                      </a: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(240~890V)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325 V</a:t>
                      </a:r>
                    </a:p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(220~440)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358 V</a:t>
                      </a:r>
                    </a:p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(220~440)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360 V</a:t>
                      </a:r>
                    </a:p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</a:t>
                      </a:r>
                      <a:r>
                        <a:rPr lang="en-US" altLang="ko-KR" sz="8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220~440)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86313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Nominal Temp.(℃)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0℃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0℃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0℃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0℃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0</a:t>
                      </a:r>
                      <a:r>
                        <a:rPr lang="ko-KR" altLang="en-US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℃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914514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Air</a:t>
                      </a:r>
                      <a:r>
                        <a:rPr lang="en-US" altLang="ko-KR" sz="800" b="1" u="none" strike="noStrike" baseline="0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mass flow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300kg/h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300kg/h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300kg/h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300kg/h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300kg/h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88132"/>
                  </a:ext>
                </a:extLst>
              </a:tr>
              <a:tr h="36000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Performance</a:t>
                      </a:r>
                      <a:endParaRPr kumimoji="0" lang="ko-KR" altLang="en-US" sz="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Power(Watt</a:t>
                      </a:r>
                      <a:r>
                        <a:rPr lang="en-US" sz="8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6,300W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4,000W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4,000W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5,500W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5,500 ± 10%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20733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Pressure drop(Pa)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Max 75Pa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Max 75Pa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Max 75Pa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Max </a:t>
                      </a:r>
                      <a:r>
                        <a:rPr lang="en-US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115Pa 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MAX 80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189915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Stable Current(A)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9A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6A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12A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15.4A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15.3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396064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Inrush</a:t>
                      </a:r>
                      <a:r>
                        <a:rPr lang="en-US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Current (A)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-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Below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Stable current x 130%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07113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Weight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2.3kg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2.0kg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1.9kg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dk1"/>
                          </a:solidFill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1.9kg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  <a:cs typeface="+mn-cs"/>
                        </a:rPr>
                        <a:t>2.3kg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현대산스 Head" panose="020B0600000101010101" pitchFamily="50" charset="-127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330598"/>
                  </a:ext>
                </a:extLst>
              </a:tr>
            </a:tbl>
          </a:graphicData>
        </a:graphic>
      </p:graphicFrame>
      <p:pic>
        <p:nvPicPr>
          <p:cNvPr id="32" name="그림 31"/>
          <p:cNvPicPr>
            <a:picLocks noChangeAspect="1"/>
          </p:cNvPicPr>
          <p:nvPr/>
        </p:nvPicPr>
        <p:blipFill>
          <a:blip r:embed="rId3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91680" y="1196492"/>
            <a:ext cx="870349" cy="1318360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4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3172" y="1458426"/>
            <a:ext cx="1162764" cy="794492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5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39952" y="1336400"/>
            <a:ext cx="1078100" cy="113521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04735" y="1336400"/>
            <a:ext cx="809835" cy="1228504"/>
          </a:xfrm>
          <a:prstGeom prst="rect">
            <a:avLst/>
          </a:prstGeom>
        </p:spPr>
      </p:pic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72000" y="-18810"/>
            <a:ext cx="7546921" cy="553998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51435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dirty="0" smtClean="0">
                <a:latin typeface="+mj-lt"/>
                <a:ea typeface="HY헤드라인M" pitchFamily="18" charset="-127"/>
                <a:cs typeface="Tahoma" pitchFamily="34" charset="0"/>
              </a:rPr>
              <a:t>1. WOORY HV PTC HEATER Line up - HMG</a:t>
            </a:r>
            <a:r>
              <a:rPr lang="en-US" altLang="ko-KR" sz="2000" b="1" dirty="0" smtClean="0">
                <a:solidFill>
                  <a:prstClr val="white"/>
                </a:solidFill>
                <a:latin typeface="+mj-lt"/>
                <a:ea typeface="HY헤드라인M" pitchFamily="18" charset="-127"/>
                <a:cs typeface="Tahoma" pitchFamily="34" charset="0"/>
              </a:rPr>
              <a:t>PTC HEATER</a:t>
            </a:r>
          </a:p>
        </p:txBody>
      </p:sp>
      <p:pic>
        <p:nvPicPr>
          <p:cNvPr id="12" name="그림 11" descr="AEEV01_01.bmp"/>
          <p:cNvPicPr>
            <a:picLocks noChangeAspect="1"/>
          </p:cNvPicPr>
          <p:nvPr/>
        </p:nvPicPr>
        <p:blipFill>
          <a:blip r:embed="rId7" cstate="print"/>
          <a:srcRect b="4945"/>
          <a:stretch>
            <a:fillRect/>
          </a:stretch>
        </p:blipFill>
        <p:spPr bwMode="auto">
          <a:xfrm>
            <a:off x="6628933" y="1336400"/>
            <a:ext cx="1039411" cy="1043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직사각형 1"/>
          <p:cNvSpPr/>
          <p:nvPr/>
        </p:nvSpPr>
        <p:spPr>
          <a:xfrm>
            <a:off x="1865151" y="1495750"/>
            <a:ext cx="542840" cy="42449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865151" y="1969575"/>
            <a:ext cx="542840" cy="42449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3294940" y="1736818"/>
            <a:ext cx="276833" cy="42449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552635" y="1736818"/>
            <a:ext cx="276833" cy="42449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275842" y="1595502"/>
            <a:ext cx="542840" cy="42449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4275842" y="2036076"/>
            <a:ext cx="542840" cy="42449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597566" y="1587189"/>
            <a:ext cx="542840" cy="42449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597566" y="2027763"/>
            <a:ext cx="542840" cy="42449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7176984" y="1545626"/>
            <a:ext cx="276833" cy="70729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6852788" y="1545626"/>
            <a:ext cx="276833" cy="70729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8692" y="1612668"/>
            <a:ext cx="964777" cy="56751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2202" y="2912572"/>
            <a:ext cx="922540" cy="79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4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62776E5888118449C2A324F63EF5B8C" ma:contentTypeVersion="16" ma:contentTypeDescription="새 문서를 만듭니다." ma:contentTypeScope="" ma:versionID="c50b42016f4578d61f482732c6e985e9">
  <xsd:schema xmlns:xsd="http://www.w3.org/2001/XMLSchema" xmlns:xs="http://www.w3.org/2001/XMLSchema" xmlns:p="http://schemas.microsoft.com/office/2006/metadata/properties" xmlns:ns2="42155304-a082-4051-a70f-3db01024ff69" xmlns:ns3="4647acf5-e058-4cd9-a51a-0532142a6926" targetNamespace="http://schemas.microsoft.com/office/2006/metadata/properties" ma:root="true" ma:fieldsID="2d7e7ccefb6bfd4b8e79e6a71f207839" ns2:_="" ns3:_="">
    <xsd:import namespace="42155304-a082-4051-a70f-3db01024ff69"/>
    <xsd:import namespace="4647acf5-e058-4cd9-a51a-0532142a69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5304-a082-4051-a70f-3db01024ff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이미지 태그" ma:readOnly="false" ma:fieldId="{5cf76f15-5ced-4ddc-b409-7134ff3c332f}" ma:taxonomyMulti="true" ma:sspId="efdf2322-e5be-4c71-aa0e-ade480d240f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47acf5-e058-4cd9-a51a-0532142a6926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6e49d071-33a8-4dac-9d19-0f455ab5b129}" ma:internalName="TaxCatchAll" ma:showField="CatchAllData" ma:web="4647acf5-e058-4cd9-a51a-0532142a69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47acf5-e058-4cd9-a51a-0532142a6926" xsi:nil="true"/>
    <lcf76f155ced4ddcb4097134ff3c332f xmlns="42155304-a082-4051-a70f-3db01024ff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AAC2D77-C53C-481A-B068-533E11551A1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B27762-0435-4FA5-A5BB-299F9AFB21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155304-a082-4051-a70f-3db01024ff69"/>
    <ds:schemaRef ds:uri="4647acf5-e058-4cd9-a51a-0532142a69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10C20C-363C-4EC6-AB27-3980D083A31A}">
  <ds:schemaRefs>
    <ds:schemaRef ds:uri="42155304-a082-4051-a70f-3db01024ff69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4647acf5-e058-4cd9-a51a-0532142a6926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41167</TotalTime>
  <Words>306</Words>
  <Application>Microsoft Office PowerPoint</Application>
  <PresentationFormat>화면 슬라이드 쇼(4:3)</PresentationFormat>
  <Paragraphs>107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15" baseType="lpstr">
      <vt:lpstr>HY헤드라인M</vt:lpstr>
      <vt:lpstr>굴림</vt:lpstr>
      <vt:lpstr>맑은 고딕</vt:lpstr>
      <vt:lpstr>새굴림</vt:lpstr>
      <vt:lpstr>현대산스 Head</vt:lpstr>
      <vt:lpstr>Arial</vt:lpstr>
      <vt:lpstr>Lucida Sans Unicode</vt:lpstr>
      <vt:lpstr>Tahoma</vt:lpstr>
      <vt:lpstr>Times New Roman</vt:lpstr>
      <vt:lpstr>Verdana</vt:lpstr>
      <vt:lpstr>Wingdings</vt:lpstr>
      <vt:lpstr>제안서 템플릿</vt:lpstr>
      <vt:lpstr>1_제안서 템플릿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3634</cp:revision>
  <cp:lastPrinted>2020-03-27T01:05:18Z</cp:lastPrinted>
  <dcterms:created xsi:type="dcterms:W3CDTF">2019-10-24T04:42:23Z</dcterms:created>
  <dcterms:modified xsi:type="dcterms:W3CDTF">2026-03-13T02:07:52Z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0x010100C62776E5888118449C2A324F63EF5B8C</vt:lpwstr>
  </property>
</Properties>
</file>