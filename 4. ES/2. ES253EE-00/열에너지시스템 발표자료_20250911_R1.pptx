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2"/>
  </p:notesMasterIdLst>
  <p:handoutMasterIdLst>
    <p:handoutMasterId r:id="rId13"/>
  </p:handoutMasterIdLst>
  <p:sldIdLst>
    <p:sldId id="376" r:id="rId2"/>
    <p:sldId id="403" r:id="rId3"/>
    <p:sldId id="410" r:id="rId4"/>
    <p:sldId id="417" r:id="rId5"/>
    <p:sldId id="413" r:id="rId6"/>
    <p:sldId id="411" r:id="rId7"/>
    <p:sldId id="412" r:id="rId8"/>
    <p:sldId id="415" r:id="rId9"/>
    <p:sldId id="414" r:id="rId10"/>
    <p:sldId id="374" r:id="rId11"/>
  </p:sldIdLst>
  <p:sldSz cx="9144000" cy="6858000" type="screen4x3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33CC"/>
    <a:srgbClr val="292929"/>
    <a:srgbClr val="FFCCCC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93" autoAdjust="0"/>
    <p:restoredTop sz="96366" autoAdjust="0"/>
  </p:normalViewPr>
  <p:slideViewPr>
    <p:cSldViewPr>
      <p:cViewPr varScale="1">
        <p:scale>
          <a:sx n="163" d="100"/>
          <a:sy n="163" d="100"/>
        </p:scale>
        <p:origin x="4512" y="12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AA0A09-F79E-4E1C-94EF-A9CDB14FAB86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516A5-FCA7-4019-9F45-ACFE87C5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176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00F085-D220-4030-9252-85FF14D74ECA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D7A53-7C0D-41B0-9B33-B25E1C149B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562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D4CE2-A955-489C-A655-188944471CD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944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D4CE2-A955-489C-A655-188944471CD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690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5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  <p:pic>
        <p:nvPicPr>
          <p:cNvPr id="19" name="Picture 46"/>
          <p:cNvPicPr>
            <a:picLocks noChangeAspect="1" noChangeArrowheads="1"/>
          </p:cNvPicPr>
          <p:nvPr userDrawn="1"/>
        </p:nvPicPr>
        <p:blipFill>
          <a:blip r:embed="rId2" cstate="print"/>
          <a:srcRect l="36575" b="-2045"/>
          <a:stretch>
            <a:fillRect/>
          </a:stretch>
        </p:blipFill>
        <p:spPr bwMode="auto">
          <a:xfrm>
            <a:off x="252413" y="2655217"/>
            <a:ext cx="1498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2348880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06083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텍스트 개체 틀 17"/>
          <p:cNvSpPr>
            <a:spLocks noGrp="1"/>
          </p:cNvSpPr>
          <p:nvPr>
            <p:ph type="body" sz="quarter" idx="11"/>
          </p:nvPr>
        </p:nvSpPr>
        <p:spPr>
          <a:xfrm>
            <a:off x="261104" y="1052736"/>
            <a:ext cx="8621712" cy="215994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2"/>
          </p:nvPr>
        </p:nvSpPr>
        <p:spPr>
          <a:xfrm>
            <a:off x="260350" y="620688"/>
            <a:ext cx="8622466" cy="3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4" name="제목 23"/>
          <p:cNvSpPr>
            <a:spLocks noGrp="1"/>
          </p:cNvSpPr>
          <p:nvPr>
            <p:ph type="title"/>
          </p:nvPr>
        </p:nvSpPr>
        <p:spPr>
          <a:xfrm>
            <a:off x="107504" y="116632"/>
            <a:ext cx="8784976" cy="360511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1936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909940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55925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89343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799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91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090703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32099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146902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57477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7272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784976" cy="360511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CE45-C522-4B4E-ACAF-B03B54DE6B3F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9E013-E273-469B-BDC2-80CD8EE9E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377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15" cstate="print"/>
          <a:srcRect l="26775" t="20591" r="33426" b="72507"/>
          <a:stretch/>
        </p:blipFill>
        <p:spPr>
          <a:xfrm>
            <a:off x="7766135" y="6585166"/>
            <a:ext cx="1368152" cy="266957"/>
          </a:xfrm>
          <a:prstGeom prst="rect">
            <a:avLst/>
          </a:prstGeom>
        </p:spPr>
      </p:pic>
      <p:sp>
        <p:nvSpPr>
          <p:cNvPr id="7" name="Rectangle 36"/>
          <p:cNvSpPr>
            <a:spLocks noChangeArrowheads="1"/>
          </p:cNvSpPr>
          <p:nvPr userDrawn="1"/>
        </p:nvSpPr>
        <p:spPr bwMode="white">
          <a:xfrm>
            <a:off x="0" y="480312"/>
            <a:ext cx="543464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Rectangle 36"/>
          <p:cNvSpPr>
            <a:spLocks noChangeArrowheads="1"/>
          </p:cNvSpPr>
          <p:nvPr userDrawn="1"/>
        </p:nvSpPr>
        <p:spPr bwMode="white">
          <a:xfrm>
            <a:off x="628650" y="480313"/>
            <a:ext cx="8515350" cy="603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굴림" charset="-127"/>
              <a:cs typeface="+mn-cs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9858" y="6516798"/>
            <a:ext cx="6768752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9" name="Rectangle 27"/>
          <p:cNvSpPr>
            <a:spLocks noChangeArrowheads="1"/>
          </p:cNvSpPr>
          <p:nvPr userDrawn="1"/>
        </p:nvSpPr>
        <p:spPr bwMode="auto">
          <a:xfrm>
            <a:off x="6732612" y="6575678"/>
            <a:ext cx="720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맑은 고딕"/>
                <a:ea typeface="굴림" pitchFamily="50" charset="-127"/>
                <a:cs typeface="+mn-cs"/>
              </a:rPr>
              <a:t>P.</a:t>
            </a:r>
            <a:fld id="{11AA4A1D-7CD0-4031-A480-D0E2C071605E}" type="slidenum"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맑은 고딕"/>
                <a:ea typeface="굴림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7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None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6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627784" y="2492896"/>
            <a:ext cx="511256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3200" b="1" dirty="0" smtClean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anose="020B0604020202020204" pitchFamily="34" charset="0"/>
              </a:rPr>
              <a:t>S/W </a:t>
            </a:r>
            <a:r>
              <a:rPr lang="ko-KR" altLang="en-US" sz="3200" b="1" dirty="0" smtClean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anose="020B0604020202020204" pitchFamily="34" charset="0"/>
              </a:rPr>
              <a:t>개발 표준 대응 역량</a:t>
            </a:r>
            <a:endParaRPr lang="en-US" altLang="ko-KR" sz="3200" b="1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355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5539075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215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목차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259632" y="1268760"/>
            <a:ext cx="396044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r>
              <a:rPr lang="en-US" altLang="ko-KR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ES253EE-00 </a:t>
            </a:r>
            <a:r>
              <a:rPr lang="ko-KR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분석</a:t>
            </a:r>
            <a:endParaRPr lang="en-US" altLang="ko-KR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</a:t>
            </a:r>
            <a:r>
              <a:rPr lang="en-US" altLang="ko-KR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</a:t>
            </a:r>
            <a:r>
              <a:rPr lang="ko-KR" altLang="en-US" sz="2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표준업무</a:t>
            </a:r>
            <a:r>
              <a:rPr lang="ko-KR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현황</a:t>
            </a:r>
            <a:endParaRPr lang="en-US" altLang="ko-KR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3.</a:t>
            </a:r>
            <a:r>
              <a:rPr lang="ko-KR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ALM Tools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4</a:t>
            </a:r>
            <a:r>
              <a:rPr lang="en-US" altLang="ko-KR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S/W </a:t>
            </a:r>
            <a:r>
              <a:rPr lang="ko-KR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역량강화 방향</a:t>
            </a:r>
            <a:endParaRPr lang="en-US" altLang="ko-KR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6. S/W </a:t>
            </a:r>
            <a:r>
              <a:rPr lang="ko-KR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조직도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2731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algn="r" defTabSz="844083">
              <a:defRPr/>
            </a:pPr>
            <a:r>
              <a:rPr lang="en-US" altLang="ko-KR" sz="1108" b="1" dirty="0">
                <a:solidFill>
                  <a:srgbClr val="1F497D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lang="ko-KR" altLang="en-US" sz="1662" b="1" dirty="0">
              <a:solidFill>
                <a:srgbClr val="1F497D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95" name="Text Box 2"/>
          <p:cNvSpPr txBox="1">
            <a:spLocks noChangeArrowheads="1"/>
          </p:cNvSpPr>
          <p:nvPr/>
        </p:nvSpPr>
        <p:spPr bwMode="auto">
          <a:xfrm>
            <a:off x="185052" y="30390"/>
            <a:ext cx="8635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r>
              <a:rPr lang="en-US" altLang="ko-KR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ES253EE-00 </a:t>
            </a:r>
            <a:r>
              <a:rPr lang="ko-KR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분석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471323"/>
              </p:ext>
            </p:extLst>
          </p:nvPr>
        </p:nvGraphicFramePr>
        <p:xfrm>
          <a:off x="467544" y="633606"/>
          <a:ext cx="8153120" cy="59637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9237">
                  <a:extLst>
                    <a:ext uri="{9D8B030D-6E8A-4147-A177-3AD203B41FA5}">
                      <a16:colId xmlns:a16="http://schemas.microsoft.com/office/drawing/2014/main" val="78437094"/>
                    </a:ext>
                  </a:extLst>
                </a:gridCol>
                <a:gridCol w="2108567">
                  <a:extLst>
                    <a:ext uri="{9D8B030D-6E8A-4147-A177-3AD203B41FA5}">
                      <a16:colId xmlns:a16="http://schemas.microsoft.com/office/drawing/2014/main" val="2820226959"/>
                    </a:ext>
                  </a:extLst>
                </a:gridCol>
                <a:gridCol w="2329464">
                  <a:extLst>
                    <a:ext uri="{9D8B030D-6E8A-4147-A177-3AD203B41FA5}">
                      <a16:colId xmlns:a16="http://schemas.microsoft.com/office/drawing/2014/main" val="120068656"/>
                    </a:ext>
                  </a:extLst>
                </a:gridCol>
                <a:gridCol w="690806">
                  <a:extLst>
                    <a:ext uri="{9D8B030D-6E8A-4147-A177-3AD203B41FA5}">
                      <a16:colId xmlns:a16="http://schemas.microsoft.com/office/drawing/2014/main" val="328934477"/>
                    </a:ext>
                  </a:extLst>
                </a:gridCol>
                <a:gridCol w="867523">
                  <a:extLst>
                    <a:ext uri="{9D8B030D-6E8A-4147-A177-3AD203B41FA5}">
                      <a16:colId xmlns:a16="http://schemas.microsoft.com/office/drawing/2014/main" val="256593024"/>
                    </a:ext>
                  </a:extLst>
                </a:gridCol>
                <a:gridCol w="867523">
                  <a:extLst>
                    <a:ext uri="{9D8B030D-6E8A-4147-A177-3AD203B41FA5}">
                      <a16:colId xmlns:a16="http://schemas.microsoft.com/office/drawing/2014/main" val="379258008"/>
                    </a:ext>
                  </a:extLst>
                </a:gridCol>
              </a:tblGrid>
              <a:tr h="1247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Process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Activity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Category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 err="1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총항목</a:t>
                      </a:r>
                      <a:endParaRPr lang="ko-KR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 err="1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대응가능</a:t>
                      </a:r>
                      <a:endParaRPr lang="ko-KR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미실행</a:t>
                      </a:r>
                      <a:endParaRPr lang="ko-KR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794834"/>
                  </a:ext>
                </a:extLst>
              </a:tr>
              <a:tr h="124794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설계 요구사항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고객 요구 사항 분석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38462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기능 요구사항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380021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비기능</a:t>
                      </a:r>
                      <a:r>
                        <a:rPr lang="ko-KR" altLang="en-US" sz="9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요구사항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671480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진단 기능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623183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아키텍처 설계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아키텍처 설계 요구사항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657956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인터페이스 설계 요구사항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037480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HSI </a:t>
                      </a:r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설계 요구사항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876205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테스트 요구사항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테스트 계획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05157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인정테스트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3308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통합 테스트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030995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합계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48</a:t>
                      </a:r>
                      <a:endParaRPr lang="en-US" altLang="ko-KR" sz="900" b="1" i="0" u="none" strike="noStrike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36</a:t>
                      </a:r>
                      <a:endParaRPr lang="en-US" altLang="ko-KR" sz="900" b="1" i="0" u="none" strike="noStrike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</a:t>
                      </a:r>
                      <a:endParaRPr lang="en-US" altLang="ko-KR" sz="900" b="1" i="0" u="none" strike="noStrike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08300"/>
                  </a:ext>
                </a:extLst>
              </a:tr>
              <a:tr h="124794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소프트웨어 설계 요구사항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소프트웨어 요구사항 설계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296348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소프트웨어 컴포넌트 설계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724621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소프트웨어 단위 설계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250037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소프트웨어 테스트 요구사항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소프트웨어 테스트 계획서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082019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소프트웨어 요구사항 테스트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590470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소프트웨어 통합 테스트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859655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소프트웨어 단위 테스트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123024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합계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72</a:t>
                      </a:r>
                      <a:endParaRPr lang="en-US" altLang="ko-KR" sz="900" b="1" i="0" u="none" strike="noStrike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63</a:t>
                      </a:r>
                      <a:endParaRPr lang="en-US" altLang="ko-KR" sz="900" b="1" i="0" u="none" strike="noStrike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</a:t>
                      </a:r>
                      <a:endParaRPr lang="en-US" altLang="ko-KR" sz="900" b="1" i="0" u="none" strike="noStrike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1293"/>
                  </a:ext>
                </a:extLst>
              </a:tr>
              <a:tr h="124794"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하드웨어 요구사항 설계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하드웨어 설계 일반 요구사항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4644056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기능 요구사항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r>
                        <a:rPr lang="ko-KR" altLang="en-US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469228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품질 요구사항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208993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인터페이스 요구사항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017697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하드웨어 상세 설계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하드웨어 아키텍처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r>
                        <a:rPr lang="ko-KR" altLang="en-US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298244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회로</a:t>
                      </a:r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PCB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414838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인터페이스 설계 요구사항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204763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동적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019778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하드웨어 디자인 리뷰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313026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하드웨어 평가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하드웨어 요구사항 테스트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3224627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하드웨어 설계 테스트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544544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합계</a:t>
                      </a:r>
                      <a:endParaRPr lang="ko-KR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30</a:t>
                      </a:r>
                      <a:endParaRPr lang="en-US" altLang="ko-KR" sz="900" b="0" i="0" u="none" strike="noStrike" dirty="0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26</a:t>
                      </a:r>
                      <a:endParaRPr lang="en-US" altLang="ko-KR" sz="900" b="0" i="0" u="none" strike="noStrike" dirty="0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en-US" altLang="ko-KR" sz="900" b="0" i="0" u="none" strike="noStrike" dirty="0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739527"/>
                  </a:ext>
                </a:extLst>
              </a:tr>
              <a:tr h="124794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상세 설계 테스트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요구사항 설계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409677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아키텍처 설계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716745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상세 설계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527836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설계 리뷰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997660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검증 요구사항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상세 설계 테스트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803699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통합 테스트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568599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요구사항 테스트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789876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합계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059612"/>
                  </a:ext>
                </a:extLst>
              </a:tr>
              <a:tr h="124794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총 합계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 smtClean="0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159</a:t>
                      </a:r>
                      <a:endParaRPr lang="en-US" altLang="ko-KR" sz="900" b="1" i="0" u="none" strike="noStrike" dirty="0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 smtClean="0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125</a:t>
                      </a:r>
                      <a:endParaRPr lang="en-US" altLang="ko-KR" sz="900" b="1" i="0" u="none" strike="noStrike" dirty="0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 smtClean="0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25</a:t>
                      </a:r>
                      <a:endParaRPr lang="en-US" altLang="ko-KR" sz="900" b="1" i="0" u="none" strike="noStrike" dirty="0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335897"/>
                  </a:ext>
                </a:extLst>
              </a:tr>
            </a:tbl>
          </a:graphicData>
        </a:graphic>
      </p:graphicFrame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5666979"/>
              </p:ext>
            </p:extLst>
          </p:nvPr>
        </p:nvGraphicFramePr>
        <p:xfrm>
          <a:off x="2987824" y="132865"/>
          <a:ext cx="3810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문서" showAsIcon="1" r:id="rId3" imgW="380880" imgH="771480" progId="Word.Document.12">
                  <p:embed/>
                </p:oleObj>
              </mc:Choice>
              <mc:Fallback>
                <p:oleObj name="문서" showAsIcon="1" r:id="rId3" imgW="380880" imgH="771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87824" y="132865"/>
                        <a:ext cx="3810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312066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5052" y="30390"/>
            <a:ext cx="8635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2. </a:t>
            </a:r>
            <a:r>
              <a:rPr lang="ko-KR" altLang="en-US" sz="2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표준업무</a:t>
            </a:r>
            <a:r>
              <a:rPr lang="ko-KR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현황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pSp>
        <p:nvGrpSpPr>
          <p:cNvPr id="76" name="그룹 75"/>
          <p:cNvGrpSpPr/>
          <p:nvPr/>
        </p:nvGrpSpPr>
        <p:grpSpPr>
          <a:xfrm>
            <a:off x="395536" y="1124744"/>
            <a:ext cx="8136904" cy="4880632"/>
            <a:chOff x="2907563" y="-885794"/>
            <a:chExt cx="12341404" cy="4880632"/>
          </a:xfrm>
        </p:grpSpPr>
        <p:sp>
          <p:nvSpPr>
            <p:cNvPr id="58" name="모서리가 둥근 직사각형 57"/>
            <p:cNvSpPr/>
            <p:nvPr/>
          </p:nvSpPr>
          <p:spPr>
            <a:xfrm>
              <a:off x="2907563" y="-885794"/>
              <a:ext cx="3907630" cy="4680520"/>
            </a:xfrm>
            <a:prstGeom prst="roundRect">
              <a:avLst>
                <a:gd name="adj" fmla="val 5730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9718" tIns="757682" rIns="1833422" bIns="1708658" numCol="1" spcCol="1270" rtlCol="0" anchor="ctr" anchorCtr="0">
              <a:noAutofit/>
            </a:bodyPr>
            <a:lstStyle/>
            <a:p>
              <a:pPr algn="ctr" defTabSz="12001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2700" kern="1200" dirty="0"/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3203525" y="-439523"/>
              <a:ext cx="3506787" cy="33701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7800" indent="-1778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600" b="1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ASPICE  2</a:t>
              </a:r>
              <a:r>
                <a:rPr lang="ko-KR" altLang="en-US" sz="1600" b="1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회</a:t>
              </a:r>
              <a:endParaRPr lang="en-US" altLang="ko-KR" sz="1600" b="1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1. MMA(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해외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OEM, CL2)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- </a:t>
              </a:r>
              <a:r>
                <a:rPr lang="en-US" altLang="ko-KR" sz="1400" dirty="0" err="1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FuSa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(B)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포함</a:t>
              </a:r>
              <a:endParaRPr lang="en-US" altLang="ko-KR" sz="1400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산출물 작성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용역</a:t>
              </a:r>
              <a:endParaRPr lang="en-US" altLang="ko-KR" sz="1400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-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완료일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 24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년 </a:t>
              </a: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5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월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2. MBEAM(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해외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OEM, CL2)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 </a:t>
              </a:r>
              <a:r>
                <a:rPr lang="en-US" altLang="ko-KR" sz="1400" dirty="0" err="1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FuSa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(B)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포함</a:t>
              </a:r>
              <a:endPara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-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산출물 작성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용역</a:t>
              </a:r>
              <a:endParaRPr lang="en-US" altLang="ko-KR" sz="1400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-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완료일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 25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년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8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월</a:t>
              </a:r>
              <a:endParaRPr lang="en-US" altLang="ko-KR" sz="1400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7482477" y="-390978"/>
              <a:ext cx="3658090" cy="4385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7800" indent="-1778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600" b="1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SPQA </a:t>
              </a:r>
              <a:r>
                <a:rPr lang="ko-KR" altLang="en-US" sz="1600" b="1" dirty="0" err="1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육성과제</a:t>
              </a:r>
              <a:r>
                <a:rPr lang="ko-KR" altLang="en-US" sz="1600" b="1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600" b="1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2</a:t>
              </a:r>
              <a:r>
                <a:rPr lang="ko-KR" altLang="en-US" sz="1600" b="1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차</a:t>
              </a:r>
              <a:endParaRPr lang="en-US" altLang="ko-KR" sz="1600" b="1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1. QV PTC Heater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산출물 작성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</a:t>
              </a:r>
              <a:endParaRPr lang="en-US" altLang="ko-KR" sz="1400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심사일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 25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년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9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월</a:t>
              </a:r>
              <a:endParaRPr lang="en-US" altLang="ko-KR" sz="1400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※ ALM Tools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리뷰</a:t>
              </a:r>
              <a:endParaRPr lang="en-US" altLang="ko-KR" sz="1400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</a:p>
            <a:p>
              <a:pPr marL="177800" indent="-1778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600" b="1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  <a:sym typeface="Wingdings" panose="05000000000000000000" pitchFamily="2" charset="2"/>
                </a:rPr>
                <a:t>ES253EE-00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  <a:sym typeface="Wingdings" panose="05000000000000000000" pitchFamily="2" charset="2"/>
                </a:rPr>
                <a:t> 1. BFC </a:t>
              </a:r>
              <a:r>
                <a:rPr lang="en-US" altLang="ko-KR" sz="1400" dirty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  <a:sym typeface="Wingdings" panose="05000000000000000000" pitchFamily="2" charset="2"/>
                </a:rPr>
                <a:t>Multi </a:t>
              </a:r>
              <a:r>
                <a:rPr lang="en-US" altLang="ko-KR" sz="1400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  <a:sym typeface="Wingdings" panose="05000000000000000000" pitchFamily="2" charset="2"/>
                </a:rPr>
                <a:t>Valve(4Way)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산출물 작성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용역</a:t>
              </a:r>
              <a:endParaRPr lang="en-US" altLang="ko-KR" sz="1400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- Kick off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 25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년 </a:t>
              </a: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4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월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23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일</a:t>
              </a:r>
              <a:endParaRPr lang="en-US" altLang="ko-KR" sz="1400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※ </a:t>
              </a:r>
              <a:r>
                <a:rPr lang="ko-KR" altLang="en-US" sz="1400" dirty="0" err="1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외부용역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진행 사유</a:t>
              </a:r>
              <a:endParaRPr lang="en-US" altLang="ko-KR" sz="1400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 -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일정 및 인력 부족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공유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  </a:t>
              </a: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1742183" y="-428490"/>
              <a:ext cx="3506784" cy="37394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7800" indent="-1778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600" b="1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SPQA </a:t>
              </a:r>
              <a:r>
                <a:rPr lang="ko-KR" altLang="en-US" sz="1600" b="1" dirty="0" err="1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육성과제</a:t>
              </a:r>
              <a:r>
                <a:rPr lang="ko-KR" altLang="en-US" sz="1600" b="1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6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3</a:t>
              </a:r>
              <a:r>
                <a:rPr lang="ko-KR" altLang="en-US" sz="1600" b="1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차</a:t>
              </a:r>
              <a:endParaRPr lang="en-US" altLang="ko-KR" sz="1600" b="1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1.  PTC Heater(</a:t>
              </a:r>
              <a:r>
                <a:rPr lang="ko-KR" altLang="en-US" sz="1400" dirty="0" err="1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차종미정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산출물 작성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</a:t>
              </a:r>
              <a:endParaRPr lang="en-US" altLang="ko-KR" sz="1400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시작일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 25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년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12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월</a:t>
              </a:r>
              <a:endParaRPr lang="en-US" altLang="ko-KR" sz="1400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</a:p>
            <a:p>
              <a:pPr marL="177800" indent="-1778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600" b="1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  <a:sym typeface="Wingdings" panose="05000000000000000000" pitchFamily="2" charset="2"/>
                </a:rPr>
                <a:t>ASPICE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  <a:sym typeface="Wingdings" panose="05000000000000000000" pitchFamily="2" charset="2"/>
                </a:rPr>
                <a:t> 1. Coolant Heater(F</a:t>
              </a:r>
              <a:r>
                <a:rPr lang="ko-KR" altLang="en-US" sz="1400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  <a:sym typeface="Wingdings" panose="05000000000000000000" pitchFamily="2" charset="2"/>
                </a:rPr>
                <a:t>사</a:t>
              </a:r>
              <a:r>
                <a:rPr lang="en-US" altLang="ko-KR" sz="1400" dirty="0" smtClean="0">
                  <a:solidFill>
                    <a:prstClr val="black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  <a:sym typeface="Wingdings" panose="05000000000000000000" pitchFamily="2" charset="2"/>
                </a:rPr>
                <a:t>, CL2)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산출물 작성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</a:t>
              </a:r>
              <a:endParaRPr lang="en-US" altLang="ko-KR" sz="1400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- Kick off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 25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년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10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월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15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일</a:t>
              </a:r>
              <a:endParaRPr lang="en-US" altLang="ko-KR" sz="1400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-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설계 산출물 </a:t>
              </a:r>
              <a:r>
                <a:rPr lang="ko-KR" altLang="en-US" sz="1400" dirty="0" err="1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작성인력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endParaRPr lang="en-US" altLang="ko-KR" sz="1400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 </a:t>
              </a: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증원</a:t>
              </a:r>
              <a:endParaRPr lang="en-US" altLang="ko-KR" sz="1400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</p:grpSp>
      <p:graphicFrame>
        <p:nvGraphicFramePr>
          <p:cNvPr id="28" name="개체 27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848314"/>
              </p:ext>
            </p:extLst>
          </p:nvPr>
        </p:nvGraphicFramePr>
        <p:xfrm>
          <a:off x="5548701" y="4405361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프레젠테이션" showAsIcon="1" r:id="rId3" imgW="380880" imgH="771480" progId="PowerPoint.Show.12">
                  <p:embed/>
                </p:oleObj>
              </mc:Choice>
              <mc:Fallback>
                <p:oleObj name="프레젠테이션" showAsIcon="1" r:id="rId3" imgW="380880" imgH="771480" progId="PowerPoint.Show.12">
                  <p:embed/>
                  <p:pic>
                    <p:nvPicPr>
                      <p:cNvPr id="28" name="개체 2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48701" y="4405361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개체 30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6309169"/>
              </p:ext>
            </p:extLst>
          </p:nvPr>
        </p:nvGraphicFramePr>
        <p:xfrm>
          <a:off x="8352440" y="4689160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프레젠테이션" showAsIcon="1" r:id="rId5" imgW="380880" imgH="771480" progId="PowerPoint.Show.12">
                  <p:embed/>
                </p:oleObj>
              </mc:Choice>
              <mc:Fallback>
                <p:oleObj name="프레젠테이션" showAsIcon="1" r:id="rId5" imgW="380880" imgH="771480" progId="PowerPoint.Show.12">
                  <p:embed/>
                  <p:pic>
                    <p:nvPicPr>
                      <p:cNvPr id="31" name="개체 30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52440" y="4689160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모서리가 둥근 직사각형 17"/>
          <p:cNvSpPr/>
          <p:nvPr/>
        </p:nvSpPr>
        <p:spPr>
          <a:xfrm>
            <a:off x="3269848" y="1124745"/>
            <a:ext cx="2559417" cy="4680520"/>
          </a:xfrm>
          <a:prstGeom prst="roundRect">
            <a:avLst>
              <a:gd name="adj" fmla="val 573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29718" tIns="757682" rIns="1833422" bIns="1708658" numCol="1" spcCol="1270" rtlCol="0" anchor="ctr" anchorCtr="0">
            <a:noAutofit/>
          </a:bodyPr>
          <a:lstStyle/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2700" kern="1200" dirty="0"/>
          </a:p>
        </p:txBody>
      </p:sp>
      <p:grpSp>
        <p:nvGrpSpPr>
          <p:cNvPr id="19" name="그룹 18"/>
          <p:cNvGrpSpPr/>
          <p:nvPr/>
        </p:nvGrpSpPr>
        <p:grpSpPr>
          <a:xfrm>
            <a:off x="6150144" y="1124744"/>
            <a:ext cx="2592288" cy="4680520"/>
            <a:chOff x="3016781" y="-917849"/>
            <a:chExt cx="3887035" cy="5022439"/>
          </a:xfrm>
        </p:grpSpPr>
        <p:sp>
          <p:nvSpPr>
            <p:cNvPr id="21" name="모서리가 둥근 직사각형 20"/>
            <p:cNvSpPr/>
            <p:nvPr/>
          </p:nvSpPr>
          <p:spPr>
            <a:xfrm>
              <a:off x="3016781" y="-917849"/>
              <a:ext cx="3837746" cy="5022439"/>
            </a:xfrm>
            <a:prstGeom prst="roundRect">
              <a:avLst>
                <a:gd name="adj" fmla="val 5730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9718" tIns="757682" rIns="1833422" bIns="1708658" numCol="1" spcCol="1270" rtlCol="0" anchor="ctr" anchorCtr="0">
              <a:noAutofit/>
            </a:bodyPr>
            <a:lstStyle/>
            <a:p>
              <a:pPr algn="ctr" defTabSz="12001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2700" kern="1200" dirty="0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037265" y="-506081"/>
              <a:ext cx="3866551" cy="3799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</p:grpSp>
      <p:sp>
        <p:nvSpPr>
          <p:cNvPr id="33" name="모서리가 둥근 직사각형 32"/>
          <p:cNvSpPr/>
          <p:nvPr/>
        </p:nvSpPr>
        <p:spPr>
          <a:xfrm>
            <a:off x="395536" y="882879"/>
            <a:ext cx="1271204" cy="514991"/>
          </a:xfrm>
          <a:prstGeom prst="roundRect">
            <a:avLst>
              <a:gd name="adj" fmla="val 25384"/>
            </a:avLst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b="1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완료</a:t>
            </a:r>
            <a:endParaRPr lang="ko-KR" altLang="en-US" b="1" kern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3269848" y="882880"/>
            <a:ext cx="1271204" cy="514991"/>
          </a:xfrm>
          <a:prstGeom prst="roundRect">
            <a:avLst>
              <a:gd name="adj" fmla="val 25384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b="1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진행중</a:t>
            </a:r>
            <a:endParaRPr lang="ko-KR" altLang="en-US" b="1" kern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6134973" y="910482"/>
            <a:ext cx="1271204" cy="514991"/>
          </a:xfrm>
          <a:prstGeom prst="roundRect">
            <a:avLst>
              <a:gd name="adj" fmla="val 25384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b="1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예정</a:t>
            </a:r>
            <a:endParaRPr lang="ko-KR" altLang="en-US" b="1" kern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116753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5052" y="30390"/>
            <a:ext cx="8635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3</a:t>
            </a:r>
            <a:r>
              <a:rPr lang="en-US" altLang="ko-KR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ALM </a:t>
            </a:r>
            <a:r>
              <a:rPr lang="en-US" altLang="ko-KR" sz="2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Tools</a:t>
            </a:r>
            <a:r>
              <a:rPr lang="en-US" altLang="ko-KR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_WBS</a:t>
            </a:r>
            <a:r>
              <a:rPr lang="en-US" altLang="ko-KR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r="1613" b="2500"/>
          <a:stretch/>
        </p:blipFill>
        <p:spPr>
          <a:xfrm>
            <a:off x="185052" y="692696"/>
            <a:ext cx="8784976" cy="561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51138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5052" y="30390"/>
            <a:ext cx="8635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3</a:t>
            </a:r>
            <a:r>
              <a:rPr lang="en-US" altLang="ko-KR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ALM Tools </a:t>
            </a: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_ SADS 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696"/>
            <a:ext cx="9141910" cy="59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65723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5052" y="30390"/>
            <a:ext cx="8635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3</a:t>
            </a:r>
            <a:r>
              <a:rPr lang="en-US" altLang="ko-KR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ALM Tools </a:t>
            </a: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_ SRS 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692696"/>
            <a:ext cx="9073008" cy="583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79528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양쪽 모서리가 둥근 사각형 43"/>
          <p:cNvSpPr/>
          <p:nvPr/>
        </p:nvSpPr>
        <p:spPr>
          <a:xfrm>
            <a:off x="3570644" y="2993252"/>
            <a:ext cx="2201012" cy="761246"/>
          </a:xfrm>
          <a:prstGeom prst="round2SameRect">
            <a:avLst>
              <a:gd name="adj1" fmla="val 26334"/>
              <a:gd name="adj2" fmla="val 0"/>
            </a:avLst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62" b="1" dirty="0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/>
              </a:rPr>
              <a:t>표준 대응능력</a:t>
            </a:r>
            <a:endParaRPr lang="ko-KR" altLang="en-US" sz="1662" b="1" dirty="0"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/>
            </a:endParaRPr>
          </a:p>
        </p:txBody>
      </p:sp>
      <p:sp>
        <p:nvSpPr>
          <p:cNvPr id="45" name="양쪽 모서리가 둥근 사각형 44"/>
          <p:cNvSpPr/>
          <p:nvPr/>
        </p:nvSpPr>
        <p:spPr>
          <a:xfrm>
            <a:off x="6293404" y="2993252"/>
            <a:ext cx="2167028" cy="761247"/>
          </a:xfrm>
          <a:prstGeom prst="round2SameRect">
            <a:avLst>
              <a:gd name="adj1" fmla="val 26334"/>
              <a:gd name="adj2" fmla="val 0"/>
            </a:avLst>
          </a:prstGeom>
          <a:solidFill>
            <a:srgbClr val="009900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700" b="1" dirty="0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/>
              </a:rPr>
              <a:t>S/W </a:t>
            </a:r>
            <a:r>
              <a:rPr lang="ko-KR" altLang="en-US" sz="1700" b="1" dirty="0" err="1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/>
              </a:rPr>
              <a:t>검증역량</a:t>
            </a:r>
            <a:endParaRPr lang="ko-KR" altLang="en-US" sz="1700" b="1" dirty="0"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/>
            </a:endParaRPr>
          </a:p>
        </p:txBody>
      </p:sp>
      <p:sp>
        <p:nvSpPr>
          <p:cNvPr id="46" name="양쪽 모서리가 둥근 사각형 45"/>
          <p:cNvSpPr/>
          <p:nvPr/>
        </p:nvSpPr>
        <p:spPr>
          <a:xfrm>
            <a:off x="827584" y="2993252"/>
            <a:ext cx="2201012" cy="779705"/>
          </a:xfrm>
          <a:prstGeom prst="round2SameRect">
            <a:avLst>
              <a:gd name="adj1" fmla="val 26334"/>
              <a:gd name="adj2" fmla="val 0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62" b="1" dirty="0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/>
              </a:rPr>
              <a:t>S/W </a:t>
            </a:r>
            <a:r>
              <a:rPr lang="ko-KR" altLang="en-US" sz="1662" b="1" dirty="0" err="1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/>
              </a:rPr>
              <a:t>개발역량</a:t>
            </a:r>
            <a:endParaRPr lang="en-US" altLang="ko-KR" sz="1662" b="1" dirty="0"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/>
            </a:endParaRPr>
          </a:p>
        </p:txBody>
      </p:sp>
      <p:sp>
        <p:nvSpPr>
          <p:cNvPr id="47" name="양쪽 모서리가 둥근 사각형 46"/>
          <p:cNvSpPr/>
          <p:nvPr/>
        </p:nvSpPr>
        <p:spPr>
          <a:xfrm rot="10800000">
            <a:off x="827584" y="3812520"/>
            <a:ext cx="2201012" cy="2352783"/>
          </a:xfrm>
          <a:prstGeom prst="round2SameRect">
            <a:avLst>
              <a:gd name="adj1" fmla="val 7160"/>
              <a:gd name="adj2" fmla="val 0"/>
            </a:avLst>
          </a:prstGeom>
          <a:noFill/>
          <a:ln w="9525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62" dirty="0">
              <a:ln>
                <a:solidFill>
                  <a:schemeClr val="tx1"/>
                </a:solidFill>
              </a:ln>
              <a:ea typeface="현대하모니 M" panose="02020603020101020101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87057" y="3858988"/>
            <a:ext cx="2071386" cy="2221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54"/>
              </a:spcBef>
            </a:pP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</a:rPr>
              <a:t>1. S/W </a:t>
            </a:r>
            <a:r>
              <a:rPr lang="ko-KR" altLang="en-US" sz="1292" dirty="0">
                <a:latin typeface="현대하모니 M" panose="02020603020101020101" pitchFamily="18" charset="-127"/>
                <a:ea typeface="현대하모니 M" panose="02020603020101020101"/>
              </a:rPr>
              <a:t>인력 충원</a:t>
            </a: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</a:rPr>
              <a:t>(40 </a:t>
            </a: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 70)</a:t>
            </a:r>
            <a:endParaRPr lang="en-US" altLang="ko-KR" sz="1292" dirty="0">
              <a:latin typeface="현대하모니 M" panose="02020603020101020101" pitchFamily="18" charset="-127"/>
              <a:ea typeface="현대하모니 M" panose="02020603020101020101"/>
            </a:endParaRPr>
          </a:p>
          <a:p>
            <a:pPr>
              <a:spcBef>
                <a:spcPts val="554"/>
              </a:spcBef>
            </a:pP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</a:rPr>
              <a:t> - S/W</a:t>
            </a:r>
            <a:r>
              <a:rPr lang="ko-KR" altLang="en-US" sz="1292" dirty="0">
                <a:latin typeface="현대하모니 M" panose="02020603020101020101" pitchFamily="18" charset="-127"/>
                <a:ea typeface="현대하모니 M" panose="02020603020101020101"/>
              </a:rPr>
              <a:t>설계 </a:t>
            </a: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</a:rPr>
              <a:t>:  30 </a:t>
            </a: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 50</a:t>
            </a:r>
          </a:p>
          <a:p>
            <a:pPr>
              <a:spcBef>
                <a:spcPts val="554"/>
              </a:spcBef>
            </a:pP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 - </a:t>
            </a:r>
            <a:r>
              <a:rPr lang="ko-KR" altLang="en-US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평가</a:t>
            </a: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/</a:t>
            </a:r>
            <a:r>
              <a:rPr lang="ko-KR" altLang="en-US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검증 </a:t>
            </a: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: 7  14</a:t>
            </a:r>
          </a:p>
          <a:p>
            <a:pPr>
              <a:spcBef>
                <a:spcPts val="554"/>
              </a:spcBef>
            </a:pP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 - ASPICE : 3  6 </a:t>
            </a:r>
          </a:p>
          <a:p>
            <a:pPr>
              <a:spcBef>
                <a:spcPts val="554"/>
              </a:spcBef>
            </a:pP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2. S/W </a:t>
            </a:r>
            <a:r>
              <a:rPr lang="ko-KR" altLang="en-US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인력 육성</a:t>
            </a:r>
            <a:endParaRPr lang="en-US" altLang="ko-KR" sz="1292" dirty="0">
              <a:latin typeface="현대하모니 M" panose="02020603020101020101" pitchFamily="18" charset="-127"/>
              <a:ea typeface="현대하모니 M" panose="02020603020101020101"/>
              <a:sym typeface="Wingdings" panose="05000000000000000000" pitchFamily="2" charset="2"/>
            </a:endParaRPr>
          </a:p>
          <a:p>
            <a:pPr>
              <a:spcBef>
                <a:spcPts val="554"/>
              </a:spcBef>
            </a:pP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 - Firmware </a:t>
            </a:r>
            <a:r>
              <a:rPr lang="ko-KR" altLang="en-US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개발인력</a:t>
            </a:r>
            <a:endParaRPr lang="en-US" altLang="ko-KR" sz="1292" dirty="0">
              <a:latin typeface="현대하모니 M" panose="02020603020101020101" pitchFamily="18" charset="-127"/>
              <a:ea typeface="현대하모니 M" panose="02020603020101020101"/>
              <a:sym typeface="Wingdings" panose="05000000000000000000" pitchFamily="2" charset="2"/>
            </a:endParaRPr>
          </a:p>
          <a:p>
            <a:pPr>
              <a:spcBef>
                <a:spcPts val="554"/>
              </a:spcBef>
            </a:pP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 - </a:t>
            </a:r>
            <a:r>
              <a:rPr lang="ko-KR" altLang="en-US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공조 </a:t>
            </a: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S/W </a:t>
            </a:r>
            <a:r>
              <a:rPr lang="ko-KR" altLang="en-US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개발인력</a:t>
            </a:r>
            <a:endParaRPr lang="en-US" altLang="ko-KR" sz="1292" dirty="0">
              <a:latin typeface="현대하모니 M" panose="02020603020101020101" pitchFamily="18" charset="-127"/>
              <a:ea typeface="현대하모니 M" panose="02020603020101020101"/>
              <a:sym typeface="Wingdings" panose="05000000000000000000" pitchFamily="2" charset="2"/>
            </a:endParaRPr>
          </a:p>
          <a:p>
            <a:pPr>
              <a:spcBef>
                <a:spcPts val="554"/>
              </a:spcBef>
            </a:pP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 - </a:t>
            </a: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AUTOSAR </a:t>
            </a: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Platform </a:t>
            </a:r>
            <a:r>
              <a:rPr lang="ko-KR" altLang="en-US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인력</a:t>
            </a:r>
            <a:endParaRPr lang="en-US" altLang="ko-KR" sz="1292" dirty="0">
              <a:latin typeface="현대하모니 M" panose="02020603020101020101" pitchFamily="18" charset="-127"/>
              <a:ea typeface="현대하모니 M" panose="02020603020101020101"/>
              <a:sym typeface="Wingdings" panose="05000000000000000000" pitchFamily="2" charset="2"/>
            </a:endParaRPr>
          </a:p>
        </p:txBody>
      </p:sp>
      <p:sp>
        <p:nvSpPr>
          <p:cNvPr id="50" name="양쪽 모서리가 둥근 사각형 49"/>
          <p:cNvSpPr/>
          <p:nvPr/>
        </p:nvSpPr>
        <p:spPr>
          <a:xfrm rot="10800000">
            <a:off x="3583293" y="3812520"/>
            <a:ext cx="2201012" cy="2352783"/>
          </a:xfrm>
          <a:prstGeom prst="round2SameRect">
            <a:avLst>
              <a:gd name="adj1" fmla="val 7160"/>
              <a:gd name="adj2" fmla="val 0"/>
            </a:avLst>
          </a:prstGeom>
          <a:noFill/>
          <a:ln w="9525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62" dirty="0">
              <a:ln>
                <a:solidFill>
                  <a:schemeClr val="tx1"/>
                </a:solidFill>
              </a:ln>
              <a:ea typeface="현대하모니 M" panose="02020603020101020101"/>
            </a:endParaRPr>
          </a:p>
        </p:txBody>
      </p:sp>
      <p:sp>
        <p:nvSpPr>
          <p:cNvPr id="51" name="양쪽 모서리가 둥근 사각형 50"/>
          <p:cNvSpPr/>
          <p:nvPr/>
        </p:nvSpPr>
        <p:spPr>
          <a:xfrm rot="10800000">
            <a:off x="6293404" y="3812518"/>
            <a:ext cx="2167028" cy="2352784"/>
          </a:xfrm>
          <a:prstGeom prst="round2SameRect">
            <a:avLst>
              <a:gd name="adj1" fmla="val 7160"/>
              <a:gd name="adj2" fmla="val 0"/>
            </a:avLst>
          </a:prstGeom>
          <a:noFill/>
          <a:ln w="9525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62" dirty="0">
              <a:ln>
                <a:solidFill>
                  <a:schemeClr val="tx1"/>
                </a:solidFill>
              </a:ln>
              <a:ea typeface="현대하모니 M" panose="02020603020101020101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635457" y="3858988"/>
            <a:ext cx="2071386" cy="2221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54"/>
              </a:spcBef>
            </a:pP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</a:rPr>
              <a:t>1. </a:t>
            </a: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</a:rPr>
              <a:t>ALM Tool </a:t>
            </a:r>
            <a:r>
              <a:rPr lang="ko-KR" altLang="en-US" sz="1292" dirty="0" smtClean="0">
                <a:latin typeface="현대하모니 M" panose="02020603020101020101" pitchFamily="18" charset="-127"/>
                <a:ea typeface="현대하모니 M" panose="02020603020101020101"/>
              </a:rPr>
              <a:t>도입 운영</a:t>
            </a:r>
            <a:endParaRPr lang="en-US" altLang="ko-KR" sz="1292" dirty="0" smtClean="0">
              <a:latin typeface="현대하모니 M" panose="02020603020101020101" pitchFamily="18" charset="-127"/>
              <a:ea typeface="현대하모니 M" panose="02020603020101020101"/>
            </a:endParaRPr>
          </a:p>
          <a:p>
            <a:pPr>
              <a:spcBef>
                <a:spcPts val="554"/>
              </a:spcBef>
            </a:pP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 -  ASPICE</a:t>
            </a: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, </a:t>
            </a: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SPQA, FUSA</a:t>
            </a:r>
            <a:endParaRPr lang="en-US" altLang="ko-KR" sz="1292" dirty="0">
              <a:latin typeface="현대하모니 M" panose="02020603020101020101" pitchFamily="18" charset="-127"/>
              <a:ea typeface="현대하모니 M" panose="02020603020101020101"/>
              <a:sym typeface="Wingdings" panose="05000000000000000000" pitchFamily="2" charset="2"/>
            </a:endParaRPr>
          </a:p>
          <a:p>
            <a:pPr>
              <a:spcBef>
                <a:spcPts val="554"/>
              </a:spcBef>
            </a:pP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 - </a:t>
            </a:r>
            <a:r>
              <a:rPr lang="ko-KR" altLang="en-US" sz="1292" dirty="0" err="1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그외</a:t>
            </a:r>
            <a:r>
              <a:rPr lang="ko-KR" altLang="en-US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 프로젝트 등록</a:t>
            </a:r>
            <a:endParaRPr lang="en-US" altLang="ko-KR" sz="1292" dirty="0">
              <a:latin typeface="현대하모니 M" panose="02020603020101020101" pitchFamily="18" charset="-127"/>
              <a:ea typeface="현대하모니 M" panose="02020603020101020101"/>
              <a:sym typeface="Wingdings" panose="05000000000000000000" pitchFamily="2" charset="2"/>
            </a:endParaRPr>
          </a:p>
          <a:p>
            <a:pPr>
              <a:spcBef>
                <a:spcPts val="554"/>
              </a:spcBef>
            </a:pP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2. </a:t>
            </a: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ASPICE </a:t>
            </a:r>
            <a:r>
              <a:rPr lang="ko-KR" altLang="en-US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지원 인력 확대</a:t>
            </a:r>
            <a:endParaRPr lang="en-US" altLang="ko-KR" sz="1292" dirty="0" smtClean="0">
              <a:latin typeface="현대하모니 M" panose="02020603020101020101" pitchFamily="18" charset="-127"/>
              <a:ea typeface="현대하모니 M" panose="02020603020101020101"/>
              <a:sym typeface="Wingdings" panose="05000000000000000000" pitchFamily="2" charset="2"/>
            </a:endParaRPr>
          </a:p>
          <a:p>
            <a:pPr>
              <a:spcBef>
                <a:spcPts val="554"/>
              </a:spcBef>
            </a:pP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 </a:t>
            </a: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- 3 </a:t>
            </a:r>
            <a:r>
              <a:rPr lang="ko-KR" altLang="en-US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명 </a:t>
            </a: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 6</a:t>
            </a:r>
            <a:r>
              <a:rPr lang="ko-KR" altLang="en-US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명</a:t>
            </a:r>
            <a:endParaRPr lang="en-US" altLang="ko-KR" sz="1292" dirty="0" smtClean="0">
              <a:latin typeface="현대하모니 M" panose="02020603020101020101" pitchFamily="18" charset="-127"/>
              <a:ea typeface="현대하모니 M" panose="02020603020101020101"/>
              <a:sym typeface="Wingdings" panose="05000000000000000000" pitchFamily="2" charset="2"/>
            </a:endParaRPr>
          </a:p>
          <a:p>
            <a:pPr>
              <a:spcBef>
                <a:spcPts val="554"/>
              </a:spcBef>
            </a:pP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3. S/W </a:t>
            </a:r>
            <a:r>
              <a:rPr lang="ko-KR" altLang="en-US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설계 산출물 인력 </a:t>
            </a:r>
            <a:endParaRPr lang="en-US" altLang="ko-KR" sz="1292" dirty="0">
              <a:latin typeface="현대하모니 M" panose="02020603020101020101" pitchFamily="18" charset="-127"/>
              <a:ea typeface="현대하모니 M" panose="02020603020101020101"/>
              <a:sym typeface="Wingdings" panose="05000000000000000000" pitchFamily="2" charset="2"/>
            </a:endParaRPr>
          </a:p>
          <a:p>
            <a:pPr>
              <a:spcBef>
                <a:spcPts val="554"/>
              </a:spcBef>
            </a:pP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   </a:t>
            </a:r>
            <a:r>
              <a:rPr lang="ko-KR" altLang="en-US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증원</a:t>
            </a:r>
            <a:endParaRPr lang="en-US" altLang="ko-KR" sz="1292" dirty="0">
              <a:latin typeface="현대하모니 M" panose="02020603020101020101" pitchFamily="18" charset="-127"/>
              <a:ea typeface="현대하모니 M" panose="02020603020101020101"/>
              <a:sym typeface="Wingdings" panose="05000000000000000000" pitchFamily="2" charset="2"/>
            </a:endParaRPr>
          </a:p>
          <a:p>
            <a:pPr>
              <a:spcBef>
                <a:spcPts val="554"/>
              </a:spcBef>
            </a:pPr>
            <a:endParaRPr lang="en-US" altLang="ko-KR" sz="1292" dirty="0">
              <a:latin typeface="현대하모니 M" panose="02020603020101020101" pitchFamily="18" charset="-127"/>
              <a:ea typeface="현대하모니 M" panose="02020603020101020101"/>
              <a:sym typeface="Wingdings" panose="05000000000000000000" pitchFamily="2" charset="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341225" y="3858988"/>
            <a:ext cx="2071386" cy="1945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54"/>
              </a:spcBef>
            </a:pP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</a:rPr>
              <a:t>1. </a:t>
            </a:r>
            <a:r>
              <a:rPr lang="ko-KR" altLang="en-US" sz="1292" dirty="0" smtClean="0">
                <a:latin typeface="현대하모니 M" panose="02020603020101020101" pitchFamily="18" charset="-127"/>
                <a:ea typeface="현대하모니 M" panose="02020603020101020101"/>
              </a:rPr>
              <a:t>검증 자동화 시스템 </a:t>
            </a:r>
            <a:endParaRPr lang="en-US" altLang="ko-KR" sz="1292" dirty="0" smtClean="0">
              <a:latin typeface="현대하모니 M" panose="02020603020101020101" pitchFamily="18" charset="-127"/>
              <a:ea typeface="현대하모니 M" panose="02020603020101020101"/>
            </a:endParaRPr>
          </a:p>
          <a:p>
            <a:pPr>
              <a:spcBef>
                <a:spcPts val="554"/>
              </a:spcBef>
            </a:pP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</a:rPr>
              <a:t>  - </a:t>
            </a:r>
            <a:r>
              <a:rPr lang="ko-KR" altLang="en-US" sz="1292" dirty="0" smtClean="0">
                <a:latin typeface="현대하모니 M" panose="02020603020101020101" pitchFamily="18" charset="-127"/>
                <a:ea typeface="현대하모니 M" panose="02020603020101020101"/>
              </a:rPr>
              <a:t>기능</a:t>
            </a: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</a:rPr>
              <a:t>(</a:t>
            </a:r>
            <a:r>
              <a:rPr lang="ko-KR" altLang="en-US" sz="1292" dirty="0" err="1" smtClean="0">
                <a:latin typeface="현대하모니 M" panose="02020603020101020101" pitchFamily="18" charset="-127"/>
                <a:ea typeface="현대하모니 M" panose="02020603020101020101"/>
              </a:rPr>
              <a:t>로직</a:t>
            </a: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</a:rPr>
              <a:t>)</a:t>
            </a:r>
            <a:r>
              <a:rPr lang="ko-KR" altLang="en-US" sz="1292" dirty="0" smtClean="0">
                <a:latin typeface="현대하모니 M" panose="02020603020101020101" pitchFamily="18" charset="-127"/>
                <a:ea typeface="현대하모니 M" panose="02020603020101020101"/>
              </a:rPr>
              <a:t> 검증</a:t>
            </a:r>
            <a:endParaRPr lang="en-US" altLang="ko-KR" sz="1292" dirty="0" smtClean="0">
              <a:latin typeface="현대하모니 M" panose="02020603020101020101" pitchFamily="18" charset="-127"/>
              <a:ea typeface="현대하모니 M" panose="02020603020101020101"/>
            </a:endParaRPr>
          </a:p>
          <a:p>
            <a:pPr>
              <a:spcBef>
                <a:spcPts val="554"/>
              </a:spcBef>
            </a:pP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</a:rPr>
              <a:t> </a:t>
            </a: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</a:rPr>
              <a:t> - Network </a:t>
            </a:r>
            <a:r>
              <a:rPr lang="ko-KR" altLang="en-US" sz="1292" dirty="0" smtClean="0">
                <a:latin typeface="현대하모니 M" panose="02020603020101020101" pitchFamily="18" charset="-127"/>
                <a:ea typeface="현대하모니 M" panose="02020603020101020101"/>
              </a:rPr>
              <a:t>통신</a:t>
            </a: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</a:rPr>
              <a:t>(CAN, LIN)</a:t>
            </a:r>
          </a:p>
          <a:p>
            <a:pPr>
              <a:spcBef>
                <a:spcPts val="554"/>
              </a:spcBef>
            </a:pP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</a:rPr>
              <a:t> </a:t>
            </a: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</a:rPr>
              <a:t> - </a:t>
            </a:r>
            <a:r>
              <a:rPr lang="ko-KR" altLang="en-US" sz="1292" dirty="0" smtClean="0">
                <a:latin typeface="현대하모니 M" panose="02020603020101020101" pitchFamily="18" charset="-127"/>
                <a:ea typeface="현대하모니 M" panose="02020603020101020101"/>
              </a:rPr>
              <a:t>사이버보안</a:t>
            </a: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</a:rPr>
              <a:t>(OTA)</a:t>
            </a:r>
          </a:p>
          <a:p>
            <a:pPr>
              <a:spcBef>
                <a:spcPts val="554"/>
              </a:spcBef>
            </a:pP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</a:rPr>
              <a:t> 2</a:t>
            </a: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</a:rPr>
              <a:t>. </a:t>
            </a:r>
            <a:r>
              <a:rPr lang="ko-KR" altLang="en-US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검증 자동화 </a:t>
            </a: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S/W </a:t>
            </a:r>
            <a:r>
              <a:rPr lang="ko-KR" altLang="en-US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개발</a:t>
            </a:r>
            <a:endParaRPr lang="en-US" altLang="ko-KR" sz="1292" dirty="0" smtClean="0">
              <a:latin typeface="현대하모니 M" panose="02020603020101020101" pitchFamily="18" charset="-127"/>
              <a:ea typeface="현대하모니 M" panose="02020603020101020101"/>
              <a:sym typeface="Wingdings" panose="05000000000000000000" pitchFamily="2" charset="2"/>
            </a:endParaRPr>
          </a:p>
          <a:p>
            <a:pPr>
              <a:spcBef>
                <a:spcPts val="554"/>
              </a:spcBef>
            </a:pP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 3. </a:t>
            </a:r>
            <a:r>
              <a:rPr lang="ko-KR" altLang="en-US" sz="1292" dirty="0" smtClean="0">
                <a:latin typeface="현대하모니 M" panose="02020603020101020101" pitchFamily="18" charset="-127"/>
                <a:ea typeface="현대하모니 M" panose="02020603020101020101"/>
              </a:rPr>
              <a:t>평가</a:t>
            </a: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</a:rPr>
              <a:t>/</a:t>
            </a:r>
            <a:r>
              <a:rPr lang="ko-KR" altLang="en-US" sz="1292" dirty="0">
                <a:latin typeface="현대하모니 M" panose="02020603020101020101" pitchFamily="18" charset="-127"/>
                <a:ea typeface="현대하모니 M" panose="02020603020101020101"/>
              </a:rPr>
              <a:t>검증 조직 확대</a:t>
            </a:r>
            <a:endParaRPr lang="en-US" altLang="ko-KR" sz="1292" dirty="0">
              <a:latin typeface="현대하모니 M" panose="02020603020101020101" pitchFamily="18" charset="-127"/>
              <a:ea typeface="현대하모니 M" panose="02020603020101020101"/>
            </a:endParaRPr>
          </a:p>
          <a:p>
            <a:pPr>
              <a:spcBef>
                <a:spcPts val="554"/>
              </a:spcBef>
            </a:pP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  - </a:t>
            </a: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 ES </a:t>
            </a:r>
            <a:r>
              <a:rPr lang="ko-KR" altLang="en-US" sz="1292" dirty="0" err="1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검증팀</a:t>
            </a: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 </a:t>
            </a:r>
            <a:r>
              <a:rPr lang="ko-KR" altLang="en-US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신설</a:t>
            </a:r>
            <a:r>
              <a:rPr lang="en-US" altLang="ko-KR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(7</a:t>
            </a:r>
            <a:r>
              <a:rPr lang="ko-KR" altLang="en-US" sz="1292" dirty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명</a:t>
            </a:r>
            <a:r>
              <a:rPr lang="en-US" altLang="ko-KR" sz="1292" dirty="0" smtClean="0">
                <a:latin typeface="현대하모니 M" panose="02020603020101020101" pitchFamily="18" charset="-127"/>
                <a:ea typeface="현대하모니 M" panose="02020603020101020101"/>
                <a:sym typeface="Wingdings" panose="05000000000000000000" pitchFamily="2" charset="2"/>
              </a:rPr>
              <a:t>)</a:t>
            </a:r>
            <a:endParaRPr lang="en-US" altLang="ko-KR" sz="1292" dirty="0">
              <a:latin typeface="현대하모니 M" panose="02020603020101020101" pitchFamily="18" charset="-127"/>
              <a:ea typeface="현대하모니 M" panose="02020603020101020101"/>
              <a:sym typeface="Wingdings" panose="05000000000000000000" pitchFamily="2" charset="2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17" b="90283" l="9934" r="90066">
                        <a14:foregroundMark x1="76987" y1="77733" x2="84603" y2="76113"/>
                        <a14:foregroundMark x1="80629" y1="85020" x2="86589" y2="85020"/>
                        <a14:foregroundMark x1="84272" y1="87045" x2="90066" y2="902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1640" y="1738753"/>
            <a:ext cx="6912768" cy="1159923"/>
          </a:xfrm>
          <a:prstGeom prst="rect">
            <a:avLst/>
          </a:prstGeom>
          <a:effectLst>
            <a:glow rad="228600">
              <a:schemeClr val="accent1">
                <a:alpha val="13000"/>
              </a:schemeClr>
            </a:glow>
          </a:effectLst>
        </p:spPr>
      </p:pic>
      <p:sp>
        <p:nvSpPr>
          <p:cNvPr id="5" name="모서리가 둥근 직사각형 4"/>
          <p:cNvSpPr/>
          <p:nvPr/>
        </p:nvSpPr>
        <p:spPr>
          <a:xfrm>
            <a:off x="971600" y="980728"/>
            <a:ext cx="7560840" cy="758025"/>
          </a:xfrm>
          <a:prstGeom prst="round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00" tIns="72000" rIns="72000" bIns="72000" numCol="1" spcCol="1270" rtlCol="0" anchor="ctr" anchorCtr="0">
            <a:noAutofit/>
          </a:bodyPr>
          <a:lstStyle/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sz="2700" dirty="0" smtClean="0"/>
              <a:t>Automotive </a:t>
            </a:r>
            <a:r>
              <a:rPr lang="en-US" altLang="ko-KR" sz="2700" kern="1200" dirty="0" smtClean="0"/>
              <a:t>S/W </a:t>
            </a:r>
            <a:r>
              <a:rPr lang="ko-KR" altLang="en-US" sz="2700" kern="1200" dirty="0" smtClean="0"/>
              <a:t>경쟁력 확보</a:t>
            </a:r>
            <a:r>
              <a:rPr lang="en-US" altLang="ko-KR" sz="2700" kern="1200" dirty="0" smtClean="0"/>
              <a:t> </a:t>
            </a:r>
            <a:endParaRPr lang="ko-KR" altLang="en-US" sz="2700" kern="1200" dirty="0"/>
          </a:p>
        </p:txBody>
      </p:sp>
      <p:sp>
        <p:nvSpPr>
          <p:cNvPr id="6" name="직사각형 5"/>
          <p:cNvSpPr/>
          <p:nvPr/>
        </p:nvSpPr>
        <p:spPr>
          <a:xfrm>
            <a:off x="3802315" y="2238739"/>
            <a:ext cx="17988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 smtClean="0">
                <a:solidFill>
                  <a:schemeClr val="bg1"/>
                </a:solidFill>
                <a:ea typeface="현대하모니 M" panose="02020603020101020101"/>
              </a:rPr>
              <a:t>S/W </a:t>
            </a:r>
            <a:r>
              <a:rPr lang="ko-KR" altLang="en-US" sz="2000" b="1" dirty="0" smtClean="0">
                <a:solidFill>
                  <a:schemeClr val="bg1"/>
                </a:solidFill>
                <a:ea typeface="현대하모니 M" panose="02020603020101020101"/>
              </a:rPr>
              <a:t>역량강화</a:t>
            </a:r>
            <a:endParaRPr lang="ko-KR" altLang="en-US" sz="2000" b="1" dirty="0">
              <a:solidFill>
                <a:schemeClr val="bg1"/>
              </a:solidFill>
              <a:ea typeface="현대하모니 M" panose="02020603020101020101"/>
            </a:endParaRPr>
          </a:p>
        </p:txBody>
      </p:sp>
      <p:sp>
        <p:nvSpPr>
          <p:cNvPr id="55" name="Text Box 2"/>
          <p:cNvSpPr txBox="1">
            <a:spLocks noChangeArrowheads="1"/>
          </p:cNvSpPr>
          <p:nvPr/>
        </p:nvSpPr>
        <p:spPr bwMode="auto">
          <a:xfrm>
            <a:off x="185052" y="30390"/>
            <a:ext cx="8635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4. S/W </a:t>
            </a:r>
            <a:r>
              <a:rPr lang="ko-KR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역량강화 방향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4099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057236" y="1412776"/>
            <a:ext cx="956780" cy="4287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2">
                <a:lumMod val="60000"/>
                <a:lumOff val="40000"/>
                <a:alpha val="8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50" b="1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S/W </a:t>
            </a:r>
            <a:r>
              <a:rPr lang="ko-KR" altLang="en-US" sz="1050" b="1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연구소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60065" y="2329244"/>
            <a:ext cx="843796" cy="4287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2">
                <a:lumMod val="60000"/>
                <a:lumOff val="40000"/>
                <a:alpha val="8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975" b="1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Control S/W 1</a:t>
            </a:r>
            <a:r>
              <a:rPr lang="ko-KR" altLang="en-US" sz="975" b="1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팀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147362" y="2329243"/>
            <a:ext cx="843796" cy="4287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2">
                <a:lumMod val="60000"/>
                <a:lumOff val="40000"/>
                <a:alpha val="8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975" b="1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Control S/W 2</a:t>
            </a:r>
            <a:r>
              <a:rPr lang="ko-KR" altLang="en-US" sz="975" b="1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팀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124536" y="2329243"/>
            <a:ext cx="843796" cy="4287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2">
                <a:lumMod val="60000"/>
                <a:lumOff val="40000"/>
                <a:alpha val="8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975" b="1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EV Heater S/W 2</a:t>
            </a:r>
            <a:r>
              <a:rPr lang="ko-KR" altLang="en-US" sz="975" b="1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팀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6179570" y="2332912"/>
            <a:ext cx="843796" cy="4287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2">
                <a:lumMod val="60000"/>
                <a:lumOff val="40000"/>
                <a:alpha val="8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75" b="1" dirty="0" err="1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로직</a:t>
            </a:r>
            <a:r>
              <a:rPr lang="ko-KR" altLang="en-US" sz="975" b="1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975" b="1" dirty="0" err="1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검증팀</a:t>
            </a:r>
            <a:endParaRPr lang="ko-KR" altLang="en-US" sz="975" b="1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128050" y="2329242"/>
            <a:ext cx="843796" cy="4287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2">
                <a:lumMod val="60000"/>
                <a:lumOff val="40000"/>
                <a:alpha val="8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975" b="1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ES </a:t>
            </a:r>
            <a:r>
              <a:rPr lang="ko-KR" altLang="en-US" sz="975" b="1" dirty="0" err="1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평가팀</a:t>
            </a:r>
            <a:endParaRPr lang="ko-KR" altLang="en-US" sz="975" b="1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160065" y="2929380"/>
            <a:ext cx="843796" cy="2155803"/>
          </a:xfrm>
          <a:prstGeom prst="rect">
            <a:avLst/>
          </a:prstGeom>
          <a:noFill/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69056" indent="-69056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900" kern="0" dirty="0" err="1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공조제어기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 S/W 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개발</a:t>
            </a: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ATC Unit</a:t>
            </a: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FATC Unit</a:t>
            </a:r>
          </a:p>
          <a:p>
            <a:pPr marL="128588" indent="-128588" defTabSz="464344" eaLnBrk="0" latinLnBrk="0" hangingPunct="0">
              <a:lnSpc>
                <a:spcPct val="150000"/>
              </a:lnSpc>
              <a:buFontTx/>
              <a:buChar char="-"/>
              <a:defRPr/>
            </a:pP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marL="128588" indent="-128588" defTabSz="464344" eaLnBrk="0" latinLnBrk="0" hangingPunct="0">
              <a:lnSpc>
                <a:spcPct val="150000"/>
              </a:lnSpc>
              <a:buFontTx/>
              <a:buChar char="-"/>
              <a:defRPr/>
            </a:pP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marL="128588" indent="-128588" defTabSz="464344" eaLnBrk="0" latinLnBrk="0" hangingPunct="0">
              <a:lnSpc>
                <a:spcPct val="150000"/>
              </a:lnSpc>
              <a:buFontTx/>
              <a:buChar char="-"/>
              <a:defRPr/>
            </a:pP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marL="69056" indent="-69056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인원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현재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: 12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명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</a:t>
            </a:r>
            <a:r>
              <a:rPr lang="ko-KR" altLang="en-US" sz="9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연말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: 15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명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   </a:t>
            </a:r>
            <a:endParaRPr lang="ko-KR" altLang="en-US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1147362" y="2929380"/>
            <a:ext cx="843796" cy="2155803"/>
          </a:xfrm>
          <a:prstGeom prst="rect">
            <a:avLst/>
          </a:prstGeom>
          <a:noFill/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69056" indent="-69056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900" kern="0" dirty="0" err="1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공조제어기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 S/W 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개발</a:t>
            </a: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- Rear ATC </a:t>
            </a: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Rear MTC</a:t>
            </a: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- 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판넬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MTC Unit</a:t>
            </a:r>
          </a:p>
          <a:p>
            <a:pPr defTabSz="464344" eaLnBrk="0" latinLnBrk="0" hangingPunct="0">
              <a:lnSpc>
                <a:spcPct val="150000"/>
              </a:lnSpc>
              <a:defRPr/>
            </a:pP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marL="69056" indent="-69056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인원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현재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: 6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명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</a:t>
            </a:r>
            <a:r>
              <a:rPr lang="ko-KR" altLang="en-US" sz="9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연말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: 8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명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</p:txBody>
      </p:sp>
      <p:sp>
        <p:nvSpPr>
          <p:cNvPr id="18" name="직사각형 17"/>
          <p:cNvSpPr/>
          <p:nvPr/>
        </p:nvSpPr>
        <p:spPr bwMode="auto">
          <a:xfrm>
            <a:off x="3124535" y="2929380"/>
            <a:ext cx="827234" cy="2155803"/>
          </a:xfrm>
          <a:prstGeom prst="rect">
            <a:avLst/>
          </a:prstGeom>
          <a:noFill/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69056" indent="-69056" algn="ctr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EV Heater </a:t>
            </a: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 S/W 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개발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해외차종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PTC Heater</a:t>
            </a: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- Coolant</a:t>
            </a: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- COD Heater</a:t>
            </a:r>
          </a:p>
          <a:p>
            <a:pPr>
              <a:lnSpc>
                <a:spcPct val="150000"/>
              </a:lnSpc>
              <a:defRPr/>
            </a:pP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69056" indent="-69056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인원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현재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: 8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명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</a:t>
            </a:r>
            <a:r>
              <a:rPr lang="ko-KR" altLang="en-US" sz="9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연말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: 8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명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6179570" y="2929380"/>
            <a:ext cx="843796" cy="2155803"/>
          </a:xfrm>
          <a:prstGeom prst="rect">
            <a:avLst/>
          </a:prstGeom>
          <a:noFill/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69056" indent="-69056" algn="ctr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ATC </a:t>
            </a:r>
            <a:r>
              <a:rPr lang="ko-KR" altLang="en-US" sz="900" kern="0" dirty="0" err="1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로직검증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28588" indent="-128588">
              <a:lnSpc>
                <a:spcPct val="150000"/>
              </a:lnSpc>
              <a:buFontTx/>
              <a:buChar char="-"/>
              <a:defRPr/>
            </a:pP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28588" indent="-128588">
              <a:lnSpc>
                <a:spcPct val="150000"/>
              </a:lnSpc>
              <a:buFontTx/>
              <a:buChar char="-"/>
              <a:defRPr/>
            </a:pP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28588" indent="-128588">
              <a:lnSpc>
                <a:spcPct val="150000"/>
              </a:lnSpc>
              <a:buFontTx/>
              <a:buChar char="-"/>
              <a:defRPr/>
            </a:pP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28588" indent="-128588">
              <a:lnSpc>
                <a:spcPct val="150000"/>
              </a:lnSpc>
              <a:buFontTx/>
              <a:buChar char="-"/>
              <a:defRPr/>
            </a:pP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28588" indent="-128588">
              <a:lnSpc>
                <a:spcPct val="150000"/>
              </a:lnSpc>
              <a:buFontTx/>
              <a:buChar char="-"/>
              <a:defRPr/>
            </a:pP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69056" indent="-69056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인원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현재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: 7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명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</a:t>
            </a:r>
            <a:r>
              <a:rPr lang="ko-KR" altLang="en-US" sz="9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연말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: 7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명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7161174" y="2929380"/>
            <a:ext cx="843796" cy="2155803"/>
          </a:xfrm>
          <a:prstGeom prst="rect">
            <a:avLst/>
          </a:prstGeom>
          <a:noFill/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69056" indent="-69056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ES/ASPICE</a:t>
            </a:r>
          </a:p>
          <a:p>
            <a:pPr defTabSz="464344" eaLnBrk="0" latinLnBrk="0" hangingPunct="0">
              <a:lnSpc>
                <a:spcPct val="150000"/>
              </a:lnSpc>
              <a:tabLst>
                <a:tab pos="0" algn="l"/>
              </a:tabLst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 </a:t>
            </a:r>
            <a:r>
              <a:rPr lang="ko-KR" altLang="en-US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검증</a:t>
            </a:r>
            <a:r>
              <a:rPr lang="en-US" altLang="ko-KR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/</a:t>
            </a:r>
            <a:r>
              <a:rPr lang="ko-KR" altLang="en-US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평가</a:t>
            </a:r>
            <a:endParaRPr lang="en-US" altLang="ko-KR" sz="900" kern="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tabLst>
                <a:tab pos="0" algn="l"/>
              </a:tabLst>
              <a:defRPr/>
            </a:pPr>
            <a:r>
              <a:rPr lang="en-US" altLang="ko-KR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- ES</a:t>
            </a:r>
          </a:p>
          <a:p>
            <a:pPr defTabSz="464344" eaLnBrk="0" latinLnBrk="0" hangingPunct="0">
              <a:lnSpc>
                <a:spcPct val="150000"/>
              </a:lnSpc>
              <a:tabLst>
                <a:tab pos="0" algn="l"/>
              </a:tabLst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ASPICE</a:t>
            </a:r>
          </a:p>
          <a:p>
            <a:pPr defTabSz="464344" eaLnBrk="0" latinLnBrk="0" hangingPunct="0">
              <a:lnSpc>
                <a:spcPct val="150000"/>
              </a:lnSpc>
              <a:tabLst>
                <a:tab pos="0" algn="l"/>
              </a:tabLst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기능안전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464344" eaLnBrk="0" latinLnBrk="0" hangingPunct="0">
              <a:lnSpc>
                <a:spcPct val="150000"/>
              </a:lnSpc>
              <a:tabLst>
                <a:tab pos="0" algn="l"/>
              </a:tabLst>
              <a:defRPr/>
            </a:pPr>
            <a:r>
              <a:rPr lang="en-US" altLang="ko-KR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r>
              <a:rPr lang="ko-KR" alt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사이버보안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69056" indent="-69056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인원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현재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: 2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명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</a:t>
            </a:r>
            <a:r>
              <a:rPr lang="ko-KR" altLang="en-US" sz="9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연말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: 7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명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marL="128588" indent="-128588">
              <a:lnSpc>
                <a:spcPct val="150000"/>
              </a:lnSpc>
              <a:buFontTx/>
              <a:buChar char="-"/>
              <a:defRPr/>
            </a:pP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6BB954-7454-467C-8D40-0214B3BFF202}"/>
              </a:ext>
            </a:extLst>
          </p:cNvPr>
          <p:cNvSpPr txBox="1"/>
          <p:nvPr/>
        </p:nvSpPr>
        <p:spPr>
          <a:xfrm>
            <a:off x="4994742" y="1594758"/>
            <a:ext cx="86467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05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050" dirty="0" smtClean="0"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 </a:t>
            </a:r>
            <a:r>
              <a:rPr lang="en-US" altLang="ko-KR" sz="1050" dirty="0"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51</a:t>
            </a:r>
            <a:endParaRPr lang="ko-KR" altLang="en-US" sz="105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cxnSp>
        <p:nvCxnSpPr>
          <p:cNvPr id="27" name="꺾인 연결선 26"/>
          <p:cNvCxnSpPr>
            <a:stCxn id="8" idx="2"/>
            <a:endCxn id="9" idx="0"/>
          </p:cNvCxnSpPr>
          <p:nvPr/>
        </p:nvCxnSpPr>
        <p:spPr bwMode="auto">
          <a:xfrm rot="5400000">
            <a:off x="2314951" y="108569"/>
            <a:ext cx="487688" cy="3953663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꺾인 연결선 27"/>
          <p:cNvCxnSpPr>
            <a:stCxn id="8" idx="2"/>
            <a:endCxn id="10" idx="0"/>
          </p:cNvCxnSpPr>
          <p:nvPr/>
        </p:nvCxnSpPr>
        <p:spPr bwMode="auto">
          <a:xfrm rot="5400000">
            <a:off x="2808600" y="602217"/>
            <a:ext cx="487687" cy="2966366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꺾인 연결선 28"/>
          <p:cNvCxnSpPr>
            <a:stCxn id="8" idx="2"/>
            <a:endCxn id="11" idx="0"/>
          </p:cNvCxnSpPr>
          <p:nvPr/>
        </p:nvCxnSpPr>
        <p:spPr bwMode="auto">
          <a:xfrm rot="5400000">
            <a:off x="3797187" y="1590804"/>
            <a:ext cx="487686" cy="989192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꺾인 연결선 29"/>
          <p:cNvCxnSpPr>
            <a:stCxn id="8" idx="2"/>
            <a:endCxn id="39" idx="0"/>
          </p:cNvCxnSpPr>
          <p:nvPr/>
        </p:nvCxnSpPr>
        <p:spPr bwMode="auto">
          <a:xfrm rot="16200000" flipH="1">
            <a:off x="4816642" y="1560540"/>
            <a:ext cx="498473" cy="106050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꺾인 연결선 30"/>
          <p:cNvCxnSpPr>
            <a:stCxn id="8" idx="2"/>
            <a:endCxn id="13" idx="0"/>
          </p:cNvCxnSpPr>
          <p:nvPr/>
        </p:nvCxnSpPr>
        <p:spPr bwMode="auto">
          <a:xfrm rot="16200000" flipH="1">
            <a:off x="5322870" y="1054313"/>
            <a:ext cx="491356" cy="2065842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꺾인 연결선 31"/>
          <p:cNvCxnSpPr>
            <a:stCxn id="8" idx="2"/>
            <a:endCxn id="14" idx="0"/>
          </p:cNvCxnSpPr>
          <p:nvPr/>
        </p:nvCxnSpPr>
        <p:spPr bwMode="auto">
          <a:xfrm rot="16200000" flipH="1">
            <a:off x="5798945" y="578237"/>
            <a:ext cx="487685" cy="3014322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꺾인 연결선 32"/>
          <p:cNvCxnSpPr>
            <a:stCxn id="8" idx="2"/>
            <a:endCxn id="37" idx="0"/>
          </p:cNvCxnSpPr>
          <p:nvPr/>
        </p:nvCxnSpPr>
        <p:spPr bwMode="auto">
          <a:xfrm rot="16200000" flipH="1">
            <a:off x="6299905" y="77276"/>
            <a:ext cx="485534" cy="4014093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직사각형 33"/>
          <p:cNvSpPr/>
          <p:nvPr/>
        </p:nvSpPr>
        <p:spPr>
          <a:xfrm>
            <a:off x="2138973" y="2333559"/>
            <a:ext cx="843796" cy="4287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2">
                <a:lumMod val="60000"/>
                <a:lumOff val="40000"/>
                <a:alpha val="8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975" b="1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EV Heater S/W 1</a:t>
            </a:r>
            <a:r>
              <a:rPr lang="ko-KR" altLang="en-US" sz="975" b="1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팀</a:t>
            </a:r>
          </a:p>
        </p:txBody>
      </p:sp>
      <p:sp>
        <p:nvSpPr>
          <p:cNvPr id="35" name="직사각형 34"/>
          <p:cNvSpPr/>
          <p:nvPr/>
        </p:nvSpPr>
        <p:spPr bwMode="auto">
          <a:xfrm>
            <a:off x="2138972" y="2933696"/>
            <a:ext cx="843796" cy="2155803"/>
          </a:xfrm>
          <a:prstGeom prst="rect">
            <a:avLst/>
          </a:prstGeom>
          <a:noFill/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69056" indent="-69056" algn="ctr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EV Heater </a:t>
            </a: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 S/W 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개발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-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국내차종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PTC Heater</a:t>
            </a:r>
          </a:p>
          <a:p>
            <a:pPr marL="128588" indent="-128588">
              <a:lnSpc>
                <a:spcPct val="150000"/>
              </a:lnSpc>
              <a:buFontTx/>
              <a:buChar char="-"/>
              <a:defRPr/>
            </a:pP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28588" indent="-128588">
              <a:lnSpc>
                <a:spcPct val="150000"/>
              </a:lnSpc>
              <a:buFontTx/>
              <a:buChar char="-"/>
              <a:defRPr/>
            </a:pP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28588" indent="-128588">
              <a:lnSpc>
                <a:spcPct val="150000"/>
              </a:lnSpc>
              <a:buFontTx/>
              <a:buChar char="-"/>
              <a:defRPr/>
            </a:pP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69056" indent="-69056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인원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현재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: 6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명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</a:t>
            </a:r>
            <a:r>
              <a:rPr lang="ko-KR" altLang="en-US" sz="9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연말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: 6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명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8134164" y="2327090"/>
            <a:ext cx="831110" cy="4287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2">
                <a:lumMod val="60000"/>
                <a:lumOff val="40000"/>
                <a:alpha val="8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975" b="1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ASPICE </a:t>
            </a:r>
            <a:r>
              <a:rPr lang="ko-KR" altLang="en-US" sz="975" b="1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팀</a:t>
            </a:r>
          </a:p>
        </p:txBody>
      </p:sp>
      <p:sp>
        <p:nvSpPr>
          <p:cNvPr id="38" name="직사각형 37"/>
          <p:cNvSpPr/>
          <p:nvPr/>
        </p:nvSpPr>
        <p:spPr bwMode="auto">
          <a:xfrm>
            <a:off x="8134164" y="2916441"/>
            <a:ext cx="831110" cy="2166591"/>
          </a:xfrm>
          <a:prstGeom prst="rect">
            <a:avLst/>
          </a:prstGeom>
          <a:noFill/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69056" indent="-69056" algn="ctr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ko-KR" altLang="en-US" sz="9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표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준</a:t>
            </a:r>
            <a:r>
              <a:rPr lang="en-US" altLang="ko-KR" sz="9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,</a:t>
            </a:r>
            <a:r>
              <a:rPr lang="ko-KR" altLang="en-US" sz="900" kern="0" dirty="0" err="1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인증업무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ASPICE</a:t>
            </a: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SPQA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en-US" altLang="ko-KR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ISO26262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28588" indent="-128588">
              <a:lnSpc>
                <a:spcPct val="150000"/>
              </a:lnSpc>
              <a:buFontTx/>
              <a:buChar char="-"/>
              <a:defRPr/>
            </a:pP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69056" indent="-69056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인원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현재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: 3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명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</a:t>
            </a:r>
            <a:r>
              <a:rPr lang="ko-KR" altLang="en-US" sz="9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연말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: 6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명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5137079" y="2340030"/>
            <a:ext cx="918102" cy="4287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2">
                <a:lumMod val="60000"/>
                <a:lumOff val="40000"/>
                <a:alpha val="8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975" b="1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S/W </a:t>
            </a:r>
            <a:r>
              <a:rPr lang="ko-KR" altLang="en-US" sz="975" b="1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시스템 </a:t>
            </a:r>
            <a:endParaRPr lang="en-US" altLang="ko-KR" sz="975" b="1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algn="ctr">
              <a:defRPr/>
            </a:pPr>
            <a:r>
              <a:rPr lang="ko-KR" altLang="en-US" sz="975" b="1" dirty="0" err="1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설계팀</a:t>
            </a:r>
            <a:endParaRPr lang="ko-KR" altLang="en-US" sz="975" b="1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0" name="직사각형 39"/>
          <p:cNvSpPr/>
          <p:nvPr/>
        </p:nvSpPr>
        <p:spPr bwMode="auto">
          <a:xfrm>
            <a:off x="5137079" y="2940168"/>
            <a:ext cx="918102" cy="2155803"/>
          </a:xfrm>
          <a:prstGeom prst="rect">
            <a:avLst/>
          </a:prstGeom>
          <a:noFill/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69056" indent="-69056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ko-KR" altLang="en-US" sz="900" kern="0" dirty="0" err="1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시스템설계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marL="69056" indent="-69056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ko-KR" altLang="en-US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선행 </a:t>
            </a:r>
            <a:r>
              <a:rPr lang="en-US" altLang="ko-KR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S/W</a:t>
            </a:r>
          </a:p>
          <a:p>
            <a:pPr marL="69056" indent="-69056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altLang="ko-KR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S/W</a:t>
            </a:r>
            <a:r>
              <a:rPr lang="ko-KR" altLang="en-US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기획</a:t>
            </a:r>
            <a:endParaRPr lang="en-US" altLang="ko-KR" sz="900" kern="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marL="69056" indent="-69056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ko-KR" altLang="en-US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기타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28588" indent="-128588">
              <a:lnSpc>
                <a:spcPct val="150000"/>
              </a:lnSpc>
              <a:buFontTx/>
              <a:buChar char="-"/>
              <a:defRPr/>
            </a:pP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69056" indent="-69056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인원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현재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: 5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명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</a:t>
            </a:r>
            <a:r>
              <a:rPr lang="ko-KR" altLang="en-US" sz="9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연말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: 9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명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marL="128588" indent="-128588">
              <a:lnSpc>
                <a:spcPct val="150000"/>
              </a:lnSpc>
              <a:buFontTx/>
              <a:buChar char="-"/>
              <a:defRPr/>
            </a:pP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cxnSp>
        <p:nvCxnSpPr>
          <p:cNvPr id="41" name="꺾인 연결선 40"/>
          <p:cNvCxnSpPr>
            <a:stCxn id="8" idx="2"/>
            <a:endCxn id="34" idx="0"/>
          </p:cNvCxnSpPr>
          <p:nvPr/>
        </p:nvCxnSpPr>
        <p:spPr bwMode="auto">
          <a:xfrm rot="5400000">
            <a:off x="3302248" y="1100180"/>
            <a:ext cx="492002" cy="197475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2" name="직사각형 41"/>
          <p:cNvSpPr/>
          <p:nvPr/>
        </p:nvSpPr>
        <p:spPr>
          <a:xfrm>
            <a:off x="4080347" y="2331406"/>
            <a:ext cx="918102" cy="4287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schemeClr val="tx2">
                <a:lumMod val="60000"/>
                <a:lumOff val="40000"/>
                <a:alpha val="8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975" b="1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Motor S/W</a:t>
            </a:r>
            <a:r>
              <a:rPr lang="ko-KR" altLang="en-US" sz="975" b="1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팀</a:t>
            </a:r>
          </a:p>
        </p:txBody>
      </p:sp>
      <p:sp>
        <p:nvSpPr>
          <p:cNvPr id="43" name="직사각형 42"/>
          <p:cNvSpPr/>
          <p:nvPr/>
        </p:nvSpPr>
        <p:spPr bwMode="auto">
          <a:xfrm>
            <a:off x="4080347" y="2931545"/>
            <a:ext cx="918102" cy="2155803"/>
          </a:xfrm>
          <a:prstGeom prst="rect">
            <a:avLst/>
          </a:prstGeom>
          <a:noFill/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69056" indent="-69056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모터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S/W</a:t>
            </a:r>
          </a:p>
          <a:p>
            <a:pPr defTabSz="464344" eaLnBrk="0" latinLnBrk="0" hangingPunct="0">
              <a:lnSpc>
                <a:spcPct val="150000"/>
              </a:lnSpc>
              <a:tabLst>
                <a:tab pos="0" algn="l"/>
              </a:tabLst>
              <a:defRPr/>
            </a:pPr>
            <a:r>
              <a:rPr lang="en-US" altLang="ko-KR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BLDC/DC </a:t>
            </a:r>
            <a:r>
              <a:rPr lang="ko-KR" altLang="en-US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모터</a:t>
            </a:r>
            <a:endParaRPr lang="en-US" altLang="ko-KR" sz="900" kern="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tabLst>
                <a:tab pos="0" algn="l"/>
              </a:tabLst>
              <a:defRPr/>
            </a:pPr>
            <a:r>
              <a:rPr lang="en-US" altLang="ko-KR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  ACT,R AAP </a:t>
            </a:r>
          </a:p>
          <a:p>
            <a:pPr defTabSz="464344" eaLnBrk="0" latinLnBrk="0" hangingPunct="0">
              <a:lnSpc>
                <a:spcPct val="150000"/>
              </a:lnSpc>
              <a:tabLst>
                <a:tab pos="0" algn="l"/>
              </a:tabLst>
              <a:defRPr/>
            </a:pPr>
            <a:r>
              <a:rPr lang="en-US" altLang="ko-KR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  S/W</a:t>
            </a:r>
            <a:r>
              <a:rPr lang="ko-KR" altLang="en-US" sz="9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개발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28588" indent="-128588">
              <a:lnSpc>
                <a:spcPct val="150000"/>
              </a:lnSpc>
              <a:buFontTx/>
              <a:buChar char="-"/>
              <a:defRPr/>
            </a:pP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69056" indent="-69056" defTabSz="464344" eaLnBrk="0" latin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인원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현재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: 2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명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(2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명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)</a:t>
            </a:r>
          </a:p>
          <a:p>
            <a:pPr defTabSz="464344" eaLnBrk="0" latinLnBrk="0" hangingPunct="0">
              <a:lnSpc>
                <a:spcPct val="150000"/>
              </a:lnSpc>
              <a:defRPr/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 - </a:t>
            </a:r>
            <a:r>
              <a:rPr lang="ko-KR" altLang="en-US" sz="9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연말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: 4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  <a:cs typeface="Tahoma" pitchFamily="34" charset="0"/>
              </a:rPr>
              <a:t>명</a:t>
            </a:r>
            <a:endParaRPr lang="en-US" altLang="ko-KR" sz="900" kern="0" dirty="0">
              <a:latin typeface="현대하모니 L" panose="02020603020101020101" pitchFamily="18" charset="-127"/>
              <a:ea typeface="현대하모니 L" panose="02020603020101020101" pitchFamily="18" charset="-127"/>
              <a:cs typeface="Tahoma" pitchFamily="34" charset="0"/>
            </a:endParaRPr>
          </a:p>
          <a:p>
            <a:pPr marL="128588" indent="-128588">
              <a:lnSpc>
                <a:spcPct val="150000"/>
              </a:lnSpc>
              <a:buFontTx/>
              <a:buChar char="-"/>
              <a:defRPr/>
            </a:pP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cxnSp>
        <p:nvCxnSpPr>
          <p:cNvPr id="48" name="꺾인 연결선 47"/>
          <p:cNvCxnSpPr>
            <a:stCxn id="8" idx="2"/>
            <a:endCxn id="42" idx="0"/>
          </p:cNvCxnSpPr>
          <p:nvPr/>
        </p:nvCxnSpPr>
        <p:spPr bwMode="auto">
          <a:xfrm rot="16200000" flipH="1">
            <a:off x="4292588" y="2084594"/>
            <a:ext cx="489850" cy="3773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6" name="Text Box 2"/>
          <p:cNvSpPr txBox="1">
            <a:spLocks noChangeArrowheads="1"/>
          </p:cNvSpPr>
          <p:nvPr/>
        </p:nvSpPr>
        <p:spPr bwMode="auto">
          <a:xfrm>
            <a:off x="185052" y="30390"/>
            <a:ext cx="8635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5</a:t>
            </a:r>
            <a:r>
              <a:rPr lang="en-US" altLang="ko-KR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S/W</a:t>
            </a:r>
            <a:r>
              <a:rPr lang="ko-KR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조직도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4796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45" y="1422520"/>
            <a:ext cx="6304787" cy="361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4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제안서 템플릿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spcFirstLastPara="0" vert="horz" wrap="square" lIns="429718" tIns="757682" rIns="1833422" bIns="1708658" numCol="1" spcCol="1270" anchor="ctr" anchorCtr="0">
        <a:noAutofit/>
      </a:bodyPr>
      <a:lstStyle>
        <a:defPPr algn="ctr" defTabSz="1200150" latinLnBrk="1">
          <a:lnSpc>
            <a:spcPct val="90000"/>
          </a:lnSpc>
          <a:spcBef>
            <a:spcPct val="0"/>
          </a:spcBef>
          <a:spcAft>
            <a:spcPct val="35000"/>
          </a:spcAft>
          <a:defRPr sz="2700" kern="1200" dirty="0"/>
        </a:defPPr>
      </a:lstStyle>
      <a:style>
        <a:lnRef idx="2">
          <a:schemeClr val="lt1">
            <a:hueOff val="0"/>
            <a:satOff val="0"/>
            <a:lumOff val="0"/>
            <a:alphaOff val="0"/>
          </a:schemeClr>
        </a:lnRef>
        <a:fillRef idx="1">
          <a:schemeClr val="accent1">
            <a:hueOff val="0"/>
            <a:satOff val="0"/>
            <a:lumOff val="0"/>
            <a:alphaOff val="0"/>
          </a:schemeClr>
        </a:fillRef>
        <a:effectRef idx="0">
          <a:schemeClr val="accent1">
            <a:hueOff val="0"/>
            <a:satOff val="0"/>
            <a:lumOff val="0"/>
            <a:alphaOff val="0"/>
          </a:schemeClr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4" charset="0"/>
            <a:ea typeface="굴림" pitchFamily="50" charset="-127"/>
          </a:defRPr>
        </a:defPPr>
      </a:lstStyle>
    </a:lnDef>
    <a:txDef>
      <a:spPr/>
      <a:bodyPr vert="horz" lIns="91440" tIns="45720" rIns="91440" bIns="45720" rtlCol="0">
        <a:normAutofit lnSpcReduction="10000"/>
      </a:bodyPr>
      <a:lstStyle>
        <a:defPPr latinLnBrk="0">
          <a:defRPr kern="0" dirty="0" smtClean="0"/>
        </a:defPPr>
      </a:lstStyle>
    </a:txDef>
  </a:objectDefaults>
  <a:extraClrSchemeLst>
    <a:extraClrScheme>
      <a:clrScheme name="제안서 템플릿 1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02AAE"/>
        </a:accent1>
        <a:accent2>
          <a:srgbClr val="CC5D36"/>
        </a:accent2>
        <a:accent3>
          <a:srgbClr val="FFFFFF"/>
        </a:accent3>
        <a:accent4>
          <a:srgbClr val="2A2A2A"/>
        </a:accent4>
        <a:accent5>
          <a:srgbClr val="ABACD3"/>
        </a:accent5>
        <a:accent6>
          <a:srgbClr val="B95330"/>
        </a:accent6>
        <a:hlink>
          <a:srgbClr val="1F7CD1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7047D7"/>
        </a:hlink>
        <a:folHlink>
          <a:srgbClr val="185A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3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Woory2016_RWJ</Template>
  <TotalTime>24851</TotalTime>
  <Words>944</Words>
  <Application>Microsoft Office PowerPoint</Application>
  <PresentationFormat>화면 슬라이드 쇼(4:3)</PresentationFormat>
  <Paragraphs>364</Paragraphs>
  <Slides>10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24" baseType="lpstr">
      <vt:lpstr>굴림</vt:lpstr>
      <vt:lpstr>KoPubWorld돋움체 Bold</vt:lpstr>
      <vt:lpstr>맑은 고딕</vt:lpstr>
      <vt:lpstr>현대하모니 B</vt:lpstr>
      <vt:lpstr>현대하모니 L</vt:lpstr>
      <vt:lpstr>현대하모니 M</vt:lpstr>
      <vt:lpstr>Arial</vt:lpstr>
      <vt:lpstr>Lucida Sans Unicode</vt:lpstr>
      <vt:lpstr>Tahoma</vt:lpstr>
      <vt:lpstr>Verdana</vt:lpstr>
      <vt:lpstr>Wingdings</vt:lpstr>
      <vt:lpstr>2_제안서 템플릿</vt:lpstr>
      <vt:lpstr>프레젠테이션</vt:lpstr>
      <vt:lpstr>Microsoft Word 문서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유원종</dc:creator>
  <cp:lastModifiedBy>Windows 사용자</cp:lastModifiedBy>
  <cp:revision>855</cp:revision>
  <cp:lastPrinted>2025-03-19T09:06:02Z</cp:lastPrinted>
  <dcterms:created xsi:type="dcterms:W3CDTF">2017-01-19T08:03:01Z</dcterms:created>
  <dcterms:modified xsi:type="dcterms:W3CDTF">2025-09-11T00:49:15Z</dcterms:modified>
</cp:coreProperties>
</file>