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3" r:id="rId3"/>
    <p:sldId id="267" r:id="rId4"/>
    <p:sldId id="268" r:id="rId5"/>
    <p:sldId id="269" r:id="rId6"/>
    <p:sldId id="270" r:id="rId7"/>
    <p:sldId id="271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16" autoAdjust="0"/>
  </p:normalViewPr>
  <p:slideViewPr>
    <p:cSldViewPr>
      <p:cViewPr varScale="1">
        <p:scale>
          <a:sx n="107" d="100"/>
          <a:sy n="107" d="100"/>
        </p:scale>
        <p:origin x="10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4098A-4737-423D-94AD-5CFBD91B4550}" type="datetimeFigureOut">
              <a:rPr lang="ko-KR" altLang="en-US" smtClean="0"/>
              <a:pPr/>
              <a:t>2025-03-26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30893B-D5B6-4BD4-9EBE-DEACC20011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27FB3-A66D-44CF-B0BC-3DB5B74015CD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049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2025-03-26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2025-03-26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2025-03-26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2"/>
          <p:cNvSpPr>
            <a:spLocks noChangeArrowheads="1"/>
          </p:cNvSpPr>
          <p:nvPr/>
        </p:nvSpPr>
        <p:spPr bwMode="auto">
          <a:xfrm>
            <a:off x="2015231" y="6495425"/>
            <a:ext cx="6153246" cy="3600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b="1">
              <a:latin typeface="굴림" pitchFamily="50" charset="-127"/>
            </a:endParaRPr>
          </a:p>
        </p:txBody>
      </p:sp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8172400" y="6453336"/>
            <a:ext cx="735366" cy="40838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sz="1800" b="1" dirty="0" smtClean="0">
              <a:latin typeface="굴림" pitchFamily="50" charset="-127"/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 rot="10800000" flipH="1" flipV="1">
            <a:off x="8270108" y="6508074"/>
            <a:ext cx="550364" cy="305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9" tIns="46665" rIns="93329" bIns="46665" numCol="1" anchor="ctr" anchorCtr="0" compatLnSpc="1">
            <a:prstTxWarp prst="textNoShape">
              <a:avLst/>
            </a:prstTxWarp>
          </a:bodyPr>
          <a:lstStyle>
            <a:lvl1pPr algn="r" latinLnBrk="1">
              <a:defRPr sz="1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E787F33D-FCB2-4C80-830F-8BE4806081B6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5158525" y="6652662"/>
            <a:ext cx="271901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en-US" sz="500" dirty="0" smtClean="0">
                <a:solidFill>
                  <a:srgbClr val="7F7F7F"/>
                </a:solidFill>
                <a:latin typeface="Arial" charset="0"/>
                <a:cs typeface="Arial" charset="0"/>
              </a:rPr>
              <a:t>COPYRIGHT©2014 WOORY INDUSTRIAL COMPANY, LTD. ALL RIGHTS RESERVED.</a:t>
            </a:r>
          </a:p>
        </p:txBody>
      </p:sp>
      <p:sp>
        <p:nvSpPr>
          <p:cNvPr id="7" name="TextBox 15"/>
          <p:cNvSpPr txBox="1">
            <a:spLocks noChangeArrowheads="1"/>
          </p:cNvSpPr>
          <p:nvPr/>
        </p:nvSpPr>
        <p:spPr bwMode="auto">
          <a:xfrm>
            <a:off x="2490727" y="6508402"/>
            <a:ext cx="539121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en-US" sz="800" dirty="0" smtClean="0">
                <a:solidFill>
                  <a:srgbClr val="7F7F7F"/>
                </a:solidFill>
                <a:latin typeface="Arial" charset="0"/>
                <a:cs typeface="Arial" charset="0"/>
              </a:rPr>
              <a:t>The information contained in this document may be privileged and confidential and thus protected from disclosure.</a:t>
            </a: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248575" y="3"/>
            <a:ext cx="7922347" cy="18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b="1" dirty="0" smtClean="0">
              <a:latin typeface="굴림" pitchFamily="50" charset="-127"/>
            </a:endParaRP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8170923" y="3"/>
            <a:ext cx="720000" cy="1800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b="1">
              <a:latin typeface="굴림" pitchFamily="50" charset="-127"/>
            </a:endParaRPr>
          </a:p>
        </p:txBody>
      </p:sp>
      <p:pic>
        <p:nvPicPr>
          <p:cNvPr id="10" name="Picture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99" y="6559517"/>
            <a:ext cx="1549936" cy="19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2015231" y="6453336"/>
            <a:ext cx="6153246" cy="3600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b="1">
              <a:latin typeface="굴림" pitchFamily="50" charset="-127"/>
            </a:endParaRPr>
          </a:p>
        </p:txBody>
      </p:sp>
      <p:sp>
        <p:nvSpPr>
          <p:cNvPr id="13" name="TextBox 1"/>
          <p:cNvSpPr txBox="1">
            <a:spLocks noChangeArrowheads="1"/>
          </p:cNvSpPr>
          <p:nvPr userDrawn="1"/>
        </p:nvSpPr>
        <p:spPr bwMode="auto">
          <a:xfrm>
            <a:off x="5158525" y="6652662"/>
            <a:ext cx="271901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en-US" sz="500" dirty="0" smtClean="0">
                <a:solidFill>
                  <a:srgbClr val="7F7F7F"/>
                </a:solidFill>
                <a:latin typeface="Arial" charset="0"/>
                <a:cs typeface="Arial" charset="0"/>
              </a:rPr>
              <a:t>COPYRIGHT©2014 WOORY INDUSTRIAL COMPANY, LTD. ALL RIGHTS RESERVED.</a:t>
            </a:r>
          </a:p>
        </p:txBody>
      </p:sp>
      <p:sp>
        <p:nvSpPr>
          <p:cNvPr id="14" name="TextBox 15"/>
          <p:cNvSpPr txBox="1">
            <a:spLocks noChangeArrowheads="1"/>
          </p:cNvSpPr>
          <p:nvPr userDrawn="1"/>
        </p:nvSpPr>
        <p:spPr bwMode="auto">
          <a:xfrm>
            <a:off x="2490727" y="6508402"/>
            <a:ext cx="539121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en-US" sz="800" dirty="0" smtClean="0">
                <a:solidFill>
                  <a:srgbClr val="7F7F7F"/>
                </a:solidFill>
                <a:latin typeface="Arial" charset="0"/>
                <a:cs typeface="Arial" charset="0"/>
              </a:rPr>
              <a:t>The information contained in this document may be privileged and confidential and thus protected from disclosure.</a:t>
            </a:r>
          </a:p>
        </p:txBody>
      </p:sp>
      <p:sp>
        <p:nvSpPr>
          <p:cNvPr id="15" name="Rectangle 12"/>
          <p:cNvSpPr>
            <a:spLocks noChangeArrowheads="1"/>
          </p:cNvSpPr>
          <p:nvPr userDrawn="1"/>
        </p:nvSpPr>
        <p:spPr bwMode="auto">
          <a:xfrm>
            <a:off x="248575" y="3"/>
            <a:ext cx="7922347" cy="18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b="1" dirty="0" smtClean="0">
              <a:latin typeface="굴림" pitchFamily="50" charset="-127"/>
            </a:endParaRPr>
          </a:p>
        </p:txBody>
      </p:sp>
      <p:sp>
        <p:nvSpPr>
          <p:cNvPr id="16" name="Rectangle 12"/>
          <p:cNvSpPr>
            <a:spLocks noChangeArrowheads="1"/>
          </p:cNvSpPr>
          <p:nvPr userDrawn="1"/>
        </p:nvSpPr>
        <p:spPr bwMode="auto">
          <a:xfrm>
            <a:off x="8170923" y="3"/>
            <a:ext cx="720000" cy="1800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b="1">
              <a:latin typeface="굴림" pitchFamily="50" charset="-127"/>
            </a:endParaRPr>
          </a:p>
        </p:txBody>
      </p:sp>
      <p:pic>
        <p:nvPicPr>
          <p:cNvPr id="17" name="Picture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99" y="6559517"/>
            <a:ext cx="1549936" cy="19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8" name="직선 연결선 17"/>
          <p:cNvCxnSpPr/>
          <p:nvPr userDrawn="1"/>
        </p:nvCxnSpPr>
        <p:spPr bwMode="auto">
          <a:xfrm>
            <a:off x="179512" y="548680"/>
            <a:ext cx="8856984" cy="1"/>
          </a:xfrm>
          <a:prstGeom prst="line">
            <a:avLst/>
          </a:prstGeom>
          <a:noFill/>
          <a:ln w="25400" cap="flat" cmpd="sng" algn="ctr"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>
            <a:outerShdw blurRad="558800" dist="50800" dir="5400000" algn="ctr" rotWithShape="0">
              <a:srgbClr val="000000">
                <a:alpha val="43137"/>
              </a:srgbClr>
            </a:outerShdw>
          </a:effectLst>
        </p:spPr>
      </p:cxnSp>
      <p:sp>
        <p:nvSpPr>
          <p:cNvPr id="19" name="TextBox 18"/>
          <p:cNvSpPr txBox="1"/>
          <p:nvPr userDrawn="1"/>
        </p:nvSpPr>
        <p:spPr>
          <a:xfrm rot="19769790">
            <a:off x="2727567" y="3118398"/>
            <a:ext cx="4290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white">
                    <a:lumMod val="50000"/>
                    <a:alpha val="2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CONFIDENTIAL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white">
                    <a:lumMod val="50000"/>
                    <a:alpha val="2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본 자료는 우리산업주식회사의 소유 자산으로 사용 용도 외 불법유출 시 </a:t>
            </a:r>
            <a:endParaRPr kumimoji="0" lang="en-US" altLang="ko-KR" sz="900" b="1" i="0" u="none" strike="noStrike" kern="1200" cap="none" spc="0" normalizeH="0" baseline="0" noProof="0" dirty="0">
              <a:ln>
                <a:solidFill>
                  <a:prstClr val="black">
                    <a:alpha val="20000"/>
                  </a:prstClr>
                </a:solidFill>
              </a:ln>
              <a:solidFill>
                <a:prstClr val="white">
                  <a:lumMod val="50000"/>
                  <a:alpha val="20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white">
                    <a:lumMod val="50000"/>
                    <a:alpha val="2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관계법령 및 회사 규정에 의해 처벌받게 됩니다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white">
                    <a:lumMod val="50000"/>
                    <a:alpha val="2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7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19" name="Picture 46"/>
          <p:cNvPicPr>
            <a:picLocks noChangeAspect="1" noChangeArrowheads="1"/>
          </p:cNvPicPr>
          <p:nvPr userDrawn="1"/>
        </p:nvPicPr>
        <p:blipFill>
          <a:blip r:embed="rId2" cstate="print"/>
          <a:srcRect l="36575" b="-2045"/>
          <a:stretch>
            <a:fillRect/>
          </a:stretch>
        </p:blipFill>
        <p:spPr bwMode="auto">
          <a:xfrm>
            <a:off x="252414" y="2655217"/>
            <a:ext cx="1498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2348882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22193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E3FF9-2D19-4BE8-9A64-3FBAD4C12BA1}" type="datetimeFigureOut">
              <a:rPr lang="ko-KR" altLang="en-US" smtClean="0"/>
              <a:pPr/>
              <a:t>2025-03-26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white">
          <a:xfrm>
            <a:off x="3442028" y="4758380"/>
            <a:ext cx="2658757" cy="30546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385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Woory R&amp;D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white">
          <a:xfrm>
            <a:off x="7097819" y="6170442"/>
            <a:ext cx="1528785" cy="2343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923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2025.03.26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752" y="2420888"/>
            <a:ext cx="65341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 smtClean="0"/>
              <a:t>ES95489-24 </a:t>
            </a:r>
            <a:r>
              <a:rPr lang="ko-KR" altLang="en-US" sz="4000" dirty="0" smtClean="0"/>
              <a:t>차수 별 차이점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94474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88640"/>
            <a:ext cx="5187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■ </a:t>
            </a:r>
            <a:r>
              <a:rPr lang="en-US" altLang="ko-KR" dirty="0" smtClean="0"/>
              <a:t>ES95489-24 </a:t>
            </a:r>
            <a:r>
              <a:rPr lang="ko-KR" altLang="en-US" dirty="0" smtClean="0"/>
              <a:t>차수 별 차이점 </a:t>
            </a:r>
            <a:r>
              <a:rPr lang="en-US" altLang="ko-KR" dirty="0" smtClean="0"/>
              <a:t>- 2. </a:t>
            </a:r>
            <a:r>
              <a:rPr lang="ko-KR" altLang="en-US" dirty="0" smtClean="0"/>
              <a:t>대상 및 범위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903290"/>
            <a:ext cx="7705725" cy="218122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3429000"/>
            <a:ext cx="7743825" cy="2181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1795" y="717791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REV 01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010760" y="2996952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REV 03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6804248" y="2276871"/>
            <a:ext cx="1344670" cy="224281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066837" y="2527882"/>
            <a:ext cx="4482316" cy="224281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6651812" y="4679411"/>
            <a:ext cx="1541930" cy="233248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228165" y="4921459"/>
            <a:ext cx="6965577" cy="233248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228165" y="5190400"/>
            <a:ext cx="5728447" cy="233248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1766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88640"/>
            <a:ext cx="4875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■ </a:t>
            </a:r>
            <a:r>
              <a:rPr lang="en-US" altLang="ko-KR" dirty="0" smtClean="0"/>
              <a:t>ES95489-24 </a:t>
            </a:r>
            <a:r>
              <a:rPr lang="ko-KR" altLang="en-US" dirty="0" smtClean="0"/>
              <a:t>차수 별 차이점 </a:t>
            </a:r>
            <a:r>
              <a:rPr lang="en-US" altLang="ko-KR" dirty="0" smtClean="0"/>
              <a:t>- 3. </a:t>
            </a:r>
            <a:r>
              <a:rPr lang="ko-KR" altLang="en-US" dirty="0" smtClean="0"/>
              <a:t>용어 정의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860" y="836712"/>
            <a:ext cx="5411396" cy="281483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3651545"/>
            <a:ext cx="5411396" cy="27161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576" y="2059462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REV 01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89693" y="5085184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REV 03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505200" y="3254023"/>
            <a:ext cx="2510117" cy="260142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505200" y="5961364"/>
            <a:ext cx="3397624" cy="260142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478306" y="2626659"/>
            <a:ext cx="1792941" cy="134470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38272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88640"/>
            <a:ext cx="5211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■ </a:t>
            </a:r>
            <a:r>
              <a:rPr lang="en-US" altLang="ko-KR" dirty="0" smtClean="0"/>
              <a:t>ES95489-24 </a:t>
            </a:r>
            <a:r>
              <a:rPr lang="ko-KR" altLang="en-US" dirty="0" smtClean="0"/>
              <a:t>차수 별 차이점 </a:t>
            </a:r>
            <a:r>
              <a:rPr lang="en-US" altLang="ko-KR" dirty="0" smtClean="0"/>
              <a:t>– 4. </a:t>
            </a:r>
            <a:r>
              <a:rPr lang="ko-KR" altLang="en-US" dirty="0" smtClean="0"/>
              <a:t>규정 및 정책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628800"/>
            <a:ext cx="4433570" cy="470837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074" y="1628800"/>
            <a:ext cx="4274234" cy="46905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63688" y="971291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REV 01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012160" y="982742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REV 03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824753" y="3137483"/>
            <a:ext cx="3684494" cy="179458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10988" y="3307811"/>
            <a:ext cx="2501153" cy="179459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957482" y="3612613"/>
            <a:ext cx="3827929" cy="672516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10988" y="3827764"/>
            <a:ext cx="3039036" cy="179460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34788" y="5085064"/>
            <a:ext cx="3497132" cy="485156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892040" y="5974080"/>
            <a:ext cx="3368040" cy="312420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26954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88640"/>
            <a:ext cx="5628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■ </a:t>
            </a:r>
            <a:r>
              <a:rPr lang="en-US" altLang="ko-KR" dirty="0" smtClean="0"/>
              <a:t>ES95489-24 </a:t>
            </a:r>
            <a:r>
              <a:rPr lang="ko-KR" altLang="en-US" dirty="0" smtClean="0"/>
              <a:t>차수 별 차이점 </a:t>
            </a:r>
            <a:r>
              <a:rPr lang="en-US" altLang="ko-KR" dirty="0" smtClean="0"/>
              <a:t>– 5. </a:t>
            </a:r>
            <a:r>
              <a:rPr lang="ko-KR" altLang="en-US" dirty="0" smtClean="0"/>
              <a:t>검증 프로세스</a:t>
            </a:r>
            <a:r>
              <a:rPr lang="en-US" altLang="ko-KR" smtClean="0"/>
              <a:t>(1)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51" y="1628800"/>
            <a:ext cx="4143218" cy="43924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1628800"/>
            <a:ext cx="4464496" cy="43204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63688" y="971291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REV 01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012160" y="982742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REV 03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4921623" y="4258070"/>
            <a:ext cx="251012" cy="161530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885765" y="5306940"/>
            <a:ext cx="3962400" cy="376683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13118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88640"/>
            <a:ext cx="5628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■ </a:t>
            </a:r>
            <a:r>
              <a:rPr lang="en-US" altLang="ko-KR" dirty="0" smtClean="0"/>
              <a:t>ES95489-24 </a:t>
            </a:r>
            <a:r>
              <a:rPr lang="ko-KR" altLang="en-US" dirty="0" smtClean="0"/>
              <a:t>차수 별 차이점 </a:t>
            </a:r>
            <a:r>
              <a:rPr lang="en-US" altLang="ko-KR" dirty="0" smtClean="0"/>
              <a:t>– 5. </a:t>
            </a:r>
            <a:r>
              <a:rPr lang="ko-KR" altLang="en-US" dirty="0" smtClean="0"/>
              <a:t>검증 프로세스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3212976"/>
            <a:ext cx="4427984" cy="279570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565" y="1124744"/>
            <a:ext cx="4507435" cy="53285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58869" y="2708920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REV 01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27655" y="669232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REV 03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5187952" y="1639507"/>
            <a:ext cx="199836" cy="162399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78704" y="3737249"/>
            <a:ext cx="262589" cy="144470"/>
          </a:xfrm>
          <a:prstGeom prst="rect">
            <a:avLst/>
          </a:prstGeom>
          <a:solidFill>
            <a:srgbClr val="FF0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901080" y="1989131"/>
            <a:ext cx="4189131" cy="2762163"/>
          </a:xfrm>
          <a:prstGeom prst="rect">
            <a:avLst/>
          </a:prstGeom>
          <a:solidFill>
            <a:srgbClr val="FF0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0330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88640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■ </a:t>
            </a:r>
            <a:r>
              <a:rPr lang="en-US" altLang="ko-KR" dirty="0" smtClean="0"/>
              <a:t>ES95489-24 </a:t>
            </a:r>
            <a:r>
              <a:rPr lang="ko-KR" altLang="en-US" dirty="0" smtClean="0"/>
              <a:t>차수 별 차이점 </a:t>
            </a:r>
            <a:r>
              <a:rPr lang="en-US" altLang="ko-KR" dirty="0" smtClean="0"/>
              <a:t>– </a:t>
            </a:r>
            <a:r>
              <a:rPr lang="en-US" altLang="ko-KR" dirty="0" smtClean="0"/>
              <a:t>6. </a:t>
            </a:r>
            <a:r>
              <a:rPr lang="ko-KR" altLang="en-US" dirty="0" smtClean="0"/>
              <a:t>부록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2" y="1907349"/>
            <a:ext cx="4211960" cy="399292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991" y="1916832"/>
            <a:ext cx="4388495" cy="39739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17285" y="1412776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REV 01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44208" y="1412776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REV 03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4921661" y="2420889"/>
            <a:ext cx="3935825" cy="504055"/>
          </a:xfrm>
          <a:prstGeom prst="rect">
            <a:avLst/>
          </a:prstGeom>
          <a:solidFill>
            <a:srgbClr val="FF0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380603" y="2734654"/>
            <a:ext cx="250974" cy="196805"/>
          </a:xfrm>
          <a:prstGeom prst="rect">
            <a:avLst/>
          </a:prstGeom>
          <a:solidFill>
            <a:srgbClr val="FF0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43148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7662</TotalTime>
  <Words>99</Words>
  <Application>Microsoft Office PowerPoint</Application>
  <PresentationFormat>화면 슬라이드 쇼(4:3)</PresentationFormat>
  <Paragraphs>22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굴림</vt:lpstr>
      <vt:lpstr>맑은 고딕</vt:lpstr>
      <vt:lpstr>Arial</vt:lpstr>
      <vt:lpstr>Arial Black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Windows 사용자</cp:lastModifiedBy>
  <cp:revision>209</cp:revision>
  <dcterms:created xsi:type="dcterms:W3CDTF">2024-02-23T01:38:31Z</dcterms:created>
  <dcterms:modified xsi:type="dcterms:W3CDTF">2025-03-26T04:20:22Z</dcterms:modified>
</cp:coreProperties>
</file>