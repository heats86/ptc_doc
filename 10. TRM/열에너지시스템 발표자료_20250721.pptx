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2"/>
  </p:notesMasterIdLst>
  <p:handoutMasterIdLst>
    <p:handoutMasterId r:id="rId13"/>
  </p:handoutMasterIdLst>
  <p:sldIdLst>
    <p:sldId id="376" r:id="rId2"/>
    <p:sldId id="403" r:id="rId3"/>
    <p:sldId id="375" r:id="rId4"/>
    <p:sldId id="408" r:id="rId5"/>
    <p:sldId id="404" r:id="rId6"/>
    <p:sldId id="407" r:id="rId7"/>
    <p:sldId id="405" r:id="rId8"/>
    <p:sldId id="406" r:id="rId9"/>
    <p:sldId id="409" r:id="rId10"/>
    <p:sldId id="374" r:id="rId11"/>
  </p:sldIdLst>
  <p:sldSz cx="9144000" cy="6858000" type="screen4x3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33CC"/>
    <a:srgbClr val="292929"/>
    <a:srgbClr val="FFCCC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93" autoAdjust="0"/>
    <p:restoredTop sz="96366" autoAdjust="0"/>
  </p:normalViewPr>
  <p:slideViewPr>
    <p:cSldViewPr>
      <p:cViewPr varScale="1">
        <p:scale>
          <a:sx n="111" d="100"/>
          <a:sy n="111" d="100"/>
        </p:scale>
        <p:origin x="1152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A0A09-F79E-4E1C-94EF-A9CDB14FAB86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516A5-FCA7-4019-9F45-ACFE87C5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176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0F085-D220-4030-9252-85FF14D74EC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D7A53-7C0D-41B0-9B33-B25E1C149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56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0608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텍스트 개체 틀 17"/>
          <p:cNvSpPr>
            <a:spLocks noGrp="1"/>
          </p:cNvSpPr>
          <p:nvPr>
            <p:ph type="body" sz="quarter" idx="11"/>
          </p:nvPr>
        </p:nvSpPr>
        <p:spPr>
          <a:xfrm>
            <a:off x="261104" y="1052736"/>
            <a:ext cx="8621712" cy="21599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2"/>
          </p:nvPr>
        </p:nvSpPr>
        <p:spPr>
          <a:xfrm>
            <a:off x="260350" y="620688"/>
            <a:ext cx="8622466" cy="3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1936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0994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5592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89343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799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9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9070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3209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4690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57477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727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CE45-C522-4B4E-ACAF-B03B54DE6B3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9E013-E273-469B-BDC2-80CD8EE9E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37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5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굴림" charset="-127"/>
              <a:cs typeface="+mn-cs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Rectangle 27"/>
          <p:cNvSpPr>
            <a:spLocks noChangeArrowheads="1"/>
          </p:cNvSpPr>
          <p:nvPr userDrawn="1"/>
        </p:nvSpPr>
        <p:spPr bwMode="auto">
          <a:xfrm>
            <a:off x="6732612" y="6575678"/>
            <a:ext cx="720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t>P.</a:t>
            </a:r>
            <a:fld id="{11AA4A1D-7CD0-4031-A480-D0E2C071605E}" type="slidenum"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7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627784" y="2492896"/>
            <a:ext cx="51125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3200" b="1" dirty="0" smtClean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S/W </a:t>
            </a:r>
            <a:r>
              <a:rPr lang="ko-KR" altLang="en-US" sz="3200" b="1" dirty="0" smtClean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개발 프로세스 및 역량</a:t>
            </a:r>
            <a:endParaRPr lang="en-US" altLang="ko-KR" sz="3200" b="1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55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목차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403648" y="1268760"/>
            <a:ext cx="3350597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ES253EE 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검토</a:t>
            </a:r>
            <a:endParaRPr lang="en-US" altLang="ko-KR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SW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능력</a:t>
            </a:r>
            <a:endParaRPr lang="en-US" altLang="ko-KR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SW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강화 방안</a:t>
            </a:r>
            <a:endParaRPr lang="en-US" altLang="ko-KR" sz="28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Ⅳ.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인력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확충 계획</a:t>
            </a:r>
            <a:endParaRPr lang="en-US" altLang="ko-KR" sz="2800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5</a:t>
            </a:r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ALM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도입</a:t>
            </a:r>
            <a:endParaRPr lang="en-US" altLang="ko-KR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6. </a:t>
            </a:r>
            <a:r>
              <a:rPr lang="ko-KR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강화방안 요약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2731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ES253EE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검토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598831"/>
            <a:ext cx="8707428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/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ES253EE vs ASPICE / SPQA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244705"/>
              </p:ext>
            </p:extLst>
          </p:nvPr>
        </p:nvGraphicFramePr>
        <p:xfrm>
          <a:off x="467544" y="929856"/>
          <a:ext cx="8208913" cy="55915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5246">
                  <a:extLst>
                    <a:ext uri="{9D8B030D-6E8A-4147-A177-3AD203B41FA5}">
                      <a16:colId xmlns:a16="http://schemas.microsoft.com/office/drawing/2014/main" val="4114201015"/>
                    </a:ext>
                  </a:extLst>
                </a:gridCol>
                <a:gridCol w="1727002">
                  <a:extLst>
                    <a:ext uri="{9D8B030D-6E8A-4147-A177-3AD203B41FA5}">
                      <a16:colId xmlns:a16="http://schemas.microsoft.com/office/drawing/2014/main" val="101462003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13772687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30922481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224091761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1735194646"/>
                    </a:ext>
                  </a:extLst>
                </a:gridCol>
              </a:tblGrid>
              <a:tr h="11123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Process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Activity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산출물</a:t>
                      </a:r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자체 수행 경험</a:t>
                      </a:r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41920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ES253EE-00 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ASPICE </a:t>
                      </a:r>
                      <a:r>
                        <a:rPr lang="en-US" sz="900" b="1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4.0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SPQA</a:t>
                      </a:r>
                      <a:endParaRPr lang="en-US" altLang="ko-KR" sz="900" b="1" i="0" u="none" strike="noStrike" smtClean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i="0" u="none" strike="noStrike" smtClean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98282"/>
                  </a:ext>
                </a:extLst>
              </a:tr>
              <a:tr h="111237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요구사항 분석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Customer Requirements Analysis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441402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Requirements Specification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SYS.2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SYS.2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695385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아키텍처 설계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Architecture Design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41343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FMEA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842090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단계 테스트 계획 수립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Test Plan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SYS.4, 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SYS.4, 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609871"/>
                  </a:ext>
                </a:extLst>
              </a:tr>
              <a:tr h="218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요구사항 테스트 케이스 설계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Requirements Test Case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80948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통합 테스트 케이스 설계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Integration Test Case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864488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통합 테스트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Integration Test Report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666755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인정 테스트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Qualification Test Report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567479"/>
                  </a:ext>
                </a:extLst>
              </a:tr>
              <a:tr h="114633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분석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Requirements Specification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198772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상세설계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Detailed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02694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디자인리뷰</a:t>
                      </a:r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회로</a:t>
                      </a:r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/PCB)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Design Review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155657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테스트 계획 수립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Test Plan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HWE.3, HWE.4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933881"/>
                  </a:ext>
                </a:extLst>
              </a:tr>
              <a:tr h="218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Requirements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548228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Design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18892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Design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725657"/>
                  </a:ext>
                </a:extLst>
              </a:tr>
              <a:tr h="114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Requirements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959717"/>
                  </a:ext>
                </a:extLst>
              </a:tr>
              <a:tr h="111237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분석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Requirements Specification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837349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아키텍처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Architecture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906436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FMEA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211411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상세설계 및 구현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Detailed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SWE.3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SWE.3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868465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단계 테스트 계획 수립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Test Plan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SWE.4, SWE.5, 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SWE.4, SWE.5, 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97369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Requirements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941405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통합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Integration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075981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단위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Unit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119820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단위 검증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Unit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78687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Static Analysis Result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822488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통합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Integration Test Result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706954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Requirement Test Result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728403"/>
                  </a:ext>
                </a:extLst>
              </a:tr>
              <a:tr h="111237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요구사항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Requirements Specification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73086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아키텍처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Architecture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798523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Detailed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127975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설계 리뷰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Design Review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838437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Design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232167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통합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Integraion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8796"/>
                  </a:ext>
                </a:extLst>
              </a:tr>
              <a:tr h="1112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요구사항 테스트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Requirements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dirty="0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altLang="ko-KR" sz="900" b="0" i="0" u="none" strike="noStrike" dirty="0" smtClean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62475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36488" y="721030"/>
            <a:ext cx="1656185" cy="216024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92500" lnSpcReduction="10000"/>
          </a:bodyPr>
          <a:lstStyle/>
          <a:p>
            <a:pPr latinLnBrk="0"/>
            <a:r>
              <a:rPr lang="en-US" altLang="ko-KR" sz="10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O </a:t>
            </a:r>
            <a:r>
              <a:rPr lang="en-US" altLang="ko-KR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완료</a:t>
            </a:r>
            <a:r>
              <a:rPr lang="en-US" altLang="ko-KR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△</a:t>
            </a:r>
            <a:r>
              <a:rPr lang="en-US" altLang="ko-KR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: </a:t>
            </a:r>
            <a:r>
              <a:rPr lang="ko-KR" altLang="en-US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수행 중</a:t>
            </a:r>
            <a:r>
              <a:rPr lang="en-US" altLang="ko-KR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X : </a:t>
            </a:r>
            <a:r>
              <a:rPr lang="ko-KR" altLang="en-US" sz="10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미수행</a:t>
            </a:r>
          </a:p>
        </p:txBody>
      </p:sp>
    </p:spTree>
    <p:extLst>
      <p:ext uri="{BB962C8B-B14F-4D97-AF65-F5344CB8AC3E}">
        <p14:creationId xmlns:p14="http://schemas.microsoft.com/office/powerpoint/2010/main" val="196393002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1536" y="709699"/>
            <a:ext cx="4602972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ko-KR" altLang="en-US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현재 우리 산업의 수준</a:t>
            </a:r>
            <a:endParaRPr lang="en-US" altLang="ko-KR" kern="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SW </a:t>
            </a:r>
            <a:r>
              <a:rPr lang="ko-KR" altLang="en-US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능력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651017" y="1144712"/>
            <a:ext cx="2308256" cy="144016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▣ </a:t>
            </a:r>
            <a:r>
              <a:rPr lang="ko-KR" altLang="en-US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경험적 </a:t>
            </a:r>
            <a:r>
              <a:rPr lang="ko-KR" altLang="en-US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측면</a:t>
            </a:r>
            <a:endParaRPr lang="ko-KR" altLang="en-US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637582" y="2654164"/>
            <a:ext cx="2308256" cy="178294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▣ 실제 현 상황</a:t>
            </a:r>
            <a:endParaRPr lang="en-US" altLang="ko-KR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28812" y="4506404"/>
            <a:ext cx="2308256" cy="20189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▣ 개선 추진 내용</a:t>
            </a:r>
            <a:endParaRPr lang="en-US" altLang="ko-KR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3031281" y="1145670"/>
            <a:ext cx="5544616" cy="144016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0000" tIns="0" rIns="0" bIns="0" numCol="1" spcCol="1270" rtlCol="0" anchor="ctr" anchorCtr="0">
            <a:noAutofit/>
          </a:bodyPr>
          <a:lstStyle/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chemeClr val="tx1"/>
                </a:solidFill>
              </a:rPr>
              <a:t>SPQA,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ASPICE</a:t>
            </a:r>
            <a:r>
              <a:rPr lang="en-US" altLang="ko-KR" sz="1500">
                <a:solidFill>
                  <a:schemeClr val="tx1"/>
                </a:solidFill>
              </a:rPr>
              <a:t> CL1, ASPICE CL2 </a:t>
            </a:r>
            <a:r>
              <a:rPr lang="ko-KR" altLang="en-US" sz="1500">
                <a:solidFill>
                  <a:schemeClr val="tx1"/>
                </a:solidFill>
              </a:rPr>
              <a:t>수행 경험 有</a:t>
            </a:r>
            <a:endParaRPr lang="en-US" altLang="ko-KR" sz="1500">
              <a:solidFill>
                <a:schemeClr val="tx1"/>
              </a:solidFill>
            </a:endParaRPr>
          </a:p>
          <a:p>
            <a:pPr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500">
                <a:solidFill>
                  <a:schemeClr val="tx1"/>
                </a:solidFill>
              </a:rPr>
              <a:t>  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외부 컨설팅 및 용역 진행</a:t>
            </a:r>
            <a:endParaRPr lang="ko-KR" altLang="en-US" sz="150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3031281" y="2654164"/>
            <a:ext cx="5544616" cy="1782947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0000" tIns="0" rIns="0" bIns="0" numCol="1" spcCol="1270" rtlCol="0" anchor="ctr" anchorCtr="0">
            <a:noAutofit/>
          </a:bodyPr>
          <a:lstStyle/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SPQA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수행 가능 수준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- SPQA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육성 프로젝트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회차 진행 중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기구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기계 베이스의 업무 노하우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SW </a:t>
            </a:r>
            <a:r>
              <a:rPr lang="ko-KR" altLang="en-US" sz="150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역량</a:t>
            </a:r>
            <a:r>
              <a:rPr lang="en-US" altLang="ko-KR" sz="150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50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인력 부족</a:t>
            </a:r>
            <a:endParaRPr lang="ko-KR" altLang="en-US" sz="150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031281" y="4505445"/>
            <a:ext cx="5544616" cy="2019899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0000" tIns="0" rIns="0" bIns="0" numCol="1" spcCol="1270" rtlCol="0" anchor="ctr" anchorCtr="0">
            <a:noAutofit/>
          </a:bodyPr>
          <a:lstStyle/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ASPICE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팀 인력 충원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(3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 6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명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)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S/W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설계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검증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Engineering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실무진 인력 충원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설계 인력 충원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(0 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 6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명</a:t>
            </a: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)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endParaRPr lang="en-US" altLang="ko-KR" sz="150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285750" indent="-285750" defTabSz="12001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§"/>
            </a:pPr>
            <a:r>
              <a:rPr lang="en-US" altLang="ko-KR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ALM Tools </a:t>
            </a:r>
            <a:r>
              <a:rPr lang="ko-KR" altLang="en-US" sz="15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도입</a:t>
            </a:r>
            <a:endParaRPr lang="en-US" altLang="ko-KR" sz="1500" dirty="0">
              <a:solidFill>
                <a:schemeClr val="tx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38021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2. SW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능력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47644" y="1126556"/>
            <a:ext cx="3887035" cy="5170437"/>
            <a:chOff x="3016781" y="-917849"/>
            <a:chExt cx="3887035" cy="5170437"/>
          </a:xfrm>
        </p:grpSpPr>
        <p:sp>
          <p:nvSpPr>
            <p:cNvPr id="30" name="오른쪽 화살표 29"/>
            <p:cNvSpPr/>
            <p:nvPr/>
          </p:nvSpPr>
          <p:spPr>
            <a:xfrm>
              <a:off x="4326934" y="2708920"/>
              <a:ext cx="504056" cy="154366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9718" tIns="757682" rIns="1833422" bIns="1708658" numCol="1" spcCol="1270" rtlCol="0" anchor="ctr" anchorCtr="0">
              <a:noAutofit/>
            </a:bodyPr>
            <a:lstStyle/>
            <a:p>
              <a:pPr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2700" kern="1200" dirty="0"/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3016781" y="-917849"/>
              <a:ext cx="3837746" cy="5022439"/>
            </a:xfrm>
            <a:prstGeom prst="roundRect">
              <a:avLst>
                <a:gd name="adj" fmla="val 5730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9718" tIns="757682" rIns="1833422" bIns="1708658" numCol="1" spcCol="1270" rtlCol="0" anchor="ctr" anchorCtr="0">
              <a:noAutofit/>
            </a:bodyPr>
            <a:lstStyle/>
            <a:p>
              <a:pPr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2700" kern="1200" dirty="0"/>
            </a:p>
          </p:txBody>
        </p:sp>
        <p:sp>
          <p:nvSpPr>
            <p:cNvPr id="74" name="모서리가 둥근 직사각형 73"/>
            <p:cNvSpPr/>
            <p:nvPr/>
          </p:nvSpPr>
          <p:spPr>
            <a:xfrm>
              <a:off x="3018834" y="2348881"/>
              <a:ext cx="3835693" cy="1763254"/>
            </a:xfrm>
            <a:prstGeom prst="roundRect">
              <a:avLst>
                <a:gd name="adj" fmla="val 102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000" tIns="43200" rIns="90000" bIns="43200" numCol="1" spcCol="127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수행 가능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SW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 인력 부족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〮시스템 조직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검증 조직 無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ALM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시스템 미 구축 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3037265" y="-506081"/>
              <a:ext cx="3866551" cy="28392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CL1, CL2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수행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해외 차종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외부 용역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/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컨설팅을 통한 업무 수행</a:t>
              </a:r>
              <a:endParaRPr lang="en-US" altLang="ko-KR" sz="13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2024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육성 프로젝트 수행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현대 </a:t>
              </a:r>
              <a:r>
                <a:rPr lang="en-US" altLang="ko-KR" sz="1300" dirty="0" err="1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MEa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차종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- </a:t>
              </a:r>
              <a:r>
                <a:rPr lang="ko-KR" altLang="en-US" sz="1300" dirty="0" smtClean="0">
                  <a:solidFill>
                    <a:srgbClr val="3333FF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完</a:t>
              </a:r>
              <a:endParaRPr lang="en-US" altLang="ko-KR" sz="1300" dirty="0" smtClean="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Software Engineering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2025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육성 프로젝트 수행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현대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QV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차종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 dirty="0">
                  <a:solidFill>
                    <a:srgbClr val="3333FF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</a:t>
              </a:r>
              <a:r>
                <a:rPr lang="ko-KR" altLang="en-US" sz="1300" dirty="0" smtClean="0">
                  <a:solidFill>
                    <a:srgbClr val="3333FF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中</a:t>
              </a:r>
              <a:endParaRPr lang="en-US" altLang="ko-KR" sz="1300" dirty="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-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System Engineering / Software Engineering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sp>
        <p:nvSpPr>
          <p:cNvPr id="33" name="모서리가 둥근 직사각형 32"/>
          <p:cNvSpPr/>
          <p:nvPr/>
        </p:nvSpPr>
        <p:spPr>
          <a:xfrm>
            <a:off x="1630915" y="869061"/>
            <a:ext cx="1271204" cy="514991"/>
          </a:xfrm>
          <a:prstGeom prst="roundRect">
            <a:avLst>
              <a:gd name="adj" fmla="val 25384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600" kern="120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AS-IS</a:t>
            </a:r>
            <a:endParaRPr lang="ko-KR" altLang="en-US" sz="1600" kern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4938794" y="1126556"/>
            <a:ext cx="3837746" cy="5029984"/>
            <a:chOff x="3016781" y="-917849"/>
            <a:chExt cx="3837746" cy="5029984"/>
          </a:xfrm>
        </p:grpSpPr>
        <p:sp>
          <p:nvSpPr>
            <p:cNvPr id="82" name="모서리가 둥근 직사각형 81"/>
            <p:cNvSpPr/>
            <p:nvPr/>
          </p:nvSpPr>
          <p:spPr>
            <a:xfrm>
              <a:off x="3016781" y="-917849"/>
              <a:ext cx="3837746" cy="5022439"/>
            </a:xfrm>
            <a:prstGeom prst="roundRect">
              <a:avLst>
                <a:gd name="adj" fmla="val 5730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9718" tIns="757682" rIns="1833422" bIns="1708658" numCol="1" spcCol="1270" rtlCol="0" anchor="ctr" anchorCtr="0">
              <a:noAutofit/>
            </a:bodyPr>
            <a:lstStyle/>
            <a:p>
              <a:pPr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2700" kern="1200" dirty="0"/>
            </a:p>
          </p:txBody>
        </p:sp>
        <p:sp>
          <p:nvSpPr>
            <p:cNvPr id="83" name="모서리가 둥근 직사각형 82"/>
            <p:cNvSpPr/>
            <p:nvPr/>
          </p:nvSpPr>
          <p:spPr>
            <a:xfrm>
              <a:off x="3018834" y="2348881"/>
              <a:ext cx="3835693" cy="1763254"/>
            </a:xfrm>
            <a:prstGeom prst="roundRect">
              <a:avLst>
                <a:gd name="adj" fmla="val 102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000" tIns="43200" rIns="90000" bIns="43200" numCol="1" spcCol="127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SW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 인력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확보</a:t>
              </a:r>
              <a:endParaRPr lang="en-US" altLang="ko-KR" sz="1300" dirty="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시스템 조직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검증 조직 구축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ALM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시스템 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(Teamer)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구축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완료 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(6/12)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SW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인력 육성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3037265" y="-506081"/>
              <a:ext cx="3804949" cy="24929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CL2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예정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해외차종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예정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2026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육성 프로젝트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수행</a:t>
              </a:r>
              <a:r>
                <a:rPr lang="en-US" altLang="ko-KR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현대 차종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예정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ES95411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소프트웨어 분석 수행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- 2025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개발 </a:t>
              </a:r>
              <a:r>
                <a:rPr lang="ko-KR" altLang="en-US" sz="1300" dirty="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차종 이후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부터 </a:t>
              </a: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ES95411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필수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예정</a:t>
              </a: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sp>
        <p:nvSpPr>
          <p:cNvPr id="85" name="모서리가 둥근 직사각형 84"/>
          <p:cNvSpPr/>
          <p:nvPr/>
        </p:nvSpPr>
        <p:spPr>
          <a:xfrm>
            <a:off x="6222065" y="869061"/>
            <a:ext cx="1271204" cy="514991"/>
          </a:xfrm>
          <a:prstGeom prst="roundRect">
            <a:avLst>
              <a:gd name="adj" fmla="val 25384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6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TO-BE</a:t>
            </a:r>
            <a:endParaRPr lang="ko-KR" altLang="en-US" sz="16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77" name="줄무늬가 있는 오른쪽 화살표 76"/>
          <p:cNvSpPr/>
          <p:nvPr/>
        </p:nvSpPr>
        <p:spPr>
          <a:xfrm>
            <a:off x="4234679" y="2839261"/>
            <a:ext cx="654826" cy="1152128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2700" kern="1200" dirty="0"/>
          </a:p>
        </p:txBody>
      </p:sp>
    </p:spTree>
    <p:extLst>
      <p:ext uri="{BB962C8B-B14F-4D97-AF65-F5344CB8AC3E}">
        <p14:creationId xmlns:p14="http://schemas.microsoft.com/office/powerpoint/2010/main" val="115361464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SW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강화 방안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413280" y="2048090"/>
            <a:ext cx="3933929" cy="3491892"/>
            <a:chOff x="2510279" y="1268426"/>
            <a:chExt cx="6606289" cy="5220418"/>
          </a:xfrm>
        </p:grpSpPr>
        <p:sp>
          <p:nvSpPr>
            <p:cNvPr id="15" name="이등변 삼각형 14"/>
            <p:cNvSpPr/>
            <p:nvPr/>
          </p:nvSpPr>
          <p:spPr>
            <a:xfrm>
              <a:off x="3657598" y="2316535"/>
              <a:ext cx="4356342" cy="3124200"/>
            </a:xfrm>
            <a:prstGeom prst="triangle">
              <a:avLst>
                <a:gd name="adj" fmla="val 48957"/>
              </a:avLst>
            </a:prstGeom>
            <a:gradFill>
              <a:gsLst>
                <a:gs pos="11000">
                  <a:schemeClr val="bg1">
                    <a:lumMod val="65000"/>
                    <a:alpha val="66000"/>
                  </a:schemeClr>
                </a:gs>
                <a:gs pos="0">
                  <a:srgbClr val="E8D8AA"/>
                </a:gs>
              </a:gsLst>
              <a:lin ang="5400000" scaled="1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16" name="순서도: 연결자 15"/>
            <p:cNvSpPr/>
            <p:nvPr/>
          </p:nvSpPr>
          <p:spPr>
            <a:xfrm>
              <a:off x="4649636" y="1268426"/>
              <a:ext cx="2303253" cy="2096219"/>
            </a:xfrm>
            <a:prstGeom prst="flowChartConnector">
              <a:avLst/>
            </a:prstGeom>
            <a:gradFill>
              <a:gsLst>
                <a:gs pos="100000">
                  <a:schemeClr val="accent1">
                    <a:lumMod val="10000"/>
                    <a:lumOff val="90000"/>
                    <a:alpha val="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24000">
                  <a:schemeClr val="accent1">
                    <a:lumMod val="45000"/>
                    <a:lumOff val="55000"/>
                  </a:schemeClr>
                </a:gs>
                <a:gs pos="45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17" name="순서도: 연결자 16"/>
            <p:cNvSpPr/>
            <p:nvPr/>
          </p:nvSpPr>
          <p:spPr>
            <a:xfrm>
              <a:off x="6813314" y="4349120"/>
              <a:ext cx="2303254" cy="2096220"/>
            </a:xfrm>
            <a:prstGeom prst="flowChartConnector">
              <a:avLst/>
            </a:prstGeom>
            <a:gradFill>
              <a:gsLst>
                <a:gs pos="0">
                  <a:srgbClr val="C00000">
                    <a:alpha val="67000"/>
                    <a:lumMod val="56000"/>
                    <a:lumOff val="44000"/>
                  </a:srgb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19" name="순서도: 연결자 18"/>
            <p:cNvSpPr/>
            <p:nvPr/>
          </p:nvSpPr>
          <p:spPr>
            <a:xfrm>
              <a:off x="2510279" y="4392624"/>
              <a:ext cx="2303254" cy="2096220"/>
            </a:xfrm>
            <a:prstGeom prst="flowChartConnector">
              <a:avLst/>
            </a:prstGeom>
            <a:gradFill flip="none" rotWithShape="1">
              <a:gsLst>
                <a:gs pos="91000">
                  <a:srgbClr val="92D050">
                    <a:alpha val="23000"/>
                  </a:srgbClr>
                </a:gs>
                <a:gs pos="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29769" y="2054925"/>
              <a:ext cx="1342988" cy="460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smtClean="0"/>
                <a:t>사람</a:t>
              </a:r>
              <a:endParaRPr lang="ko-KR" altLang="en-US" sz="1400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34972" y="5095637"/>
              <a:ext cx="1653867" cy="690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/>
                <a:t>시스템</a:t>
              </a:r>
              <a:endParaRPr lang="en-US" altLang="ko-KR" sz="1200" b="1" dirty="0" smtClean="0"/>
            </a:p>
            <a:p>
              <a:pPr algn="ctr"/>
              <a:r>
                <a:rPr lang="ko-KR" altLang="en-US" sz="1200" b="1" dirty="0" smtClean="0"/>
                <a:t>프로세스</a:t>
              </a:r>
              <a:endParaRPr lang="ko-KR" altLang="en-US" sz="1200" b="1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93446" y="5167164"/>
              <a:ext cx="1342988" cy="460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smtClean="0"/>
                <a:t>조직</a:t>
              </a:r>
              <a:endParaRPr lang="ko-KR" altLang="en-US" sz="1400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42880" y="3694511"/>
              <a:ext cx="2601974" cy="1171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b="1" dirty="0" smtClean="0">
                  <a:solidFill>
                    <a:srgbClr val="0000FF"/>
                  </a:solidFill>
                </a:rPr>
                <a:t>S/W</a:t>
              </a:r>
              <a:r>
                <a:rPr lang="ko-KR" altLang="en-US" sz="1600" b="1" dirty="0" smtClean="0">
                  <a:solidFill>
                    <a:srgbClr val="0000FF"/>
                  </a:solidFill>
                </a:rPr>
                <a:t>가 </a:t>
              </a:r>
              <a:endParaRPr lang="en-US" altLang="ko-KR" sz="1600" b="1" dirty="0" smtClean="0">
                <a:solidFill>
                  <a:srgbClr val="0000FF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600" b="1" dirty="0" smtClean="0">
                  <a:solidFill>
                    <a:srgbClr val="0000FF"/>
                  </a:solidFill>
                </a:rPr>
                <a:t>강한 회사</a:t>
              </a:r>
              <a:endParaRPr lang="ko-KR" altLang="en-US" sz="16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462256" y="1124744"/>
            <a:ext cx="2214199" cy="1603317"/>
          </a:xfrm>
          <a:prstGeom prst="rect">
            <a:avLst/>
          </a:prstGeom>
          <a:gradFill>
            <a:gsLst>
              <a:gs pos="100000">
                <a:schemeClr val="accent1">
                  <a:lumMod val="10000"/>
                  <a:lumOff val="90000"/>
                  <a:alpha val="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24000">
                <a:schemeClr val="accent1">
                  <a:lumMod val="45000"/>
                  <a:lumOff val="55000"/>
                </a:schemeClr>
              </a:gs>
              <a:gs pos="45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400"/>
              </a:spcBef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인력 충원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현재 업무 환경 개선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l">
              <a:spcBef>
                <a:spcPts val="400"/>
              </a:spcBef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ko-KR" sz="1200" smtClean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20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smtClean="0">
                <a:solidFill>
                  <a:schemeClr val="tx1"/>
                </a:solidFill>
                <a:latin typeface="+mn-ea"/>
              </a:rPr>
              <a:t>이탈 방지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능력 보상제도 추진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l">
              <a:spcBef>
                <a:spcPts val="400"/>
              </a:spcBef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3.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업무 역량 강화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S/W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개발 역량 육성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l">
              <a:spcBef>
                <a:spcPts val="400"/>
              </a:spcBef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  교육 진행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(3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가지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33119" y="4766081"/>
            <a:ext cx="2304155" cy="1255208"/>
          </a:xfrm>
          <a:prstGeom prst="rect">
            <a:avLst/>
          </a:prstGeom>
          <a:gradFill>
            <a:gsLst>
              <a:gs pos="0">
                <a:srgbClr val="C00000">
                  <a:alpha val="67000"/>
                  <a:lumMod val="56000"/>
                  <a:lumOff val="44000"/>
                </a:srgb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28600" indent="-228600" algn="l">
              <a:lnSpc>
                <a:spcPct val="150000"/>
              </a:lnSpc>
              <a:buAutoNum type="arabicPeriod"/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S/W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연구소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평가 전담 조직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시스템 설계 조직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컨트롤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타워조직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사장직속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4634822"/>
            <a:ext cx="2141206" cy="1458473"/>
          </a:xfrm>
          <a:prstGeom prst="rect">
            <a:avLst/>
          </a:prstGeom>
          <a:gradFill flip="none" rotWithShape="1">
            <a:gsLst>
              <a:gs pos="91000">
                <a:srgbClr val="92D050">
                  <a:alpha val="23000"/>
                </a:srgbClr>
              </a:gs>
              <a:gs pos="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</a:rPr>
              <a:t>1.</a:t>
            </a:r>
            <a:r>
              <a:rPr lang="ko-KR" altLang="en-US" sz="1300" dirty="0" smtClean="0">
                <a:solidFill>
                  <a:schemeClr val="tx1"/>
                </a:solidFill>
              </a:rPr>
              <a:t> </a:t>
            </a:r>
            <a:r>
              <a:rPr lang="en-US" altLang="ko-KR" sz="1300" dirty="0">
                <a:solidFill>
                  <a:schemeClr val="tx1"/>
                </a:solidFill>
              </a:rPr>
              <a:t>ASPICE </a:t>
            </a:r>
            <a:r>
              <a:rPr lang="ko-KR" altLang="en-US" sz="1300" dirty="0" smtClean="0">
                <a:solidFill>
                  <a:schemeClr val="tx1"/>
                </a:solidFill>
              </a:rPr>
              <a:t>프로세스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</a:rPr>
              <a:t>2.</a:t>
            </a:r>
            <a:r>
              <a:rPr lang="ko-KR" altLang="en-US" sz="1300" dirty="0" smtClean="0">
                <a:solidFill>
                  <a:schemeClr val="tx1"/>
                </a:solidFill>
              </a:rPr>
              <a:t> </a:t>
            </a:r>
            <a:r>
              <a:rPr lang="en-US" altLang="ko-KR" sz="1300" dirty="0" smtClean="0">
                <a:solidFill>
                  <a:schemeClr val="tx1"/>
                </a:solidFill>
              </a:rPr>
              <a:t>Organization 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</a:rPr>
              <a:t>   Process </a:t>
            </a:r>
            <a:r>
              <a:rPr lang="ko-KR" altLang="en-US" sz="1300" dirty="0" smtClean="0">
                <a:solidFill>
                  <a:schemeClr val="tx1"/>
                </a:solidFill>
              </a:rPr>
              <a:t>구축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300" dirty="0">
                <a:solidFill>
                  <a:schemeClr val="tx1"/>
                </a:solidFill>
              </a:rPr>
              <a:t>3. </a:t>
            </a:r>
            <a:r>
              <a:rPr lang="en-US" altLang="ko-KR" sz="1300" dirty="0" smtClean="0">
                <a:solidFill>
                  <a:schemeClr val="tx1"/>
                </a:solidFill>
              </a:rPr>
              <a:t>ALM, </a:t>
            </a:r>
            <a:r>
              <a:rPr lang="ko-KR" altLang="en-US" sz="1300" dirty="0" smtClean="0">
                <a:solidFill>
                  <a:schemeClr val="tx1"/>
                </a:solidFill>
              </a:rPr>
              <a:t>도입</a:t>
            </a:r>
            <a:r>
              <a:rPr lang="en-US" altLang="ko-KR" sz="1300" dirty="0" smtClean="0">
                <a:solidFill>
                  <a:schemeClr val="tx1"/>
                </a:solidFill>
              </a:rPr>
              <a:t>(</a:t>
            </a:r>
            <a:r>
              <a:rPr lang="ko-KR" altLang="en-US" sz="1300" dirty="0" smtClean="0">
                <a:solidFill>
                  <a:schemeClr val="tx1"/>
                </a:solidFill>
              </a:rPr>
              <a:t>완료</a:t>
            </a:r>
            <a:r>
              <a:rPr lang="en-US" altLang="ko-KR" sz="1300" dirty="0" smtClean="0">
                <a:solidFill>
                  <a:schemeClr val="tx1"/>
                </a:solidFill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1"/>
                </a:solidFill>
              </a:rPr>
              <a:t>   </a:t>
            </a:r>
            <a:r>
              <a:rPr lang="ko-KR" altLang="en-US" sz="1300" dirty="0" smtClean="0">
                <a:solidFill>
                  <a:schemeClr val="tx1"/>
                </a:solidFill>
              </a:rPr>
              <a:t>평가 장비</a:t>
            </a:r>
            <a:r>
              <a:rPr lang="en-US" altLang="ko-KR" sz="1300" dirty="0" smtClean="0">
                <a:solidFill>
                  <a:schemeClr val="tx1"/>
                </a:solidFill>
              </a:rPr>
              <a:t>, Tool </a:t>
            </a:r>
            <a:r>
              <a:rPr lang="ko-KR" altLang="en-US" sz="1300" dirty="0" smtClean="0">
                <a:solidFill>
                  <a:schemeClr val="tx1"/>
                </a:solidFill>
              </a:rPr>
              <a:t>확충</a:t>
            </a:r>
            <a:endParaRPr lang="en-US" altLang="ko-KR" sz="1300" dirty="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232802" y="764704"/>
            <a:ext cx="4123174" cy="556725"/>
          </a:xfrm>
          <a:prstGeom prst="roundRect">
            <a:avLst>
              <a:gd name="adj" fmla="val 2832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76200" dist="88900"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S/W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 강한 회사를 만들 </a:t>
            </a:r>
            <a:r>
              <a:rPr lang="ko-KR" altLang="en-US" b="1" dirty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방안은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?</a:t>
            </a:r>
            <a:endParaRPr lang="ko-KR" altLang="en-US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31" name="꺾인 연결선 30"/>
          <p:cNvCxnSpPr>
            <a:stCxn id="19" idx="0"/>
            <a:endCxn id="28" idx="0"/>
          </p:cNvCxnSpPr>
          <p:nvPr/>
        </p:nvCxnSpPr>
        <p:spPr bwMode="auto">
          <a:xfrm rot="16200000" flipH="1" flipV="1">
            <a:off x="1926093" y="3461860"/>
            <a:ext cx="496983" cy="1848939"/>
          </a:xfrm>
          <a:prstGeom prst="bentConnector3">
            <a:avLst>
              <a:gd name="adj1" fmla="val -45998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26" idx="1"/>
            <a:endCxn id="16" idx="6"/>
          </p:cNvCxnSpPr>
          <p:nvPr/>
        </p:nvCxnSpPr>
        <p:spPr bwMode="auto">
          <a:xfrm rot="10800000" flipV="1">
            <a:off x="5058776" y="1926402"/>
            <a:ext cx="1403480" cy="822759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27" idx="2"/>
            <a:endCxn id="17" idx="4"/>
          </p:cNvCxnSpPr>
          <p:nvPr/>
        </p:nvCxnSpPr>
        <p:spPr bwMode="auto">
          <a:xfrm rot="5400000" flipH="1">
            <a:off x="6468113" y="4704206"/>
            <a:ext cx="510407" cy="2123761"/>
          </a:xfrm>
          <a:prstGeom prst="bentConnector3">
            <a:avLst>
              <a:gd name="adj1" fmla="val -44788"/>
            </a:avLst>
          </a:prstGeom>
          <a:ln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72634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4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인력 확충 계획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551678"/>
              </p:ext>
            </p:extLst>
          </p:nvPr>
        </p:nvGraphicFramePr>
        <p:xfrm>
          <a:off x="467544" y="1052736"/>
          <a:ext cx="8110850" cy="501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400">
                  <a:extLst>
                    <a:ext uri="{9D8B030D-6E8A-4147-A177-3AD203B41FA5}">
                      <a16:colId xmlns:a16="http://schemas.microsoft.com/office/drawing/2014/main" val="1479242346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569391942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05272615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2352358466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375102155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593586151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706711329"/>
                    </a:ext>
                  </a:extLst>
                </a:gridCol>
              </a:tblGrid>
              <a:tr h="2507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62915"/>
                  </a:ext>
                </a:extLst>
              </a:tr>
              <a:tr h="250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185516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739573"/>
              </p:ext>
            </p:extLst>
          </p:nvPr>
        </p:nvGraphicFramePr>
        <p:xfrm>
          <a:off x="466929" y="1598022"/>
          <a:ext cx="8111464" cy="14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160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856416">
                  <a:extLst>
                    <a:ext uri="{9D8B030D-6E8A-4147-A177-3AD203B41FA5}">
                      <a16:colId xmlns:a16="http://schemas.microsoft.com/office/drawing/2014/main" val="3526050526"/>
                    </a:ext>
                  </a:extLst>
                </a:gridCol>
                <a:gridCol w="1184151">
                  <a:extLst>
                    <a:ext uri="{9D8B030D-6E8A-4147-A177-3AD203B41FA5}">
                      <a16:colId xmlns:a16="http://schemas.microsoft.com/office/drawing/2014/main" val="4178754301"/>
                    </a:ext>
                  </a:extLst>
                </a:gridCol>
                <a:gridCol w="1144679">
                  <a:extLst>
                    <a:ext uri="{9D8B030D-6E8A-4147-A177-3AD203B41FA5}">
                      <a16:colId xmlns:a16="http://schemas.microsoft.com/office/drawing/2014/main" val="1679776094"/>
                    </a:ext>
                  </a:extLst>
                </a:gridCol>
                <a:gridCol w="1170994">
                  <a:extLst>
                    <a:ext uri="{9D8B030D-6E8A-4147-A177-3AD203B41FA5}">
                      <a16:colId xmlns:a16="http://schemas.microsoft.com/office/drawing/2014/main" val="3428437559"/>
                    </a:ext>
                  </a:extLst>
                </a:gridCol>
                <a:gridCol w="1138102">
                  <a:extLst>
                    <a:ext uri="{9D8B030D-6E8A-4147-A177-3AD203B41FA5}">
                      <a16:colId xmlns:a16="http://schemas.microsoft.com/office/drawing/2014/main" val="793339416"/>
                    </a:ext>
                  </a:extLst>
                </a:gridCol>
                <a:gridCol w="1159481">
                  <a:extLst>
                    <a:ext uri="{9D8B030D-6E8A-4147-A177-3AD203B41FA5}">
                      <a16:colId xmlns:a16="http://schemas.microsoft.com/office/drawing/2014/main" val="542704367"/>
                    </a:ext>
                  </a:extLst>
                </a:gridCol>
                <a:gridCol w="1159481">
                  <a:extLst>
                    <a:ext uri="{9D8B030D-6E8A-4147-A177-3AD203B41FA5}">
                      <a16:colId xmlns:a16="http://schemas.microsoft.com/office/drawing/2014/main" val="281196241"/>
                    </a:ext>
                  </a:extLst>
                </a:gridCol>
              </a:tblGrid>
              <a:tr h="36200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</a:t>
                      </a: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0033CC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200" b="1" dirty="0">
                        <a:solidFill>
                          <a:srgbClr val="0033CC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75432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PTC/ATC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24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0033CC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30</a:t>
                      </a:r>
                      <a:endParaRPr lang="ko-KR" altLang="en-US" sz="1200" b="1" dirty="0">
                        <a:solidFill>
                          <a:srgbClr val="0033CC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Autosar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2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185567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TFT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판넬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8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141977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415492"/>
              </p:ext>
            </p:extLst>
          </p:nvPr>
        </p:nvGraphicFramePr>
        <p:xfrm>
          <a:off x="461232" y="3118030"/>
          <a:ext cx="8117160" cy="1052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538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1185468">
                  <a:extLst>
                    <a:ext uri="{9D8B030D-6E8A-4147-A177-3AD203B41FA5}">
                      <a16:colId xmlns:a16="http://schemas.microsoft.com/office/drawing/2014/main" val="1998885316"/>
                    </a:ext>
                  </a:extLst>
                </a:gridCol>
                <a:gridCol w="1145952">
                  <a:extLst>
                    <a:ext uri="{9D8B030D-6E8A-4147-A177-3AD203B41FA5}">
                      <a16:colId xmlns:a16="http://schemas.microsoft.com/office/drawing/2014/main" val="1737226638"/>
                    </a:ext>
                  </a:extLst>
                </a:gridCol>
                <a:gridCol w="1172295">
                  <a:extLst>
                    <a:ext uri="{9D8B030D-6E8A-4147-A177-3AD203B41FA5}">
                      <a16:colId xmlns:a16="http://schemas.microsoft.com/office/drawing/2014/main" val="2943608832"/>
                    </a:ext>
                  </a:extLst>
                </a:gridCol>
                <a:gridCol w="1139367">
                  <a:extLst>
                    <a:ext uri="{9D8B030D-6E8A-4147-A177-3AD203B41FA5}">
                      <a16:colId xmlns:a16="http://schemas.microsoft.com/office/drawing/2014/main" val="723357333"/>
                    </a:ext>
                  </a:extLst>
                </a:gridCol>
                <a:gridCol w="1160770">
                  <a:extLst>
                    <a:ext uri="{9D8B030D-6E8A-4147-A177-3AD203B41FA5}">
                      <a16:colId xmlns:a16="http://schemas.microsoft.com/office/drawing/2014/main" val="2537071695"/>
                    </a:ext>
                  </a:extLst>
                </a:gridCol>
                <a:gridCol w="1160770">
                  <a:extLst>
                    <a:ext uri="{9D8B030D-6E8A-4147-A177-3AD203B41FA5}">
                      <a16:colId xmlns:a16="http://schemas.microsoft.com/office/drawing/2014/main" val="1417145887"/>
                    </a:ext>
                  </a:extLst>
                </a:gridCol>
              </a:tblGrid>
              <a:tr h="105238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인증 </a:t>
                      </a:r>
                      <a:r>
                        <a:rPr lang="ko-KR" altLang="en-US" sz="100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대응팀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buFontTx/>
                        <a:buChar char="-"/>
                      </a:pPr>
                      <a:r>
                        <a:rPr lang="en-US" altLang="ko-KR" sz="1000" baseline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ASPICE/SPQA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FUSA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372354"/>
              </p:ext>
            </p:extLst>
          </p:nvPr>
        </p:nvGraphicFramePr>
        <p:xfrm>
          <a:off x="473437" y="4265984"/>
          <a:ext cx="8104954" cy="1732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82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861635">
                  <a:extLst>
                    <a:ext uri="{9D8B030D-6E8A-4147-A177-3AD203B41FA5}">
                      <a16:colId xmlns:a16="http://schemas.microsoft.com/office/drawing/2014/main" val="3748132761"/>
                    </a:ext>
                  </a:extLst>
                </a:gridCol>
                <a:gridCol w="1190503">
                  <a:extLst>
                    <a:ext uri="{9D8B030D-6E8A-4147-A177-3AD203B41FA5}">
                      <a16:colId xmlns:a16="http://schemas.microsoft.com/office/drawing/2014/main" val="1998885316"/>
                    </a:ext>
                  </a:extLst>
                </a:gridCol>
                <a:gridCol w="1151038">
                  <a:extLst>
                    <a:ext uri="{9D8B030D-6E8A-4147-A177-3AD203B41FA5}">
                      <a16:colId xmlns:a16="http://schemas.microsoft.com/office/drawing/2014/main" val="1737226638"/>
                    </a:ext>
                  </a:extLst>
                </a:gridCol>
                <a:gridCol w="1164194">
                  <a:extLst>
                    <a:ext uri="{9D8B030D-6E8A-4147-A177-3AD203B41FA5}">
                      <a16:colId xmlns:a16="http://schemas.microsoft.com/office/drawing/2014/main" val="2943608832"/>
                    </a:ext>
                  </a:extLst>
                </a:gridCol>
                <a:gridCol w="1135690">
                  <a:extLst>
                    <a:ext uri="{9D8B030D-6E8A-4147-A177-3AD203B41FA5}">
                      <a16:colId xmlns:a16="http://schemas.microsoft.com/office/drawing/2014/main" val="723357333"/>
                    </a:ext>
                  </a:extLst>
                </a:gridCol>
                <a:gridCol w="1160356">
                  <a:extLst>
                    <a:ext uri="{9D8B030D-6E8A-4147-A177-3AD203B41FA5}">
                      <a16:colId xmlns:a16="http://schemas.microsoft.com/office/drawing/2014/main" val="2537071695"/>
                    </a:ext>
                  </a:extLst>
                </a:gridCol>
                <a:gridCol w="1160356">
                  <a:extLst>
                    <a:ext uri="{9D8B030D-6E8A-4147-A177-3AD203B41FA5}">
                      <a16:colId xmlns:a16="http://schemas.microsoft.com/office/drawing/2014/main" val="1417145887"/>
                    </a:ext>
                  </a:extLst>
                </a:gridCol>
              </a:tblGrid>
              <a:tr h="334031">
                <a:tc rowSpan="5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dirty="0" smtClean="0">
                          <a:solidFill>
                            <a:schemeClr val="lt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평가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ATC&amp;PTC</a:t>
                      </a:r>
                    </a:p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로직 검증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10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  <a:tr h="334032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동</a:t>
                      </a:r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ko-KR" altLang="en-US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정적 검증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3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99876"/>
                  </a:ext>
                </a:extLst>
              </a:tr>
              <a:tr h="334032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ES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757099"/>
                  </a:ext>
                </a:extLst>
              </a:tr>
              <a:tr h="334031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FUSA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038163"/>
                  </a:ext>
                </a:extLst>
              </a:tr>
              <a:tr h="33403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ASPICE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3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327388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821112"/>
              </p:ext>
            </p:extLst>
          </p:nvPr>
        </p:nvGraphicFramePr>
        <p:xfrm>
          <a:off x="473438" y="6068420"/>
          <a:ext cx="81049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662">
                  <a:extLst>
                    <a:ext uri="{9D8B030D-6E8A-4147-A177-3AD203B41FA5}">
                      <a16:colId xmlns:a16="http://schemas.microsoft.com/office/drawing/2014/main" val="2013886810"/>
                    </a:ext>
                  </a:extLst>
                </a:gridCol>
                <a:gridCol w="1203657">
                  <a:extLst>
                    <a:ext uri="{9D8B030D-6E8A-4147-A177-3AD203B41FA5}">
                      <a16:colId xmlns:a16="http://schemas.microsoft.com/office/drawing/2014/main" val="3491111307"/>
                    </a:ext>
                  </a:extLst>
                </a:gridCol>
                <a:gridCol w="1151038">
                  <a:extLst>
                    <a:ext uri="{9D8B030D-6E8A-4147-A177-3AD203B41FA5}">
                      <a16:colId xmlns:a16="http://schemas.microsoft.com/office/drawing/2014/main" val="2003287564"/>
                    </a:ext>
                  </a:extLst>
                </a:gridCol>
                <a:gridCol w="1164193">
                  <a:extLst>
                    <a:ext uri="{9D8B030D-6E8A-4147-A177-3AD203B41FA5}">
                      <a16:colId xmlns:a16="http://schemas.microsoft.com/office/drawing/2014/main" val="13301066"/>
                    </a:ext>
                  </a:extLst>
                </a:gridCol>
                <a:gridCol w="1131307">
                  <a:extLst>
                    <a:ext uri="{9D8B030D-6E8A-4147-A177-3AD203B41FA5}">
                      <a16:colId xmlns:a16="http://schemas.microsoft.com/office/drawing/2014/main" val="2120787336"/>
                    </a:ext>
                  </a:extLst>
                </a:gridCol>
                <a:gridCol w="1162549">
                  <a:extLst>
                    <a:ext uri="{9D8B030D-6E8A-4147-A177-3AD203B41FA5}">
                      <a16:colId xmlns:a16="http://schemas.microsoft.com/office/drawing/2014/main" val="667650461"/>
                    </a:ext>
                  </a:extLst>
                </a:gridCol>
                <a:gridCol w="1162549">
                  <a:extLst>
                    <a:ext uri="{9D8B030D-6E8A-4147-A177-3AD203B41FA5}">
                      <a16:colId xmlns:a16="http://schemas.microsoft.com/office/drawing/2014/main" val="1803596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39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2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68</a:t>
                      </a:r>
                      <a:endParaRPr lang="ko-KR" altLang="en-US" sz="12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128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147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818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23528" y="548680"/>
            <a:ext cx="7992888" cy="613216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4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인력 확보 및 조직 신설을 통한 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S/W </a:t>
            </a:r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능력 확대</a:t>
            </a:r>
            <a:endParaRPr lang="en-US" altLang="ko-KR" sz="1400" kern="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17399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5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ALM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도입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41829"/>
          <a:stretch/>
        </p:blipFill>
        <p:spPr>
          <a:xfrm>
            <a:off x="361935" y="1340768"/>
            <a:ext cx="8458537" cy="489769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61935" y="582439"/>
            <a:ext cx="7992888" cy="613216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92500" lnSpcReduction="20000"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4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ALM </a:t>
            </a:r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구축 完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/>
            </a:r>
            <a:b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ko-KR" altLang="en-US" sz="1400" kern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ALM </a:t>
            </a:r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활성화 및 빠른 정착을 위해 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ASPICE </a:t>
            </a:r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프로젝트 이외 모든 프로젝트에 사용 권고</a:t>
            </a:r>
            <a:endParaRPr lang="en-US" altLang="ko-KR" sz="1400" kern="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85519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6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강화방안 요약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99592" y="661247"/>
            <a:ext cx="6984776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 smtClean="0"/>
              <a:t>역량강화를 위한 전사적 노력 </a:t>
            </a:r>
            <a:r>
              <a:rPr lang="en-US" altLang="ko-KR" sz="1400" dirty="0" smtClean="0"/>
              <a:t>(7</a:t>
            </a:r>
            <a:r>
              <a:rPr lang="ko-KR" altLang="en-US" sz="1400" dirty="0" smtClean="0"/>
              <a:t>월</a:t>
            </a:r>
            <a:r>
              <a:rPr lang="en-US" altLang="ko-KR" sz="1400" dirty="0" smtClean="0"/>
              <a:t>2</a:t>
            </a:r>
            <a:r>
              <a:rPr lang="ko-KR" altLang="en-US" sz="1400" dirty="0" smtClean="0"/>
              <a:t>일 회장님 보고 완료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1043608" y="1196752"/>
            <a:ext cx="6048672" cy="50321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 1. </a:t>
            </a:r>
            <a:r>
              <a:rPr lang="ko-KR" altLang="en-US" sz="1600" dirty="0" smtClean="0"/>
              <a:t>인력 확대 </a:t>
            </a:r>
            <a:r>
              <a:rPr lang="en-US" altLang="ko-KR" sz="1600" dirty="0" smtClean="0"/>
              <a:t>(39</a:t>
            </a:r>
            <a:r>
              <a:rPr lang="ko-KR" altLang="en-US" sz="1600" dirty="0" smtClean="0"/>
              <a:t>명</a:t>
            </a:r>
            <a:r>
              <a:rPr lang="en-US" altLang="ko-KR" sz="1600" dirty="0" smtClean="0"/>
              <a:t> </a:t>
            </a:r>
            <a:r>
              <a:rPr lang="en-US" altLang="ko-KR" sz="1600" dirty="0" smtClean="0">
                <a:sym typeface="Wingdings" panose="05000000000000000000" pitchFamily="2" charset="2"/>
              </a:rPr>
              <a:t> 68</a:t>
            </a:r>
            <a:r>
              <a:rPr lang="ko-KR" altLang="en-US" sz="1600" dirty="0" smtClean="0">
                <a:sym typeface="Wingdings" panose="05000000000000000000" pitchFamily="2" charset="2"/>
              </a:rPr>
              <a:t>명</a:t>
            </a:r>
            <a:r>
              <a:rPr lang="en-US" altLang="ko-KR" sz="1600" dirty="0" smtClean="0">
                <a:sym typeface="Wingdings" panose="05000000000000000000" pitchFamily="2" charset="2"/>
              </a:rPr>
              <a:t>, 25</a:t>
            </a:r>
            <a:r>
              <a:rPr lang="ko-KR" altLang="en-US" sz="1600" dirty="0" smtClean="0">
                <a:sym typeface="Wingdings" panose="05000000000000000000" pitchFamily="2" charset="2"/>
              </a:rPr>
              <a:t>년 내 </a:t>
            </a:r>
            <a:r>
              <a:rPr lang="en-US" altLang="ko-KR" sz="1600" dirty="0" smtClean="0">
                <a:sym typeface="Wingdings" panose="05000000000000000000" pitchFamily="2" charset="2"/>
              </a:rPr>
              <a:t>29</a:t>
            </a:r>
            <a:r>
              <a:rPr lang="ko-KR" altLang="en-US" sz="1600" dirty="0" smtClean="0">
                <a:sym typeface="Wingdings" panose="05000000000000000000" pitchFamily="2" charset="2"/>
              </a:rPr>
              <a:t>명 충원</a:t>
            </a:r>
            <a:r>
              <a:rPr lang="en-US" altLang="ko-KR" sz="1600" dirty="0" smtClean="0"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ym typeface="Wingdings" panose="05000000000000000000" pitchFamily="2" charset="2"/>
              </a:rPr>
              <a:t>   - S/W </a:t>
            </a:r>
            <a:r>
              <a:rPr lang="ko-KR" altLang="en-US" sz="1400" dirty="0" smtClean="0">
                <a:sym typeface="Wingdings" panose="05000000000000000000" pitchFamily="2" charset="2"/>
              </a:rPr>
              <a:t>개발 </a:t>
            </a:r>
            <a:r>
              <a:rPr lang="en-US" altLang="ko-KR" sz="1400" dirty="0" smtClean="0">
                <a:sym typeface="Wingdings" panose="05000000000000000000" pitchFamily="2" charset="2"/>
              </a:rPr>
              <a:t>: 29</a:t>
            </a:r>
            <a:r>
              <a:rPr lang="ko-KR" altLang="en-US" sz="1400" dirty="0" smtClean="0">
                <a:sym typeface="Wingdings" panose="05000000000000000000" pitchFamily="2" charset="2"/>
              </a:rPr>
              <a:t>명 </a:t>
            </a:r>
            <a:r>
              <a:rPr lang="en-US" altLang="ko-KR" sz="1400" dirty="0" smtClean="0">
                <a:sym typeface="Wingdings" panose="05000000000000000000" pitchFamily="2" charset="2"/>
              </a:rPr>
              <a:t> 46</a:t>
            </a:r>
            <a:r>
              <a:rPr lang="ko-KR" altLang="en-US" sz="1400" dirty="0" smtClean="0">
                <a:sym typeface="Wingdings" panose="05000000000000000000" pitchFamily="2" charset="2"/>
              </a:rPr>
              <a:t>명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  - </a:t>
            </a:r>
            <a:r>
              <a:rPr lang="ko-KR" altLang="en-US" sz="1400" dirty="0" smtClean="0">
                <a:sym typeface="Wingdings" panose="05000000000000000000" pitchFamily="2" charset="2"/>
              </a:rPr>
              <a:t>검증</a:t>
            </a:r>
            <a:r>
              <a:rPr lang="en-US" altLang="ko-KR" sz="1400" dirty="0" smtClean="0">
                <a:sym typeface="Wingdings" panose="05000000000000000000" pitchFamily="2" charset="2"/>
              </a:rPr>
              <a:t>/</a:t>
            </a:r>
            <a:r>
              <a:rPr lang="ko-KR" altLang="en-US" sz="1400" dirty="0" smtClean="0">
                <a:sym typeface="Wingdings" panose="05000000000000000000" pitchFamily="2" charset="2"/>
              </a:rPr>
              <a:t>평가 </a:t>
            </a:r>
            <a:r>
              <a:rPr lang="en-US" altLang="ko-KR" sz="1400" dirty="0" smtClean="0">
                <a:sym typeface="Wingdings" panose="05000000000000000000" pitchFamily="2" charset="2"/>
              </a:rPr>
              <a:t>: 7</a:t>
            </a:r>
            <a:r>
              <a:rPr lang="ko-KR" altLang="en-US" sz="1400" dirty="0" smtClean="0">
                <a:sym typeface="Wingdings" panose="05000000000000000000" pitchFamily="2" charset="2"/>
              </a:rPr>
              <a:t>명 </a:t>
            </a:r>
            <a:r>
              <a:rPr lang="en-US" altLang="ko-KR" sz="1400" dirty="0" smtClean="0">
                <a:sym typeface="Wingdings" panose="05000000000000000000" pitchFamily="2" charset="2"/>
              </a:rPr>
              <a:t> 16</a:t>
            </a:r>
            <a:r>
              <a:rPr lang="ko-KR" altLang="en-US" sz="1400" dirty="0" smtClean="0">
                <a:sym typeface="Wingdings" panose="05000000000000000000" pitchFamily="2" charset="2"/>
              </a:rPr>
              <a:t>명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  - ASPICE : 3</a:t>
            </a:r>
            <a:r>
              <a:rPr lang="ko-KR" altLang="en-US" sz="1400" dirty="0" smtClean="0">
                <a:sym typeface="Wingdings" panose="05000000000000000000" pitchFamily="2" charset="2"/>
              </a:rPr>
              <a:t>명 </a:t>
            </a:r>
            <a:r>
              <a:rPr lang="en-US" altLang="ko-KR" sz="1400" dirty="0" smtClean="0">
                <a:sym typeface="Wingdings" panose="05000000000000000000" pitchFamily="2" charset="2"/>
              </a:rPr>
              <a:t> 6</a:t>
            </a:r>
            <a:r>
              <a:rPr lang="ko-KR" altLang="en-US" sz="1400" dirty="0" smtClean="0">
                <a:sym typeface="Wingdings" panose="05000000000000000000" pitchFamily="2" charset="2"/>
              </a:rPr>
              <a:t>명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ym typeface="Wingdings" panose="05000000000000000000" pitchFamily="2" charset="2"/>
              </a:rPr>
              <a:t> 2 </a:t>
            </a:r>
            <a:r>
              <a:rPr lang="ko-KR" altLang="en-US" sz="1600" dirty="0" smtClean="0">
                <a:sym typeface="Wingdings" panose="05000000000000000000" pitchFamily="2" charset="2"/>
              </a:rPr>
              <a:t>역량 강화 </a:t>
            </a:r>
            <a:r>
              <a:rPr lang="en-US" altLang="ko-KR" sz="1600" dirty="0" smtClean="0">
                <a:sym typeface="Wingdings" panose="05000000000000000000" pitchFamily="2" charset="2"/>
              </a:rPr>
              <a:t>: 3</a:t>
            </a:r>
            <a:r>
              <a:rPr lang="ko-KR" altLang="en-US" sz="1600" dirty="0" smtClean="0">
                <a:sym typeface="Wingdings" panose="05000000000000000000" pitchFamily="2" charset="2"/>
              </a:rPr>
              <a:t>단계 </a:t>
            </a:r>
            <a:r>
              <a:rPr lang="ko-KR" altLang="en-US" sz="1600" dirty="0" err="1" smtClean="0">
                <a:sym typeface="Wingdings" panose="05000000000000000000" pitchFamily="2" charset="2"/>
              </a:rPr>
              <a:t>역량육성</a:t>
            </a:r>
            <a:r>
              <a:rPr lang="ko-KR" altLang="en-US" sz="1600" dirty="0" smtClean="0">
                <a:sym typeface="Wingdings" panose="05000000000000000000" pitchFamily="2" charset="2"/>
              </a:rPr>
              <a:t> 교육 진행</a:t>
            </a:r>
            <a:endParaRPr lang="en-US" altLang="ko-KR" sz="16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 - Firmware </a:t>
            </a:r>
            <a:r>
              <a:rPr lang="ko-KR" altLang="en-US" sz="1400" dirty="0" smtClean="0">
                <a:sym typeface="Wingdings" panose="05000000000000000000" pitchFamily="2" charset="2"/>
              </a:rPr>
              <a:t>개발인력 교육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 - </a:t>
            </a:r>
            <a:r>
              <a:rPr lang="ko-KR" altLang="en-US" sz="1400" dirty="0" smtClean="0">
                <a:sym typeface="Wingdings" panose="05000000000000000000" pitchFamily="2" charset="2"/>
              </a:rPr>
              <a:t>공조 </a:t>
            </a:r>
            <a:r>
              <a:rPr lang="en-US" altLang="ko-KR" sz="1400" dirty="0" smtClean="0">
                <a:sym typeface="Wingdings" panose="05000000000000000000" pitchFamily="2" charset="2"/>
              </a:rPr>
              <a:t>S/W </a:t>
            </a:r>
            <a:r>
              <a:rPr lang="ko-KR" altLang="en-US" sz="1400" dirty="0" smtClean="0">
                <a:sym typeface="Wingdings" panose="05000000000000000000" pitchFamily="2" charset="2"/>
              </a:rPr>
              <a:t>전문가 교육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 - </a:t>
            </a:r>
            <a:r>
              <a:rPr lang="en-US" altLang="ko-KR" sz="1400" dirty="0" err="1" smtClean="0">
                <a:sym typeface="Wingdings" panose="05000000000000000000" pitchFamily="2" charset="2"/>
              </a:rPr>
              <a:t>Autosar</a:t>
            </a:r>
            <a:r>
              <a:rPr lang="en-US" altLang="ko-KR" sz="1400" dirty="0" smtClean="0">
                <a:sym typeface="Wingdings" panose="05000000000000000000" pitchFamily="2" charset="2"/>
              </a:rPr>
              <a:t> Platform </a:t>
            </a:r>
            <a:r>
              <a:rPr lang="ko-KR" altLang="en-US" sz="1400" dirty="0" smtClean="0">
                <a:sym typeface="Wingdings" panose="05000000000000000000" pitchFamily="2" charset="2"/>
              </a:rPr>
              <a:t>전문가 교육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8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sym typeface="Wingdings" panose="05000000000000000000" pitchFamily="2" charset="2"/>
              </a:rPr>
              <a:t> 3. </a:t>
            </a:r>
            <a:r>
              <a:rPr lang="ko-KR" altLang="en-US" sz="1600" dirty="0" smtClean="0">
                <a:sym typeface="Wingdings" panose="05000000000000000000" pitchFamily="2" charset="2"/>
              </a:rPr>
              <a:t>시스템 프로세스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400" dirty="0" smtClean="0"/>
              <a:t>  - ALM Tools </a:t>
            </a:r>
            <a:r>
              <a:rPr lang="ko-KR" altLang="en-US" sz="1400" dirty="0" smtClean="0"/>
              <a:t>도입</a:t>
            </a:r>
            <a:r>
              <a:rPr lang="en-US" altLang="ko-KR" sz="1400" dirty="0" smtClean="0"/>
              <a:t>(6/12)</a:t>
            </a:r>
            <a:r>
              <a:rPr lang="ko-KR" altLang="en-US" sz="1400" dirty="0" smtClean="0"/>
              <a:t> </a:t>
            </a:r>
            <a:r>
              <a:rPr lang="en-US" altLang="ko-KR" sz="1400" dirty="0" smtClean="0">
                <a:sym typeface="Wingdings" panose="05000000000000000000" pitchFamily="2" charset="2"/>
              </a:rPr>
              <a:t> </a:t>
            </a:r>
            <a:r>
              <a:rPr lang="ko-KR" altLang="en-US" sz="1400" dirty="0" smtClean="0">
                <a:sym typeface="Wingdings" panose="05000000000000000000" pitchFamily="2" charset="2"/>
              </a:rPr>
              <a:t>모든 과제 </a:t>
            </a:r>
            <a:r>
              <a:rPr lang="en-US" altLang="ko-KR" sz="1400" dirty="0" smtClean="0">
                <a:sym typeface="Wingdings" panose="05000000000000000000" pitchFamily="2" charset="2"/>
              </a:rPr>
              <a:t>ALM Tools </a:t>
            </a:r>
            <a:r>
              <a:rPr lang="ko-KR" altLang="en-US" sz="1400" dirty="0" smtClean="0">
                <a:sym typeface="Wingdings" panose="05000000000000000000" pitchFamily="2" charset="2"/>
              </a:rPr>
              <a:t>관리 추진</a:t>
            </a:r>
            <a:endParaRPr lang="en-US" altLang="ko-KR" sz="1400" dirty="0" smtClean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sym typeface="Wingdings" panose="05000000000000000000" pitchFamily="2" charset="2"/>
              </a:rPr>
              <a:t>  - </a:t>
            </a:r>
            <a:r>
              <a:rPr lang="ko-KR" altLang="en-US" sz="1400" dirty="0" smtClean="0">
                <a:sym typeface="Wingdings" panose="05000000000000000000" pitchFamily="2" charset="2"/>
              </a:rPr>
              <a:t>개발</a:t>
            </a:r>
            <a:r>
              <a:rPr lang="en-US" altLang="ko-KR" sz="1400" dirty="0" smtClean="0">
                <a:sym typeface="Wingdings" panose="05000000000000000000" pitchFamily="2" charset="2"/>
              </a:rPr>
              <a:t>/</a:t>
            </a:r>
            <a:r>
              <a:rPr lang="ko-KR" altLang="en-US" sz="1400" dirty="0" smtClean="0">
                <a:sym typeface="Wingdings" panose="05000000000000000000" pitchFamily="2" charset="2"/>
              </a:rPr>
              <a:t>평가 프로세스 정립</a:t>
            </a:r>
            <a:r>
              <a:rPr lang="en-US" altLang="ko-KR" sz="1400" dirty="0" smtClean="0">
                <a:sym typeface="Wingdings" panose="05000000000000000000" pitchFamily="2" charset="2"/>
              </a:rPr>
              <a:t>(</a:t>
            </a:r>
            <a:r>
              <a:rPr lang="ko-KR" altLang="en-US" sz="1400" dirty="0" smtClean="0">
                <a:sym typeface="Wingdings" panose="05000000000000000000" pitchFamily="2" charset="2"/>
              </a:rPr>
              <a:t>보완</a:t>
            </a:r>
            <a:r>
              <a:rPr lang="en-US" altLang="ko-KR" sz="1400" dirty="0" smtClean="0">
                <a:sym typeface="Wingdings" panose="05000000000000000000" pitchFamily="2" charset="2"/>
              </a:rPr>
              <a:t>)</a:t>
            </a:r>
            <a:r>
              <a:rPr lang="ko-KR" altLang="en-US" sz="1400" dirty="0" smtClean="0">
                <a:sym typeface="Wingdings" panose="05000000000000000000" pitchFamily="2" charset="2"/>
              </a:rPr>
              <a:t> 진행 중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4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조직 개편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400" dirty="0" smtClean="0"/>
              <a:t>  - </a:t>
            </a:r>
            <a:r>
              <a:rPr lang="ko-KR" altLang="en-US" sz="1400" dirty="0" smtClean="0"/>
              <a:t>시스템 조직 신설</a:t>
            </a:r>
            <a:r>
              <a:rPr lang="en-US" altLang="ko-KR" sz="1400" dirty="0" smtClean="0"/>
              <a:t>,  </a:t>
            </a:r>
            <a:r>
              <a:rPr lang="ko-KR" altLang="en-US" sz="1400" dirty="0" smtClean="0"/>
              <a:t>평가 전담조직</a:t>
            </a:r>
            <a:r>
              <a:rPr lang="en-US" altLang="ko-KR" sz="1400" dirty="0" smtClean="0"/>
              <a:t>,  </a:t>
            </a:r>
            <a:r>
              <a:rPr lang="ko-KR" altLang="en-US" sz="1400" dirty="0" smtClean="0"/>
              <a:t>컨트롤 타원 조직 신설</a:t>
            </a:r>
            <a:endParaRPr lang="ko-KR" altLang="en-US" sz="1400" dirty="0"/>
          </a:p>
        </p:txBody>
      </p:sp>
      <p:graphicFrame>
        <p:nvGraphicFramePr>
          <p:cNvPr id="11" name="개체 10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7220994"/>
              </p:ext>
            </p:extLst>
          </p:nvPr>
        </p:nvGraphicFramePr>
        <p:xfrm>
          <a:off x="4932040" y="2852936"/>
          <a:ext cx="179388" cy="17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프레젠테이션" showAsIcon="1" r:id="rId3" imgW="380880" imgH="771480" progId="PowerPoint.Show.12">
                  <p:embed/>
                </p:oleObj>
              </mc:Choice>
              <mc:Fallback>
                <p:oleObj name="프레젠테이션" showAsIcon="1" r:id="rId3" imgW="380880" imgH="771480" progId="PowerPoint.Show.12">
                  <p:embed/>
                  <p:pic>
                    <p:nvPicPr>
                      <p:cNvPr id="17" name="개체 1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2040" y="2852936"/>
                        <a:ext cx="179388" cy="17938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284530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45" y="1422520"/>
            <a:ext cx="6304787" cy="36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4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제안서 템플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spcFirstLastPara="0" vert="horz" wrap="square" lIns="429718" tIns="757682" rIns="1833422" bIns="1708658" numCol="1" spcCol="1270" anchor="ctr" anchorCtr="0">
        <a:noAutofit/>
      </a:bodyPr>
      <a:lstStyle>
        <a:defPPr algn="ctr" defTabSz="1200150" latinLnBrk="1">
          <a:lnSpc>
            <a:spcPct val="90000"/>
          </a:lnSpc>
          <a:spcBef>
            <a:spcPct val="0"/>
          </a:spcBef>
          <a:spcAft>
            <a:spcPct val="35000"/>
          </a:spcAft>
          <a:defRPr sz="2700" kern="1200" dirty="0"/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hemeClr val="accent1">
            <a:hueOff val="0"/>
            <a:satOff val="0"/>
            <a:lumOff val="0"/>
            <a:alphaOff val="0"/>
          </a:schemeClr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  <a:txDef>
      <a:spPr/>
      <a:bodyPr vert="horz" lIns="91440" tIns="45720" rIns="91440" bIns="45720" rtlCol="0">
        <a:normAutofit lnSpcReduction="10000"/>
      </a:bodyPr>
      <a:lstStyle>
        <a:defPPr latinLnBrk="0">
          <a:defRPr kern="0" dirty="0" smtClean="0"/>
        </a:defPPr>
      </a:lstStyle>
    </a:tx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Woory2016_RWJ</Template>
  <TotalTime>24574</TotalTime>
  <Words>1123</Words>
  <Application>Microsoft Office PowerPoint</Application>
  <PresentationFormat>화면 슬라이드 쇼(4:3)</PresentationFormat>
  <Paragraphs>374</Paragraphs>
  <Slides>10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굴림</vt:lpstr>
      <vt:lpstr>KoPubWorld돋움체 Bold</vt:lpstr>
      <vt:lpstr>맑은 고딕</vt:lpstr>
      <vt:lpstr>현대하모니 B</vt:lpstr>
      <vt:lpstr>현대하모니 L</vt:lpstr>
      <vt:lpstr>Arial</vt:lpstr>
      <vt:lpstr>Lucida Sans Unicode</vt:lpstr>
      <vt:lpstr>Verdana</vt:lpstr>
      <vt:lpstr>Wingdings</vt:lpstr>
      <vt:lpstr>2_제안서 템플릿</vt:lpstr>
      <vt:lpstr>Microsoft 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유원종</dc:creator>
  <cp:lastModifiedBy>Windows 사용자</cp:lastModifiedBy>
  <cp:revision>825</cp:revision>
  <cp:lastPrinted>2025-03-19T09:06:02Z</cp:lastPrinted>
  <dcterms:created xsi:type="dcterms:W3CDTF">2017-01-19T08:03:01Z</dcterms:created>
  <dcterms:modified xsi:type="dcterms:W3CDTF">2025-07-21T01:02:57Z</dcterms:modified>
</cp:coreProperties>
</file>