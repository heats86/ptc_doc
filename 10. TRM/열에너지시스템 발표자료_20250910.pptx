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handoutMasterIdLst>
    <p:handoutMasterId r:id="rId14"/>
  </p:handoutMasterIdLst>
  <p:sldIdLst>
    <p:sldId id="376" r:id="rId2"/>
    <p:sldId id="403" r:id="rId3"/>
    <p:sldId id="375" r:id="rId4"/>
    <p:sldId id="410" r:id="rId5"/>
    <p:sldId id="408" r:id="rId6"/>
    <p:sldId id="404" r:id="rId7"/>
    <p:sldId id="407" r:id="rId8"/>
    <p:sldId id="405" r:id="rId9"/>
    <p:sldId id="406" r:id="rId10"/>
    <p:sldId id="409" r:id="rId11"/>
    <p:sldId id="374" r:id="rId12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292929"/>
    <a:srgbClr val="FFCC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6366" autoAdjust="0"/>
  </p:normalViewPr>
  <p:slideViewPr>
    <p:cSldViewPr>
      <p:cViewPr varScale="1">
        <p:scale>
          <a:sx n="113" d="100"/>
          <a:sy n="113" d="100"/>
        </p:scale>
        <p:origin x="131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A0A09-F79E-4E1C-94EF-A9CDB14FAB86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6A5-FCA7-4019-9F45-ACFE87C5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176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0F085-D220-4030-9252-85FF14D74ECA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7A53-7C0D-41B0-9B33-B25E1C149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60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261104" y="1052736"/>
            <a:ext cx="8621712" cy="21599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/>
          </p:nvPr>
        </p:nvSpPr>
        <p:spPr>
          <a:xfrm>
            <a:off x="260350" y="620688"/>
            <a:ext cx="8622466" cy="3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193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99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5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8934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79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9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9070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209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747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27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CE45-C522-4B4E-ACAF-B03B54DE6B3F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9E013-E273-469B-BDC2-80CD8EE9E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굴림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6732612" y="6575678"/>
            <a:ext cx="72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t>P.</a:t>
            </a:r>
            <a:fld id="{11AA4A1D-7CD0-4031-A480-D0E2C071605E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7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627784" y="2492896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개발 프로세스 및 역량</a:t>
            </a:r>
            <a:endParaRPr lang="en-US" altLang="ko-KR" sz="32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5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목차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03648" y="1268760"/>
            <a:ext cx="3350597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SW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능력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강화 방안</a:t>
            </a:r>
            <a:endParaRPr lang="en-US" altLang="ko-KR" sz="28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Ⅳ.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인력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확충 계획</a:t>
            </a:r>
            <a:endParaRPr lang="en-US" altLang="ko-KR" sz="28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도입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6.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강화방안 요약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2731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598831"/>
            <a:ext cx="8707428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ES253EE vs ASPICE / SPQA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244705"/>
              </p:ext>
            </p:extLst>
          </p:nvPr>
        </p:nvGraphicFramePr>
        <p:xfrm>
          <a:off x="467544" y="929856"/>
          <a:ext cx="8208913" cy="5591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246">
                  <a:extLst>
                    <a:ext uri="{9D8B030D-6E8A-4147-A177-3AD203B41FA5}">
                      <a16:colId xmlns:a16="http://schemas.microsoft.com/office/drawing/2014/main" val="4114201015"/>
                    </a:ext>
                  </a:extLst>
                </a:gridCol>
                <a:gridCol w="1727002">
                  <a:extLst>
                    <a:ext uri="{9D8B030D-6E8A-4147-A177-3AD203B41FA5}">
                      <a16:colId xmlns:a16="http://schemas.microsoft.com/office/drawing/2014/main" val="101462003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1377268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30922481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4091761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735194646"/>
                    </a:ext>
                  </a:extLst>
                </a:gridCol>
              </a:tblGrid>
              <a:tr h="11123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Process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Activity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산출물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자체 수행 경험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41920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ES253EE-00 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 </a:t>
                      </a:r>
                      <a:r>
                        <a:rPr lang="en-US" sz="900" b="1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4.0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SPQA</a:t>
                      </a:r>
                      <a:endParaRPr lang="en-US" altLang="ko-KR" sz="900" b="1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98282"/>
                  </a:ext>
                </a:extLst>
              </a:tr>
              <a:tr h="11123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요구사항 분석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Customer Requirements Analysis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441402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Requirements Specification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SYS.2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SYS.2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9538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Architecture Design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1343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FMEA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842090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단계 테스트 계획 수립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Test Plan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SYS.4, 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SYS.4, 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609871"/>
                  </a:ext>
                </a:extLst>
              </a:tr>
              <a:tr h="218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요구사항 테스트 케이스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Requirements Test Case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80948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 케이스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Integration Test Case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864488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Integration Test Report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6675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인정 테스트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Qualification Test Report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67479"/>
                  </a:ext>
                </a:extLst>
              </a:tr>
              <a:tr h="114633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분석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198772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02694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디자인리뷰</a:t>
                      </a:r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회로</a:t>
                      </a:r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/PCB)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Review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55657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 계획 수립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Test Plan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HWE.3, 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933881"/>
                  </a:ext>
                </a:extLst>
              </a:tr>
              <a:tr h="218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548228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18892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725657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959717"/>
                  </a:ext>
                </a:extLst>
              </a:tr>
              <a:tr h="111237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분석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Requirements Specification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37349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Architecture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906436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FMEA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211411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상세설계 및 구현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SWE.3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SWE.3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6846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 테스트 계획 수립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Test Plan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SWE.4, SWE.5, 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SWE.4, SWE.5, 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369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Requirements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4140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통합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Integration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075981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단위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Unit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119820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단위 검증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Unit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78687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Static Analysis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22488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통합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Integration Test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06954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 Test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28403"/>
                  </a:ext>
                </a:extLst>
              </a:tr>
              <a:tr h="111237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73086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Architecture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798523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12797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설계 리뷰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Design Review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38437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Design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232167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통합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Integraion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8796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테스트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Requirements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altLang="ko-KR" sz="900" b="0" i="0" u="none" strike="noStrike" dirty="0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62475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36488" y="721030"/>
            <a:ext cx="1656185" cy="216024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92500" lnSpcReduction="10000"/>
          </a:bodyPr>
          <a:lstStyle/>
          <a:p>
            <a:pPr latinLnBrk="0"/>
            <a:r>
              <a:rPr lang="en-US" altLang="ko-KR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O 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완료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△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: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수행 중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X :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미수행</a:t>
            </a:r>
          </a:p>
        </p:txBody>
      </p:sp>
    </p:spTree>
    <p:extLst>
      <p:ext uri="{BB962C8B-B14F-4D97-AF65-F5344CB8AC3E}">
        <p14:creationId xmlns:p14="http://schemas.microsoft.com/office/powerpoint/2010/main" val="19639300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598831"/>
            <a:ext cx="8707428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ES253EE vs ASPICE / SPQA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376382"/>
              </p:ext>
            </p:extLst>
          </p:nvPr>
        </p:nvGraphicFramePr>
        <p:xfrm>
          <a:off x="539553" y="904716"/>
          <a:ext cx="8153120" cy="58189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237">
                  <a:extLst>
                    <a:ext uri="{9D8B030D-6E8A-4147-A177-3AD203B41FA5}">
                      <a16:colId xmlns:a16="http://schemas.microsoft.com/office/drawing/2014/main" val="78437094"/>
                    </a:ext>
                  </a:extLst>
                </a:gridCol>
                <a:gridCol w="2108567">
                  <a:extLst>
                    <a:ext uri="{9D8B030D-6E8A-4147-A177-3AD203B41FA5}">
                      <a16:colId xmlns:a16="http://schemas.microsoft.com/office/drawing/2014/main" val="2820226959"/>
                    </a:ext>
                  </a:extLst>
                </a:gridCol>
                <a:gridCol w="2329464">
                  <a:extLst>
                    <a:ext uri="{9D8B030D-6E8A-4147-A177-3AD203B41FA5}">
                      <a16:colId xmlns:a16="http://schemas.microsoft.com/office/drawing/2014/main" val="120068656"/>
                    </a:ext>
                  </a:extLst>
                </a:gridCol>
                <a:gridCol w="690806">
                  <a:extLst>
                    <a:ext uri="{9D8B030D-6E8A-4147-A177-3AD203B41FA5}">
                      <a16:colId xmlns:a16="http://schemas.microsoft.com/office/drawing/2014/main" val="328934477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256593024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9258008"/>
                    </a:ext>
                  </a:extLst>
                </a:gridCol>
              </a:tblGrid>
              <a:tr h="124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Process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Activity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Category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총항목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대응가능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mtClean="0">
                          <a:solidFill>
                            <a:schemeClr val="dk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미실행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94834"/>
                  </a:ext>
                </a:extLst>
              </a:tr>
              <a:tr h="124794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고객 요구 사항 분석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38462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기능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380021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비기능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7148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진단 기능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623183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5795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인터페이스 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03748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HSI </a:t>
                      </a:r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87620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테스트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테스트 계획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515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인정테스트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30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03099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08300"/>
                  </a:ext>
                </a:extLst>
              </a:tr>
              <a:tr h="12479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설계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요구사항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29634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컴포넌트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24621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단위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25003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테스트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테스트 계획서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082019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요구사항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59047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통합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5965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소프트웨어 단위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123024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1293"/>
                  </a:ext>
                </a:extLst>
              </a:tr>
              <a:tr h="124794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요구사항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설계 일반 요구사항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64405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기능 요구사항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46922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품질 요구사항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208993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인터페이스 요구사항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01769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상세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98244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회로</a:t>
                      </a:r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PCB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41483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인터페이스 설계 요구사항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04763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동적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019778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디자인 리뷰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31302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평가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요구사항 테스트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22462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하드웨어 설계 테스트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544544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</a:t>
                      </a:r>
                      <a:endParaRPr lang="en-US" alt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endParaRPr lang="en-US" alt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en-US" altLang="ko-KR" sz="900" b="0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739527"/>
                  </a:ext>
                </a:extLst>
              </a:tr>
              <a:tr h="12479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409677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아키텍처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716745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52783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설계 리뷰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997660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검증 요구사항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803699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통합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568599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테스트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789876"/>
                  </a:ext>
                </a:extLst>
              </a:tr>
              <a:tr h="1247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059612"/>
                  </a:ext>
                </a:extLst>
              </a:tr>
              <a:tr h="12479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합계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159</a:t>
                      </a:r>
                      <a:endParaRPr lang="en-US" altLang="ko-KR" sz="900" b="1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125</a:t>
                      </a:r>
                      <a:endParaRPr lang="en-US" altLang="ko-KR" sz="900" b="1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 smtClean="0">
                          <a:solidFill>
                            <a:srgbClr val="3333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</a:t>
                      </a:r>
                      <a:endParaRPr lang="en-US" altLang="ko-KR" sz="900" b="1" i="0" u="none" strike="noStrike" dirty="0">
                        <a:solidFill>
                          <a:srgbClr val="3333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766" marR="4766" marT="47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35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2066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1536" y="709699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현재 우리 산업의 수준</a:t>
            </a:r>
            <a:endParaRPr lang="en-US" altLang="ko-KR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651017" y="1144712"/>
            <a:ext cx="2308256" cy="14401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경험적 </a:t>
            </a:r>
            <a:r>
              <a:rPr lang="ko-KR" altLang="en-US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측면</a:t>
            </a:r>
            <a:endParaRPr lang="ko-KR" altLang="en-US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37582" y="2654164"/>
            <a:ext cx="2308256" cy="178294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실제 현 상황</a:t>
            </a:r>
            <a:endParaRPr lang="en-US" altLang="ko-KR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28812" y="4506404"/>
            <a:ext cx="2308256" cy="20189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개선 추진 내용</a:t>
            </a:r>
            <a:endParaRPr lang="en-US" altLang="ko-KR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031281" y="1145670"/>
            <a:ext cx="5544616" cy="144016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00" tIns="0" rIns="0" bIns="0" numCol="1" spcCol="1270" rtlCol="0" anchor="ctr" anchorCtr="0">
            <a:noAutofit/>
          </a:bodyPr>
          <a:lstStyle/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</a:rPr>
              <a:t>SPQA,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</a:t>
            </a:r>
            <a:r>
              <a:rPr lang="en-US" altLang="ko-KR" sz="1500">
                <a:solidFill>
                  <a:schemeClr val="tx1"/>
                </a:solidFill>
              </a:rPr>
              <a:t> CL1, ASPICE CL2 </a:t>
            </a:r>
            <a:r>
              <a:rPr lang="ko-KR" altLang="en-US" sz="1500">
                <a:solidFill>
                  <a:schemeClr val="tx1"/>
                </a:solidFill>
              </a:rPr>
              <a:t>수행 경험 有</a:t>
            </a:r>
            <a:endParaRPr lang="en-US" altLang="ko-KR" sz="1500">
              <a:solidFill>
                <a:schemeClr val="tx1"/>
              </a:solidFill>
            </a:endParaRPr>
          </a:p>
          <a:p>
            <a:pPr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>
                <a:solidFill>
                  <a:schemeClr val="tx1"/>
                </a:solidFill>
              </a:rPr>
              <a:t>  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 컨설팅 및 용역 진행</a:t>
            </a:r>
            <a:endParaRPr lang="ko-KR" altLang="en-US" sz="15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031281" y="2654164"/>
            <a:ext cx="5544616" cy="1782947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00" tIns="0" rIns="0" bIns="0" numCol="1" spcCol="1270" rtlCol="0" anchor="ctr" anchorCtr="0">
            <a:noAutofit/>
          </a:bodyPr>
          <a:lstStyle/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SPQA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수행 가능 수준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- SPQA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육성 프로젝트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회차 진행 중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기구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기계 베이스의 업무 노하우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역량</a:t>
            </a:r>
            <a:r>
              <a:rPr lang="en-US" altLang="ko-KR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인력 부족</a:t>
            </a:r>
            <a:endParaRPr lang="ko-KR" altLang="en-US" sz="15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031281" y="4505445"/>
            <a:ext cx="5544616" cy="2019899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00" tIns="0" rIns="0" bIns="0" numCol="1" spcCol="1270" rtlCol="0" anchor="ctr" anchorCtr="0">
            <a:noAutofit/>
          </a:bodyPr>
          <a:lstStyle/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 인력 충원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(3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 6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명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설계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검증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Engineering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실무진 인력 충원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설계 인력 충원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(0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 6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명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Tools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도입</a:t>
            </a:r>
            <a:endParaRPr lang="en-US" altLang="ko-KR" sz="15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3802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2. SW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47644" y="1126556"/>
            <a:ext cx="3887035" cy="5170437"/>
            <a:chOff x="3016781" y="-917849"/>
            <a:chExt cx="3887035" cy="5170437"/>
          </a:xfrm>
        </p:grpSpPr>
        <p:sp>
          <p:nvSpPr>
            <p:cNvPr id="30" name="오른쪽 화살표 29"/>
            <p:cNvSpPr/>
            <p:nvPr/>
          </p:nvSpPr>
          <p:spPr>
            <a:xfrm>
              <a:off x="4326934" y="2708920"/>
              <a:ext cx="504056" cy="154366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3018834" y="2348881"/>
              <a:ext cx="3835693" cy="1763254"/>
            </a:xfrm>
            <a:prstGeom prst="roundRect">
              <a:avLst>
                <a:gd name="adj" fmla="val 102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000" tIns="43200" rIns="90000" bIns="43200" numCol="1" spcCol="127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수행 가능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SW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 인력 부족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〮시스템 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검증 조직 無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ALM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미 구축 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3037265" y="-506081"/>
              <a:ext cx="3866551" cy="28392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CL1, CL2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 차종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외부 용역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/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컨설팅을 통한 업무 수행</a:t>
              </a:r>
              <a:endParaRPr lang="en-US" altLang="ko-KR" sz="13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2024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</a:t>
              </a:r>
              <a:r>
                <a:rPr lang="en-US" altLang="ko-KR" sz="13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MEa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300" dirty="0" smtClean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完</a:t>
              </a:r>
              <a:endParaRPr lang="en-US" altLang="ko-KR" sz="1300" dirty="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Software Engineering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2025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QV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</a:t>
              </a:r>
              <a:r>
                <a:rPr lang="ko-KR" altLang="en-US" sz="1300" dirty="0" smtClean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中</a:t>
              </a:r>
              <a:endParaRPr lang="en-US" altLang="ko-KR" sz="1300" dirty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-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System Engineering / Software Engineering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33" name="모서리가 둥근 직사각형 32"/>
          <p:cNvSpPr/>
          <p:nvPr/>
        </p:nvSpPr>
        <p:spPr>
          <a:xfrm>
            <a:off x="1630915" y="869061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600" kern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AS-IS</a:t>
            </a:r>
            <a:endParaRPr lang="ko-KR" altLang="en-US" sz="1600" kern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4938794" y="1126556"/>
            <a:ext cx="3837746" cy="5029984"/>
            <a:chOff x="3016781" y="-917849"/>
            <a:chExt cx="3837746" cy="5029984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83" name="모서리가 둥근 직사각형 82"/>
            <p:cNvSpPr/>
            <p:nvPr/>
          </p:nvSpPr>
          <p:spPr>
            <a:xfrm>
              <a:off x="3018834" y="2348881"/>
              <a:ext cx="3835693" cy="1763254"/>
            </a:xfrm>
            <a:prstGeom prst="roundRect">
              <a:avLst>
                <a:gd name="adj" fmla="val 102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000" tIns="43200" rIns="90000" bIns="43200" numCol="1" spcCol="127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SW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 인력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확보</a:t>
              </a:r>
              <a:endParaRPr lang="en-US" altLang="ko-KR" sz="13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조직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검증 조직 구축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ALM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(Teamer)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구축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완료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(6/12)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SW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인력 육성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037265" y="-506081"/>
              <a:ext cx="3804949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CL2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예정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해외차종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2026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차종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ES95411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소프트웨어 분석 수행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- 2025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개발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 이후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부터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ES95411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필수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6222065" y="869061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6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TO-BE</a:t>
            </a:r>
            <a:endParaRPr lang="ko-KR" altLang="en-US" sz="16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7" name="줄무늬가 있는 오른쪽 화살표 76"/>
          <p:cNvSpPr/>
          <p:nvPr/>
        </p:nvSpPr>
        <p:spPr>
          <a:xfrm>
            <a:off x="4234679" y="2839261"/>
            <a:ext cx="654826" cy="115212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</p:spTree>
    <p:extLst>
      <p:ext uri="{BB962C8B-B14F-4D97-AF65-F5344CB8AC3E}">
        <p14:creationId xmlns:p14="http://schemas.microsoft.com/office/powerpoint/2010/main" val="11536146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강화 방안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413280" y="2048090"/>
            <a:ext cx="3933929" cy="3491892"/>
            <a:chOff x="2510279" y="1268426"/>
            <a:chExt cx="6606289" cy="5220418"/>
          </a:xfrm>
        </p:grpSpPr>
        <p:sp>
          <p:nvSpPr>
            <p:cNvPr id="15" name="이등변 삼각형 14"/>
            <p:cNvSpPr/>
            <p:nvPr/>
          </p:nvSpPr>
          <p:spPr>
            <a:xfrm>
              <a:off x="3657598" y="2316535"/>
              <a:ext cx="4356342" cy="3124200"/>
            </a:xfrm>
            <a:prstGeom prst="triangle">
              <a:avLst>
                <a:gd name="adj" fmla="val 48957"/>
              </a:avLst>
            </a:prstGeom>
            <a:gradFill>
              <a:gsLst>
                <a:gs pos="11000">
                  <a:schemeClr val="bg1">
                    <a:lumMod val="65000"/>
                    <a:alpha val="66000"/>
                  </a:schemeClr>
                </a:gs>
                <a:gs pos="0">
                  <a:srgbClr val="E8D8AA"/>
                </a:gs>
              </a:gsLst>
              <a:lin ang="5400000" scaled="1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6" name="순서도: 연결자 15"/>
            <p:cNvSpPr/>
            <p:nvPr/>
          </p:nvSpPr>
          <p:spPr>
            <a:xfrm>
              <a:off x="4649636" y="1268426"/>
              <a:ext cx="2303253" cy="2096219"/>
            </a:xfrm>
            <a:prstGeom prst="flowChartConnector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  <a:alpha val="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24000">
                  <a:schemeClr val="accent1">
                    <a:lumMod val="45000"/>
                    <a:lumOff val="55000"/>
                  </a:schemeClr>
                </a:gs>
                <a:gs pos="4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7" name="순서도: 연결자 16"/>
            <p:cNvSpPr/>
            <p:nvPr/>
          </p:nvSpPr>
          <p:spPr>
            <a:xfrm>
              <a:off x="6813314" y="4349120"/>
              <a:ext cx="2303254" cy="2096220"/>
            </a:xfrm>
            <a:prstGeom prst="flowChartConnector">
              <a:avLst/>
            </a:prstGeom>
            <a:gradFill>
              <a:gsLst>
                <a:gs pos="0">
                  <a:srgbClr val="C00000">
                    <a:alpha val="67000"/>
                    <a:lumMod val="56000"/>
                    <a:lumOff val="44000"/>
                  </a:srgb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9" name="순서도: 연결자 18"/>
            <p:cNvSpPr/>
            <p:nvPr/>
          </p:nvSpPr>
          <p:spPr>
            <a:xfrm>
              <a:off x="2510279" y="4392624"/>
              <a:ext cx="2303254" cy="2096220"/>
            </a:xfrm>
            <a:prstGeom prst="flowChartConnector">
              <a:avLst/>
            </a:prstGeom>
            <a:gradFill flip="none" rotWithShape="1">
              <a:gsLst>
                <a:gs pos="91000">
                  <a:srgbClr val="92D050">
                    <a:alpha val="23000"/>
                  </a:srgbClr>
                </a:gs>
                <a:gs pos="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29769" y="2054925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사람</a:t>
              </a:r>
              <a:endParaRPr lang="ko-KR" altLang="en-US" sz="14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34972" y="5095637"/>
              <a:ext cx="1653867" cy="690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/>
                <a:t>시스템</a:t>
              </a:r>
              <a:endParaRPr lang="en-US" altLang="ko-KR" sz="1200" b="1" dirty="0" smtClean="0"/>
            </a:p>
            <a:p>
              <a:pPr algn="ctr"/>
              <a:r>
                <a:rPr lang="ko-KR" altLang="en-US" sz="1200" b="1" dirty="0" smtClean="0"/>
                <a:t>프로세스</a:t>
              </a:r>
              <a:endParaRPr lang="ko-KR" altLang="en-US" sz="12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93446" y="5167164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조직</a:t>
              </a:r>
              <a:endParaRPr lang="ko-KR" altLang="en-US" sz="14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42880" y="3694511"/>
              <a:ext cx="2601974" cy="1171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b="1" dirty="0" smtClean="0">
                  <a:solidFill>
                    <a:srgbClr val="0000FF"/>
                  </a:solidFill>
                </a:rPr>
                <a:t>S/W</a:t>
              </a:r>
              <a:r>
                <a:rPr lang="ko-KR" altLang="en-US" sz="1600" b="1" dirty="0" smtClean="0">
                  <a:solidFill>
                    <a:srgbClr val="0000FF"/>
                  </a:solidFill>
                </a:rPr>
                <a:t>가 </a:t>
              </a:r>
              <a:endParaRPr lang="en-US" altLang="ko-KR" sz="1600" b="1" dirty="0" smtClean="0">
                <a:solidFill>
                  <a:srgbClr val="0000FF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 smtClean="0">
                  <a:solidFill>
                    <a:srgbClr val="0000FF"/>
                  </a:solidFill>
                </a:rPr>
                <a:t>강한 회사</a:t>
              </a:r>
              <a:endParaRPr lang="ko-KR" altLang="en-US" sz="16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462256" y="1124744"/>
            <a:ext cx="2214199" cy="1603317"/>
          </a:xfrm>
          <a:prstGeom prst="rect">
            <a:avLst/>
          </a:prstGeom>
          <a:gradFill>
            <a:gsLst>
              <a:gs pos="100000">
                <a:schemeClr val="accent1">
                  <a:lumMod val="10000"/>
                  <a:lumOff val="90000"/>
                  <a:alpha val="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45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400"/>
              </a:spcBef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인력 충원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현재 업무 환경 개선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>
              <a:spcBef>
                <a:spcPts val="400"/>
              </a:spcBef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 이탈 방지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능력 보상제도 추진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l">
              <a:spcBef>
                <a:spcPts val="400"/>
              </a:spcBef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업무 역량 강화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S/W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개발 역량 육성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l">
              <a:spcBef>
                <a:spcPts val="400"/>
              </a:spcBef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교육 진행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(3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가지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3119" y="4766081"/>
            <a:ext cx="2304155" cy="1255208"/>
          </a:xfrm>
          <a:prstGeom prst="rect">
            <a:avLst/>
          </a:prstGeom>
          <a:gradFill>
            <a:gsLst>
              <a:gs pos="0">
                <a:srgbClr val="C00000">
                  <a:alpha val="67000"/>
                  <a:lumMod val="56000"/>
                  <a:lumOff val="44000"/>
                </a:srgb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28600" indent="-228600" algn="l">
              <a:lnSpc>
                <a:spcPct val="150000"/>
              </a:lnSpc>
              <a:buAutoNum type="arabicPeriod"/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S/W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연구소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평가 전담 조직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시스템 설계 조직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컨트롤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타워조직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사장직속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4634822"/>
            <a:ext cx="2141206" cy="1458473"/>
          </a:xfrm>
          <a:prstGeom prst="rect">
            <a:avLst/>
          </a:prstGeom>
          <a:gradFill flip="none" rotWithShape="1">
            <a:gsLst>
              <a:gs pos="91000">
                <a:srgbClr val="92D050">
                  <a:alpha val="23000"/>
                </a:srgbClr>
              </a:gs>
              <a:gs pos="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1.</a:t>
            </a:r>
            <a:r>
              <a:rPr lang="ko-KR" altLang="en-US" sz="1300" dirty="0" smtClean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ASPICE </a:t>
            </a:r>
            <a:r>
              <a:rPr lang="ko-KR" altLang="en-US" sz="1300" dirty="0" smtClean="0">
                <a:solidFill>
                  <a:schemeClr val="tx1"/>
                </a:solidFill>
              </a:rPr>
              <a:t>프로세스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2.</a:t>
            </a:r>
            <a:r>
              <a:rPr lang="ko-KR" altLang="en-US" sz="1300" dirty="0" smtClean="0">
                <a:solidFill>
                  <a:schemeClr val="tx1"/>
                </a:solidFill>
              </a:rPr>
              <a:t> </a:t>
            </a:r>
            <a:r>
              <a:rPr lang="en-US" altLang="ko-KR" sz="1300" dirty="0" smtClean="0">
                <a:solidFill>
                  <a:schemeClr val="tx1"/>
                </a:solidFill>
              </a:rPr>
              <a:t>Organization 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   Process </a:t>
            </a:r>
            <a:r>
              <a:rPr lang="ko-KR" altLang="en-US" sz="1300" dirty="0" smtClean="0">
                <a:solidFill>
                  <a:schemeClr val="tx1"/>
                </a:solidFill>
              </a:rPr>
              <a:t>구축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 dirty="0">
                <a:solidFill>
                  <a:schemeClr val="tx1"/>
                </a:solidFill>
              </a:rPr>
              <a:t>3. </a:t>
            </a:r>
            <a:r>
              <a:rPr lang="en-US" altLang="ko-KR" sz="1300" dirty="0" smtClean="0">
                <a:solidFill>
                  <a:schemeClr val="tx1"/>
                </a:solidFill>
              </a:rPr>
              <a:t>ALM, </a:t>
            </a:r>
            <a:r>
              <a:rPr lang="ko-KR" altLang="en-US" sz="1300" dirty="0" smtClean="0">
                <a:solidFill>
                  <a:schemeClr val="tx1"/>
                </a:solidFill>
              </a:rPr>
              <a:t>도입</a:t>
            </a:r>
            <a:r>
              <a:rPr lang="en-US" altLang="ko-KR" sz="1300" dirty="0" smtClean="0">
                <a:solidFill>
                  <a:schemeClr val="tx1"/>
                </a:solidFill>
              </a:rPr>
              <a:t>(</a:t>
            </a:r>
            <a:r>
              <a:rPr lang="ko-KR" altLang="en-US" sz="1300" dirty="0" smtClean="0">
                <a:solidFill>
                  <a:schemeClr val="tx1"/>
                </a:solidFill>
              </a:rPr>
              <a:t>완료</a:t>
            </a:r>
            <a:r>
              <a:rPr lang="en-US" altLang="ko-KR" sz="1300" dirty="0" smtClean="0">
                <a:solidFill>
                  <a:schemeClr val="tx1"/>
                </a:solidFill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   </a:t>
            </a:r>
            <a:r>
              <a:rPr lang="ko-KR" altLang="en-US" sz="1300" dirty="0" smtClean="0">
                <a:solidFill>
                  <a:schemeClr val="tx1"/>
                </a:solidFill>
              </a:rPr>
              <a:t>평가 장비</a:t>
            </a:r>
            <a:r>
              <a:rPr lang="en-US" altLang="ko-KR" sz="1300" dirty="0" smtClean="0">
                <a:solidFill>
                  <a:schemeClr val="tx1"/>
                </a:solidFill>
              </a:rPr>
              <a:t>, Tool </a:t>
            </a:r>
            <a:r>
              <a:rPr lang="ko-KR" altLang="en-US" sz="1300" dirty="0" smtClean="0">
                <a:solidFill>
                  <a:schemeClr val="tx1"/>
                </a:solidFill>
              </a:rPr>
              <a:t>확충</a:t>
            </a:r>
            <a:endParaRPr lang="en-US" altLang="ko-KR" sz="1300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232802" y="764704"/>
            <a:ext cx="4123174" cy="556725"/>
          </a:xfrm>
          <a:prstGeom prst="roundRect">
            <a:avLst>
              <a:gd name="adj" fmla="val 2832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76200" dist="889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강한 회사를 만들 </a:t>
            </a:r>
            <a:r>
              <a:rPr lang="ko-KR" altLang="en-US" b="1" dirty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방안은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?</a:t>
            </a:r>
            <a:endParaRPr lang="ko-KR" altLang="en-US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31" name="꺾인 연결선 30"/>
          <p:cNvCxnSpPr>
            <a:stCxn id="19" idx="0"/>
            <a:endCxn id="28" idx="0"/>
          </p:cNvCxnSpPr>
          <p:nvPr/>
        </p:nvCxnSpPr>
        <p:spPr bwMode="auto">
          <a:xfrm rot="16200000" flipH="1" flipV="1">
            <a:off x="1926093" y="3461860"/>
            <a:ext cx="496983" cy="1848939"/>
          </a:xfrm>
          <a:prstGeom prst="bentConnector3">
            <a:avLst>
              <a:gd name="adj1" fmla="val -45998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26" idx="1"/>
            <a:endCxn id="16" idx="6"/>
          </p:cNvCxnSpPr>
          <p:nvPr/>
        </p:nvCxnSpPr>
        <p:spPr bwMode="auto">
          <a:xfrm rot="10800000" flipV="1">
            <a:off x="5058776" y="1926402"/>
            <a:ext cx="1403480" cy="822759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27" idx="2"/>
            <a:endCxn id="17" idx="4"/>
          </p:cNvCxnSpPr>
          <p:nvPr/>
        </p:nvCxnSpPr>
        <p:spPr bwMode="auto">
          <a:xfrm rot="5400000" flipH="1">
            <a:off x="6468113" y="4704206"/>
            <a:ext cx="510407" cy="2123761"/>
          </a:xfrm>
          <a:prstGeom prst="bentConnector3">
            <a:avLst>
              <a:gd name="adj1" fmla="val -44788"/>
            </a:avLst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263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인력 확충 계획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551678"/>
              </p:ext>
            </p:extLst>
          </p:nvPr>
        </p:nvGraphicFramePr>
        <p:xfrm>
          <a:off x="467544" y="1052736"/>
          <a:ext cx="8110850" cy="501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00">
                  <a:extLst>
                    <a:ext uri="{9D8B030D-6E8A-4147-A177-3AD203B41FA5}">
                      <a16:colId xmlns:a16="http://schemas.microsoft.com/office/drawing/2014/main" val="147924234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69391942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0527261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235235846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37510215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93586151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706711329"/>
                    </a:ext>
                  </a:extLst>
                </a:gridCol>
              </a:tblGrid>
              <a:tr h="250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62915"/>
                  </a:ext>
                </a:extLst>
              </a:tr>
              <a:tr h="250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85516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39573"/>
              </p:ext>
            </p:extLst>
          </p:nvPr>
        </p:nvGraphicFramePr>
        <p:xfrm>
          <a:off x="466929" y="1598022"/>
          <a:ext cx="8111464" cy="1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60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56416">
                  <a:extLst>
                    <a:ext uri="{9D8B030D-6E8A-4147-A177-3AD203B41FA5}">
                      <a16:colId xmlns:a16="http://schemas.microsoft.com/office/drawing/2014/main" val="3526050526"/>
                    </a:ext>
                  </a:extLst>
                </a:gridCol>
                <a:gridCol w="1184151">
                  <a:extLst>
                    <a:ext uri="{9D8B030D-6E8A-4147-A177-3AD203B41FA5}">
                      <a16:colId xmlns:a16="http://schemas.microsoft.com/office/drawing/2014/main" val="4178754301"/>
                    </a:ext>
                  </a:extLst>
                </a:gridCol>
                <a:gridCol w="1144679">
                  <a:extLst>
                    <a:ext uri="{9D8B030D-6E8A-4147-A177-3AD203B41FA5}">
                      <a16:colId xmlns:a16="http://schemas.microsoft.com/office/drawing/2014/main" val="1679776094"/>
                    </a:ext>
                  </a:extLst>
                </a:gridCol>
                <a:gridCol w="1170994">
                  <a:extLst>
                    <a:ext uri="{9D8B030D-6E8A-4147-A177-3AD203B41FA5}">
                      <a16:colId xmlns:a16="http://schemas.microsoft.com/office/drawing/2014/main" val="3428437559"/>
                    </a:ext>
                  </a:extLst>
                </a:gridCol>
                <a:gridCol w="1138102">
                  <a:extLst>
                    <a:ext uri="{9D8B030D-6E8A-4147-A177-3AD203B41FA5}">
                      <a16:colId xmlns:a16="http://schemas.microsoft.com/office/drawing/2014/main" val="793339416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542704367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281196241"/>
                    </a:ext>
                  </a:extLst>
                </a:gridCol>
              </a:tblGrid>
              <a:tr h="362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0033CC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1" dirty="0">
                        <a:solidFill>
                          <a:srgbClr val="0033CC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75432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PTC/ATC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24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0033CC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30</a:t>
                      </a:r>
                      <a:endParaRPr lang="ko-KR" altLang="en-US" sz="1200" b="1" dirty="0">
                        <a:solidFill>
                          <a:srgbClr val="0033CC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Autosar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2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85567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TFT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판넬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8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141977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415492"/>
              </p:ext>
            </p:extLst>
          </p:nvPr>
        </p:nvGraphicFramePr>
        <p:xfrm>
          <a:off x="461232" y="3118030"/>
          <a:ext cx="8117160" cy="1052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538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1185468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45952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72295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9367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105238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인증 </a:t>
                      </a:r>
                      <a:r>
                        <a:rPr lang="ko-KR" altLang="en-US" sz="100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대응팀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Char char="-"/>
                      </a:pPr>
                      <a:r>
                        <a:rPr lang="en-US" altLang="ko-KR" sz="1000" baseline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ASPICE/SPQA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372354"/>
              </p:ext>
            </p:extLst>
          </p:nvPr>
        </p:nvGraphicFramePr>
        <p:xfrm>
          <a:off x="473437" y="4265984"/>
          <a:ext cx="8104954" cy="173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82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61635">
                  <a:extLst>
                    <a:ext uri="{9D8B030D-6E8A-4147-A177-3AD203B41FA5}">
                      <a16:colId xmlns:a16="http://schemas.microsoft.com/office/drawing/2014/main" val="3748132761"/>
                    </a:ext>
                  </a:extLst>
                </a:gridCol>
                <a:gridCol w="1190503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64194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5690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334031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lt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평가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ATC&amp;PTC</a:t>
                      </a:r>
                    </a:p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로직 검증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10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정적 검증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99876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757099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038163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327388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21112"/>
              </p:ext>
            </p:extLst>
          </p:nvPr>
        </p:nvGraphicFramePr>
        <p:xfrm>
          <a:off x="473438" y="6068420"/>
          <a:ext cx="8104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662">
                  <a:extLst>
                    <a:ext uri="{9D8B030D-6E8A-4147-A177-3AD203B41FA5}">
                      <a16:colId xmlns:a16="http://schemas.microsoft.com/office/drawing/2014/main" val="2013886810"/>
                    </a:ext>
                  </a:extLst>
                </a:gridCol>
                <a:gridCol w="1203657">
                  <a:extLst>
                    <a:ext uri="{9D8B030D-6E8A-4147-A177-3AD203B41FA5}">
                      <a16:colId xmlns:a16="http://schemas.microsoft.com/office/drawing/2014/main" val="3491111307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2003287564"/>
                    </a:ext>
                  </a:extLst>
                </a:gridCol>
                <a:gridCol w="1164193">
                  <a:extLst>
                    <a:ext uri="{9D8B030D-6E8A-4147-A177-3AD203B41FA5}">
                      <a16:colId xmlns:a16="http://schemas.microsoft.com/office/drawing/2014/main" val="13301066"/>
                    </a:ext>
                  </a:extLst>
                </a:gridCol>
                <a:gridCol w="1131307">
                  <a:extLst>
                    <a:ext uri="{9D8B030D-6E8A-4147-A177-3AD203B41FA5}">
                      <a16:colId xmlns:a16="http://schemas.microsoft.com/office/drawing/2014/main" val="2120787336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667650461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180359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68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818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3528" y="548680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4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인력 확보 및 조직 신설을 통한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 확대</a:t>
            </a:r>
            <a:endParaRPr lang="en-US" altLang="ko-KR" sz="14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7399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ALM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도입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41829"/>
          <a:stretch/>
        </p:blipFill>
        <p:spPr>
          <a:xfrm>
            <a:off x="361935" y="1340768"/>
            <a:ext cx="8458537" cy="489769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1935" y="582439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92500" lnSpcReduction="20000"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4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ALM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구축 完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/>
            </a:r>
            <a:b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4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ALM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활성화 및 빠른 정착을 위해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프로젝트 이외 모든 프로젝트에 사용 권고</a:t>
            </a:r>
            <a:endParaRPr lang="en-US" altLang="ko-KR" sz="14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85519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6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강화방안 요약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99592" y="661247"/>
            <a:ext cx="698477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/>
              <a:t>역량강화를 위한 전사적 노력 </a:t>
            </a:r>
            <a:r>
              <a:rPr lang="en-US" altLang="ko-KR" sz="1400" dirty="0" smtClean="0"/>
              <a:t>(7</a:t>
            </a:r>
            <a:r>
              <a:rPr lang="ko-KR" altLang="en-US" sz="1400" dirty="0" smtClean="0"/>
              <a:t>월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일 회장님 보고 완료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1043608" y="1196752"/>
            <a:ext cx="6048672" cy="50321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 1. </a:t>
            </a:r>
            <a:r>
              <a:rPr lang="ko-KR" altLang="en-US" sz="1600" dirty="0" smtClean="0"/>
              <a:t>인력 확대 </a:t>
            </a:r>
            <a:r>
              <a:rPr lang="en-US" altLang="ko-KR" sz="1600" dirty="0" smtClean="0"/>
              <a:t>(39</a:t>
            </a:r>
            <a:r>
              <a:rPr lang="ko-KR" altLang="en-US" sz="1600" dirty="0" smtClean="0"/>
              <a:t>명</a:t>
            </a:r>
            <a:r>
              <a:rPr lang="en-US" altLang="ko-KR" sz="1600" dirty="0" smtClean="0"/>
              <a:t> </a:t>
            </a:r>
            <a:r>
              <a:rPr lang="en-US" altLang="ko-KR" sz="1600" dirty="0" smtClean="0">
                <a:sym typeface="Wingdings" panose="05000000000000000000" pitchFamily="2" charset="2"/>
              </a:rPr>
              <a:t> 68</a:t>
            </a:r>
            <a:r>
              <a:rPr lang="ko-KR" altLang="en-US" sz="1600" dirty="0" smtClean="0">
                <a:sym typeface="Wingdings" panose="05000000000000000000" pitchFamily="2" charset="2"/>
              </a:rPr>
              <a:t>명</a:t>
            </a:r>
            <a:r>
              <a:rPr lang="en-US" altLang="ko-KR" sz="1600" dirty="0" smtClean="0">
                <a:sym typeface="Wingdings" panose="05000000000000000000" pitchFamily="2" charset="2"/>
              </a:rPr>
              <a:t>, 25</a:t>
            </a:r>
            <a:r>
              <a:rPr lang="ko-KR" altLang="en-US" sz="1600" dirty="0" smtClean="0">
                <a:sym typeface="Wingdings" panose="05000000000000000000" pitchFamily="2" charset="2"/>
              </a:rPr>
              <a:t>년 내 </a:t>
            </a:r>
            <a:r>
              <a:rPr lang="en-US" altLang="ko-KR" sz="1600" dirty="0" smtClean="0">
                <a:sym typeface="Wingdings" panose="05000000000000000000" pitchFamily="2" charset="2"/>
              </a:rPr>
              <a:t>29</a:t>
            </a:r>
            <a:r>
              <a:rPr lang="ko-KR" altLang="en-US" sz="1600" dirty="0" smtClean="0">
                <a:sym typeface="Wingdings" panose="05000000000000000000" pitchFamily="2" charset="2"/>
              </a:rPr>
              <a:t>명 충원</a:t>
            </a:r>
            <a:r>
              <a:rPr lang="en-US" altLang="ko-KR" sz="1600" dirty="0" smtClean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ym typeface="Wingdings" panose="05000000000000000000" pitchFamily="2" charset="2"/>
              </a:rPr>
              <a:t>   - S/W </a:t>
            </a:r>
            <a:r>
              <a:rPr lang="ko-KR" altLang="en-US" sz="1400" dirty="0" smtClean="0">
                <a:sym typeface="Wingdings" panose="05000000000000000000" pitchFamily="2" charset="2"/>
              </a:rPr>
              <a:t>개발 </a:t>
            </a:r>
            <a:r>
              <a:rPr lang="en-US" altLang="ko-KR" sz="1400" dirty="0" smtClean="0">
                <a:sym typeface="Wingdings" panose="05000000000000000000" pitchFamily="2" charset="2"/>
              </a:rPr>
              <a:t>: 29</a:t>
            </a:r>
            <a:r>
              <a:rPr lang="ko-KR" altLang="en-US" sz="1400" dirty="0" smtClean="0">
                <a:sym typeface="Wingdings" panose="05000000000000000000" pitchFamily="2" charset="2"/>
              </a:rPr>
              <a:t>명 </a:t>
            </a:r>
            <a:r>
              <a:rPr lang="en-US" altLang="ko-KR" sz="1400" dirty="0" smtClean="0">
                <a:sym typeface="Wingdings" panose="05000000000000000000" pitchFamily="2" charset="2"/>
              </a:rPr>
              <a:t> 46</a:t>
            </a:r>
            <a:r>
              <a:rPr lang="ko-KR" altLang="en-US" sz="1400" dirty="0" smtClean="0">
                <a:sym typeface="Wingdings" panose="05000000000000000000" pitchFamily="2" charset="2"/>
              </a:rPr>
              <a:t>명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 - </a:t>
            </a:r>
            <a:r>
              <a:rPr lang="ko-KR" altLang="en-US" sz="1400" dirty="0" smtClean="0">
                <a:sym typeface="Wingdings" panose="05000000000000000000" pitchFamily="2" charset="2"/>
              </a:rPr>
              <a:t>검증</a:t>
            </a:r>
            <a:r>
              <a:rPr lang="en-US" altLang="ko-KR" sz="1400" dirty="0" smtClean="0">
                <a:sym typeface="Wingdings" panose="05000000000000000000" pitchFamily="2" charset="2"/>
              </a:rPr>
              <a:t>/</a:t>
            </a:r>
            <a:r>
              <a:rPr lang="ko-KR" altLang="en-US" sz="1400" dirty="0" smtClean="0">
                <a:sym typeface="Wingdings" panose="05000000000000000000" pitchFamily="2" charset="2"/>
              </a:rPr>
              <a:t>평가 </a:t>
            </a:r>
            <a:r>
              <a:rPr lang="en-US" altLang="ko-KR" sz="1400" dirty="0" smtClean="0">
                <a:sym typeface="Wingdings" panose="05000000000000000000" pitchFamily="2" charset="2"/>
              </a:rPr>
              <a:t>: 7</a:t>
            </a:r>
            <a:r>
              <a:rPr lang="ko-KR" altLang="en-US" sz="1400" dirty="0" smtClean="0">
                <a:sym typeface="Wingdings" panose="05000000000000000000" pitchFamily="2" charset="2"/>
              </a:rPr>
              <a:t>명 </a:t>
            </a:r>
            <a:r>
              <a:rPr lang="en-US" altLang="ko-KR" sz="1400" dirty="0" smtClean="0">
                <a:sym typeface="Wingdings" panose="05000000000000000000" pitchFamily="2" charset="2"/>
              </a:rPr>
              <a:t> 16</a:t>
            </a:r>
            <a:r>
              <a:rPr lang="ko-KR" altLang="en-US" sz="1400" dirty="0" smtClean="0">
                <a:sym typeface="Wingdings" panose="05000000000000000000" pitchFamily="2" charset="2"/>
              </a:rPr>
              <a:t>명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 - ASPICE : 3</a:t>
            </a:r>
            <a:r>
              <a:rPr lang="ko-KR" altLang="en-US" sz="1400" dirty="0" smtClean="0">
                <a:sym typeface="Wingdings" panose="05000000000000000000" pitchFamily="2" charset="2"/>
              </a:rPr>
              <a:t>명 </a:t>
            </a:r>
            <a:r>
              <a:rPr lang="en-US" altLang="ko-KR" sz="1400" dirty="0" smtClean="0">
                <a:sym typeface="Wingdings" panose="05000000000000000000" pitchFamily="2" charset="2"/>
              </a:rPr>
              <a:t> 6</a:t>
            </a:r>
            <a:r>
              <a:rPr lang="ko-KR" altLang="en-US" sz="1400" dirty="0" smtClean="0">
                <a:sym typeface="Wingdings" panose="05000000000000000000" pitchFamily="2" charset="2"/>
              </a:rPr>
              <a:t>명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ym typeface="Wingdings" panose="05000000000000000000" pitchFamily="2" charset="2"/>
              </a:rPr>
              <a:t> 2 </a:t>
            </a:r>
            <a:r>
              <a:rPr lang="ko-KR" altLang="en-US" sz="1600" dirty="0" smtClean="0">
                <a:sym typeface="Wingdings" panose="05000000000000000000" pitchFamily="2" charset="2"/>
              </a:rPr>
              <a:t>역량 강화 </a:t>
            </a:r>
            <a:r>
              <a:rPr lang="en-US" altLang="ko-KR" sz="1600" dirty="0" smtClean="0">
                <a:sym typeface="Wingdings" panose="05000000000000000000" pitchFamily="2" charset="2"/>
              </a:rPr>
              <a:t>: 3</a:t>
            </a:r>
            <a:r>
              <a:rPr lang="ko-KR" altLang="en-US" sz="1600" dirty="0" smtClean="0">
                <a:sym typeface="Wingdings" panose="05000000000000000000" pitchFamily="2" charset="2"/>
              </a:rPr>
              <a:t>단계 </a:t>
            </a:r>
            <a:r>
              <a:rPr lang="ko-KR" altLang="en-US" sz="1600" dirty="0" err="1" smtClean="0">
                <a:sym typeface="Wingdings" panose="05000000000000000000" pitchFamily="2" charset="2"/>
              </a:rPr>
              <a:t>역량육성</a:t>
            </a:r>
            <a:r>
              <a:rPr lang="ko-KR" altLang="en-US" sz="1600" dirty="0" smtClean="0">
                <a:sym typeface="Wingdings" panose="05000000000000000000" pitchFamily="2" charset="2"/>
              </a:rPr>
              <a:t> 교육 진행</a:t>
            </a:r>
            <a:endParaRPr lang="en-US" altLang="ko-KR" sz="16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- Firmware </a:t>
            </a:r>
            <a:r>
              <a:rPr lang="ko-KR" altLang="en-US" sz="1400" dirty="0" smtClean="0">
                <a:sym typeface="Wingdings" panose="05000000000000000000" pitchFamily="2" charset="2"/>
              </a:rPr>
              <a:t>개발인력 교육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- </a:t>
            </a:r>
            <a:r>
              <a:rPr lang="ko-KR" altLang="en-US" sz="1400" dirty="0" smtClean="0">
                <a:sym typeface="Wingdings" panose="05000000000000000000" pitchFamily="2" charset="2"/>
              </a:rPr>
              <a:t>공조 </a:t>
            </a:r>
            <a:r>
              <a:rPr lang="en-US" altLang="ko-KR" sz="1400" dirty="0" smtClean="0">
                <a:sym typeface="Wingdings" panose="05000000000000000000" pitchFamily="2" charset="2"/>
              </a:rPr>
              <a:t>S/W </a:t>
            </a:r>
            <a:r>
              <a:rPr lang="ko-KR" altLang="en-US" sz="1400" dirty="0" smtClean="0">
                <a:sym typeface="Wingdings" panose="05000000000000000000" pitchFamily="2" charset="2"/>
              </a:rPr>
              <a:t>전문가 교육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- </a:t>
            </a:r>
            <a:r>
              <a:rPr lang="en-US" altLang="ko-KR" sz="1400" dirty="0" err="1" smtClean="0">
                <a:sym typeface="Wingdings" panose="05000000000000000000" pitchFamily="2" charset="2"/>
              </a:rPr>
              <a:t>Autosar</a:t>
            </a:r>
            <a:r>
              <a:rPr lang="en-US" altLang="ko-KR" sz="1400" dirty="0" smtClean="0">
                <a:sym typeface="Wingdings" panose="05000000000000000000" pitchFamily="2" charset="2"/>
              </a:rPr>
              <a:t> Platform </a:t>
            </a:r>
            <a:r>
              <a:rPr lang="ko-KR" altLang="en-US" sz="1400" dirty="0" smtClean="0">
                <a:sym typeface="Wingdings" panose="05000000000000000000" pitchFamily="2" charset="2"/>
              </a:rPr>
              <a:t>전문가 교육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ym typeface="Wingdings" panose="05000000000000000000" pitchFamily="2" charset="2"/>
              </a:rPr>
              <a:t> 3. </a:t>
            </a:r>
            <a:r>
              <a:rPr lang="ko-KR" altLang="en-US" sz="1600" dirty="0" smtClean="0">
                <a:sym typeface="Wingdings" panose="05000000000000000000" pitchFamily="2" charset="2"/>
              </a:rPr>
              <a:t>시스템 프로세스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400" dirty="0" smtClean="0"/>
              <a:t>  - ALM Tools </a:t>
            </a:r>
            <a:r>
              <a:rPr lang="ko-KR" altLang="en-US" sz="1400" dirty="0" smtClean="0"/>
              <a:t>도입</a:t>
            </a:r>
            <a:r>
              <a:rPr lang="en-US" altLang="ko-KR" sz="1400" dirty="0" smtClean="0"/>
              <a:t>(6/12)</a:t>
            </a:r>
            <a:r>
              <a:rPr lang="ko-KR" altLang="en-US" sz="1400" dirty="0" smtClean="0"/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 </a:t>
            </a:r>
            <a:r>
              <a:rPr lang="ko-KR" altLang="en-US" sz="1400" dirty="0" smtClean="0">
                <a:sym typeface="Wingdings" panose="05000000000000000000" pitchFamily="2" charset="2"/>
              </a:rPr>
              <a:t>모든 과제 </a:t>
            </a:r>
            <a:r>
              <a:rPr lang="en-US" altLang="ko-KR" sz="1400" dirty="0" smtClean="0">
                <a:sym typeface="Wingdings" panose="05000000000000000000" pitchFamily="2" charset="2"/>
              </a:rPr>
              <a:t>ALM Tools </a:t>
            </a:r>
            <a:r>
              <a:rPr lang="ko-KR" altLang="en-US" sz="1400" dirty="0" smtClean="0">
                <a:sym typeface="Wingdings" panose="05000000000000000000" pitchFamily="2" charset="2"/>
              </a:rPr>
              <a:t>관리 추진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ym typeface="Wingdings" panose="05000000000000000000" pitchFamily="2" charset="2"/>
              </a:rPr>
              <a:t>  - </a:t>
            </a:r>
            <a:r>
              <a:rPr lang="ko-KR" altLang="en-US" sz="1400" dirty="0" smtClean="0">
                <a:sym typeface="Wingdings" panose="05000000000000000000" pitchFamily="2" charset="2"/>
              </a:rPr>
              <a:t>개발</a:t>
            </a:r>
            <a:r>
              <a:rPr lang="en-US" altLang="ko-KR" sz="1400" dirty="0" smtClean="0">
                <a:sym typeface="Wingdings" panose="05000000000000000000" pitchFamily="2" charset="2"/>
              </a:rPr>
              <a:t>/</a:t>
            </a:r>
            <a:r>
              <a:rPr lang="ko-KR" altLang="en-US" sz="1400" dirty="0" smtClean="0">
                <a:sym typeface="Wingdings" panose="05000000000000000000" pitchFamily="2" charset="2"/>
              </a:rPr>
              <a:t>평가 프로세스 정립</a:t>
            </a:r>
            <a:r>
              <a:rPr lang="en-US" altLang="ko-KR" sz="1400" dirty="0" smtClean="0">
                <a:sym typeface="Wingdings" panose="05000000000000000000" pitchFamily="2" charset="2"/>
              </a:rPr>
              <a:t>(</a:t>
            </a:r>
            <a:r>
              <a:rPr lang="ko-KR" altLang="en-US" sz="1400" dirty="0" smtClean="0">
                <a:sym typeface="Wingdings" panose="05000000000000000000" pitchFamily="2" charset="2"/>
              </a:rPr>
              <a:t>보완</a:t>
            </a:r>
            <a:r>
              <a:rPr lang="en-US" altLang="ko-KR" sz="1400" dirty="0" smtClean="0">
                <a:sym typeface="Wingdings" panose="05000000000000000000" pitchFamily="2" charset="2"/>
              </a:rPr>
              <a:t>)</a:t>
            </a:r>
            <a:r>
              <a:rPr lang="ko-KR" altLang="en-US" sz="1400" dirty="0" smtClean="0">
                <a:sym typeface="Wingdings" panose="05000000000000000000" pitchFamily="2" charset="2"/>
              </a:rPr>
              <a:t> 진행 중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4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조직 개편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400" dirty="0" smtClean="0"/>
              <a:t>  - </a:t>
            </a:r>
            <a:r>
              <a:rPr lang="ko-KR" altLang="en-US" sz="1400" dirty="0" smtClean="0"/>
              <a:t>시스템 조직 신설</a:t>
            </a:r>
            <a:r>
              <a:rPr lang="en-US" altLang="ko-KR" sz="1400" dirty="0" smtClean="0"/>
              <a:t>,  </a:t>
            </a:r>
            <a:r>
              <a:rPr lang="ko-KR" altLang="en-US" sz="1400" dirty="0" smtClean="0"/>
              <a:t>평가 전담조직</a:t>
            </a:r>
            <a:r>
              <a:rPr lang="en-US" altLang="ko-KR" sz="1400" dirty="0" smtClean="0"/>
              <a:t>,  </a:t>
            </a:r>
            <a:r>
              <a:rPr lang="ko-KR" altLang="en-US" sz="1400" dirty="0" smtClean="0"/>
              <a:t>컨트롤 타원 조직 신설</a:t>
            </a:r>
            <a:endParaRPr lang="ko-KR" altLang="en-US" sz="1400" dirty="0"/>
          </a:p>
        </p:txBody>
      </p:sp>
      <p:graphicFrame>
        <p:nvGraphicFramePr>
          <p:cNvPr id="11" name="개체 1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7220994"/>
              </p:ext>
            </p:extLst>
          </p:nvPr>
        </p:nvGraphicFramePr>
        <p:xfrm>
          <a:off x="4932040" y="2852936"/>
          <a:ext cx="179388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프레젠테이션" showAsIcon="1" r:id="rId3" imgW="380880" imgH="771480" progId="PowerPoint.Show.12">
                  <p:embed/>
                </p:oleObj>
              </mc:Choice>
              <mc:Fallback>
                <p:oleObj name="프레젠테이션" showAsIcon="1" r:id="rId3" imgW="380880" imgH="771480" progId="PowerPoint.Show.12">
                  <p:embed/>
                  <p:pic>
                    <p:nvPicPr>
                      <p:cNvPr id="17" name="개체 1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040" y="2852936"/>
                        <a:ext cx="179388" cy="1793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28453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5" y="1422520"/>
            <a:ext cx="6304787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제안서 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429718" tIns="757682" rIns="1833422" bIns="1708658" numCol="1" spcCol="1270" anchor="ctr" anchorCtr="0">
        <a:noAutofit/>
      </a:bodyPr>
      <a:lstStyle>
        <a:defPPr algn="ctr" defTabSz="1200150" latinLnBrk="1">
          <a:lnSpc>
            <a:spcPct val="90000"/>
          </a:lnSpc>
          <a:spcBef>
            <a:spcPct val="0"/>
          </a:spcBef>
          <a:spcAft>
            <a:spcPct val="35000"/>
          </a:spcAft>
          <a:defRPr sz="27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/>
      <a:bodyPr vert="horz" lIns="91440" tIns="45720" rIns="91440" bIns="45720" rtlCol="0">
        <a:normAutofit lnSpcReduction="10000"/>
      </a:bodyPr>
      <a:lstStyle>
        <a:defPPr latinLnBrk="0">
          <a:defRPr kern="0" dirty="0" smtClean="0"/>
        </a:defPPr>
      </a:lstStyle>
    </a:tx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Woory2016_RWJ</Template>
  <TotalTime>24606</TotalTime>
  <Words>1404</Words>
  <Application>Microsoft Office PowerPoint</Application>
  <PresentationFormat>화면 슬라이드 쇼(4:3)</PresentationFormat>
  <Paragraphs>557</Paragraphs>
  <Slides>11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굴림</vt:lpstr>
      <vt:lpstr>KoPubWorld돋움체 Bold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2_제안서 템플릿</vt:lpstr>
      <vt:lpstr>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유원종</dc:creator>
  <cp:lastModifiedBy>Windows 사용자</cp:lastModifiedBy>
  <cp:revision>830</cp:revision>
  <cp:lastPrinted>2025-03-19T09:06:02Z</cp:lastPrinted>
  <dcterms:created xsi:type="dcterms:W3CDTF">2017-01-19T08:03:01Z</dcterms:created>
  <dcterms:modified xsi:type="dcterms:W3CDTF">2025-09-10T02:26:39Z</dcterms:modified>
</cp:coreProperties>
</file>