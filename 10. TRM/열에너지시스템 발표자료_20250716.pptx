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3"/>
  </p:notesMasterIdLst>
  <p:handoutMasterIdLst>
    <p:handoutMasterId r:id="rId14"/>
  </p:handoutMasterIdLst>
  <p:sldIdLst>
    <p:sldId id="376" r:id="rId2"/>
    <p:sldId id="375" r:id="rId3"/>
    <p:sldId id="386" r:id="rId4"/>
    <p:sldId id="387" r:id="rId5"/>
    <p:sldId id="400" r:id="rId6"/>
    <p:sldId id="402" r:id="rId7"/>
    <p:sldId id="398" r:id="rId8"/>
    <p:sldId id="397" r:id="rId9"/>
    <p:sldId id="399" r:id="rId10"/>
    <p:sldId id="401" r:id="rId11"/>
    <p:sldId id="374" r:id="rId12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292929"/>
    <a:srgbClr val="FFCCC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3" autoAdjust="0"/>
    <p:restoredTop sz="96366" autoAdjust="0"/>
  </p:normalViewPr>
  <p:slideViewPr>
    <p:cSldViewPr>
      <p:cViewPr varScale="1">
        <p:scale>
          <a:sx n="151" d="100"/>
          <a:sy n="151" d="100"/>
        </p:scale>
        <p:origin x="15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A0A09-F79E-4E1C-94EF-A9CDB14FAB8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516A5-FCA7-4019-9F45-ACFE87C5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176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0F085-D220-4030-9252-85FF14D74EC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7A53-7C0D-41B0-9B33-B25E1C149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60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261104" y="1052736"/>
            <a:ext cx="8621712" cy="21599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/>
          </p:nvPr>
        </p:nvSpPr>
        <p:spPr>
          <a:xfrm>
            <a:off x="260350" y="620688"/>
            <a:ext cx="8622466" cy="3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1936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994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5592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8934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799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9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9070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3209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69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7477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27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CE45-C522-4B4E-ACAF-B03B54DE6B3F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9E013-E273-469B-BDC2-80CD8EE9E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7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굴림" charset="-127"/>
              <a:cs typeface="+mn-cs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6732612" y="6575678"/>
            <a:ext cx="720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t>P.</a:t>
            </a:r>
            <a:fld id="{11AA4A1D-7CD0-4031-A480-D0E2C071605E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7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png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55776" y="2561123"/>
            <a:ext cx="51125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3200" b="1" dirty="0" smtClean="0">
                <a:solidFill>
                  <a:schemeClr val="bg1"/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S/W </a:t>
            </a:r>
            <a:r>
              <a:rPr lang="ko-KR" altLang="en-US" sz="3200" b="1" dirty="0" smtClean="0">
                <a:solidFill>
                  <a:schemeClr val="bg1"/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개발 프로세스 및 역량</a:t>
            </a:r>
            <a:endParaRPr lang="en-US" altLang="ko-KR" sz="3200" b="1" dirty="0">
              <a:solidFill>
                <a:schemeClr val="bg1"/>
              </a:solidFill>
              <a:latin typeface="+mj-lt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5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556792"/>
            <a:ext cx="3419952" cy="1533739"/>
          </a:xfrm>
          <a:prstGeom prst="rect">
            <a:avLst/>
          </a:prstGeom>
        </p:spPr>
      </p:pic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ASPICE PJT HISTORY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5755100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kern="0" dirty="0" smtClean="0"/>
              <a:t>지난 프로젝트의 문제점 예시 </a:t>
            </a:r>
            <a:r>
              <a:rPr lang="en-US" altLang="ko-KR" kern="0" dirty="0" smtClean="0"/>
              <a:t>: MMA Air PTC </a:t>
            </a:r>
            <a:r>
              <a:rPr lang="ko-KR" altLang="en-US" kern="0" dirty="0" smtClean="0"/>
              <a:t>프로젝트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528" y="1112750"/>
            <a:ext cx="8064896" cy="519657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marL="228600" indent="-228600" latinLnBrk="0">
              <a:lnSpc>
                <a:spcPct val="150000"/>
              </a:lnSpc>
              <a:buAutoNum type="arabicParenR"/>
            </a:pPr>
            <a:r>
              <a:rPr lang="ko-KR" altLang="en-US" sz="1600" kern="0" dirty="0" smtClean="0">
                <a:latin typeface="+mn-ea"/>
              </a:rPr>
              <a:t>잦은 </a:t>
            </a:r>
            <a:r>
              <a:rPr lang="ko-KR" altLang="en-US" sz="1600" kern="0" dirty="0" err="1" smtClean="0">
                <a:latin typeface="+mn-ea"/>
              </a:rPr>
              <a:t>조직변경</a:t>
            </a:r>
            <a:r>
              <a:rPr lang="en-US" altLang="ko-KR" sz="1600" kern="0" dirty="0" smtClean="0">
                <a:latin typeface="+mn-ea"/>
              </a:rPr>
              <a:t/>
            </a:r>
            <a:br>
              <a:rPr lang="en-US" altLang="ko-KR" sz="1600" kern="0" dirty="0" smtClean="0">
                <a:latin typeface="+mn-ea"/>
              </a:rPr>
            </a:br>
            <a:r>
              <a:rPr lang="en-US" altLang="ko-KR" sz="1600" kern="0" dirty="0" smtClean="0">
                <a:latin typeface="+mn-ea"/>
              </a:rPr>
              <a:t>A </a:t>
            </a:r>
            <a:r>
              <a:rPr lang="ko-KR" altLang="en-US" sz="1600" kern="0" dirty="0" smtClean="0">
                <a:latin typeface="+mn-ea"/>
              </a:rPr>
              <a:t>→ </a:t>
            </a:r>
            <a:r>
              <a:rPr lang="en-US" altLang="ko-KR" sz="1600" kern="0" dirty="0" smtClean="0">
                <a:latin typeface="+mn-ea"/>
              </a:rPr>
              <a:t>B </a:t>
            </a:r>
            <a:r>
              <a:rPr lang="ko-KR" altLang="en-US" sz="1600" kern="0" dirty="0" smtClean="0">
                <a:latin typeface="+mn-ea"/>
              </a:rPr>
              <a:t>→ </a:t>
            </a:r>
            <a:r>
              <a:rPr lang="en-US" altLang="ko-KR" sz="1600" kern="0" dirty="0" smtClean="0">
                <a:latin typeface="+mn-ea"/>
              </a:rPr>
              <a:t>C </a:t>
            </a:r>
            <a:r>
              <a:rPr lang="ko-KR" altLang="en-US" sz="1600" kern="0" dirty="0" smtClean="0">
                <a:latin typeface="+mn-ea"/>
              </a:rPr>
              <a:t>→ </a:t>
            </a:r>
            <a:r>
              <a:rPr lang="en-US" altLang="ko-KR" sz="1600" kern="0" dirty="0" smtClean="0">
                <a:latin typeface="+mn-ea"/>
              </a:rPr>
              <a:t>D Sample </a:t>
            </a:r>
            <a:r>
              <a:rPr lang="ko-KR" altLang="en-US" sz="1600" kern="0" dirty="0" err="1" smtClean="0">
                <a:latin typeface="+mn-ea"/>
              </a:rPr>
              <a:t>진행간</a:t>
            </a:r>
            <a:r>
              <a:rPr lang="ko-KR" altLang="en-US" sz="1600" kern="0" dirty="0" smtClean="0">
                <a:latin typeface="+mn-ea"/>
              </a:rPr>
              <a:t> 조직 변경 </a:t>
            </a:r>
            <a:r>
              <a:rPr lang="ko-KR" altLang="en-US" sz="1600" b="1" u="sng" kern="0" dirty="0" smtClean="0">
                <a:latin typeface="+mn-ea"/>
              </a:rPr>
              <a:t>최소 </a:t>
            </a:r>
            <a:r>
              <a:rPr lang="en-US" altLang="ko-KR" sz="1600" b="1" u="sng" kern="0" dirty="0" smtClean="0">
                <a:latin typeface="+mn-ea"/>
              </a:rPr>
              <a:t>5</a:t>
            </a:r>
            <a:r>
              <a:rPr lang="ko-KR" altLang="en-US" sz="1600" b="1" u="sng" kern="0" dirty="0" smtClean="0">
                <a:latin typeface="+mn-ea"/>
              </a:rPr>
              <a:t>회</a:t>
            </a:r>
            <a:endParaRPr lang="en-US" altLang="ko-KR" sz="1600" b="1" u="sng" kern="0" dirty="0" smtClean="0">
              <a:latin typeface="+mn-ea"/>
            </a:endParaRPr>
          </a:p>
          <a:p>
            <a:pPr marL="228600" indent="-228600" latinLnBrk="0">
              <a:lnSpc>
                <a:spcPct val="150000"/>
              </a:lnSpc>
              <a:buAutoNum type="arabicParenR"/>
            </a:pPr>
            <a:r>
              <a:rPr lang="ko-KR" altLang="en-US" sz="1600" kern="0" dirty="0" smtClean="0">
                <a:latin typeface="+mn-ea"/>
              </a:rPr>
              <a:t>문서 형상관리 경험 및 인프라 부족</a:t>
            </a:r>
            <a:r>
              <a:rPr lang="en-US" altLang="ko-KR" sz="1600" kern="0" dirty="0" smtClean="0">
                <a:latin typeface="+mn-ea"/>
              </a:rPr>
              <a:t/>
            </a:r>
            <a:br>
              <a:rPr lang="en-US" altLang="ko-KR" sz="1600" kern="0" dirty="0" smtClean="0">
                <a:latin typeface="+mn-ea"/>
              </a:rPr>
            </a:br>
            <a:r>
              <a:rPr lang="ko-KR" altLang="en-US" sz="1600" kern="0" dirty="0" smtClean="0">
                <a:latin typeface="+mn-ea"/>
              </a:rPr>
              <a:t>→ </a:t>
            </a:r>
            <a:r>
              <a:rPr lang="en-US" altLang="ko-KR" sz="1600" kern="0" dirty="0" smtClean="0">
                <a:latin typeface="+mn-ea"/>
              </a:rPr>
              <a:t>ALM </a:t>
            </a:r>
            <a:r>
              <a:rPr lang="ko-KR" altLang="en-US" sz="1600" kern="0" dirty="0" smtClean="0">
                <a:latin typeface="+mn-ea"/>
              </a:rPr>
              <a:t>없이 </a:t>
            </a:r>
            <a:r>
              <a:rPr lang="en-US" altLang="ko-KR" sz="1600" kern="0" dirty="0" smtClean="0">
                <a:latin typeface="+mn-ea"/>
              </a:rPr>
              <a:t>MS Office </a:t>
            </a:r>
            <a:r>
              <a:rPr lang="ko-KR" altLang="en-US" sz="1600" kern="0" dirty="0" smtClean="0">
                <a:latin typeface="+mn-ea"/>
              </a:rPr>
              <a:t>및 폴더 관리만으로 진행</a:t>
            </a:r>
            <a:endParaRPr lang="en-US" altLang="ko-KR" sz="1600" kern="0" dirty="0" smtClean="0">
              <a:latin typeface="+mn-ea"/>
            </a:endParaRPr>
          </a:p>
          <a:p>
            <a:pPr marL="228600" indent="-228600" latinLnBrk="0">
              <a:lnSpc>
                <a:spcPct val="150000"/>
              </a:lnSpc>
              <a:buAutoNum type="arabicParenR"/>
            </a:pPr>
            <a:r>
              <a:rPr lang="ko-KR" altLang="en-US" sz="1600" kern="0" dirty="0" smtClean="0">
                <a:latin typeface="+mn-ea"/>
              </a:rPr>
              <a:t>중요 담당 인원에 대한 잦은 퇴사 </a:t>
            </a:r>
            <a:r>
              <a:rPr lang="en-US" altLang="ko-KR" sz="1600" kern="0" dirty="0" smtClean="0">
                <a:latin typeface="+mn-ea"/>
              </a:rPr>
              <a:t/>
            </a:r>
            <a:br>
              <a:rPr lang="en-US" altLang="ko-KR" sz="1600" kern="0" dirty="0" smtClean="0">
                <a:latin typeface="+mn-ea"/>
              </a:rPr>
            </a:br>
            <a:r>
              <a:rPr lang="ko-KR" altLang="en-US" sz="1600" kern="0" dirty="0" smtClean="0">
                <a:latin typeface="+mn-ea"/>
              </a:rPr>
              <a:t>→ 인원 관리 능력 부족</a:t>
            </a:r>
            <a:endParaRPr lang="en-US" altLang="ko-KR" sz="1600" kern="0" dirty="0" smtClean="0">
              <a:latin typeface="+mn-ea"/>
            </a:endParaRPr>
          </a:p>
          <a:p>
            <a:pPr marL="228600" indent="-228600" latinLnBrk="0">
              <a:lnSpc>
                <a:spcPct val="150000"/>
              </a:lnSpc>
              <a:buAutoNum type="arabicParenR"/>
            </a:pPr>
            <a:r>
              <a:rPr lang="ko-KR" altLang="en-US" sz="1600" kern="0" dirty="0" smtClean="0">
                <a:latin typeface="+mn-ea"/>
              </a:rPr>
              <a:t>컨설팅</a:t>
            </a:r>
            <a:r>
              <a:rPr lang="en-US" altLang="ko-KR" sz="1600" kern="0" dirty="0" smtClean="0">
                <a:latin typeface="+mn-ea"/>
              </a:rPr>
              <a:t>, </a:t>
            </a:r>
            <a:r>
              <a:rPr lang="ko-KR" altLang="en-US" sz="1600" kern="0" dirty="0" smtClean="0">
                <a:latin typeface="+mn-ea"/>
              </a:rPr>
              <a:t>용역 투입</a:t>
            </a:r>
            <a:r>
              <a:rPr lang="en-US" altLang="ko-KR" sz="1600" kern="0" dirty="0" smtClean="0">
                <a:latin typeface="+mn-ea"/>
              </a:rPr>
              <a:t>(</a:t>
            </a:r>
            <a:r>
              <a:rPr lang="en-US" altLang="ko-KR" sz="1600" kern="0" dirty="0" err="1" smtClean="0">
                <a:latin typeface="+mn-ea"/>
              </a:rPr>
              <a:t>espid</a:t>
            </a:r>
            <a:r>
              <a:rPr lang="en-US" altLang="ko-KR" sz="1600" kern="0" dirty="0" smtClean="0">
                <a:latin typeface="+mn-ea"/>
              </a:rPr>
              <a:t>, STS) </a:t>
            </a:r>
            <a:r>
              <a:rPr lang="ko-KR" altLang="en-US" sz="1600" kern="0" dirty="0" smtClean="0">
                <a:latin typeface="+mn-ea"/>
              </a:rPr>
              <a:t>비용 </a:t>
            </a:r>
            <a:r>
              <a:rPr lang="en-US" altLang="ko-KR" sz="1600" kern="0" dirty="0" smtClean="0">
                <a:latin typeface="+mn-ea"/>
              </a:rPr>
              <a:t>: ?????</a:t>
            </a:r>
          </a:p>
          <a:p>
            <a:pPr marL="228600" indent="-228600" latinLnBrk="0">
              <a:lnSpc>
                <a:spcPct val="150000"/>
              </a:lnSpc>
              <a:buAutoNum type="arabicParenR"/>
            </a:pPr>
            <a:r>
              <a:rPr lang="ko-KR" altLang="en-US" sz="1600" kern="0" dirty="0" smtClean="0">
                <a:latin typeface="+mn-ea"/>
              </a:rPr>
              <a:t>각 프로세스에 맞는 직무 담당자 부족</a:t>
            </a:r>
            <a:r>
              <a:rPr lang="en-US" altLang="ko-KR" sz="1600" kern="0" dirty="0" smtClean="0">
                <a:latin typeface="+mn-ea"/>
              </a:rPr>
              <a:t/>
            </a:r>
            <a:br>
              <a:rPr lang="en-US" altLang="ko-KR" sz="1600" kern="0" dirty="0" smtClean="0">
                <a:latin typeface="+mn-ea"/>
              </a:rPr>
            </a:br>
            <a:r>
              <a:rPr lang="en-US" altLang="ko-KR" sz="1600" kern="0" dirty="0" smtClean="0">
                <a:latin typeface="+mn-ea"/>
              </a:rPr>
              <a:t>- </a:t>
            </a:r>
            <a:r>
              <a:rPr lang="ko-KR" altLang="en-US" sz="1600" kern="0" dirty="0" smtClean="0">
                <a:latin typeface="+mn-ea"/>
              </a:rPr>
              <a:t>시스템 팀 부재</a:t>
            </a:r>
            <a:r>
              <a:rPr lang="en-US" altLang="ko-KR" sz="1600" kern="0" dirty="0">
                <a:latin typeface="+mn-ea"/>
              </a:rPr>
              <a:t> </a:t>
            </a:r>
            <a:r>
              <a:rPr lang="ko-KR" altLang="en-US" sz="1600" kern="0" dirty="0" smtClean="0">
                <a:latin typeface="+mn-ea"/>
              </a:rPr>
              <a:t>→ </a:t>
            </a:r>
            <a:r>
              <a:rPr lang="en-US" altLang="ko-KR" sz="1600" kern="0" dirty="0" smtClean="0">
                <a:latin typeface="+mn-ea"/>
              </a:rPr>
              <a:t>Engineer</a:t>
            </a:r>
            <a:r>
              <a:rPr lang="ko-KR" altLang="en-US" sz="1600" kern="0" dirty="0" smtClean="0">
                <a:latin typeface="+mn-ea"/>
              </a:rPr>
              <a:t>가 아닌 인력이 </a:t>
            </a:r>
            <a:r>
              <a:rPr lang="en-US" altLang="ko-KR" sz="1600" kern="0" dirty="0" smtClean="0">
                <a:latin typeface="+mn-ea"/>
              </a:rPr>
              <a:t>MAN.3</a:t>
            </a:r>
            <a:r>
              <a:rPr lang="ko-KR" altLang="en-US" sz="1600" kern="0" dirty="0" smtClean="0">
                <a:latin typeface="+mn-ea"/>
              </a:rPr>
              <a:t>을 담당</a:t>
            </a:r>
            <a:r>
              <a:rPr lang="en-US" altLang="ko-KR" sz="1600" kern="0" dirty="0" smtClean="0">
                <a:latin typeface="+mn-ea"/>
              </a:rPr>
              <a:t/>
            </a:r>
            <a:br>
              <a:rPr lang="en-US" altLang="ko-KR" sz="1600" kern="0" dirty="0" smtClean="0">
                <a:latin typeface="+mn-ea"/>
              </a:rPr>
            </a:br>
            <a:r>
              <a:rPr lang="en-US" altLang="ko-KR" sz="1600" kern="0" dirty="0" smtClean="0">
                <a:latin typeface="+mn-ea"/>
              </a:rPr>
              <a:t>- </a:t>
            </a:r>
            <a:r>
              <a:rPr lang="ko-KR" altLang="en-US" sz="1600" kern="0" dirty="0" smtClean="0">
                <a:latin typeface="+mn-ea"/>
              </a:rPr>
              <a:t>분야별 </a:t>
            </a:r>
            <a:r>
              <a:rPr lang="en-US" altLang="ko-KR" sz="1600" kern="0" dirty="0" smtClean="0">
                <a:latin typeface="+mn-ea"/>
              </a:rPr>
              <a:t>FSM(Functional Safety Manager)</a:t>
            </a:r>
            <a:r>
              <a:rPr lang="ko-KR" altLang="en-US" sz="1600" kern="0" dirty="0" smtClean="0">
                <a:latin typeface="+mn-ea"/>
              </a:rPr>
              <a:t>가 부재</a:t>
            </a:r>
            <a:endParaRPr lang="en-US" altLang="ko-KR" sz="1600" kern="0" dirty="0" smtClean="0">
              <a:latin typeface="+mn-ea"/>
            </a:endParaRPr>
          </a:p>
          <a:p>
            <a:pPr marL="228600" indent="-228600" latinLnBrk="0">
              <a:lnSpc>
                <a:spcPct val="150000"/>
              </a:lnSpc>
              <a:buAutoNum type="arabicParenR"/>
            </a:pPr>
            <a:r>
              <a:rPr lang="ko-KR" altLang="en-US" sz="1600" kern="0" dirty="0" smtClean="0">
                <a:latin typeface="+mn-ea"/>
              </a:rPr>
              <a:t>회사 차원의 충분한 인력 양성 활동 부재 </a:t>
            </a:r>
            <a:r>
              <a:rPr lang="en-US" altLang="ko-KR" sz="1600" kern="0" dirty="0" smtClean="0">
                <a:latin typeface="+mn-ea"/>
              </a:rPr>
              <a:t/>
            </a:r>
            <a:br>
              <a:rPr lang="en-US" altLang="ko-KR" sz="1600" kern="0" dirty="0" smtClean="0">
                <a:latin typeface="+mn-ea"/>
              </a:rPr>
            </a:br>
            <a:r>
              <a:rPr lang="ko-KR" altLang="en-US" sz="1600" kern="0" dirty="0" smtClean="0">
                <a:latin typeface="+mn-ea"/>
              </a:rPr>
              <a:t>→ </a:t>
            </a:r>
            <a:r>
              <a:rPr lang="en-US" altLang="ko-KR" sz="1600" kern="0" dirty="0" smtClean="0">
                <a:latin typeface="+mn-ea"/>
              </a:rPr>
              <a:t>ASPICE, ISO26262</a:t>
            </a:r>
            <a:r>
              <a:rPr lang="ko-KR" altLang="en-US" sz="1600" kern="0" dirty="0" smtClean="0">
                <a:latin typeface="+mn-ea"/>
              </a:rPr>
              <a:t>에 대한 이해 없이 </a:t>
            </a:r>
            <a:r>
              <a:rPr lang="ko-KR" altLang="en-US" sz="1600" kern="0" dirty="0" err="1" smtClean="0">
                <a:latin typeface="+mn-ea"/>
              </a:rPr>
              <a:t>쳐내기식</a:t>
            </a:r>
            <a:r>
              <a:rPr lang="ko-KR" altLang="en-US" sz="1600" kern="0" dirty="0" smtClean="0">
                <a:latin typeface="+mn-ea"/>
              </a:rPr>
              <a:t> 실무 처리 </a:t>
            </a:r>
            <a:r>
              <a:rPr lang="en-US" altLang="ko-KR" sz="1600" kern="0" dirty="0" smtClean="0">
                <a:latin typeface="+mn-ea"/>
              </a:rPr>
              <a:t>(</a:t>
            </a:r>
            <a:r>
              <a:rPr lang="ko-KR" altLang="en-US" sz="1600" kern="0" dirty="0" err="1" smtClean="0">
                <a:latin typeface="+mn-ea"/>
              </a:rPr>
              <a:t>역량대비</a:t>
            </a:r>
            <a:r>
              <a:rPr lang="ko-KR" altLang="en-US" sz="1600" kern="0" dirty="0" smtClean="0">
                <a:latin typeface="+mn-ea"/>
              </a:rPr>
              <a:t> </a:t>
            </a:r>
            <a:r>
              <a:rPr lang="ko-KR" altLang="en-US" sz="1600" kern="0" dirty="0" err="1" smtClean="0">
                <a:latin typeface="+mn-ea"/>
              </a:rPr>
              <a:t>일정촉박</a:t>
            </a:r>
            <a:r>
              <a:rPr lang="en-US" altLang="ko-KR" sz="1600" kern="0" dirty="0" smtClean="0">
                <a:latin typeface="+mn-ea"/>
              </a:rPr>
              <a:t>)</a:t>
            </a:r>
            <a:br>
              <a:rPr lang="en-US" altLang="ko-KR" sz="1600" kern="0" dirty="0" smtClean="0">
                <a:latin typeface="+mn-ea"/>
              </a:rPr>
            </a:br>
            <a:r>
              <a:rPr lang="ko-KR" altLang="en-US" sz="1600" kern="0" dirty="0" smtClean="0">
                <a:latin typeface="+mn-ea"/>
              </a:rPr>
              <a:t>→ 프로젝트를 수행하여도 남는게 없는 상황</a:t>
            </a:r>
            <a:r>
              <a:rPr lang="en-US" altLang="ko-KR" sz="1600" kern="0" dirty="0" smtClean="0">
                <a:latin typeface="+mn-ea"/>
              </a:rPr>
              <a:t>, </a:t>
            </a:r>
            <a:r>
              <a:rPr lang="ko-KR" altLang="en-US" sz="1600" kern="0" dirty="0" smtClean="0">
                <a:latin typeface="+mn-ea"/>
              </a:rPr>
              <a:t>매 프로젝트마다 컨설팅 및 용역 투입</a:t>
            </a:r>
            <a:endParaRPr lang="en-US" altLang="ko-KR" sz="1600" kern="0" dirty="0" smtClean="0">
              <a:latin typeface="+mn-ea"/>
            </a:endParaRPr>
          </a:p>
          <a:p>
            <a:pPr marL="228600" indent="-228600" latinLnBrk="0">
              <a:lnSpc>
                <a:spcPct val="150000"/>
              </a:lnSpc>
              <a:buAutoNum type="arabicParenR"/>
            </a:pPr>
            <a:r>
              <a:rPr lang="en-US" altLang="ko-KR" sz="1600" kern="0" dirty="0" smtClean="0">
                <a:latin typeface="+mn-ea"/>
              </a:rPr>
              <a:t>Engineering </a:t>
            </a:r>
            <a:r>
              <a:rPr lang="ko-KR" altLang="en-US" sz="1600" kern="0" dirty="0" smtClean="0">
                <a:latin typeface="+mn-ea"/>
              </a:rPr>
              <a:t>실무 조직 이외 </a:t>
            </a:r>
            <a:r>
              <a:rPr lang="en-US" altLang="ko-KR" sz="1600" kern="0" dirty="0" smtClean="0">
                <a:latin typeface="+mn-ea"/>
              </a:rPr>
              <a:t>Support </a:t>
            </a:r>
            <a:r>
              <a:rPr lang="ko-KR" altLang="en-US" sz="1600" kern="0" dirty="0" smtClean="0">
                <a:latin typeface="+mn-ea"/>
              </a:rPr>
              <a:t>인력 부족</a:t>
            </a:r>
            <a:endParaRPr lang="en-US" altLang="ko-KR" sz="1600" kern="0" dirty="0" smtClean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8144" y="3042533"/>
            <a:ext cx="3417999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ctr" latinLnBrk="0"/>
            <a:r>
              <a:rPr lang="en-US" altLang="ko-KR" sz="1050" kern="0" dirty="0" smtClean="0"/>
              <a:t>[</a:t>
            </a:r>
            <a:r>
              <a:rPr lang="ko-KR" altLang="en-US" sz="1050" kern="0" dirty="0" smtClean="0"/>
              <a:t>표</a:t>
            </a:r>
            <a:r>
              <a:rPr lang="en-US" altLang="ko-KR" sz="1050" kern="0" dirty="0" smtClean="0"/>
              <a:t>1] MMA Air PTC </a:t>
            </a:r>
            <a:r>
              <a:rPr lang="ko-KR" altLang="en-US" sz="1050" kern="0" dirty="0" smtClean="0"/>
              <a:t>프로젝트 일정</a:t>
            </a:r>
          </a:p>
        </p:txBody>
      </p:sp>
      <p:graphicFrame>
        <p:nvGraphicFramePr>
          <p:cNvPr id="5" name="개체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591024"/>
              </p:ext>
            </p:extLst>
          </p:nvPr>
        </p:nvGraphicFramePr>
        <p:xfrm>
          <a:off x="2123728" y="1268760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프레젠테이션" showAsIcon="1" r:id="rId4" imgW="380880" imgH="771480" progId="PowerPoint.Show.12">
                  <p:embed/>
                </p:oleObj>
              </mc:Choice>
              <mc:Fallback>
                <p:oleObj name="프레젠테이션" showAsIcon="1" r:id="rId4" imgW="38088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3728" y="1268760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39300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48208"/>
            <a:ext cx="5858693" cy="9050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348880"/>
            <a:ext cx="4176464" cy="27111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t="6486"/>
          <a:stretch/>
        </p:blipFill>
        <p:spPr>
          <a:xfrm>
            <a:off x="4479634" y="2348880"/>
            <a:ext cx="4603990" cy="2076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1" y="5085184"/>
            <a:ext cx="4176464" cy="819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ASPICE PJT HISTORY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5052" y="620688"/>
            <a:ext cx="4891004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en-US" altLang="ko-KR" kern="0" dirty="0" smtClean="0"/>
              <a:t>MMA Air PTC </a:t>
            </a:r>
            <a:r>
              <a:rPr lang="ko-KR" altLang="en-US" kern="0" dirty="0" smtClean="0"/>
              <a:t>프로젝트 </a:t>
            </a:r>
            <a:r>
              <a:rPr lang="en-US" altLang="ko-KR" kern="0" dirty="0" smtClean="0"/>
              <a:t>(2021. 12 : B-Sample)</a:t>
            </a:r>
          </a:p>
          <a:p>
            <a:pPr latinLnBrk="0"/>
            <a:endParaRPr lang="ko-KR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104350713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kern="0" dirty="0" smtClean="0"/>
              <a:t>자체 조직 진단 </a:t>
            </a:r>
            <a:endParaRPr lang="en-US" altLang="ko-KR" kern="0" dirty="0" smtClean="0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회사 차원의 조직 개선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425711"/>
              </p:ext>
            </p:extLst>
          </p:nvPr>
        </p:nvGraphicFramePr>
        <p:xfrm>
          <a:off x="323528" y="1628800"/>
          <a:ext cx="8434294" cy="388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419">
                  <a:extLst>
                    <a:ext uri="{9D8B030D-6E8A-4147-A177-3AD203B41FA5}">
                      <a16:colId xmlns:a16="http://schemas.microsoft.com/office/drawing/2014/main" val="4227186443"/>
                    </a:ext>
                  </a:extLst>
                </a:gridCol>
                <a:gridCol w="3474388">
                  <a:extLst>
                    <a:ext uri="{9D8B030D-6E8A-4147-A177-3AD203B41FA5}">
                      <a16:colId xmlns:a16="http://schemas.microsoft.com/office/drawing/2014/main" val="2810485293"/>
                    </a:ext>
                  </a:extLst>
                </a:gridCol>
                <a:gridCol w="1842749">
                  <a:extLst>
                    <a:ext uri="{9D8B030D-6E8A-4147-A177-3AD203B41FA5}">
                      <a16:colId xmlns:a16="http://schemas.microsoft.com/office/drawing/2014/main" val="1535674613"/>
                    </a:ext>
                  </a:extLst>
                </a:gridCol>
                <a:gridCol w="2549738">
                  <a:extLst>
                    <a:ext uri="{9D8B030D-6E8A-4147-A177-3AD203B41FA5}">
                      <a16:colId xmlns:a16="http://schemas.microsoft.com/office/drawing/2014/main" val="726790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순서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일어나는 일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원인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방안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827854"/>
                  </a:ext>
                </a:extLst>
              </a:tr>
              <a:tr h="169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 smtClean="0"/>
                        <a:t>S/W </a:t>
                      </a:r>
                      <a:r>
                        <a:rPr lang="ko-KR" altLang="en-US" sz="1000" dirty="0" smtClean="0"/>
                        <a:t>인력 확보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이탈문제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/>
                      </a:r>
                      <a:br>
                        <a:rPr lang="en-US" altLang="ko-KR" sz="1000" dirty="0" smtClean="0"/>
                      </a:br>
                      <a:r>
                        <a:rPr lang="en-US" altLang="ko-KR" sz="1000" dirty="0" smtClean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000" dirty="0" smtClean="0">
                          <a:sym typeface="Wingdings" panose="05000000000000000000" pitchFamily="2" charset="2"/>
                        </a:rPr>
                        <a:t>대기업 </a:t>
                      </a:r>
                      <a:r>
                        <a:rPr lang="en-US" altLang="ko-KR" sz="1000" dirty="0" smtClean="0">
                          <a:sym typeface="Wingdings" panose="05000000000000000000" pitchFamily="2" charset="2"/>
                        </a:rPr>
                        <a:t>S/W</a:t>
                      </a:r>
                      <a:r>
                        <a:rPr lang="ko-KR" altLang="en-US" sz="1000" dirty="0" smtClean="0">
                          <a:sym typeface="Wingdings" panose="05000000000000000000" pitchFamily="2" charset="2"/>
                        </a:rPr>
                        <a:t>인력 확보 전쟁 </a:t>
                      </a:r>
                      <a:r>
                        <a:rPr lang="en-US" altLang="ko-KR" sz="1000" dirty="0" smtClean="0">
                          <a:sym typeface="Wingdings" panose="05000000000000000000" pitchFamily="2" charset="2"/>
                        </a:rPr>
                        <a:t>(SDV </a:t>
                      </a:r>
                      <a:r>
                        <a:rPr lang="ko-KR" altLang="en-US" sz="1000" dirty="0" smtClean="0">
                          <a:sym typeface="Wingdings" panose="05000000000000000000" pitchFamily="2" charset="2"/>
                        </a:rPr>
                        <a:t>등</a:t>
                      </a:r>
                      <a:r>
                        <a:rPr lang="en-US" altLang="ko-KR" sz="1000" dirty="0" smtClean="0">
                          <a:sym typeface="Wingdings" panose="05000000000000000000" pitchFamily="2" charset="2"/>
                        </a:rPr>
                        <a:t>)  </a:t>
                      </a:r>
                      <a:br>
                        <a:rPr lang="en-US" altLang="ko-KR" sz="1000" dirty="0" smtClean="0">
                          <a:sym typeface="Wingdings" panose="05000000000000000000" pitchFamily="2" charset="2"/>
                        </a:rPr>
                      </a:br>
                      <a:r>
                        <a:rPr lang="en-US" altLang="ko-KR" sz="1000" dirty="0" smtClean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000" dirty="0" err="1" smtClean="0">
                          <a:sym typeface="Wingdings" panose="05000000000000000000" pitchFamily="2" charset="2"/>
                        </a:rPr>
                        <a:t>이탈방지책</a:t>
                      </a:r>
                      <a:r>
                        <a:rPr lang="ko-KR" altLang="en-US" sz="1000" dirty="0" smtClean="0">
                          <a:sym typeface="Wingdings" panose="05000000000000000000" pitchFamily="2" charset="2"/>
                        </a:rPr>
                        <a:t> 필요</a:t>
                      </a:r>
                      <a:endParaRPr lang="en-US" altLang="ko-KR" sz="1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rgbClr val="0000FF"/>
                          </a:solidFill>
                        </a:rPr>
                        <a:t>인력관리 부실</a:t>
                      </a:r>
                      <a:endParaRPr lang="ko-KR" altLang="en-US" sz="1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인사제도 개선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088193"/>
                  </a:ext>
                </a:extLst>
              </a:tr>
              <a:tr h="169892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개발 대응력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rgbClr val="0000FF"/>
                          </a:solidFill>
                        </a:rPr>
                        <a:t>인력부족</a:t>
                      </a:r>
                      <a:r>
                        <a:rPr lang="en-US" altLang="ko-KR" sz="1000" b="1" dirty="0" smtClean="0">
                          <a:solidFill>
                            <a:srgbClr val="0000FF"/>
                          </a:solidFill>
                        </a:rPr>
                        <a:t>, </a:t>
                      </a:r>
                      <a:r>
                        <a:rPr lang="ko-KR" altLang="en-US" sz="1000" b="1" dirty="0" err="1" smtClean="0">
                          <a:solidFill>
                            <a:srgbClr val="0000FF"/>
                          </a:solidFill>
                        </a:rPr>
                        <a:t>실력부족</a:t>
                      </a:r>
                      <a:endParaRPr lang="ko-KR" altLang="en-US" sz="1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인력충원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이탈방지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인력육성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0199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① 모터 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Driver IC S/W 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  <a:r>
                        <a:rPr kumimoji="0" lang="ko-KR" altLang="en-US" sz="1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대응지연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</a:rPr>
                        <a:t>인력부족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</a:rPr>
                        <a:t>실력부족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인력충원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인력육성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069665"/>
                  </a:ext>
                </a:extLst>
              </a:tr>
              <a:tr h="25897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개발 일정 지연 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kumimoji="0" lang="ko-KR" altLang="en-US" sz="1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고객사에서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인력부족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chemeClr val="tx1"/>
                          </a:solidFill>
                        </a:rPr>
                        <a:t>실력부족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인력충원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이탈방지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인력육성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794153"/>
                  </a:ext>
                </a:extLst>
              </a:tr>
              <a:tr h="25897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S/W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개발 외주용역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 smtClean="0">
                          <a:solidFill>
                            <a:srgbClr val="0000FF"/>
                          </a:solidFill>
                        </a:rPr>
                        <a:t>실력부족</a:t>
                      </a:r>
                      <a:endParaRPr lang="ko-KR" altLang="en-US" sz="1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인력충원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인력육성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178484"/>
                  </a:ext>
                </a:extLst>
              </a:tr>
              <a:tr h="169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0" lang="ko-KR" altLang="en-US" sz="1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품질문제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발생 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ko-KR" altLang="en-US" sz="1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품질업무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대응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 smtClean="0">
                          <a:solidFill>
                            <a:srgbClr val="0000FF"/>
                          </a:solidFill>
                        </a:rPr>
                        <a:t>평가부실</a:t>
                      </a:r>
                      <a:r>
                        <a:rPr lang="en-US" altLang="ko-KR" sz="1000" b="1" dirty="0" smtClean="0">
                          <a:solidFill>
                            <a:srgbClr val="0000FF"/>
                          </a:solidFill>
                        </a:rPr>
                        <a:t>, </a:t>
                      </a:r>
                      <a:r>
                        <a:rPr lang="ko-KR" altLang="en-US" sz="1000" b="1" dirty="0" smtClean="0">
                          <a:solidFill>
                            <a:srgbClr val="0000FF"/>
                          </a:solidFill>
                        </a:rPr>
                        <a:t>인력부족</a:t>
                      </a:r>
                      <a:endParaRPr lang="ko-KR" altLang="en-US" sz="1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조직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프로세스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인력충원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50107"/>
                  </a:ext>
                </a:extLst>
              </a:tr>
              <a:tr h="169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Source Code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및 주요 자료 보안 부실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rgbClr val="0000FF"/>
                          </a:solidFill>
                        </a:rPr>
                        <a:t>보안문제</a:t>
                      </a:r>
                      <a:endParaRPr lang="ko-KR" altLang="en-US" sz="1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보안강화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306858"/>
                  </a:ext>
                </a:extLst>
              </a:tr>
              <a:tr h="169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Source Code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관리 부재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rgbClr val="0000FF"/>
                          </a:solidFill>
                        </a:rPr>
                        <a:t>프로세스</a:t>
                      </a: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FF"/>
                          </a:solidFill>
                        </a:rPr>
                        <a:t>시스템</a:t>
                      </a:r>
                      <a:endParaRPr lang="ko-KR" altLang="en-US" sz="1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프로세스 개선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관리강화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87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S/W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평가 부실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 smtClean="0">
                          <a:solidFill>
                            <a:srgbClr val="0000FF"/>
                          </a:solidFill>
                        </a:rPr>
                        <a:t>평가부실</a:t>
                      </a:r>
                      <a:r>
                        <a:rPr lang="en-US" altLang="ko-KR" sz="1000" b="1" dirty="0" smtClean="0">
                          <a:solidFill>
                            <a:srgbClr val="0000FF"/>
                          </a:solidFill>
                        </a:rPr>
                        <a:t>, </a:t>
                      </a:r>
                      <a:r>
                        <a:rPr lang="ko-KR" altLang="en-US" sz="1000" b="1" dirty="0" smtClean="0">
                          <a:solidFill>
                            <a:srgbClr val="0000FF"/>
                          </a:solidFill>
                        </a:rPr>
                        <a:t>조직</a:t>
                      </a:r>
                      <a:endParaRPr lang="ko-KR" altLang="en-US" sz="1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조직변경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프로세스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실력부족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310444"/>
                  </a:ext>
                </a:extLst>
              </a:tr>
              <a:tr h="1698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ASPICE 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용역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인증 비용증가</a:t>
                      </a: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부실대응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인력부족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프로세스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인력부족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실력부족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58631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467544" y="943576"/>
            <a:ext cx="61926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en-US" altLang="ko-KR" sz="1600" kern="0" dirty="0" smtClean="0"/>
              <a:t>- SW </a:t>
            </a:r>
            <a:r>
              <a:rPr lang="ko-KR" altLang="en-US" sz="1600" kern="0" dirty="0" smtClean="0"/>
              <a:t>조직에 대한 대대적인 개선이 필요함을 인식</a:t>
            </a:r>
            <a:r>
              <a:rPr lang="en-US" altLang="ko-KR" sz="1600" kern="0" dirty="0" smtClean="0"/>
              <a:t/>
            </a:r>
            <a:br>
              <a:rPr lang="en-US" altLang="ko-KR" sz="1600" kern="0" dirty="0" smtClean="0"/>
            </a:br>
            <a:r>
              <a:rPr lang="en-US" altLang="ko-KR" sz="1600" kern="0" dirty="0" smtClean="0"/>
              <a:t>- </a:t>
            </a:r>
            <a:r>
              <a:rPr lang="ko-KR" altLang="en-US" sz="1600" kern="0" dirty="0" smtClean="0"/>
              <a:t>제조</a:t>
            </a:r>
            <a:r>
              <a:rPr lang="en-US" altLang="ko-KR" sz="1600" kern="0" dirty="0" smtClean="0"/>
              <a:t>, </a:t>
            </a:r>
            <a:r>
              <a:rPr lang="ko-KR" altLang="en-US" sz="1600" kern="0" dirty="0" smtClean="0"/>
              <a:t>기계 기반에서 </a:t>
            </a:r>
            <a:r>
              <a:rPr lang="en-US" altLang="ko-KR" sz="1600" kern="0" dirty="0" smtClean="0"/>
              <a:t>SDV</a:t>
            </a:r>
            <a:r>
              <a:rPr lang="ko-KR" altLang="en-US" sz="1600" kern="0" dirty="0" smtClean="0"/>
              <a:t>라는 시대흐름에 맞춘 개선이 필요</a:t>
            </a:r>
            <a:endParaRPr lang="en-US" altLang="ko-KR" sz="1600" kern="0" dirty="0" smtClean="0"/>
          </a:p>
        </p:txBody>
      </p:sp>
    </p:spTree>
    <p:extLst>
      <p:ext uri="{BB962C8B-B14F-4D97-AF65-F5344CB8AC3E}">
        <p14:creationId xmlns:p14="http://schemas.microsoft.com/office/powerpoint/2010/main" val="151296634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kern="0" dirty="0" smtClean="0"/>
              <a:t>현재 우리 산업의 수준</a:t>
            </a:r>
            <a:endParaRPr lang="en-US" altLang="ko-KR" kern="0" dirty="0" smtClean="0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회사 차원의 조직 개선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27584" y="1000696"/>
            <a:ext cx="7416824" cy="1440160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 smtClean="0"/>
              <a:t>▣ 경험적 측면 </a:t>
            </a:r>
            <a:endParaRPr lang="en-US" altLang="ko-KR" kern="12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 kern="1200" dirty="0" smtClean="0"/>
              <a:t>SPQA, ASPICE CL1, ASPICE CL2 </a:t>
            </a:r>
            <a:r>
              <a:rPr lang="ko-KR" altLang="en-US" sz="1500" kern="1200" dirty="0" smtClean="0"/>
              <a:t>수행 경험 有</a:t>
            </a:r>
            <a:endParaRPr lang="en-US" altLang="ko-KR" sz="1500" kern="12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500" kern="1200" dirty="0" smtClean="0"/>
              <a:t>경쟁사 대비 많은 프로젝트 및 노하우 보유</a:t>
            </a:r>
            <a:endParaRPr lang="ko-KR" altLang="en-US" sz="1500" kern="1200" dirty="0"/>
          </a:p>
        </p:txBody>
      </p:sp>
      <p:sp>
        <p:nvSpPr>
          <p:cNvPr id="8" name="직사각형 7"/>
          <p:cNvSpPr/>
          <p:nvPr/>
        </p:nvSpPr>
        <p:spPr>
          <a:xfrm>
            <a:off x="827584" y="2492896"/>
            <a:ext cx="7416824" cy="1440160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 smtClean="0"/>
              <a:t>▣ 실질적인 현 상황</a:t>
            </a:r>
            <a:endParaRPr lang="en-US" altLang="ko-KR" kern="12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 kern="1200" dirty="0" smtClean="0"/>
              <a:t>SPQA </a:t>
            </a:r>
            <a:r>
              <a:rPr lang="ko-KR" altLang="en-US" sz="1500" kern="1200" dirty="0" smtClean="0"/>
              <a:t>수행 가능 수준</a:t>
            </a:r>
            <a:endParaRPr lang="en-US" altLang="ko-KR" sz="1500" kern="12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500" dirty="0" smtClean="0"/>
              <a:t>기구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기계 베이스의 업무 노하우</a:t>
            </a:r>
            <a:endParaRPr lang="en-US" altLang="ko-KR" sz="15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 dirty="0" smtClean="0"/>
              <a:t>SW </a:t>
            </a:r>
            <a:r>
              <a:rPr lang="ko-KR" altLang="en-US" sz="1500" dirty="0" smtClean="0"/>
              <a:t>역량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인력 부족</a:t>
            </a:r>
            <a:endParaRPr lang="ko-KR" altLang="en-US" sz="1500" kern="1200" dirty="0"/>
          </a:p>
        </p:txBody>
      </p:sp>
      <p:sp>
        <p:nvSpPr>
          <p:cNvPr id="9" name="직사각형 8"/>
          <p:cNvSpPr/>
          <p:nvPr/>
        </p:nvSpPr>
        <p:spPr>
          <a:xfrm>
            <a:off x="827584" y="4005064"/>
            <a:ext cx="7416824" cy="2448272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 smtClean="0"/>
              <a:t>▣ 개선을 위해 진행중인 사항</a:t>
            </a:r>
            <a:endParaRPr lang="en-US" altLang="ko-KR" kern="12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 kern="1200" dirty="0" smtClean="0"/>
              <a:t>ASPICE</a:t>
            </a:r>
            <a:r>
              <a:rPr lang="ko-KR" altLang="en-US" sz="1500" kern="1200" dirty="0" smtClean="0"/>
              <a:t>팀 인력 충원 → </a:t>
            </a:r>
            <a:r>
              <a:rPr lang="ko-KR" altLang="en-US" sz="1500" dirty="0" smtClean="0"/>
              <a:t>기본 프로세스 정착부터</a:t>
            </a:r>
            <a:endParaRPr lang="en-US" altLang="ko-KR" sz="1500" kern="12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500" dirty="0" smtClean="0"/>
              <a:t>외부 교육 및 강사 초빙 계획 → 역량 향상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이탈 방지</a:t>
            </a:r>
            <a:endParaRPr lang="en-US" altLang="ko-KR" sz="15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 dirty="0" smtClean="0"/>
              <a:t>Engineering </a:t>
            </a:r>
            <a:r>
              <a:rPr lang="ko-KR" altLang="en-US" sz="1500" dirty="0" smtClean="0"/>
              <a:t>실무진 인력 충원 → 업무 과부하 방지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이탈 방지</a:t>
            </a:r>
            <a:endParaRPr lang="en-US" altLang="ko-KR" sz="1500" dirty="0" smtClean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500" dirty="0" smtClean="0"/>
              <a:t>인사 고과 제도 및 복지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처우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조직문화 개선 → 이탈 방지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악순환 탈출</a:t>
            </a:r>
            <a:endParaRPr lang="en-US" altLang="ko-KR" sz="1500" dirty="0"/>
          </a:p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500" kern="1200" dirty="0" smtClean="0"/>
              <a:t>품질 개선을 위한 품질 인식 교육 진행</a:t>
            </a:r>
            <a:endParaRPr lang="ko-KR" altLang="en-US" sz="1500" kern="1200" dirty="0"/>
          </a:p>
        </p:txBody>
      </p:sp>
    </p:spTree>
    <p:extLst>
      <p:ext uri="{BB962C8B-B14F-4D97-AF65-F5344CB8AC3E}">
        <p14:creationId xmlns:p14="http://schemas.microsoft.com/office/powerpoint/2010/main" val="30207661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en-US" altLang="ko-KR" kern="0" dirty="0" smtClean="0"/>
              <a:t>ES253EE VS ASPICE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회사 차원의 조직 개선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79190"/>
            <a:ext cx="5508367" cy="5428259"/>
          </a:xfrm>
          <a:prstGeom prst="rect">
            <a:avLst/>
          </a:prstGeom>
        </p:spPr>
      </p:pic>
      <p:graphicFrame>
        <p:nvGraphicFramePr>
          <p:cNvPr id="11" name="개체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4052523"/>
              </p:ext>
            </p:extLst>
          </p:nvPr>
        </p:nvGraphicFramePr>
        <p:xfrm>
          <a:off x="5868144" y="979190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68144" y="979190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48144" y="936030"/>
            <a:ext cx="3168352" cy="361578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en-US" altLang="ko-KR" sz="1100" kern="0" dirty="0" smtClean="0"/>
              <a:t>ASPICE 3.1 CL2 RACI MATRIX</a:t>
            </a:r>
            <a:endParaRPr lang="ko-KR" altLang="en-US" sz="1100" kern="0" dirty="0" smtClean="0"/>
          </a:p>
        </p:txBody>
      </p:sp>
      <p:sp>
        <p:nvSpPr>
          <p:cNvPr id="13" name="직사각형 12"/>
          <p:cNvSpPr/>
          <p:nvPr/>
        </p:nvSpPr>
        <p:spPr>
          <a:xfrm>
            <a:off x="5868144" y="1340768"/>
            <a:ext cx="3168352" cy="3384376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80000" rIns="0" bIns="180000" numCol="1" spcCol="1270" rtlCol="0" anchor="t" anchorCtr="0">
            <a:noAutofit/>
          </a:bodyPr>
          <a:lstStyle/>
          <a:p>
            <a:pPr marL="360000" indent="-18000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ko-KR" sz="1200" kern="1200" dirty="0" smtClean="0">
                <a:latin typeface="+mn-ea"/>
              </a:rPr>
              <a:t>ES253EE </a:t>
            </a:r>
            <a:r>
              <a:rPr lang="ko-KR" altLang="en-US" sz="1200" kern="1200" dirty="0" smtClean="0">
                <a:latin typeface="+mn-ea"/>
              </a:rPr>
              <a:t>산출물 </a:t>
            </a:r>
            <a:r>
              <a:rPr lang="en-US" altLang="ko-KR" sz="1200" kern="1200" dirty="0" smtClean="0">
                <a:latin typeface="+mn-ea"/>
              </a:rPr>
              <a:t>: 29</a:t>
            </a:r>
            <a:r>
              <a:rPr lang="ko-KR" altLang="en-US" sz="1200" kern="1200" dirty="0" smtClean="0">
                <a:latin typeface="+mn-ea"/>
              </a:rPr>
              <a:t>개</a:t>
            </a:r>
            <a:r>
              <a:rPr lang="en-US" altLang="ko-KR" sz="1200" dirty="0">
                <a:latin typeface="+mn-ea"/>
              </a:rPr>
              <a:t/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 smtClean="0">
                <a:latin typeface="+mn-ea"/>
              </a:rPr>
              <a:t>- CL1 </a:t>
            </a:r>
            <a:r>
              <a:rPr lang="ko-KR" altLang="en-US" sz="1200" dirty="0">
                <a:latin typeface="+mn-ea"/>
              </a:rPr>
              <a:t>보다 훨씬 완화된 </a:t>
            </a:r>
            <a:r>
              <a:rPr lang="ko-KR" altLang="en-US" sz="1200" dirty="0" smtClean="0">
                <a:latin typeface="+mn-ea"/>
              </a:rPr>
              <a:t>사양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en-US" altLang="ko-KR" sz="1200" dirty="0" smtClean="0">
                <a:latin typeface="+mn-ea"/>
              </a:rPr>
              <a:t>- SPQA </a:t>
            </a:r>
            <a:r>
              <a:rPr lang="ko-KR" altLang="en-US" sz="1200" dirty="0" smtClean="0">
                <a:latin typeface="+mn-ea"/>
              </a:rPr>
              <a:t>보다도 훨씬 완화된 사양</a:t>
            </a:r>
            <a:r>
              <a:rPr lang="en-US" altLang="ko-KR" sz="1200" dirty="0">
                <a:latin typeface="+mn-ea"/>
              </a:rPr>
              <a:t/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 </a:t>
            </a:r>
            <a:r>
              <a:rPr lang="en-US" altLang="ko-KR" sz="1200" dirty="0" smtClean="0">
                <a:latin typeface="+mn-ea"/>
              </a:rPr>
              <a:t>MAN.3/SUP.1/SUP.9/SUP.10 </a:t>
            </a:r>
            <a:r>
              <a:rPr lang="ko-KR" altLang="en-US" sz="1200" dirty="0" smtClean="0">
                <a:latin typeface="+mn-ea"/>
              </a:rPr>
              <a:t>없음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리뷰 </a:t>
            </a:r>
            <a:r>
              <a:rPr lang="ko-KR" altLang="en-US" sz="1200" dirty="0">
                <a:latin typeface="+mn-ea"/>
              </a:rPr>
              <a:t>산출물 요구사항이 </a:t>
            </a:r>
            <a:r>
              <a:rPr lang="ko-KR" altLang="en-US" sz="1200" dirty="0" smtClean="0">
                <a:latin typeface="+mn-ea"/>
              </a:rPr>
              <a:t>없음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양방향 </a:t>
            </a:r>
            <a:r>
              <a:rPr lang="ko-KR" altLang="en-US" sz="1200" dirty="0" err="1" smtClean="0">
                <a:latin typeface="+mn-ea"/>
              </a:rPr>
              <a:t>추적성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(Bidirectional </a:t>
            </a:r>
            <a:r>
              <a:rPr lang="en-US" altLang="ko-KR" sz="1200" dirty="0" smtClean="0">
                <a:latin typeface="+mn-ea"/>
              </a:rPr>
              <a:t>Traceability)</a:t>
            </a:r>
            <a:r>
              <a:rPr lang="ko-KR" altLang="en-US" sz="1200" dirty="0" smtClean="0">
                <a:latin typeface="+mn-ea"/>
              </a:rPr>
              <a:t>은 요구</a:t>
            </a:r>
            <a:endParaRPr lang="en-US" altLang="ko-KR" sz="1200" dirty="0" smtClean="0">
              <a:latin typeface="+mn-ea"/>
            </a:endParaRPr>
          </a:p>
          <a:p>
            <a:pPr marL="360000" indent="-18000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ko-KR" sz="1200" kern="1200" dirty="0" smtClean="0">
                <a:latin typeface="+mn-ea"/>
              </a:rPr>
              <a:t>ASPICE 3.1 CL1 </a:t>
            </a:r>
            <a:r>
              <a:rPr lang="ko-KR" altLang="en-US" sz="1200" kern="1200" dirty="0" smtClean="0">
                <a:latin typeface="+mn-ea"/>
              </a:rPr>
              <a:t>산출물</a:t>
            </a:r>
            <a:r>
              <a:rPr lang="en-US" altLang="ko-KR" sz="1200" kern="1200" dirty="0" smtClean="0">
                <a:latin typeface="+mn-ea"/>
              </a:rPr>
              <a:t/>
            </a:r>
            <a:br>
              <a:rPr lang="en-US" altLang="ko-KR" sz="1200" kern="1200" dirty="0" smtClean="0">
                <a:latin typeface="+mn-ea"/>
              </a:rPr>
            </a:br>
            <a:r>
              <a:rPr lang="ko-KR" altLang="en-US" sz="1200" kern="1200" dirty="0" smtClean="0">
                <a:latin typeface="+mn-ea"/>
              </a:rPr>
              <a:t>→</a:t>
            </a:r>
            <a:r>
              <a:rPr lang="en-US" altLang="ko-KR" sz="1200" kern="1200" dirty="0" smtClean="0">
                <a:latin typeface="+mn-ea"/>
              </a:rPr>
              <a:t> </a:t>
            </a:r>
            <a:r>
              <a:rPr lang="ko-KR" altLang="en-US" sz="1200" kern="1200" dirty="0" smtClean="0">
                <a:latin typeface="+mn-ea"/>
              </a:rPr>
              <a:t>최소 </a:t>
            </a:r>
            <a:r>
              <a:rPr lang="en-US" altLang="ko-KR" sz="1200" dirty="0" smtClean="0">
                <a:latin typeface="+mn-ea"/>
              </a:rPr>
              <a:t>60</a:t>
            </a:r>
            <a:r>
              <a:rPr lang="ko-KR" altLang="en-US" sz="1200" kern="1200" dirty="0" smtClean="0">
                <a:latin typeface="+mn-ea"/>
              </a:rPr>
              <a:t>개 이상</a:t>
            </a:r>
            <a:endParaRPr lang="en-US" altLang="ko-KR" sz="1200" kern="1200" dirty="0" smtClean="0">
              <a:latin typeface="+mn-ea"/>
            </a:endParaRPr>
          </a:p>
          <a:p>
            <a:pPr marL="360000" indent="-18000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+mn-ea"/>
              </a:rPr>
              <a:t>ASPICE 3.1 CL2 </a:t>
            </a:r>
            <a:r>
              <a:rPr lang="ko-KR" altLang="en-US" sz="1200" dirty="0" smtClean="0">
                <a:latin typeface="+mn-ea"/>
              </a:rPr>
              <a:t>산출물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ko-KR" altLang="en-US" sz="1200" dirty="0" smtClean="0">
                <a:latin typeface="+mn-ea"/>
              </a:rPr>
              <a:t>→ </a:t>
            </a:r>
            <a:r>
              <a:rPr lang="ko-KR" altLang="en-US" sz="1200" dirty="0" err="1" smtClean="0">
                <a:latin typeface="+mn-ea"/>
              </a:rPr>
              <a:t>역량관리</a:t>
            </a:r>
            <a:r>
              <a:rPr lang="ko-KR" altLang="en-US" sz="1200" dirty="0" smtClean="0">
                <a:latin typeface="+mn-ea"/>
              </a:rPr>
              <a:t> 및 </a:t>
            </a:r>
            <a:r>
              <a:rPr lang="en-US" altLang="ko-KR" sz="1200" dirty="0" smtClean="0">
                <a:latin typeface="+mn-ea"/>
              </a:rPr>
              <a:t>PJT Template </a:t>
            </a:r>
            <a:r>
              <a:rPr lang="ko-KR" altLang="en-US" sz="1200" dirty="0" smtClean="0">
                <a:latin typeface="+mn-ea"/>
              </a:rPr>
              <a:t>추가</a:t>
            </a:r>
            <a:endParaRPr lang="en-US" altLang="ko-KR" sz="1200" dirty="0" smtClean="0">
              <a:latin typeface="+mn-ea"/>
            </a:endParaRPr>
          </a:p>
          <a:p>
            <a:pPr marL="360000" indent="-18000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+mn-ea"/>
              </a:rPr>
              <a:t>ASPICE 3.1 CL3 </a:t>
            </a:r>
            <a:r>
              <a:rPr lang="ko-KR" altLang="en-US" sz="1200" dirty="0" smtClean="0">
                <a:latin typeface="+mn-ea"/>
              </a:rPr>
              <a:t>산출물</a:t>
            </a:r>
            <a:r>
              <a:rPr lang="en-US" altLang="ko-KR" sz="1200" dirty="0">
                <a:latin typeface="+mn-ea"/>
              </a:rPr>
              <a:t/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 smtClean="0">
                <a:latin typeface="+mn-ea"/>
              </a:rPr>
              <a:t>→ 각 </a:t>
            </a:r>
            <a:r>
              <a:rPr lang="ko-KR" altLang="en-US" sz="1200" dirty="0" err="1" smtClean="0">
                <a:latin typeface="+mn-ea"/>
              </a:rPr>
              <a:t>프로세스별</a:t>
            </a:r>
            <a:r>
              <a:rPr lang="ko-KR" altLang="en-US" sz="1200" dirty="0" smtClean="0">
                <a:latin typeface="+mn-ea"/>
              </a:rPr>
              <a:t> 절차 및 지침서 추가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ko-KR" altLang="en-US" sz="1200" dirty="0" smtClean="0">
                <a:latin typeface="+mn-ea"/>
              </a:rPr>
              <a:t>→ 조직 프로세스 기반으로 프로젝트 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en-US" altLang="ko-KR" sz="1200" dirty="0" smtClean="0">
                <a:latin typeface="+mn-ea"/>
              </a:rPr>
              <a:t>   </a:t>
            </a:r>
            <a:r>
              <a:rPr lang="ko-KR" altLang="en-US" sz="1200" dirty="0" smtClean="0">
                <a:latin typeface="+mn-ea"/>
              </a:rPr>
              <a:t>진행이 요구됨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marL="360000" indent="-180000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+mn-ea"/>
              </a:rPr>
              <a:t>ASPICE 4.0</a:t>
            </a:r>
            <a:r>
              <a:rPr lang="en-US" altLang="ko-KR" sz="1200" dirty="0">
                <a:latin typeface="+mn-ea"/>
              </a:rPr>
              <a:t/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 smtClean="0">
                <a:latin typeface="+mn-ea"/>
              </a:rPr>
              <a:t>→ </a:t>
            </a:r>
            <a:r>
              <a:rPr lang="en-US" altLang="ko-KR" sz="1200" dirty="0" smtClean="0">
                <a:latin typeface="+mn-ea"/>
              </a:rPr>
              <a:t>H/W Process </a:t>
            </a:r>
            <a:r>
              <a:rPr lang="ko-KR" altLang="en-US" sz="1200" dirty="0" smtClean="0">
                <a:latin typeface="+mn-ea"/>
              </a:rPr>
              <a:t>추가</a:t>
            </a:r>
            <a:endParaRPr lang="en-US" altLang="ko-KR" sz="12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428860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en-US" altLang="ko-KR" kern="0" dirty="0" smtClean="0"/>
              <a:t>SW </a:t>
            </a:r>
            <a:r>
              <a:rPr lang="ko-KR" altLang="en-US" kern="0" dirty="0" smtClean="0"/>
              <a:t>조직 진단 </a:t>
            </a:r>
            <a:endParaRPr lang="en-US" altLang="ko-KR" kern="0" dirty="0" smtClean="0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회사 차원의 조직 개선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483768" y="2079161"/>
            <a:ext cx="3933929" cy="3491892"/>
            <a:chOff x="2510279" y="1268426"/>
            <a:chExt cx="6606289" cy="5220418"/>
          </a:xfrm>
        </p:grpSpPr>
        <p:sp>
          <p:nvSpPr>
            <p:cNvPr id="24" name="이등변 삼각형 23"/>
            <p:cNvSpPr/>
            <p:nvPr/>
          </p:nvSpPr>
          <p:spPr>
            <a:xfrm>
              <a:off x="3657598" y="2316535"/>
              <a:ext cx="4356342" cy="3124200"/>
            </a:xfrm>
            <a:prstGeom prst="triangle">
              <a:avLst>
                <a:gd name="adj" fmla="val 48957"/>
              </a:avLst>
            </a:prstGeom>
            <a:gradFill>
              <a:gsLst>
                <a:gs pos="11000">
                  <a:schemeClr val="bg1">
                    <a:lumMod val="65000"/>
                    <a:alpha val="66000"/>
                  </a:schemeClr>
                </a:gs>
                <a:gs pos="0">
                  <a:srgbClr val="E8D8AA"/>
                </a:gs>
              </a:gsLst>
              <a:lin ang="5400000" scaled="1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6" name="순서도: 연결자 25"/>
            <p:cNvSpPr/>
            <p:nvPr/>
          </p:nvSpPr>
          <p:spPr>
            <a:xfrm>
              <a:off x="4649636" y="1268426"/>
              <a:ext cx="2303253" cy="2096219"/>
            </a:xfrm>
            <a:prstGeom prst="flowChartConnector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  <a:alpha val="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24000">
                  <a:schemeClr val="accent1">
                    <a:lumMod val="45000"/>
                    <a:lumOff val="55000"/>
                  </a:schemeClr>
                </a:gs>
                <a:gs pos="4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7" name="순서도: 연결자 26"/>
            <p:cNvSpPr/>
            <p:nvPr/>
          </p:nvSpPr>
          <p:spPr>
            <a:xfrm>
              <a:off x="6813314" y="4349120"/>
              <a:ext cx="2303254" cy="2096220"/>
            </a:xfrm>
            <a:prstGeom prst="flowChartConnector">
              <a:avLst/>
            </a:prstGeom>
            <a:gradFill>
              <a:gsLst>
                <a:gs pos="0">
                  <a:srgbClr val="C00000">
                    <a:alpha val="67000"/>
                    <a:lumMod val="56000"/>
                    <a:lumOff val="44000"/>
                  </a:srgb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8" name="순서도: 연결자 27"/>
            <p:cNvSpPr/>
            <p:nvPr/>
          </p:nvSpPr>
          <p:spPr>
            <a:xfrm>
              <a:off x="2510279" y="4392624"/>
              <a:ext cx="2303254" cy="2096220"/>
            </a:xfrm>
            <a:prstGeom prst="flowChartConnector">
              <a:avLst/>
            </a:prstGeom>
            <a:gradFill flip="none" rotWithShape="1">
              <a:gsLst>
                <a:gs pos="91000">
                  <a:srgbClr val="92D050">
                    <a:alpha val="23000"/>
                  </a:srgbClr>
                </a:gs>
                <a:gs pos="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129769" y="2054925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사람</a:t>
              </a:r>
              <a:endParaRPr lang="ko-KR" altLang="en-US" sz="1400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34972" y="5095637"/>
              <a:ext cx="1653867" cy="690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/>
                <a:t>시스템</a:t>
              </a:r>
              <a:endParaRPr lang="en-US" altLang="ko-KR" sz="1200" b="1" dirty="0" smtClean="0"/>
            </a:p>
            <a:p>
              <a:pPr algn="ctr"/>
              <a:r>
                <a:rPr lang="ko-KR" altLang="en-US" sz="1200" b="1" dirty="0" smtClean="0"/>
                <a:t>프로세스</a:t>
              </a:r>
              <a:endParaRPr lang="ko-KR" altLang="en-US" sz="1200" b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93446" y="5167164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조직</a:t>
              </a:r>
              <a:endParaRPr lang="ko-KR" altLang="en-US" sz="1400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542880" y="3694511"/>
              <a:ext cx="2601974" cy="1171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b="1" dirty="0" smtClean="0">
                  <a:solidFill>
                    <a:srgbClr val="0000FF"/>
                  </a:solidFill>
                </a:rPr>
                <a:t>S/W</a:t>
              </a:r>
              <a:r>
                <a:rPr lang="ko-KR" altLang="en-US" sz="1600" b="1" dirty="0" smtClean="0">
                  <a:solidFill>
                    <a:srgbClr val="0000FF"/>
                  </a:solidFill>
                </a:rPr>
                <a:t>가 </a:t>
              </a:r>
              <a:endParaRPr lang="en-US" altLang="ko-KR" sz="1600" b="1" dirty="0" smtClean="0">
                <a:solidFill>
                  <a:srgbClr val="0000FF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600" b="1" dirty="0" smtClean="0">
                  <a:solidFill>
                    <a:srgbClr val="0000FF"/>
                  </a:solidFill>
                </a:rPr>
                <a:t>강한 회사</a:t>
              </a:r>
              <a:endParaRPr lang="ko-KR" altLang="en-US" sz="16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532745" y="1412776"/>
            <a:ext cx="2016224" cy="1346355"/>
          </a:xfrm>
          <a:prstGeom prst="rect">
            <a:avLst/>
          </a:prstGeom>
          <a:gradFill>
            <a:gsLst>
              <a:gs pos="100000">
                <a:schemeClr val="accent1">
                  <a:lumMod val="10000"/>
                  <a:lumOff val="90000"/>
                  <a:alpha val="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45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인력 충원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현재 업무 환경 개선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2.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이탈방지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업무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히스토리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확보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업무 역량 육성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외부 교육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강사초빙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03607" y="4797151"/>
            <a:ext cx="2304155" cy="1429431"/>
          </a:xfrm>
          <a:prstGeom prst="rect">
            <a:avLst/>
          </a:prstGeom>
          <a:gradFill>
            <a:gsLst>
              <a:gs pos="0">
                <a:srgbClr val="C00000">
                  <a:alpha val="67000"/>
                  <a:lumMod val="56000"/>
                  <a:lumOff val="44000"/>
                </a:srgb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팀 신설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1)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평가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전담팀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2)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시스템 설계 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3)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컨트롤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타워팀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조직 개편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1) SW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조직 일원화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2)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역량 위주의 인사고과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50000" y="4665894"/>
            <a:ext cx="2054717" cy="1283386"/>
          </a:xfrm>
          <a:prstGeom prst="rect">
            <a:avLst/>
          </a:prstGeom>
          <a:gradFill flip="none" rotWithShape="1">
            <a:gsLst>
              <a:gs pos="91000">
                <a:srgbClr val="92D050">
                  <a:alpha val="23000"/>
                </a:srgbClr>
              </a:gs>
              <a:gs pos="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1.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ASPICE </a:t>
            </a:r>
            <a:r>
              <a:rPr lang="ko-KR" altLang="en-US" sz="1200" dirty="0" smtClean="0">
                <a:solidFill>
                  <a:schemeClr val="tx1"/>
                </a:solidFill>
              </a:rPr>
              <a:t>프로세스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2.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Organization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   Process </a:t>
            </a:r>
            <a:r>
              <a:rPr lang="ko-KR" altLang="en-US" sz="1200" dirty="0" smtClean="0">
                <a:solidFill>
                  <a:schemeClr val="tx1"/>
                </a:solidFill>
              </a:rPr>
              <a:t>구축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en-US" altLang="ko-KR" sz="1200" dirty="0" smtClean="0">
                <a:solidFill>
                  <a:schemeClr val="tx1"/>
                </a:solidFill>
              </a:rPr>
              <a:t>ALM, ITS, SCM, </a:t>
            </a:r>
          </a:p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MBD Tool, </a:t>
            </a:r>
          </a:p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</a:t>
            </a:r>
            <a:r>
              <a:rPr lang="ko-KR" altLang="en-US" sz="1200" dirty="0" smtClean="0">
                <a:solidFill>
                  <a:schemeClr val="tx1"/>
                </a:solidFill>
              </a:rPr>
              <a:t>평가 장비</a:t>
            </a:r>
            <a:r>
              <a:rPr lang="en-US" altLang="ko-KR" sz="1200" dirty="0" smtClean="0">
                <a:solidFill>
                  <a:schemeClr val="tx1"/>
                </a:solidFill>
              </a:rPr>
              <a:t>, Tool </a:t>
            </a:r>
            <a:r>
              <a:rPr lang="ko-KR" altLang="en-US" sz="1200" dirty="0" smtClean="0">
                <a:solidFill>
                  <a:schemeClr val="tx1"/>
                </a:solidFill>
              </a:rPr>
              <a:t>확충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250001" y="1000128"/>
            <a:ext cx="4542132" cy="556725"/>
          </a:xfrm>
          <a:prstGeom prst="roundRect">
            <a:avLst>
              <a:gd name="adj" fmla="val 28327"/>
            </a:avLst>
          </a:prstGeom>
          <a:solidFill>
            <a:schemeClr val="accent1">
              <a:lumMod val="75000"/>
            </a:schemeClr>
          </a:solidFill>
          <a:ln>
            <a:solidFill>
              <a:srgbClr val="0000FF"/>
            </a:solidFill>
          </a:ln>
          <a:effectLst>
            <a:outerShdw blurRad="76200" dist="889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latin typeface="+mj-ea"/>
              </a:rPr>
              <a:t>      </a:t>
            </a:r>
            <a:r>
              <a:rPr lang="en-US" altLang="ko-KR" b="1" dirty="0">
                <a:latin typeface="+mj-ea"/>
              </a:rPr>
              <a:t>S/W</a:t>
            </a:r>
            <a:r>
              <a:rPr lang="ko-KR" altLang="en-US" b="1" dirty="0">
                <a:latin typeface="+mj-ea"/>
              </a:rPr>
              <a:t>가 강한 회사를 만들 </a:t>
            </a:r>
            <a:r>
              <a:rPr lang="ko-KR" altLang="en-US" b="1" dirty="0">
                <a:solidFill>
                  <a:srgbClr val="0000FF"/>
                </a:solidFill>
                <a:latin typeface="+mj-ea"/>
              </a:rPr>
              <a:t>방안은</a:t>
            </a:r>
            <a:r>
              <a:rPr lang="en-US" altLang="ko-KR" b="1" dirty="0">
                <a:latin typeface="+mj-ea"/>
              </a:rPr>
              <a:t>?</a:t>
            </a:r>
            <a:endParaRPr lang="ko-KR" altLang="en-US" b="1" dirty="0">
              <a:latin typeface="+mj-ea"/>
            </a:endParaRPr>
          </a:p>
        </p:txBody>
      </p:sp>
      <p:cxnSp>
        <p:nvCxnSpPr>
          <p:cNvPr id="12" name="꺾인 연결선 11"/>
          <p:cNvCxnSpPr>
            <a:stCxn id="28" idx="0"/>
            <a:endCxn id="36" idx="0"/>
          </p:cNvCxnSpPr>
          <p:nvPr/>
        </p:nvCxnSpPr>
        <p:spPr bwMode="auto">
          <a:xfrm rot="16200000" flipH="1" flipV="1">
            <a:off x="1974959" y="3471310"/>
            <a:ext cx="496984" cy="1892183"/>
          </a:xfrm>
          <a:prstGeom prst="bentConnector3">
            <a:avLst>
              <a:gd name="adj1" fmla="val -45997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4" idx="1"/>
            <a:endCxn id="26" idx="6"/>
          </p:cNvCxnSpPr>
          <p:nvPr/>
        </p:nvCxnSpPr>
        <p:spPr bwMode="auto">
          <a:xfrm rot="10800000" flipV="1">
            <a:off x="5129265" y="2013945"/>
            <a:ext cx="1403481" cy="766287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5" idx="2"/>
            <a:endCxn id="27" idx="4"/>
          </p:cNvCxnSpPr>
          <p:nvPr/>
        </p:nvCxnSpPr>
        <p:spPr bwMode="auto">
          <a:xfrm rot="5400000" flipH="1">
            <a:off x="6451490" y="4822388"/>
            <a:ext cx="684630" cy="2123761"/>
          </a:xfrm>
          <a:prstGeom prst="bentConnector3">
            <a:avLst>
              <a:gd name="adj1" fmla="val -33390"/>
            </a:avLst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3460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en-US" altLang="ko-KR" kern="0" dirty="0" smtClean="0"/>
              <a:t>SW </a:t>
            </a:r>
            <a:r>
              <a:rPr lang="ko-KR" altLang="en-US" kern="0" dirty="0" smtClean="0"/>
              <a:t>인력 확충 계획 </a:t>
            </a:r>
            <a:endParaRPr lang="en-US" altLang="ko-KR" kern="0" dirty="0" smtClean="0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회사 차원의 조직 개선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401848" y="1066812"/>
          <a:ext cx="8110850" cy="501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00">
                  <a:extLst>
                    <a:ext uri="{9D8B030D-6E8A-4147-A177-3AD203B41FA5}">
                      <a16:colId xmlns:a16="http://schemas.microsoft.com/office/drawing/2014/main" val="147924234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69391942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0527261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235235846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37510215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93586151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706711329"/>
                    </a:ext>
                  </a:extLst>
                </a:gridCol>
              </a:tblGrid>
              <a:tr h="250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62915"/>
                  </a:ext>
                </a:extLst>
              </a:tr>
              <a:tr h="250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185516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29906"/>
              </p:ext>
            </p:extLst>
          </p:nvPr>
        </p:nvGraphicFramePr>
        <p:xfrm>
          <a:off x="401233" y="1612098"/>
          <a:ext cx="8111464" cy="1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60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56416">
                  <a:extLst>
                    <a:ext uri="{9D8B030D-6E8A-4147-A177-3AD203B41FA5}">
                      <a16:colId xmlns:a16="http://schemas.microsoft.com/office/drawing/2014/main" val="3526050526"/>
                    </a:ext>
                  </a:extLst>
                </a:gridCol>
                <a:gridCol w="1184151">
                  <a:extLst>
                    <a:ext uri="{9D8B030D-6E8A-4147-A177-3AD203B41FA5}">
                      <a16:colId xmlns:a16="http://schemas.microsoft.com/office/drawing/2014/main" val="4178754301"/>
                    </a:ext>
                  </a:extLst>
                </a:gridCol>
                <a:gridCol w="1144679">
                  <a:extLst>
                    <a:ext uri="{9D8B030D-6E8A-4147-A177-3AD203B41FA5}">
                      <a16:colId xmlns:a16="http://schemas.microsoft.com/office/drawing/2014/main" val="1679776094"/>
                    </a:ext>
                  </a:extLst>
                </a:gridCol>
                <a:gridCol w="1170994">
                  <a:extLst>
                    <a:ext uri="{9D8B030D-6E8A-4147-A177-3AD203B41FA5}">
                      <a16:colId xmlns:a16="http://schemas.microsoft.com/office/drawing/2014/main" val="3428437559"/>
                    </a:ext>
                  </a:extLst>
                </a:gridCol>
                <a:gridCol w="1138102">
                  <a:extLst>
                    <a:ext uri="{9D8B030D-6E8A-4147-A177-3AD203B41FA5}">
                      <a16:colId xmlns:a16="http://schemas.microsoft.com/office/drawing/2014/main" val="793339416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542704367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281196241"/>
                    </a:ext>
                  </a:extLst>
                </a:gridCol>
              </a:tblGrid>
              <a:tr h="362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설계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시스템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1" dirty="0">
                        <a:solidFill>
                          <a:srgbClr val="0033C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9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75432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PTC/ATC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30</a:t>
                      </a:r>
                      <a:endParaRPr lang="ko-KR" altLang="en-US" sz="1000" b="1" dirty="0">
                        <a:solidFill>
                          <a:srgbClr val="0033C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39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49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Autosar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185567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TFT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판넬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8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141977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339807"/>
              </p:ext>
            </p:extLst>
          </p:nvPr>
        </p:nvGraphicFramePr>
        <p:xfrm>
          <a:off x="395536" y="3132106"/>
          <a:ext cx="8117160" cy="1052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538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1185468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45952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72295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9367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105238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인증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대응팀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 ASPICE &amp; SPQA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 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632559"/>
              </p:ext>
            </p:extLst>
          </p:nvPr>
        </p:nvGraphicFramePr>
        <p:xfrm>
          <a:off x="407741" y="4280060"/>
          <a:ext cx="8104954" cy="173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82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61635">
                  <a:extLst>
                    <a:ext uri="{9D8B030D-6E8A-4147-A177-3AD203B41FA5}">
                      <a16:colId xmlns:a16="http://schemas.microsoft.com/office/drawing/2014/main" val="3748132761"/>
                    </a:ext>
                  </a:extLst>
                </a:gridCol>
                <a:gridCol w="1190503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64194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5690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334031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lt1"/>
                          </a:solidFill>
                          <a:latin typeface="+mn-ea"/>
                          <a:ea typeface="+mn-ea"/>
                        </a:rPr>
                        <a:t>평가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ATC&amp;PTC</a:t>
                      </a:r>
                      <a:r>
                        <a:rPr lang="ko-KR" altLang="en-US" sz="1000" dirty="0" err="1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10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동</a:t>
                      </a: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정적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9876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ES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 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57099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038163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ASPICE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327388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966294"/>
              </p:ext>
            </p:extLst>
          </p:nvPr>
        </p:nvGraphicFramePr>
        <p:xfrm>
          <a:off x="407742" y="6082496"/>
          <a:ext cx="8104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662">
                  <a:extLst>
                    <a:ext uri="{9D8B030D-6E8A-4147-A177-3AD203B41FA5}">
                      <a16:colId xmlns:a16="http://schemas.microsoft.com/office/drawing/2014/main" val="2013886810"/>
                    </a:ext>
                  </a:extLst>
                </a:gridCol>
                <a:gridCol w="1203657">
                  <a:extLst>
                    <a:ext uri="{9D8B030D-6E8A-4147-A177-3AD203B41FA5}">
                      <a16:colId xmlns:a16="http://schemas.microsoft.com/office/drawing/2014/main" val="3491111307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2003287564"/>
                    </a:ext>
                  </a:extLst>
                </a:gridCol>
                <a:gridCol w="1164193">
                  <a:extLst>
                    <a:ext uri="{9D8B030D-6E8A-4147-A177-3AD203B41FA5}">
                      <a16:colId xmlns:a16="http://schemas.microsoft.com/office/drawing/2014/main" val="13301066"/>
                    </a:ext>
                  </a:extLst>
                </a:gridCol>
                <a:gridCol w="1131307">
                  <a:extLst>
                    <a:ext uri="{9D8B030D-6E8A-4147-A177-3AD203B41FA5}">
                      <a16:colId xmlns:a16="http://schemas.microsoft.com/office/drawing/2014/main" val="2120787336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667650461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1803596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39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68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818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4112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en-US" altLang="ko-KR" kern="0" dirty="0" smtClean="0"/>
              <a:t>ALM </a:t>
            </a:r>
            <a:r>
              <a:rPr lang="ko-KR" altLang="en-US" kern="0" dirty="0" smtClean="0"/>
              <a:t>시스템 도입</a:t>
            </a:r>
            <a:endParaRPr lang="en-US" altLang="ko-KR" kern="0" dirty="0" smtClean="0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회사 차원의 조직 개선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41829"/>
          <a:stretch/>
        </p:blipFill>
        <p:spPr>
          <a:xfrm>
            <a:off x="685972" y="1556792"/>
            <a:ext cx="7772057" cy="489769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51520" y="943576"/>
            <a:ext cx="79928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en-US" altLang="ko-KR" sz="1600" kern="0" dirty="0" smtClean="0"/>
              <a:t>- </a:t>
            </a:r>
            <a:r>
              <a:rPr lang="ko-KR" altLang="en-US" sz="1600" kern="0" dirty="0" smtClean="0"/>
              <a:t>과거 프로젝트 경험 기반</a:t>
            </a:r>
            <a:r>
              <a:rPr lang="en-US" altLang="ko-KR" sz="1600" kern="0" dirty="0" smtClean="0"/>
              <a:t>, </a:t>
            </a:r>
            <a:r>
              <a:rPr lang="ko-KR" altLang="en-US" sz="1600" kern="0" dirty="0" smtClean="0"/>
              <a:t>문제점 도출 및 현실적 개선</a:t>
            </a:r>
            <a:r>
              <a:rPr lang="en-US" altLang="ko-KR" sz="1600" kern="0" dirty="0" smtClean="0"/>
              <a:t/>
            </a:r>
            <a:br>
              <a:rPr lang="en-US" altLang="ko-KR" sz="1600" kern="0" dirty="0" smtClean="0"/>
            </a:br>
            <a:r>
              <a:rPr lang="en-US" altLang="ko-KR" sz="1600" kern="0" dirty="0" smtClean="0"/>
              <a:t>- ALM </a:t>
            </a:r>
            <a:r>
              <a:rPr lang="ko-KR" altLang="en-US" sz="1600" kern="0" dirty="0" smtClean="0"/>
              <a:t>활성화 및 빠른 정착을 위해 </a:t>
            </a:r>
            <a:r>
              <a:rPr lang="en-US" altLang="ko-KR" sz="1600" kern="0" dirty="0" smtClean="0"/>
              <a:t>ASPICE </a:t>
            </a:r>
            <a:r>
              <a:rPr lang="ko-KR" altLang="en-US" sz="1600" kern="0" dirty="0" smtClean="0"/>
              <a:t>프로젝트 이외 모든 프로젝트에 사용 권고</a:t>
            </a:r>
            <a:endParaRPr lang="en-US" altLang="ko-KR" sz="1600" kern="0" dirty="0" smtClean="0"/>
          </a:p>
        </p:txBody>
      </p:sp>
    </p:spTree>
    <p:extLst>
      <p:ext uri="{BB962C8B-B14F-4D97-AF65-F5344CB8AC3E}">
        <p14:creationId xmlns:p14="http://schemas.microsoft.com/office/powerpoint/2010/main" val="40547914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052" y="620688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en-US" altLang="ko-KR" kern="0" dirty="0" smtClean="0"/>
              <a:t>ALM </a:t>
            </a:r>
            <a:r>
              <a:rPr lang="ko-KR" altLang="en-US" kern="0" dirty="0" smtClean="0"/>
              <a:t>시스템 도입</a:t>
            </a:r>
            <a:endParaRPr lang="en-US" altLang="ko-KR" kern="0" dirty="0" smtClean="0"/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</a:rPr>
              <a:t>회사 차원의 조직 개선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80728"/>
            <a:ext cx="4701907" cy="4998846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5580112" y="1052736"/>
            <a:ext cx="3384376" cy="1008112"/>
          </a:xfrm>
          <a:prstGeom prst="roundRect">
            <a:avLst>
              <a:gd name="adj" fmla="val 6011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360000" indent="-180000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ko-KR" altLang="en-US" sz="1200" kern="1200" dirty="0" smtClean="0"/>
              <a:t>연구소 </a:t>
            </a:r>
            <a:r>
              <a:rPr lang="ko-KR" altLang="en-US" sz="1200" dirty="0" smtClean="0"/>
              <a:t>총 인원 </a:t>
            </a:r>
            <a:r>
              <a:rPr lang="en-US" altLang="ko-KR" sz="1200" dirty="0" smtClean="0"/>
              <a:t>132</a:t>
            </a:r>
            <a:r>
              <a:rPr lang="ko-KR" altLang="en-US" sz="1200" dirty="0" smtClean="0"/>
              <a:t>명</a:t>
            </a:r>
            <a:endParaRPr lang="en-US" altLang="ko-KR" sz="1200" dirty="0" smtClean="0"/>
          </a:p>
          <a:p>
            <a:pPr marL="360000" indent="-180000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ko-KR" altLang="en-US" sz="1200" kern="1200" dirty="0" smtClean="0"/>
              <a:t>자발적 </a:t>
            </a:r>
            <a:r>
              <a:rPr lang="en-US" altLang="ko-KR" sz="1200" kern="1200" dirty="0" smtClean="0"/>
              <a:t>ALM </a:t>
            </a:r>
            <a:r>
              <a:rPr lang="ko-KR" altLang="en-US" sz="1200" kern="1200" dirty="0" smtClean="0"/>
              <a:t>계정 신청자 </a:t>
            </a:r>
            <a:r>
              <a:rPr lang="en-US" altLang="ko-KR" sz="1200" kern="1200" dirty="0" smtClean="0"/>
              <a:t>70</a:t>
            </a:r>
            <a:r>
              <a:rPr lang="ko-KR" altLang="en-US" sz="1200" kern="1200" dirty="0" smtClean="0"/>
              <a:t>여명</a:t>
            </a:r>
            <a:endParaRPr lang="en-US" altLang="ko-KR" sz="1200" kern="1200" dirty="0" smtClean="0"/>
          </a:p>
          <a:p>
            <a:pPr marL="360000" indent="-180000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현 상황 탈피를 위한 실무진 의지가 강력</a:t>
            </a:r>
            <a:endParaRPr lang="ko-KR" altLang="en-US" sz="1200" kern="1200" dirty="0"/>
          </a:p>
        </p:txBody>
      </p:sp>
      <p:graphicFrame>
        <p:nvGraphicFramePr>
          <p:cNvPr id="6" name="개체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3425518"/>
              </p:ext>
            </p:extLst>
          </p:nvPr>
        </p:nvGraphicFramePr>
        <p:xfrm>
          <a:off x="8244408" y="1466792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Acrobat Document" showAsIcon="1" r:id="rId4" imgW="380880" imgH="771480" progId="Acrobat.Document.DC">
                  <p:embed/>
                </p:oleObj>
              </mc:Choice>
              <mc:Fallback>
                <p:oleObj name="Acrobat Document" showAsIcon="1" r:id="rId4" imgW="380880" imgH="77148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44408" y="1466792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920" y="2560714"/>
            <a:ext cx="5040561" cy="392176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8316416" y="3068960"/>
            <a:ext cx="576064" cy="3413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3808" y="2560714"/>
            <a:ext cx="881834" cy="186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968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45" y="1422520"/>
            <a:ext cx="6304787" cy="36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제안서 템플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429718" tIns="757682" rIns="1833422" bIns="1708658" numCol="1" spcCol="1270" anchor="ctr" anchorCtr="0">
        <a:noAutofit/>
      </a:bodyPr>
      <a:lstStyle>
        <a:defPPr algn="ctr" defTabSz="1200150" latinLnBrk="1">
          <a:lnSpc>
            <a:spcPct val="90000"/>
          </a:lnSpc>
          <a:spcBef>
            <a:spcPct val="0"/>
          </a:spcBef>
          <a:spcAft>
            <a:spcPct val="35000"/>
          </a:spcAft>
          <a:defRPr sz="27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  <a:txDef>
      <a:spPr/>
      <a:bodyPr vert="horz" lIns="91440" tIns="45720" rIns="91440" bIns="45720" rtlCol="0">
        <a:normAutofit lnSpcReduction="10000"/>
      </a:bodyPr>
      <a:lstStyle>
        <a:defPPr latinLnBrk="0">
          <a:defRPr kern="0" dirty="0" smtClean="0"/>
        </a:defPPr>
      </a:lstStyle>
    </a:tx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Woory2016_RWJ</Template>
  <TotalTime>22552</TotalTime>
  <Words>549</Words>
  <Application>Microsoft Office PowerPoint</Application>
  <PresentationFormat>화면 슬라이드 쇼(4:3)</PresentationFormat>
  <Paragraphs>209</Paragraphs>
  <Slides>11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11</vt:i4>
      </vt:variant>
    </vt:vector>
  </HeadingPairs>
  <TitlesOfParts>
    <vt:vector size="23" baseType="lpstr">
      <vt:lpstr>KoPubWorld돋움체 Bold</vt:lpstr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2_제안서 템플릿</vt:lpstr>
      <vt:lpstr>프레젠테이션</vt:lpstr>
      <vt:lpstr>워크시트</vt:lpstr>
      <vt:lpstr>Acrobat Document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유원종</dc:creator>
  <cp:lastModifiedBy>Windows 사용자</cp:lastModifiedBy>
  <cp:revision>775</cp:revision>
  <cp:lastPrinted>2025-03-19T09:06:02Z</cp:lastPrinted>
  <dcterms:created xsi:type="dcterms:W3CDTF">2017-01-19T08:03:01Z</dcterms:created>
  <dcterms:modified xsi:type="dcterms:W3CDTF">2025-07-16T05:01:58Z</dcterms:modified>
</cp:coreProperties>
</file>