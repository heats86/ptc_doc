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1"/>
  </p:sldMasterIdLst>
  <p:notesMasterIdLst>
    <p:notesMasterId r:id="rId16"/>
  </p:notesMasterIdLst>
  <p:handoutMasterIdLst>
    <p:handoutMasterId r:id="rId17"/>
  </p:handoutMasterIdLst>
  <p:sldIdLst>
    <p:sldId id="458" r:id="rId2"/>
    <p:sldId id="655" r:id="rId3"/>
    <p:sldId id="651" r:id="rId4"/>
    <p:sldId id="658" r:id="rId5"/>
    <p:sldId id="654" r:id="rId6"/>
    <p:sldId id="665" r:id="rId7"/>
    <p:sldId id="664" r:id="rId8"/>
    <p:sldId id="662" r:id="rId9"/>
    <p:sldId id="653" r:id="rId10"/>
    <p:sldId id="656" r:id="rId11"/>
    <p:sldId id="660" r:id="rId12"/>
    <p:sldId id="659" r:id="rId13"/>
    <p:sldId id="663" r:id="rId14"/>
    <p:sldId id="657" r:id="rId15"/>
  </p:sldIdLst>
  <p:sldSz cx="9144000" cy="6858000" type="screen4x3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2069">
          <p15:clr>
            <a:srgbClr val="A4A3A4"/>
          </p15:clr>
        </p15:guide>
        <p15:guide id="3" orient="horz" pos="2976">
          <p15:clr>
            <a:srgbClr val="A4A3A4"/>
          </p15:clr>
        </p15:guide>
        <p15:guide id="4" pos="975">
          <p15:clr>
            <a:srgbClr val="A4A3A4"/>
          </p15:clr>
        </p15:guide>
        <p15:guide id="6" pos="4150">
          <p15:clr>
            <a:srgbClr val="A4A3A4"/>
          </p15:clr>
        </p15:guide>
        <p15:guide id="7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3300"/>
    <a:srgbClr val="CCCCFF"/>
    <a:srgbClr val="3399FF"/>
    <a:srgbClr val="00FF00"/>
    <a:srgbClr val="99CCFF"/>
    <a:srgbClr val="FF99FF"/>
    <a:srgbClr val="FF33CC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2" autoAdjust="0"/>
    <p:restoredTop sz="96730" autoAdjust="0"/>
  </p:normalViewPr>
  <p:slideViewPr>
    <p:cSldViewPr snapToObjects="1">
      <p:cViewPr varScale="1">
        <p:scale>
          <a:sx n="111" d="100"/>
          <a:sy n="111" d="100"/>
        </p:scale>
        <p:origin x="2028" y="108"/>
      </p:cViewPr>
      <p:guideLst>
        <p:guide orient="horz" pos="1071"/>
        <p:guide orient="horz" pos="2069"/>
        <p:guide orient="horz" pos="2976"/>
        <p:guide pos="975"/>
        <p:guide pos="415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7179AD-76FF-4314-A489-0C057E636CB7}" type="doc">
      <dgm:prSet loTypeId="urn:microsoft.com/office/officeart/2005/8/layout/cycle4" loCatId="cycle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pPr latinLnBrk="1"/>
          <a:endParaRPr lang="ko-KR" altLang="en-US"/>
        </a:p>
      </dgm:t>
    </dgm:pt>
    <dgm:pt modelId="{B345032F-B193-46C7-A619-98FE673DBA4C}">
      <dgm:prSet phldrT="[텍스트]" custT="1"/>
      <dgm:spPr/>
      <dgm:t>
        <a:bodyPr/>
        <a:lstStyle/>
        <a:p>
          <a:pPr latinLnBrk="1"/>
          <a:r>
            <a:rPr lang="ko-KR" altLang="en-US" sz="1100" dirty="0" smtClean="0">
              <a:latin typeface="+mn-lt"/>
            </a:rPr>
            <a:t>발열체 변경으로 신기술 공법 적용</a:t>
          </a:r>
          <a:endParaRPr lang="en-US" altLang="ko-KR" sz="1100" dirty="0" smtClean="0">
            <a:latin typeface="+mn-lt"/>
          </a:endParaRPr>
        </a:p>
      </dgm:t>
    </dgm:pt>
    <dgm:pt modelId="{0EEB8A5C-51EF-4839-96DB-3F78AD7F89A0}" type="parTrans" cxnId="{B1B0E1DB-8110-4755-8BA5-6BA0B99917E0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D1BB5615-4442-4635-894F-1B03CDB691CA}" type="sibTrans" cxnId="{B1B0E1DB-8110-4755-8BA5-6BA0B99917E0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97D62728-1855-4447-A9AE-C433BCAE4AF8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+mn-lt"/>
            </a:rPr>
            <a:t>설계</a:t>
          </a:r>
          <a:endParaRPr lang="ko-KR" altLang="en-US" dirty="0">
            <a:latin typeface="+mn-lt"/>
          </a:endParaRPr>
        </a:p>
      </dgm:t>
    </dgm:pt>
    <dgm:pt modelId="{8E74EFD8-0B27-4EE3-8B2F-ED7E0354D41E}" type="parTrans" cxnId="{BBC013A1-C828-4A9D-96E5-A43D8C22470F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B46B876A-1992-4835-A6F8-56B12B5A870A}" type="sibTrans" cxnId="{BBC013A1-C828-4A9D-96E5-A43D8C22470F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B0941163-7DE3-4AED-BDFE-9D72A8FBD681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+mn-lt"/>
            </a:rPr>
            <a:t>조립 공정</a:t>
          </a:r>
          <a:endParaRPr lang="en-US" altLang="ko-KR" dirty="0" smtClean="0">
            <a:latin typeface="+mn-lt"/>
          </a:endParaRPr>
        </a:p>
        <a:p>
          <a:pPr latinLnBrk="1"/>
          <a:r>
            <a:rPr lang="ko-KR" altLang="en-US" dirty="0" smtClean="0">
              <a:latin typeface="+mn-lt"/>
            </a:rPr>
            <a:t>단순화</a:t>
          </a:r>
          <a:endParaRPr lang="ko-KR" altLang="en-US" dirty="0">
            <a:latin typeface="+mn-lt"/>
          </a:endParaRPr>
        </a:p>
      </dgm:t>
    </dgm:pt>
    <dgm:pt modelId="{804AF538-2621-48DB-8A75-155F01608465}" type="parTrans" cxnId="{CE246183-6F50-493D-9B39-1F7BDFCBCE1F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5F56F08F-D3F2-4364-9AD7-0F9E202746D8}" type="sibTrans" cxnId="{CE246183-6F50-493D-9B39-1F7BDFCBCE1F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FD85C3CF-ED6E-4AAF-8AC9-E26D170DA47E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+mn-lt"/>
            </a:rPr>
            <a:t>공정</a:t>
          </a:r>
          <a:endParaRPr lang="ko-KR" altLang="en-US" dirty="0">
            <a:latin typeface="+mn-lt"/>
          </a:endParaRPr>
        </a:p>
      </dgm:t>
    </dgm:pt>
    <dgm:pt modelId="{E0510E4F-EDEE-4356-AD2C-285364733668}" type="parTrans" cxnId="{5661F419-0DB7-40B7-AF2E-C92351898482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D1EFBF5E-D0C9-4A98-9295-65FE02F317AD}" type="sibTrans" cxnId="{5661F419-0DB7-40B7-AF2E-C92351898482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12796A03-5AE3-44FC-86B2-C45ACE08909B}">
      <dgm:prSet phldrT="[텍스트]" custT="1"/>
      <dgm:spPr/>
      <dgm:t>
        <a:bodyPr/>
        <a:lstStyle/>
        <a:p>
          <a:pPr latinLnBrk="1"/>
          <a:r>
            <a:rPr lang="ko-KR" altLang="en-US" sz="1100" dirty="0" smtClean="0">
              <a:latin typeface="+mn-lt"/>
            </a:rPr>
            <a:t>부품 삭제에 따른 원가 절감</a:t>
          </a:r>
          <a:endParaRPr lang="ko-KR" altLang="en-US" sz="1100" dirty="0">
            <a:latin typeface="+mn-lt"/>
          </a:endParaRPr>
        </a:p>
      </dgm:t>
    </dgm:pt>
    <dgm:pt modelId="{644092AB-1A56-44AC-9FC4-F01BE9C3CCBE}" type="parTrans" cxnId="{DBB27B78-FF1D-4AB7-B808-228B12844CE5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A4052880-9A42-4460-87D9-ECA170374F1E}" type="sibTrans" cxnId="{DBB27B78-FF1D-4AB7-B808-228B12844CE5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C678178E-73BC-406B-B4C7-AC9BB0F33626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+mn-lt"/>
            </a:rPr>
            <a:t>원가</a:t>
          </a:r>
          <a:endParaRPr lang="ko-KR" altLang="en-US" dirty="0">
            <a:latin typeface="+mn-lt"/>
          </a:endParaRPr>
        </a:p>
      </dgm:t>
    </dgm:pt>
    <dgm:pt modelId="{487DB14B-2465-4A00-869E-8F367942770D}" type="parTrans" cxnId="{2298A03D-08F5-4F15-8870-281EDDEC9385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3797E2C0-A538-4CEA-94BD-06ADFD9169D5}" type="sibTrans" cxnId="{2298A03D-08F5-4F15-8870-281EDDEC9385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885F18D2-B539-4A6C-BAB4-7CD1E2D2687B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+mn-lt"/>
            </a:rPr>
            <a:t>안정성</a:t>
          </a:r>
          <a:endParaRPr lang="en-US" altLang="ko-KR" dirty="0" smtClean="0">
            <a:latin typeface="+mn-lt"/>
          </a:endParaRPr>
        </a:p>
        <a:p>
          <a:pPr latinLnBrk="1"/>
          <a:r>
            <a:rPr lang="ko-KR" altLang="en-US" dirty="0" smtClean="0">
              <a:latin typeface="+mn-lt"/>
            </a:rPr>
            <a:t>확보</a:t>
          </a:r>
          <a:endParaRPr lang="ko-KR" altLang="en-US" dirty="0">
            <a:latin typeface="+mn-lt"/>
          </a:endParaRPr>
        </a:p>
      </dgm:t>
    </dgm:pt>
    <dgm:pt modelId="{9BE6DF1D-A51A-417A-8F8F-30C79A4F9F8B}" type="parTrans" cxnId="{5134DDC9-7149-4ADB-BB99-B1C8E3C995CE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628FD024-BA3A-4BE9-B15F-0755E26E9F04}" type="sibTrans" cxnId="{5134DDC9-7149-4ADB-BB99-B1C8E3C995CE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130F4B47-7367-45CE-A4D5-8BDDE220B697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+mn-lt"/>
            </a:rPr>
            <a:t>기타</a:t>
          </a:r>
          <a:endParaRPr lang="ko-KR" altLang="en-US" dirty="0">
            <a:latin typeface="+mn-lt"/>
          </a:endParaRPr>
        </a:p>
      </dgm:t>
    </dgm:pt>
    <dgm:pt modelId="{34F19A06-5520-4A36-84AD-8CF5BB8B12C3}" type="parTrans" cxnId="{4E333630-A8C4-4E13-92F0-85354A13F179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D01AC3D3-F9C6-403E-A2D4-A21040FEAE6F}" type="sibTrans" cxnId="{4E333630-A8C4-4E13-92F0-85354A13F179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E8AB4A13-EE10-42E4-8FA2-7A075ED1C191}" type="pres">
      <dgm:prSet presAssocID="{497179AD-76FF-4314-A489-0C057E636CB7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F71A59C-5F41-4491-946B-5023C9909C1C}" type="pres">
      <dgm:prSet presAssocID="{497179AD-76FF-4314-A489-0C057E636CB7}" presName="children" presStyleCnt="0"/>
      <dgm:spPr/>
    </dgm:pt>
    <dgm:pt modelId="{DAF5771E-FA02-409E-8019-B9BCB97A6940}" type="pres">
      <dgm:prSet presAssocID="{497179AD-76FF-4314-A489-0C057E636CB7}" presName="child1group" presStyleCnt="0"/>
      <dgm:spPr/>
    </dgm:pt>
    <dgm:pt modelId="{D6F65A11-B662-4C0A-9B89-8F14460FE971}" type="pres">
      <dgm:prSet presAssocID="{497179AD-76FF-4314-A489-0C057E636CB7}" presName="child1" presStyleLbl="bgAcc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16FADAE4-DF19-4E97-A712-221136A6DBE4}" type="pres">
      <dgm:prSet presAssocID="{497179AD-76FF-4314-A489-0C057E636CB7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6488D98-E92E-4C1B-9408-04772E26A180}" type="pres">
      <dgm:prSet presAssocID="{497179AD-76FF-4314-A489-0C057E636CB7}" presName="child2group" presStyleCnt="0"/>
      <dgm:spPr/>
    </dgm:pt>
    <dgm:pt modelId="{8BBA0B14-542E-4833-AA24-C793E782A5EE}" type="pres">
      <dgm:prSet presAssocID="{497179AD-76FF-4314-A489-0C057E636CB7}" presName="child2" presStyleLbl="bgAcc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17BAC5BA-0FE5-48A3-BB0E-C86B9C69D41A}" type="pres">
      <dgm:prSet presAssocID="{497179AD-76FF-4314-A489-0C057E636CB7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779BA83-98D1-4674-B121-4DDD482830EE}" type="pres">
      <dgm:prSet presAssocID="{497179AD-76FF-4314-A489-0C057E636CB7}" presName="child3group" presStyleCnt="0"/>
      <dgm:spPr/>
    </dgm:pt>
    <dgm:pt modelId="{10922AFE-B303-4C96-B680-F6A4EBF806B6}" type="pres">
      <dgm:prSet presAssocID="{497179AD-76FF-4314-A489-0C057E636CB7}" presName="child3" presStyleLbl="bgAcc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630BE6DA-D32E-419D-8A3A-03A15FCDEF9D}" type="pres">
      <dgm:prSet presAssocID="{497179AD-76FF-4314-A489-0C057E636CB7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B00CF95-A9A4-4EF4-9C18-63DDD3A6EF69}" type="pres">
      <dgm:prSet presAssocID="{497179AD-76FF-4314-A489-0C057E636CB7}" presName="child4group" presStyleCnt="0"/>
      <dgm:spPr/>
    </dgm:pt>
    <dgm:pt modelId="{A976AC1F-75DE-4F11-9D83-15F7CAF3B73E}" type="pres">
      <dgm:prSet presAssocID="{497179AD-76FF-4314-A489-0C057E636CB7}" presName="child4" presStyleLbl="bgAcc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2545FE1F-2B7B-417A-A7F5-0959A5960F5F}" type="pres">
      <dgm:prSet presAssocID="{497179AD-76FF-4314-A489-0C057E636CB7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0663856-0EEA-41B0-9C64-116CE89F4C19}" type="pres">
      <dgm:prSet presAssocID="{497179AD-76FF-4314-A489-0C057E636CB7}" presName="childPlaceholder" presStyleCnt="0"/>
      <dgm:spPr/>
    </dgm:pt>
    <dgm:pt modelId="{E133517D-5528-42DC-9AA2-9364D8BDBD64}" type="pres">
      <dgm:prSet presAssocID="{497179AD-76FF-4314-A489-0C057E636CB7}" presName="circle" presStyleCnt="0"/>
      <dgm:spPr/>
    </dgm:pt>
    <dgm:pt modelId="{B509E333-9631-4631-88FC-560F3C1609BC}" type="pres">
      <dgm:prSet presAssocID="{497179AD-76FF-4314-A489-0C057E636CB7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4F7CE94-F1D1-425F-B448-FE47CCD73A10}" type="pres">
      <dgm:prSet presAssocID="{497179AD-76FF-4314-A489-0C057E636CB7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DA16A43-7615-4D60-9DBF-5710C5BD0A08}" type="pres">
      <dgm:prSet presAssocID="{497179AD-76FF-4314-A489-0C057E636CB7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0234D82-E4F6-4DEE-ADBD-211380EDDAA5}" type="pres">
      <dgm:prSet presAssocID="{497179AD-76FF-4314-A489-0C057E636CB7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A848EF2-A41E-4D21-A5FF-3614D5557DE5}" type="pres">
      <dgm:prSet presAssocID="{497179AD-76FF-4314-A489-0C057E636CB7}" presName="quadrantPlaceholder" presStyleCnt="0"/>
      <dgm:spPr/>
    </dgm:pt>
    <dgm:pt modelId="{275D7DE8-703F-461B-BFE1-3C3A2F769612}" type="pres">
      <dgm:prSet presAssocID="{497179AD-76FF-4314-A489-0C057E636CB7}" presName="center1" presStyleLbl="fgShp" presStyleIdx="0" presStyleCnt="2"/>
      <dgm:spPr/>
    </dgm:pt>
    <dgm:pt modelId="{A634B76E-0E4B-499E-A9CD-3D2F1BCE5893}" type="pres">
      <dgm:prSet presAssocID="{497179AD-76FF-4314-A489-0C057E636CB7}" presName="center2" presStyleLbl="fgShp" presStyleIdx="1" presStyleCnt="2"/>
      <dgm:spPr/>
    </dgm:pt>
  </dgm:ptLst>
  <dgm:cxnLst>
    <dgm:cxn modelId="{1D82A4AB-FD42-440E-9CFF-D1B84DDAF1B9}" type="presOf" srcId="{B0941163-7DE3-4AED-BDFE-9D72A8FBD681}" destId="{F4F7CE94-F1D1-425F-B448-FE47CCD73A10}" srcOrd="0" destOrd="0" presId="urn:microsoft.com/office/officeart/2005/8/layout/cycle4"/>
    <dgm:cxn modelId="{B1B0E1DB-8110-4755-8BA5-6BA0B99917E0}" srcId="{497179AD-76FF-4314-A489-0C057E636CB7}" destId="{B345032F-B193-46C7-A619-98FE673DBA4C}" srcOrd="0" destOrd="0" parTransId="{0EEB8A5C-51EF-4839-96DB-3F78AD7F89A0}" sibTransId="{D1BB5615-4442-4635-894F-1B03CDB691CA}"/>
    <dgm:cxn modelId="{F6261187-32A0-4FF4-BACA-750039F0D8CB}" type="presOf" srcId="{C678178E-73BC-406B-B4C7-AC9BB0F33626}" destId="{630BE6DA-D32E-419D-8A3A-03A15FCDEF9D}" srcOrd="1" destOrd="0" presId="urn:microsoft.com/office/officeart/2005/8/layout/cycle4"/>
    <dgm:cxn modelId="{5134DDC9-7149-4ADB-BB99-B1C8E3C995CE}" srcId="{497179AD-76FF-4314-A489-0C057E636CB7}" destId="{885F18D2-B539-4A6C-BAB4-7CD1E2D2687B}" srcOrd="3" destOrd="0" parTransId="{9BE6DF1D-A51A-417A-8F8F-30C79A4F9F8B}" sibTransId="{628FD024-BA3A-4BE9-B15F-0755E26E9F04}"/>
    <dgm:cxn modelId="{12589AED-972C-47B2-98A3-26C34A1A410D}" type="presOf" srcId="{130F4B47-7367-45CE-A4D5-8BDDE220B697}" destId="{2545FE1F-2B7B-417A-A7F5-0959A5960F5F}" srcOrd="1" destOrd="0" presId="urn:microsoft.com/office/officeart/2005/8/layout/cycle4"/>
    <dgm:cxn modelId="{67CBE507-609A-425B-A16D-F706207DF8A4}" type="presOf" srcId="{497179AD-76FF-4314-A489-0C057E636CB7}" destId="{E8AB4A13-EE10-42E4-8FA2-7A075ED1C191}" srcOrd="0" destOrd="0" presId="urn:microsoft.com/office/officeart/2005/8/layout/cycle4"/>
    <dgm:cxn modelId="{7F7969EC-0E8E-4372-B83D-F85D9DD1CD3F}" type="presOf" srcId="{12796A03-5AE3-44FC-86B2-C45ACE08909B}" destId="{9DA16A43-7615-4D60-9DBF-5710C5BD0A08}" srcOrd="0" destOrd="0" presId="urn:microsoft.com/office/officeart/2005/8/layout/cycle4"/>
    <dgm:cxn modelId="{5661F419-0DB7-40B7-AF2E-C92351898482}" srcId="{B0941163-7DE3-4AED-BDFE-9D72A8FBD681}" destId="{FD85C3CF-ED6E-4AAF-8AC9-E26D170DA47E}" srcOrd="0" destOrd="0" parTransId="{E0510E4F-EDEE-4356-AD2C-285364733668}" sibTransId="{D1EFBF5E-D0C9-4A98-9295-65FE02F317AD}"/>
    <dgm:cxn modelId="{04E49D07-65CA-4B53-A83B-9DE8D643D1EE}" type="presOf" srcId="{97D62728-1855-4447-A9AE-C433BCAE4AF8}" destId="{D6F65A11-B662-4C0A-9B89-8F14460FE971}" srcOrd="0" destOrd="0" presId="urn:microsoft.com/office/officeart/2005/8/layout/cycle4"/>
    <dgm:cxn modelId="{4CBB252A-D4A9-4345-A2D1-6070BA5D1B21}" type="presOf" srcId="{C678178E-73BC-406B-B4C7-AC9BB0F33626}" destId="{10922AFE-B303-4C96-B680-F6A4EBF806B6}" srcOrd="0" destOrd="0" presId="urn:microsoft.com/office/officeart/2005/8/layout/cycle4"/>
    <dgm:cxn modelId="{71C8D4FA-A8CD-4806-B7BA-0D8B27BCA1BD}" type="presOf" srcId="{B345032F-B193-46C7-A619-98FE673DBA4C}" destId="{B509E333-9631-4631-88FC-560F3C1609BC}" srcOrd="0" destOrd="0" presId="urn:microsoft.com/office/officeart/2005/8/layout/cycle4"/>
    <dgm:cxn modelId="{CE246183-6F50-493D-9B39-1F7BDFCBCE1F}" srcId="{497179AD-76FF-4314-A489-0C057E636CB7}" destId="{B0941163-7DE3-4AED-BDFE-9D72A8FBD681}" srcOrd="1" destOrd="0" parTransId="{804AF538-2621-48DB-8A75-155F01608465}" sibTransId="{5F56F08F-D3F2-4364-9AD7-0F9E202746D8}"/>
    <dgm:cxn modelId="{CE8E5EB4-B6F6-45A8-9CDF-806D353EB28F}" type="presOf" srcId="{FD85C3CF-ED6E-4AAF-8AC9-E26D170DA47E}" destId="{17BAC5BA-0FE5-48A3-BB0E-C86B9C69D41A}" srcOrd="1" destOrd="0" presId="urn:microsoft.com/office/officeart/2005/8/layout/cycle4"/>
    <dgm:cxn modelId="{2298A03D-08F5-4F15-8870-281EDDEC9385}" srcId="{12796A03-5AE3-44FC-86B2-C45ACE08909B}" destId="{C678178E-73BC-406B-B4C7-AC9BB0F33626}" srcOrd="0" destOrd="0" parTransId="{487DB14B-2465-4A00-869E-8F367942770D}" sibTransId="{3797E2C0-A538-4CEA-94BD-06ADFD9169D5}"/>
    <dgm:cxn modelId="{D5F3A7F0-1B4B-4A13-82FE-7F32376984F2}" type="presOf" srcId="{130F4B47-7367-45CE-A4D5-8BDDE220B697}" destId="{A976AC1F-75DE-4F11-9D83-15F7CAF3B73E}" srcOrd="0" destOrd="0" presId="urn:microsoft.com/office/officeart/2005/8/layout/cycle4"/>
    <dgm:cxn modelId="{D3E126FD-FEF7-44AB-8C0F-0C0E719B7382}" type="presOf" srcId="{FD85C3CF-ED6E-4AAF-8AC9-E26D170DA47E}" destId="{8BBA0B14-542E-4833-AA24-C793E782A5EE}" srcOrd="0" destOrd="0" presId="urn:microsoft.com/office/officeart/2005/8/layout/cycle4"/>
    <dgm:cxn modelId="{4E333630-A8C4-4E13-92F0-85354A13F179}" srcId="{885F18D2-B539-4A6C-BAB4-7CD1E2D2687B}" destId="{130F4B47-7367-45CE-A4D5-8BDDE220B697}" srcOrd="0" destOrd="0" parTransId="{34F19A06-5520-4A36-84AD-8CF5BB8B12C3}" sibTransId="{D01AC3D3-F9C6-403E-A2D4-A21040FEAE6F}"/>
    <dgm:cxn modelId="{DBB27B78-FF1D-4AB7-B808-228B12844CE5}" srcId="{497179AD-76FF-4314-A489-0C057E636CB7}" destId="{12796A03-5AE3-44FC-86B2-C45ACE08909B}" srcOrd="2" destOrd="0" parTransId="{644092AB-1A56-44AC-9FC4-F01BE9C3CCBE}" sibTransId="{A4052880-9A42-4460-87D9-ECA170374F1E}"/>
    <dgm:cxn modelId="{1D5DCF37-EEAD-49AC-9CF5-CE08677A8348}" type="presOf" srcId="{97D62728-1855-4447-A9AE-C433BCAE4AF8}" destId="{16FADAE4-DF19-4E97-A712-221136A6DBE4}" srcOrd="1" destOrd="0" presId="urn:microsoft.com/office/officeart/2005/8/layout/cycle4"/>
    <dgm:cxn modelId="{BBC013A1-C828-4A9D-96E5-A43D8C22470F}" srcId="{B345032F-B193-46C7-A619-98FE673DBA4C}" destId="{97D62728-1855-4447-A9AE-C433BCAE4AF8}" srcOrd="0" destOrd="0" parTransId="{8E74EFD8-0B27-4EE3-8B2F-ED7E0354D41E}" sibTransId="{B46B876A-1992-4835-A6F8-56B12B5A870A}"/>
    <dgm:cxn modelId="{CCAEBC96-40FA-44B5-B015-5A274949DFE6}" type="presOf" srcId="{885F18D2-B539-4A6C-BAB4-7CD1E2D2687B}" destId="{70234D82-E4F6-4DEE-ADBD-211380EDDAA5}" srcOrd="0" destOrd="0" presId="urn:microsoft.com/office/officeart/2005/8/layout/cycle4"/>
    <dgm:cxn modelId="{85189729-ECF6-40DD-B015-A9A9F52BE0F9}" type="presParOf" srcId="{E8AB4A13-EE10-42E4-8FA2-7A075ED1C191}" destId="{6F71A59C-5F41-4491-946B-5023C9909C1C}" srcOrd="0" destOrd="0" presId="urn:microsoft.com/office/officeart/2005/8/layout/cycle4"/>
    <dgm:cxn modelId="{0105D4AF-24D3-4584-A5CC-E5BAAF8A8941}" type="presParOf" srcId="{6F71A59C-5F41-4491-946B-5023C9909C1C}" destId="{DAF5771E-FA02-409E-8019-B9BCB97A6940}" srcOrd="0" destOrd="0" presId="urn:microsoft.com/office/officeart/2005/8/layout/cycle4"/>
    <dgm:cxn modelId="{3C8105A9-1092-4E3C-85D3-A7F36E027C16}" type="presParOf" srcId="{DAF5771E-FA02-409E-8019-B9BCB97A6940}" destId="{D6F65A11-B662-4C0A-9B89-8F14460FE971}" srcOrd="0" destOrd="0" presId="urn:microsoft.com/office/officeart/2005/8/layout/cycle4"/>
    <dgm:cxn modelId="{2E55423D-178C-40D1-ADC3-324BDA5A27F4}" type="presParOf" srcId="{DAF5771E-FA02-409E-8019-B9BCB97A6940}" destId="{16FADAE4-DF19-4E97-A712-221136A6DBE4}" srcOrd="1" destOrd="0" presId="urn:microsoft.com/office/officeart/2005/8/layout/cycle4"/>
    <dgm:cxn modelId="{0A044D34-C0F0-4CF6-A845-0361FACD415B}" type="presParOf" srcId="{6F71A59C-5F41-4491-946B-5023C9909C1C}" destId="{76488D98-E92E-4C1B-9408-04772E26A180}" srcOrd="1" destOrd="0" presId="urn:microsoft.com/office/officeart/2005/8/layout/cycle4"/>
    <dgm:cxn modelId="{6B7AF5BF-5CAD-455D-B662-A50D36D3B769}" type="presParOf" srcId="{76488D98-E92E-4C1B-9408-04772E26A180}" destId="{8BBA0B14-542E-4833-AA24-C793E782A5EE}" srcOrd="0" destOrd="0" presId="urn:microsoft.com/office/officeart/2005/8/layout/cycle4"/>
    <dgm:cxn modelId="{603E8D92-317B-4D69-A6D8-0B38B0CCD303}" type="presParOf" srcId="{76488D98-E92E-4C1B-9408-04772E26A180}" destId="{17BAC5BA-0FE5-48A3-BB0E-C86B9C69D41A}" srcOrd="1" destOrd="0" presId="urn:microsoft.com/office/officeart/2005/8/layout/cycle4"/>
    <dgm:cxn modelId="{542778A0-EE92-4B36-83A3-978C473C72AD}" type="presParOf" srcId="{6F71A59C-5F41-4491-946B-5023C9909C1C}" destId="{3779BA83-98D1-4674-B121-4DDD482830EE}" srcOrd="2" destOrd="0" presId="urn:microsoft.com/office/officeart/2005/8/layout/cycle4"/>
    <dgm:cxn modelId="{CF24B46E-4308-47D3-8919-CA3089368A17}" type="presParOf" srcId="{3779BA83-98D1-4674-B121-4DDD482830EE}" destId="{10922AFE-B303-4C96-B680-F6A4EBF806B6}" srcOrd="0" destOrd="0" presId="urn:microsoft.com/office/officeart/2005/8/layout/cycle4"/>
    <dgm:cxn modelId="{143EB5AA-0296-43C4-A115-8E4D67F0581A}" type="presParOf" srcId="{3779BA83-98D1-4674-B121-4DDD482830EE}" destId="{630BE6DA-D32E-419D-8A3A-03A15FCDEF9D}" srcOrd="1" destOrd="0" presId="urn:microsoft.com/office/officeart/2005/8/layout/cycle4"/>
    <dgm:cxn modelId="{DEE7968B-0098-4442-A436-B0382AA1B4D4}" type="presParOf" srcId="{6F71A59C-5F41-4491-946B-5023C9909C1C}" destId="{4B00CF95-A9A4-4EF4-9C18-63DDD3A6EF69}" srcOrd="3" destOrd="0" presId="urn:microsoft.com/office/officeart/2005/8/layout/cycle4"/>
    <dgm:cxn modelId="{1AA857D6-42BF-4F47-863E-196C4520F576}" type="presParOf" srcId="{4B00CF95-A9A4-4EF4-9C18-63DDD3A6EF69}" destId="{A976AC1F-75DE-4F11-9D83-15F7CAF3B73E}" srcOrd="0" destOrd="0" presId="urn:microsoft.com/office/officeart/2005/8/layout/cycle4"/>
    <dgm:cxn modelId="{79295EEB-0623-457E-B582-15CDC7B65AED}" type="presParOf" srcId="{4B00CF95-A9A4-4EF4-9C18-63DDD3A6EF69}" destId="{2545FE1F-2B7B-417A-A7F5-0959A5960F5F}" srcOrd="1" destOrd="0" presId="urn:microsoft.com/office/officeart/2005/8/layout/cycle4"/>
    <dgm:cxn modelId="{BDDF95F4-2157-4BDF-B0AF-D0B0BA616E3F}" type="presParOf" srcId="{6F71A59C-5F41-4491-946B-5023C9909C1C}" destId="{60663856-0EEA-41B0-9C64-116CE89F4C19}" srcOrd="4" destOrd="0" presId="urn:microsoft.com/office/officeart/2005/8/layout/cycle4"/>
    <dgm:cxn modelId="{030D694D-5E4D-4696-B3C9-57139F83101D}" type="presParOf" srcId="{E8AB4A13-EE10-42E4-8FA2-7A075ED1C191}" destId="{E133517D-5528-42DC-9AA2-9364D8BDBD64}" srcOrd="1" destOrd="0" presId="urn:microsoft.com/office/officeart/2005/8/layout/cycle4"/>
    <dgm:cxn modelId="{4BC29F28-4551-4229-BEEA-841C60B3DF32}" type="presParOf" srcId="{E133517D-5528-42DC-9AA2-9364D8BDBD64}" destId="{B509E333-9631-4631-88FC-560F3C1609BC}" srcOrd="0" destOrd="0" presId="urn:microsoft.com/office/officeart/2005/8/layout/cycle4"/>
    <dgm:cxn modelId="{31FB28E1-9A08-4B70-A9E4-5D07BED08E43}" type="presParOf" srcId="{E133517D-5528-42DC-9AA2-9364D8BDBD64}" destId="{F4F7CE94-F1D1-425F-B448-FE47CCD73A10}" srcOrd="1" destOrd="0" presId="urn:microsoft.com/office/officeart/2005/8/layout/cycle4"/>
    <dgm:cxn modelId="{9AEB7998-1819-41DA-A567-D970B405F52D}" type="presParOf" srcId="{E133517D-5528-42DC-9AA2-9364D8BDBD64}" destId="{9DA16A43-7615-4D60-9DBF-5710C5BD0A08}" srcOrd="2" destOrd="0" presId="urn:microsoft.com/office/officeart/2005/8/layout/cycle4"/>
    <dgm:cxn modelId="{95A3C2FB-1B38-4A80-AB8C-8ED98C89203F}" type="presParOf" srcId="{E133517D-5528-42DC-9AA2-9364D8BDBD64}" destId="{70234D82-E4F6-4DEE-ADBD-211380EDDAA5}" srcOrd="3" destOrd="0" presId="urn:microsoft.com/office/officeart/2005/8/layout/cycle4"/>
    <dgm:cxn modelId="{24B505E1-A0C6-4C5B-B769-988818797623}" type="presParOf" srcId="{E133517D-5528-42DC-9AA2-9364D8BDBD64}" destId="{AA848EF2-A41E-4D21-A5FF-3614D5557DE5}" srcOrd="4" destOrd="0" presId="urn:microsoft.com/office/officeart/2005/8/layout/cycle4"/>
    <dgm:cxn modelId="{3DEEF226-9A7C-4E95-A76E-CE1142BB4CFB}" type="presParOf" srcId="{E8AB4A13-EE10-42E4-8FA2-7A075ED1C191}" destId="{275D7DE8-703F-461B-BFE1-3C3A2F769612}" srcOrd="2" destOrd="0" presId="urn:microsoft.com/office/officeart/2005/8/layout/cycle4"/>
    <dgm:cxn modelId="{56A75AB1-3F02-4A19-9D3D-E13F7F4A1EBC}" type="presParOf" srcId="{E8AB4A13-EE10-42E4-8FA2-7A075ED1C191}" destId="{A634B76E-0E4B-499E-A9CD-3D2F1BCE5893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922AFE-B303-4C96-B680-F6A4EBF806B6}">
      <dsp:nvSpPr>
        <dsp:cNvPr id="0" name=""/>
        <dsp:cNvSpPr/>
      </dsp:nvSpPr>
      <dsp:spPr>
        <a:xfrm>
          <a:off x="2632301" y="2020178"/>
          <a:ext cx="1467600" cy="950672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100" kern="1200" dirty="0" smtClean="0">
              <a:latin typeface="+mn-lt"/>
            </a:rPr>
            <a:t>원가</a:t>
          </a:r>
          <a:endParaRPr lang="ko-KR" altLang="en-US" sz="2100" kern="1200" dirty="0">
            <a:latin typeface="+mn-lt"/>
          </a:endParaRPr>
        </a:p>
      </dsp:txBody>
      <dsp:txXfrm>
        <a:off x="3093464" y="2278729"/>
        <a:ext cx="985554" cy="671238"/>
      </dsp:txXfrm>
    </dsp:sp>
    <dsp:sp modelId="{A976AC1F-75DE-4F11-9D83-15F7CAF3B73E}">
      <dsp:nvSpPr>
        <dsp:cNvPr id="0" name=""/>
        <dsp:cNvSpPr/>
      </dsp:nvSpPr>
      <dsp:spPr>
        <a:xfrm>
          <a:off x="237795" y="2020178"/>
          <a:ext cx="1467600" cy="950672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100" kern="1200" dirty="0" smtClean="0">
              <a:latin typeface="+mn-lt"/>
            </a:rPr>
            <a:t>기타</a:t>
          </a:r>
          <a:endParaRPr lang="ko-KR" altLang="en-US" sz="2100" kern="1200" dirty="0">
            <a:latin typeface="+mn-lt"/>
          </a:endParaRPr>
        </a:p>
      </dsp:txBody>
      <dsp:txXfrm>
        <a:off x="258678" y="2278729"/>
        <a:ext cx="985554" cy="671238"/>
      </dsp:txXfrm>
    </dsp:sp>
    <dsp:sp modelId="{8BBA0B14-542E-4833-AA24-C793E782A5EE}">
      <dsp:nvSpPr>
        <dsp:cNvPr id="0" name=""/>
        <dsp:cNvSpPr/>
      </dsp:nvSpPr>
      <dsp:spPr>
        <a:xfrm>
          <a:off x="2632301" y="0"/>
          <a:ext cx="1467600" cy="950672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100" kern="1200" dirty="0" smtClean="0">
              <a:latin typeface="+mn-lt"/>
            </a:rPr>
            <a:t>공정</a:t>
          </a:r>
          <a:endParaRPr lang="ko-KR" altLang="en-US" sz="2100" kern="1200" dirty="0">
            <a:latin typeface="+mn-lt"/>
          </a:endParaRPr>
        </a:p>
      </dsp:txBody>
      <dsp:txXfrm>
        <a:off x="3093464" y="20883"/>
        <a:ext cx="985554" cy="671238"/>
      </dsp:txXfrm>
    </dsp:sp>
    <dsp:sp modelId="{D6F65A11-B662-4C0A-9B89-8F14460FE971}">
      <dsp:nvSpPr>
        <dsp:cNvPr id="0" name=""/>
        <dsp:cNvSpPr/>
      </dsp:nvSpPr>
      <dsp:spPr>
        <a:xfrm>
          <a:off x="237795" y="0"/>
          <a:ext cx="1467600" cy="950672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100" kern="1200" dirty="0" smtClean="0">
              <a:latin typeface="+mn-lt"/>
            </a:rPr>
            <a:t>설계</a:t>
          </a:r>
          <a:endParaRPr lang="ko-KR" altLang="en-US" sz="2100" kern="1200" dirty="0">
            <a:latin typeface="+mn-lt"/>
          </a:endParaRPr>
        </a:p>
      </dsp:txBody>
      <dsp:txXfrm>
        <a:off x="258678" y="20883"/>
        <a:ext cx="985554" cy="671238"/>
      </dsp:txXfrm>
    </dsp:sp>
    <dsp:sp modelId="{B509E333-9631-4631-88FC-560F3C1609BC}">
      <dsp:nvSpPr>
        <dsp:cNvPr id="0" name=""/>
        <dsp:cNvSpPr/>
      </dsp:nvSpPr>
      <dsp:spPr>
        <a:xfrm>
          <a:off x="852762" y="169338"/>
          <a:ext cx="1286378" cy="1286378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100" kern="1200" dirty="0" smtClean="0">
              <a:latin typeface="+mn-lt"/>
            </a:rPr>
            <a:t>발열체 변경으로 신기술 공법 적용</a:t>
          </a:r>
          <a:endParaRPr lang="en-US" altLang="ko-KR" sz="1100" kern="1200" dirty="0" smtClean="0">
            <a:latin typeface="+mn-lt"/>
          </a:endParaRPr>
        </a:p>
      </dsp:txBody>
      <dsp:txXfrm>
        <a:off x="1229533" y="546109"/>
        <a:ext cx="909607" cy="909607"/>
      </dsp:txXfrm>
    </dsp:sp>
    <dsp:sp modelId="{F4F7CE94-F1D1-425F-B448-FE47CCD73A10}">
      <dsp:nvSpPr>
        <dsp:cNvPr id="0" name=""/>
        <dsp:cNvSpPr/>
      </dsp:nvSpPr>
      <dsp:spPr>
        <a:xfrm rot="5400000">
          <a:off x="2198557" y="169338"/>
          <a:ext cx="1286378" cy="1286378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300" kern="1200" dirty="0" smtClean="0">
              <a:latin typeface="+mn-lt"/>
            </a:rPr>
            <a:t>조립 공정</a:t>
          </a:r>
          <a:endParaRPr lang="en-US" altLang="ko-KR" sz="1300" kern="1200" dirty="0" smtClean="0">
            <a:latin typeface="+mn-lt"/>
          </a:endParaRPr>
        </a:p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300" kern="1200" dirty="0" smtClean="0">
              <a:latin typeface="+mn-lt"/>
            </a:rPr>
            <a:t>단순화</a:t>
          </a:r>
          <a:endParaRPr lang="ko-KR" altLang="en-US" sz="1300" kern="1200" dirty="0">
            <a:latin typeface="+mn-lt"/>
          </a:endParaRPr>
        </a:p>
      </dsp:txBody>
      <dsp:txXfrm rot="-5400000">
        <a:off x="2198557" y="546109"/>
        <a:ext cx="909607" cy="909607"/>
      </dsp:txXfrm>
    </dsp:sp>
    <dsp:sp modelId="{9DA16A43-7615-4D60-9DBF-5710C5BD0A08}">
      <dsp:nvSpPr>
        <dsp:cNvPr id="0" name=""/>
        <dsp:cNvSpPr/>
      </dsp:nvSpPr>
      <dsp:spPr>
        <a:xfrm rot="10800000">
          <a:off x="2198557" y="1515134"/>
          <a:ext cx="1286378" cy="1286378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100" kern="1200" dirty="0" smtClean="0">
              <a:latin typeface="+mn-lt"/>
            </a:rPr>
            <a:t>부품 삭제에 따른 원가 절감</a:t>
          </a:r>
          <a:endParaRPr lang="ko-KR" altLang="en-US" sz="1100" kern="1200" dirty="0">
            <a:latin typeface="+mn-lt"/>
          </a:endParaRPr>
        </a:p>
      </dsp:txBody>
      <dsp:txXfrm rot="10800000">
        <a:off x="2198557" y="1515134"/>
        <a:ext cx="909607" cy="909607"/>
      </dsp:txXfrm>
    </dsp:sp>
    <dsp:sp modelId="{70234D82-E4F6-4DEE-ADBD-211380EDDAA5}">
      <dsp:nvSpPr>
        <dsp:cNvPr id="0" name=""/>
        <dsp:cNvSpPr/>
      </dsp:nvSpPr>
      <dsp:spPr>
        <a:xfrm rot="16200000">
          <a:off x="852762" y="1515134"/>
          <a:ext cx="1286378" cy="1286378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300" kern="1200" dirty="0" smtClean="0">
              <a:latin typeface="+mn-lt"/>
            </a:rPr>
            <a:t>안정성</a:t>
          </a:r>
          <a:endParaRPr lang="en-US" altLang="ko-KR" sz="1300" kern="1200" dirty="0" smtClean="0">
            <a:latin typeface="+mn-lt"/>
          </a:endParaRPr>
        </a:p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300" kern="1200" dirty="0" smtClean="0">
              <a:latin typeface="+mn-lt"/>
            </a:rPr>
            <a:t>확보</a:t>
          </a:r>
          <a:endParaRPr lang="ko-KR" altLang="en-US" sz="1300" kern="1200" dirty="0">
            <a:latin typeface="+mn-lt"/>
          </a:endParaRPr>
        </a:p>
      </dsp:txBody>
      <dsp:txXfrm rot="5400000">
        <a:off x="1229533" y="1515134"/>
        <a:ext cx="909607" cy="909607"/>
      </dsp:txXfrm>
    </dsp:sp>
    <dsp:sp modelId="{275D7DE8-703F-461B-BFE1-3C3A2F769612}">
      <dsp:nvSpPr>
        <dsp:cNvPr id="0" name=""/>
        <dsp:cNvSpPr/>
      </dsp:nvSpPr>
      <dsp:spPr>
        <a:xfrm>
          <a:off x="1946777" y="1218048"/>
          <a:ext cx="444142" cy="386210"/>
        </a:xfrm>
        <a:prstGeom prst="circularArrow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34B76E-0E4B-499E-A9CD-3D2F1BCE5893}">
      <dsp:nvSpPr>
        <dsp:cNvPr id="0" name=""/>
        <dsp:cNvSpPr/>
      </dsp:nvSpPr>
      <dsp:spPr>
        <a:xfrm rot="10800000">
          <a:off x="1946777" y="1366591"/>
          <a:ext cx="444142" cy="386210"/>
        </a:xfrm>
        <a:prstGeom prst="circularArrow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77" tIns="45738" rIns="91477" bIns="45738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4940" y="0"/>
            <a:ext cx="2949099" cy="498693"/>
          </a:xfrm>
          <a:prstGeom prst="rect">
            <a:avLst/>
          </a:prstGeom>
        </p:spPr>
        <p:txBody>
          <a:bodyPr vert="horz" lIns="91477" tIns="45738" rIns="91477" bIns="45738" rtlCol="0"/>
          <a:lstStyle>
            <a:lvl1pPr algn="r">
              <a:defRPr sz="1200"/>
            </a:lvl1pPr>
          </a:lstStyle>
          <a:p>
            <a:fld id="{0F9C7889-A84F-49D1-BD5A-0C9403740ED6}" type="datetimeFigureOut">
              <a:rPr lang="ko-KR" altLang="en-US" smtClean="0"/>
              <a:pPr/>
              <a:t>2026-03-26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8"/>
            <a:ext cx="2949099" cy="498692"/>
          </a:xfrm>
          <a:prstGeom prst="rect">
            <a:avLst/>
          </a:prstGeom>
        </p:spPr>
        <p:txBody>
          <a:bodyPr vert="horz" lIns="91477" tIns="45738" rIns="91477" bIns="45738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4940" y="9440648"/>
            <a:ext cx="2949099" cy="498692"/>
          </a:xfrm>
          <a:prstGeom prst="rect">
            <a:avLst/>
          </a:prstGeom>
        </p:spPr>
        <p:txBody>
          <a:bodyPr vert="horz" lIns="91477" tIns="45738" rIns="91477" bIns="45738" rtlCol="0" anchor="b"/>
          <a:lstStyle>
            <a:lvl1pPr algn="r">
              <a:defRPr sz="1200"/>
            </a:lvl1pPr>
          </a:lstStyle>
          <a:p>
            <a:fld id="{7FACC8F6-5469-4F2F-A461-25A096C9479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2887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77" tIns="45738" rIns="91477" bIns="45738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8693"/>
          </a:xfrm>
          <a:prstGeom prst="rect">
            <a:avLst/>
          </a:prstGeom>
        </p:spPr>
        <p:txBody>
          <a:bodyPr vert="horz" lIns="91477" tIns="45738" rIns="91477" bIns="45738" rtlCol="0"/>
          <a:lstStyle>
            <a:lvl1pPr algn="r">
              <a:defRPr sz="1200"/>
            </a:lvl1pPr>
          </a:lstStyle>
          <a:p>
            <a:fld id="{95102FC6-FE94-47A7-84EE-A54FBD2777CB}" type="datetimeFigureOut">
              <a:rPr lang="ko-KR" altLang="en-US" smtClean="0"/>
              <a:pPr/>
              <a:t>2026-03-26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71987" cy="3354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77" tIns="45738" rIns="91477" bIns="45738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77" tIns="45738" rIns="91477" bIns="45738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8"/>
            <a:ext cx="2949099" cy="498692"/>
          </a:xfrm>
          <a:prstGeom prst="rect">
            <a:avLst/>
          </a:prstGeom>
        </p:spPr>
        <p:txBody>
          <a:bodyPr vert="horz" lIns="91477" tIns="45738" rIns="91477" bIns="45738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8"/>
            <a:ext cx="2949099" cy="498692"/>
          </a:xfrm>
          <a:prstGeom prst="rect">
            <a:avLst/>
          </a:prstGeom>
        </p:spPr>
        <p:txBody>
          <a:bodyPr vert="horz" lIns="91477" tIns="45738" rIns="91477" bIns="45738" rtlCol="0" anchor="b"/>
          <a:lstStyle>
            <a:lvl1pPr algn="r">
              <a:defRPr sz="1200"/>
            </a:lvl1pPr>
          </a:lstStyle>
          <a:p>
            <a:fld id="{17C94E65-097A-4CA0-B953-83BB7887CD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1410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164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73575" cy="33543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7888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23528" y="6604084"/>
            <a:ext cx="67687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900" dirty="0" smtClean="0">
                <a:solidFill>
                  <a:schemeClr val="bg1">
                    <a:lumMod val="65000"/>
                  </a:schemeClr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13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8" name="Rectangle 36"/>
          <p:cNvSpPr>
            <a:spLocks noChangeArrowheads="1"/>
          </p:cNvSpPr>
          <p:nvPr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ko-KR" altLang="en-US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800" dirty="0" smtClean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100"/>
              </a:lnSpc>
            </a:pPr>
            <a:r>
              <a:rPr lang="en-US" altLang="en-US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emf"/><Relationship Id="rId5" Type="http://schemas.openxmlformats.org/officeDocument/2006/relationships/image" Target="../media/image20.png"/><Relationship Id="rId10" Type="http://schemas.openxmlformats.org/officeDocument/2006/relationships/image" Target="../media/image25.emf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png"/><Relationship Id="rId7" Type="http://schemas.openxmlformats.org/officeDocument/2006/relationships/image" Target="../media/image3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46160;&#44204;\3D-3\01_NEa%20PE_PTC%20HEATER%20ASSY_230216.CATProduct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835696" y="5301208"/>
            <a:ext cx="5934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28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28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28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28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 </a:t>
            </a:r>
            <a:r>
              <a:rPr lang="en-US" altLang="ko-KR" sz="28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”</a:t>
            </a:r>
            <a:endParaRPr lang="ko-KR" altLang="en-US" sz="28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11021" y="6061358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우리산업㈜ 기술연구소</a:t>
            </a: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74776" y="2251933"/>
            <a:ext cx="6969224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800" dirty="0" smtClean="0">
                <a:solidFill>
                  <a:prstClr val="white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EV Heater </a:t>
            </a:r>
            <a:r>
              <a:rPr kumimoji="1" lang="ko-KR" altLang="en-US" sz="2800" dirty="0" err="1" smtClean="0">
                <a:solidFill>
                  <a:prstClr val="white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초격차</a:t>
            </a:r>
            <a:r>
              <a:rPr kumimoji="1" lang="ko-KR" altLang="en-US" sz="2800" dirty="0" smtClean="0">
                <a:solidFill>
                  <a:prstClr val="white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</a:t>
            </a:r>
            <a:endParaRPr kumimoji="1" lang="en-US" altLang="ko-KR" sz="2800" dirty="0" smtClean="0">
              <a:solidFill>
                <a:prstClr val="white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800" dirty="0" smtClean="0">
                <a:solidFill>
                  <a:prstClr val="white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Sheath Heater Type </a:t>
            </a:r>
            <a:r>
              <a:rPr kumimoji="1" lang="ko-KR" altLang="en-US" sz="2800" dirty="0" smtClean="0">
                <a:solidFill>
                  <a:prstClr val="white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개발 </a:t>
            </a:r>
            <a:r>
              <a:rPr kumimoji="1" lang="ko-KR" altLang="en-US" sz="2800" dirty="0" err="1" smtClean="0">
                <a:solidFill>
                  <a:prstClr val="white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로드맵</a:t>
            </a:r>
            <a:endParaRPr kumimoji="1" lang="en-US" altLang="ko-KR" sz="2800" dirty="0" smtClean="0">
              <a:solidFill>
                <a:prstClr val="white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662435" y="6382468"/>
            <a:ext cx="1730678" cy="2565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>
              <a:lnSpc>
                <a:spcPts val="5000"/>
              </a:lnSpc>
            </a:pPr>
            <a:r>
              <a:rPr lang="en-US" altLang="ko-KR" sz="1200" b="1" dirty="0" smtClean="0">
                <a:solidFill>
                  <a:schemeClr val="tx2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2026.</a:t>
            </a:r>
            <a:r>
              <a:rPr lang="ko-KR" altLang="en-US" sz="1200" b="1" dirty="0" smtClean="0">
                <a:solidFill>
                  <a:schemeClr val="tx2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 </a:t>
            </a:r>
            <a:r>
              <a:rPr lang="en-US" altLang="ko-KR" sz="1200" b="1" dirty="0" smtClean="0">
                <a:solidFill>
                  <a:schemeClr val="tx2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03. </a:t>
            </a:r>
            <a:r>
              <a:rPr lang="en-US" altLang="ko-KR" sz="1200" b="1" dirty="0" smtClean="0">
                <a:solidFill>
                  <a:schemeClr val="tx2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25</a:t>
            </a:r>
            <a:endParaRPr lang="en-US" altLang="ko-KR" sz="1200" b="1" dirty="0">
              <a:solidFill>
                <a:schemeClr val="tx2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47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/>
        </p:nvCxnSpPr>
        <p:spPr bwMode="auto">
          <a:xfrm flipV="1">
            <a:off x="908653" y="2842244"/>
            <a:ext cx="0" cy="69066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직선 연결선 24"/>
          <p:cNvCxnSpPr/>
          <p:nvPr/>
        </p:nvCxnSpPr>
        <p:spPr bwMode="auto">
          <a:xfrm flipV="1">
            <a:off x="2745766" y="2842244"/>
            <a:ext cx="0" cy="69066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직선 연결선 25"/>
          <p:cNvCxnSpPr/>
          <p:nvPr/>
        </p:nvCxnSpPr>
        <p:spPr bwMode="auto">
          <a:xfrm flipV="1">
            <a:off x="4632755" y="2211185"/>
            <a:ext cx="0" cy="132172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직선 연결선 26"/>
          <p:cNvCxnSpPr/>
          <p:nvPr/>
        </p:nvCxnSpPr>
        <p:spPr bwMode="auto">
          <a:xfrm flipV="1">
            <a:off x="6469868" y="2842244"/>
            <a:ext cx="0" cy="69066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직선 연결선 30"/>
          <p:cNvCxnSpPr/>
          <p:nvPr/>
        </p:nvCxnSpPr>
        <p:spPr bwMode="auto">
          <a:xfrm flipV="1">
            <a:off x="8381795" y="2842244"/>
            <a:ext cx="0" cy="69066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548383" y="797784"/>
            <a:ext cx="2399889" cy="1618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14"/>
              </a:lnSpc>
            </a:pPr>
            <a:r>
              <a:rPr lang="ko-KR" altLang="en-US" sz="1270" b="1" dirty="0">
                <a:latin typeface="+mn-ea"/>
              </a:rPr>
              <a:t>■  </a:t>
            </a:r>
            <a:r>
              <a:rPr lang="en-US" altLang="ko-KR" sz="1270" b="1" dirty="0">
                <a:latin typeface="+mn-ea"/>
              </a:rPr>
              <a:t>TFT </a:t>
            </a:r>
            <a:r>
              <a:rPr lang="ko-KR" altLang="en-US" sz="1270" b="1" dirty="0">
                <a:latin typeface="+mn-ea"/>
              </a:rPr>
              <a:t>총원 </a:t>
            </a:r>
            <a:r>
              <a:rPr lang="en-US" altLang="ko-KR" sz="1270" b="1" dirty="0">
                <a:latin typeface="+mn-ea"/>
              </a:rPr>
              <a:t>: 9</a:t>
            </a:r>
            <a:r>
              <a:rPr lang="ko-KR" altLang="en-US" sz="1270" b="1" dirty="0" smtClean="0">
                <a:latin typeface="+mn-ea"/>
              </a:rPr>
              <a:t>명</a:t>
            </a:r>
            <a:endParaRPr lang="en-US" altLang="ko-KR" sz="1270" b="1" dirty="0">
              <a:latin typeface="+mn-ea"/>
            </a:endParaRPr>
          </a:p>
          <a:p>
            <a:pPr>
              <a:lnSpc>
                <a:spcPts val="1714"/>
              </a:lnSpc>
            </a:pPr>
            <a:r>
              <a:rPr lang="ko-KR" altLang="en-US" sz="1270" b="1" dirty="0">
                <a:latin typeface="+mn-ea"/>
              </a:rPr>
              <a:t>    </a:t>
            </a:r>
            <a:r>
              <a:rPr lang="en-US" altLang="ko-KR" sz="1270" b="1" dirty="0">
                <a:latin typeface="+mn-ea"/>
              </a:rPr>
              <a:t>&gt;</a:t>
            </a:r>
            <a:r>
              <a:rPr lang="ko-KR" altLang="en-US" sz="1270" b="1" dirty="0">
                <a:latin typeface="+mn-ea"/>
              </a:rPr>
              <a:t> </a:t>
            </a:r>
            <a:r>
              <a:rPr lang="en-US" altLang="ko-KR" sz="1270" b="1" dirty="0">
                <a:latin typeface="+mn-ea"/>
              </a:rPr>
              <a:t>TFT </a:t>
            </a:r>
            <a:r>
              <a:rPr lang="ko-KR" altLang="en-US" sz="1270" b="1" dirty="0">
                <a:latin typeface="+mn-ea"/>
              </a:rPr>
              <a:t>장 </a:t>
            </a:r>
            <a:r>
              <a:rPr lang="en-US" altLang="ko-KR" sz="1270" b="1" dirty="0">
                <a:latin typeface="+mn-ea"/>
              </a:rPr>
              <a:t>: 1</a:t>
            </a:r>
            <a:r>
              <a:rPr lang="ko-KR" altLang="en-US" sz="1270" b="1" dirty="0">
                <a:latin typeface="+mn-ea"/>
              </a:rPr>
              <a:t>명</a:t>
            </a:r>
            <a:endParaRPr lang="en-US" altLang="ko-KR" sz="1270" b="1" dirty="0">
              <a:latin typeface="+mn-ea"/>
            </a:endParaRPr>
          </a:p>
          <a:p>
            <a:pPr>
              <a:lnSpc>
                <a:spcPts val="1714"/>
              </a:lnSpc>
            </a:pPr>
            <a:r>
              <a:rPr lang="en-US" altLang="ko-KR" sz="1270" b="1" dirty="0">
                <a:latin typeface="+mn-ea"/>
              </a:rPr>
              <a:t>     &gt;</a:t>
            </a:r>
            <a:r>
              <a:rPr lang="ko-KR" altLang="en-US" sz="1270" b="1" dirty="0">
                <a:latin typeface="+mn-ea"/>
              </a:rPr>
              <a:t> 연구소 기구 </a:t>
            </a:r>
            <a:r>
              <a:rPr lang="en-US" altLang="ko-KR" sz="1270" b="1" dirty="0">
                <a:latin typeface="+mn-ea"/>
              </a:rPr>
              <a:t>:  </a:t>
            </a:r>
            <a:r>
              <a:rPr lang="en-US" altLang="ko-KR" sz="1270" b="1" dirty="0" smtClean="0">
                <a:latin typeface="+mn-ea"/>
              </a:rPr>
              <a:t>3</a:t>
            </a:r>
            <a:r>
              <a:rPr lang="ko-KR" altLang="en-US" sz="1270" b="1" dirty="0" smtClean="0">
                <a:latin typeface="+mn-ea"/>
              </a:rPr>
              <a:t>명</a:t>
            </a:r>
            <a:endParaRPr lang="en-US" altLang="ko-KR" sz="1270" b="1" dirty="0">
              <a:latin typeface="+mn-ea"/>
            </a:endParaRPr>
          </a:p>
          <a:p>
            <a:pPr>
              <a:lnSpc>
                <a:spcPts val="1714"/>
              </a:lnSpc>
            </a:pPr>
            <a:r>
              <a:rPr lang="ko-KR" altLang="en-US" sz="1270" b="1" dirty="0">
                <a:latin typeface="+mn-ea"/>
              </a:rPr>
              <a:t>     </a:t>
            </a:r>
            <a:r>
              <a:rPr lang="en-US" altLang="ko-KR" sz="1270" b="1" dirty="0">
                <a:latin typeface="+mn-ea"/>
              </a:rPr>
              <a:t>&gt;</a:t>
            </a:r>
            <a:r>
              <a:rPr lang="ko-KR" altLang="en-US" sz="1270" b="1" dirty="0">
                <a:latin typeface="+mn-ea"/>
              </a:rPr>
              <a:t> 연구소 회로 </a:t>
            </a:r>
            <a:r>
              <a:rPr lang="en-US" altLang="ko-KR" sz="1270" b="1" dirty="0">
                <a:latin typeface="+mn-ea"/>
              </a:rPr>
              <a:t>:  2</a:t>
            </a:r>
            <a:r>
              <a:rPr lang="ko-KR" altLang="en-US" sz="1270" b="1" dirty="0" smtClean="0">
                <a:latin typeface="+mn-ea"/>
              </a:rPr>
              <a:t>명</a:t>
            </a:r>
            <a:endParaRPr lang="en-US" altLang="ko-KR" sz="1270" b="1" dirty="0" smtClean="0">
              <a:latin typeface="+mn-ea"/>
            </a:endParaRPr>
          </a:p>
          <a:p>
            <a:pPr>
              <a:lnSpc>
                <a:spcPts val="1714"/>
              </a:lnSpc>
            </a:pPr>
            <a:r>
              <a:rPr lang="en-US" altLang="ko-KR" sz="1270" b="1" dirty="0">
                <a:latin typeface="+mn-ea"/>
              </a:rPr>
              <a:t> </a:t>
            </a:r>
            <a:r>
              <a:rPr lang="en-US" altLang="ko-KR" sz="1270" b="1" dirty="0" smtClean="0">
                <a:latin typeface="+mn-ea"/>
              </a:rPr>
              <a:t>    &gt; </a:t>
            </a:r>
            <a:r>
              <a:rPr lang="ko-KR" altLang="en-US" sz="1270" b="1" dirty="0" smtClean="0">
                <a:latin typeface="+mn-ea"/>
              </a:rPr>
              <a:t>연구소 </a:t>
            </a:r>
            <a:r>
              <a:rPr lang="en-US" altLang="ko-KR" sz="1270" b="1" dirty="0" smtClean="0">
                <a:latin typeface="+mn-ea"/>
              </a:rPr>
              <a:t>SW  :  1</a:t>
            </a:r>
            <a:r>
              <a:rPr lang="ko-KR" altLang="en-US" sz="1270" b="1" dirty="0" smtClean="0">
                <a:latin typeface="+mn-ea"/>
              </a:rPr>
              <a:t>명</a:t>
            </a:r>
            <a:endParaRPr lang="en-US" altLang="ko-KR" sz="1270" b="1" dirty="0">
              <a:latin typeface="+mn-ea"/>
            </a:endParaRPr>
          </a:p>
          <a:p>
            <a:pPr>
              <a:lnSpc>
                <a:spcPts val="1714"/>
              </a:lnSpc>
            </a:pPr>
            <a:r>
              <a:rPr lang="en-US" altLang="ko-KR" sz="1270" b="1" dirty="0">
                <a:latin typeface="+mn-ea"/>
              </a:rPr>
              <a:t>     &gt;</a:t>
            </a:r>
            <a:r>
              <a:rPr lang="ko-KR" altLang="en-US" sz="1270" b="1" dirty="0">
                <a:latin typeface="+mn-ea"/>
              </a:rPr>
              <a:t> 제조기술     </a:t>
            </a:r>
            <a:r>
              <a:rPr lang="en-US" altLang="ko-KR" sz="1270" b="1" dirty="0">
                <a:latin typeface="+mn-ea"/>
              </a:rPr>
              <a:t>:  1</a:t>
            </a:r>
            <a:r>
              <a:rPr lang="ko-KR" altLang="en-US" sz="1270" b="1" dirty="0">
                <a:latin typeface="+mn-ea"/>
              </a:rPr>
              <a:t>명</a:t>
            </a:r>
            <a:endParaRPr lang="en-US" altLang="ko-KR" sz="1270" b="1" dirty="0">
              <a:latin typeface="+mn-ea"/>
            </a:endParaRPr>
          </a:p>
          <a:p>
            <a:pPr>
              <a:lnSpc>
                <a:spcPts val="1714"/>
              </a:lnSpc>
            </a:pPr>
            <a:r>
              <a:rPr lang="en-US" altLang="ko-KR" sz="1270" b="1" dirty="0">
                <a:latin typeface="+mn-ea"/>
              </a:rPr>
              <a:t>     &gt;</a:t>
            </a:r>
            <a:r>
              <a:rPr lang="ko-KR" altLang="en-US" sz="1270" b="1" dirty="0">
                <a:latin typeface="+mn-ea"/>
              </a:rPr>
              <a:t> 원가팀        </a:t>
            </a:r>
            <a:r>
              <a:rPr lang="en-US" altLang="ko-KR" sz="1270" b="1" dirty="0">
                <a:latin typeface="+mn-ea"/>
              </a:rPr>
              <a:t>:  1</a:t>
            </a:r>
            <a:r>
              <a:rPr lang="ko-KR" altLang="en-US" sz="1270" b="1" dirty="0">
                <a:latin typeface="+mn-ea"/>
              </a:rPr>
              <a:t>명</a:t>
            </a:r>
            <a:endParaRPr lang="en-US" altLang="ko-KR" sz="1270" b="1" dirty="0">
              <a:latin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813077"/>
              </p:ext>
            </p:extLst>
          </p:nvPr>
        </p:nvGraphicFramePr>
        <p:xfrm>
          <a:off x="3759137" y="1469475"/>
          <a:ext cx="1724028" cy="7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TFT</a:t>
                      </a:r>
                      <a:r>
                        <a:rPr lang="en-US" altLang="ko-KR" sz="1400" b="1" baseline="0" dirty="0" smtClean="0"/>
                        <a:t> </a:t>
                      </a:r>
                      <a:r>
                        <a:rPr lang="ko-KR" altLang="en-US" sz="1400" b="1" baseline="0" dirty="0" smtClean="0"/>
                        <a:t>팀장</a:t>
                      </a:r>
                      <a:endParaRPr lang="ko-KR" altLang="en-US" sz="1400" b="1" dirty="0"/>
                    </a:p>
                  </a:txBody>
                  <a:tcPr marL="156731" marR="156731" marT="78365" marB="78365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/>
                        <a:t>상무 이동률</a:t>
                      </a:r>
                      <a:endParaRPr lang="ko-KR" altLang="en-US" sz="1400" b="1" dirty="0"/>
                    </a:p>
                  </a:txBody>
                  <a:tcPr marL="156731" marR="156731" marT="78365" marB="78365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715970"/>
              </p:ext>
            </p:extLst>
          </p:nvPr>
        </p:nvGraphicFramePr>
        <p:xfrm>
          <a:off x="208768" y="3430872"/>
          <a:ext cx="1351171" cy="58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기구팀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이사 박건호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566101"/>
              </p:ext>
            </p:extLst>
          </p:nvPr>
        </p:nvGraphicFramePr>
        <p:xfrm>
          <a:off x="208768" y="4151195"/>
          <a:ext cx="1351171" cy="58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책임 정우헌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전임 </a:t>
                      </a:r>
                      <a:r>
                        <a:rPr lang="ko-KR" altLang="en-US" sz="1100" b="1" dirty="0" err="1" smtClean="0"/>
                        <a:t>공준석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279272"/>
                  </a:ext>
                </a:extLst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846325"/>
              </p:ext>
            </p:extLst>
          </p:nvPr>
        </p:nvGraphicFramePr>
        <p:xfrm>
          <a:off x="2063469" y="3430872"/>
          <a:ext cx="1351171" cy="58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회로팀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이사 김학수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405704"/>
              </p:ext>
            </p:extLst>
          </p:nvPr>
        </p:nvGraphicFramePr>
        <p:xfrm>
          <a:off x="2051720" y="4151195"/>
          <a:ext cx="1351171" cy="290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전임 신지훈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379307"/>
              </p:ext>
            </p:extLst>
          </p:nvPr>
        </p:nvGraphicFramePr>
        <p:xfrm>
          <a:off x="7627572" y="3429000"/>
          <a:ext cx="1351171" cy="58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원가팀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선임 윤두현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303009"/>
              </p:ext>
            </p:extLst>
          </p:nvPr>
        </p:nvGraphicFramePr>
        <p:xfrm>
          <a:off x="5772871" y="3436402"/>
          <a:ext cx="1351171" cy="58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제조기술팀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수석</a:t>
                      </a:r>
                      <a:r>
                        <a:rPr lang="en-US" altLang="ko-KR" sz="1100" b="1" dirty="0" smtClean="0"/>
                        <a:t> </a:t>
                      </a:r>
                      <a:r>
                        <a:rPr lang="ko-KR" altLang="en-US" sz="1100" b="1" dirty="0" err="1" smtClean="0"/>
                        <a:t>유금렬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en-US" altLang="ko-KR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CFT 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조직도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548215"/>
              </p:ext>
            </p:extLst>
          </p:nvPr>
        </p:nvGraphicFramePr>
        <p:xfrm>
          <a:off x="3918170" y="3429000"/>
          <a:ext cx="1351171" cy="58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/>
                        <a:t>SW</a:t>
                      </a:r>
                      <a:r>
                        <a:rPr lang="ko-KR" altLang="en-US" sz="1100" b="1" dirty="0" smtClean="0"/>
                        <a:t>팀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수석 오세영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" name="직선 연결선 3"/>
          <p:cNvCxnSpPr/>
          <p:nvPr/>
        </p:nvCxnSpPr>
        <p:spPr bwMode="auto">
          <a:xfrm>
            <a:off x="899592" y="2852936"/>
            <a:ext cx="7488832" cy="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4514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849033"/>
              </p:ext>
            </p:extLst>
          </p:nvPr>
        </p:nvGraphicFramePr>
        <p:xfrm>
          <a:off x="60435" y="648979"/>
          <a:ext cx="8978741" cy="156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117">
                  <a:extLst>
                    <a:ext uri="{9D8B030D-6E8A-4147-A177-3AD203B41FA5}">
                      <a16:colId xmlns:a16="http://schemas.microsoft.com/office/drawing/2014/main" val="2290459475"/>
                    </a:ext>
                  </a:extLst>
                </a:gridCol>
                <a:gridCol w="2124906">
                  <a:extLst>
                    <a:ext uri="{9D8B030D-6E8A-4147-A177-3AD203B41FA5}">
                      <a16:colId xmlns:a16="http://schemas.microsoft.com/office/drawing/2014/main" val="1435743547"/>
                    </a:ext>
                  </a:extLst>
                </a:gridCol>
                <a:gridCol w="2124906">
                  <a:extLst>
                    <a:ext uri="{9D8B030D-6E8A-4147-A177-3AD203B41FA5}">
                      <a16:colId xmlns:a16="http://schemas.microsoft.com/office/drawing/2014/main" val="319553581"/>
                    </a:ext>
                  </a:extLst>
                </a:gridCol>
                <a:gridCol w="2124906">
                  <a:extLst>
                    <a:ext uri="{9D8B030D-6E8A-4147-A177-3AD203B41FA5}">
                      <a16:colId xmlns:a16="http://schemas.microsoft.com/office/drawing/2014/main" val="2356883888"/>
                    </a:ext>
                  </a:extLst>
                </a:gridCol>
                <a:gridCol w="2124906">
                  <a:extLst>
                    <a:ext uri="{9D8B030D-6E8A-4147-A177-3AD203B41FA5}">
                      <a16:colId xmlns:a16="http://schemas.microsoft.com/office/drawing/2014/main" val="925131253"/>
                    </a:ext>
                  </a:extLst>
                </a:gridCol>
              </a:tblGrid>
              <a:tr h="23679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구분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분기별 계획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431010"/>
                  </a:ext>
                </a:extLst>
              </a:tr>
              <a:tr h="2403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1</a:t>
                      </a:r>
                      <a:r>
                        <a:rPr lang="ko-KR" altLang="en-US" sz="1000" b="1" dirty="0" smtClean="0"/>
                        <a:t>분기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2</a:t>
                      </a:r>
                      <a:r>
                        <a:rPr lang="ko-KR" altLang="en-US" sz="1000" b="1" dirty="0" smtClean="0"/>
                        <a:t>분기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3</a:t>
                      </a:r>
                      <a:r>
                        <a:rPr lang="ko-KR" altLang="en-US" sz="1000" b="1" dirty="0" smtClean="0"/>
                        <a:t>분기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4</a:t>
                      </a:r>
                      <a:r>
                        <a:rPr lang="ko-KR" altLang="en-US" sz="1000" b="1" dirty="0" smtClean="0"/>
                        <a:t>분기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805816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개발 </a:t>
                      </a:r>
                      <a:endParaRPr lang="en-US" altLang="ko-KR" sz="1000" b="1" dirty="0" smtClean="0"/>
                    </a:p>
                    <a:p>
                      <a:pPr algn="ctr" latinLnBrk="1"/>
                      <a:r>
                        <a:rPr lang="ko-KR" altLang="en-US" sz="1000" b="1" dirty="0" smtClean="0"/>
                        <a:t>일정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73561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초격차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</a:t>
            </a:r>
            <a:r>
              <a:rPr lang="ko-KR" altLang="en-US" sz="2000" b="1" dirty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개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발 일정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cxnSp>
        <p:nvCxnSpPr>
          <p:cNvPr id="50" name="직선 연결선 49"/>
          <p:cNvCxnSpPr/>
          <p:nvPr/>
        </p:nvCxnSpPr>
        <p:spPr bwMode="auto">
          <a:xfrm>
            <a:off x="1020104" y="1744941"/>
            <a:ext cx="7740000" cy="0"/>
          </a:xfrm>
          <a:prstGeom prst="lin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타원 50"/>
          <p:cNvSpPr/>
          <p:nvPr/>
        </p:nvSpPr>
        <p:spPr>
          <a:xfrm>
            <a:off x="963921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1693011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8727001" y="1672933"/>
            <a:ext cx="152795" cy="1440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67544" y="1270829"/>
            <a:ext cx="1146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ko-KR" altLang="en-US" sz="800" b="1" dirty="0">
                <a:solidFill>
                  <a:prstClr val="black"/>
                </a:solidFill>
              </a:rPr>
              <a:t>계획 </a:t>
            </a:r>
            <a:r>
              <a:rPr lang="ko-KR" altLang="en-US" sz="800" b="1" dirty="0" smtClean="0">
                <a:solidFill>
                  <a:prstClr val="black"/>
                </a:solidFill>
              </a:rPr>
              <a:t>보고</a:t>
            </a:r>
            <a:endParaRPr lang="en-US" altLang="ko-KR" sz="800" b="1" dirty="0" smtClean="0">
              <a:solidFill>
                <a:prstClr val="black"/>
              </a:solidFill>
            </a:endParaRPr>
          </a:p>
          <a:p>
            <a:pPr lvl="0">
              <a:defRPr/>
            </a:pPr>
            <a:r>
              <a:rPr lang="en-US" altLang="ko-KR" sz="800" b="1" dirty="0" smtClean="0">
                <a:solidFill>
                  <a:prstClr val="black"/>
                </a:solidFill>
              </a:rPr>
              <a:t>Kick Off / </a:t>
            </a:r>
            <a:r>
              <a:rPr lang="ko-KR" altLang="en-US" sz="800" b="1" dirty="0" smtClean="0">
                <a:solidFill>
                  <a:prstClr val="black"/>
                </a:solidFill>
              </a:rPr>
              <a:t>업체 선정</a:t>
            </a:r>
            <a:endParaRPr lang="ko-KR" altLang="en-US" sz="800" b="1" dirty="0">
              <a:solidFill>
                <a:prstClr val="black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475656" y="1268760"/>
            <a:ext cx="5870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Concept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설계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476600" y="1329864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최종</a:t>
            </a:r>
            <a:endParaRPr kumimoji="0" lang="en-US" altLang="ko-KR" sz="800" b="1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완료 보고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549066" y="1825796"/>
            <a:ext cx="4667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12/20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95217" y="1825794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3/03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5" name="타원 64"/>
          <p:cNvSpPr/>
          <p:nvPr/>
        </p:nvSpPr>
        <p:spPr>
          <a:xfrm>
            <a:off x="8729356" y="1672933"/>
            <a:ext cx="152795" cy="14401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532172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~3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/15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2367658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051720" y="1268760"/>
            <a:ext cx="784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Sample </a:t>
            </a: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제작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단품</a:t>
            </a: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검증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206819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~3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/30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3149367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90549" y="1268760"/>
            <a:ext cx="678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MVa</a:t>
            </a: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기반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Ass’y</a:t>
            </a: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제작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988528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~4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/30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3947609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35896" y="1268760"/>
            <a:ext cx="784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Heater </a:t>
            </a:r>
            <a:r>
              <a:rPr lang="en-US" altLang="ko-KR" sz="8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ass’y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DV </a:t>
            </a: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검증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86770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~5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/20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695535" y="1672933"/>
            <a:ext cx="152795" cy="14401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59966" y="1285386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smtClean="0">
                <a:solidFill>
                  <a:srgbClr val="0000FF"/>
                </a:solidFill>
                <a:latin typeface="맑은 고딕"/>
                <a:ea typeface="맑은 고딕" panose="020B0503020000020004" pitchFamily="50" charset="-127"/>
              </a:rPr>
              <a:t>상반기</a:t>
            </a:r>
            <a:endParaRPr lang="en-US" altLang="ko-KR" sz="800" b="1" dirty="0" smtClean="0">
              <a:solidFill>
                <a:srgbClr val="0000FF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smtClean="0">
                <a:solidFill>
                  <a:srgbClr val="0000FF"/>
                </a:solidFill>
                <a:latin typeface="맑은 고딕"/>
                <a:ea typeface="맑은 고딕" panose="020B0503020000020004" pitchFamily="50" charset="-127"/>
              </a:rPr>
              <a:t>완료 보고</a:t>
            </a:r>
            <a:endParaRPr lang="en-US" altLang="ko-KR" sz="800" b="1" dirty="0" smtClean="0">
              <a:solidFill>
                <a:srgbClr val="0000FF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34696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~6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/30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5422791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66195" y="1268760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원가 절감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반영 최종 설계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61952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~7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/20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6250234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95428" y="1268760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MOCK UP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제작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89395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~8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/20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7008023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96498" y="1268760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SAMPLE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제작 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47184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~8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/30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7843937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532227" y="1268760"/>
            <a:ext cx="784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Heater </a:t>
            </a:r>
            <a:r>
              <a:rPr lang="en-US" altLang="ko-KR" sz="8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ass’y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2</a:t>
            </a: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차 </a:t>
            </a: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DV </a:t>
            </a: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검증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83098" y="1828994"/>
            <a:ext cx="5405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~11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/20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803060"/>
              </p:ext>
            </p:extLst>
          </p:nvPr>
        </p:nvGraphicFramePr>
        <p:xfrm>
          <a:off x="69404" y="2268664"/>
          <a:ext cx="8956225" cy="4392000"/>
        </p:xfrm>
        <a:graphic>
          <a:graphicData uri="http://schemas.openxmlformats.org/drawingml/2006/table">
            <a:tbl>
              <a:tblPr/>
              <a:tblGrid>
                <a:gridCol w="28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1449109078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531972519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111124498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578633094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3556379199"/>
                    </a:ext>
                  </a:extLst>
                </a:gridCol>
              </a:tblGrid>
              <a:tr h="216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항목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일정</a:t>
                      </a:r>
                      <a:endParaRPr lang="en-US" altLang="ko-KR" sz="700" b="1" i="0" u="none" strike="noStrik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관리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en-US" altLang="ko-KR" sz="700" b="1" i="0" u="none" strike="noStrik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en-US" altLang="ko-KR" sz="700" b="1" i="0" u="none" strike="noStrik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 smtClean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진행 단계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계획 보고</a:t>
                      </a:r>
                      <a:endParaRPr lang="en-US" altLang="ko-KR" sz="700" b="0" i="0" u="none" strike="noStrik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KICK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OFF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개발 업체 선정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차 검증</a:t>
                      </a:r>
                      <a:endParaRPr lang="en-US" altLang="ko-KR" sz="700" b="0" i="0" u="none" strike="noStrike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유효성 평가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039097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467108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차 검증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 개선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중간보고</a:t>
                      </a:r>
                      <a:endParaRPr lang="en-US" altLang="ko-KR" sz="700" b="0" i="0" u="none" strike="noStrike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상반기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659330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시제품 제작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시작품</a:t>
                      </a:r>
                      <a:endParaRPr lang="en-US" altLang="ko-KR" sz="700" b="0" i="0" u="none" strike="noStrike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기능 검증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538416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78623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신뢰성 검증</a:t>
                      </a:r>
                      <a:endParaRPr lang="en-US" altLang="ko-KR" sz="700" b="0" i="0" u="none" strike="noStrike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기계적 시험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237886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8470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신뢰성 검증</a:t>
                      </a:r>
                      <a:endParaRPr lang="en-US" altLang="ko-KR" sz="700" b="0" i="0" u="none" strike="noStrike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환경 시험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479085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536106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완료 보고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5" name="이등변 삼각형 4"/>
          <p:cNvSpPr/>
          <p:nvPr/>
        </p:nvSpPr>
        <p:spPr>
          <a:xfrm>
            <a:off x="2132354" y="1761190"/>
            <a:ext cx="72008" cy="6207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59275" y="1837097"/>
            <a:ext cx="4320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b="1" dirty="0" smtClean="0">
                <a:solidFill>
                  <a:srgbClr val="FF0000"/>
                </a:solidFill>
              </a:rPr>
              <a:t>현재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27435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초격차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로드맵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928344"/>
              </p:ext>
            </p:extLst>
          </p:nvPr>
        </p:nvGraphicFramePr>
        <p:xfrm>
          <a:off x="60435" y="1844824"/>
          <a:ext cx="8999999" cy="4842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9999">
                  <a:extLst>
                    <a:ext uri="{9D8B030D-6E8A-4147-A177-3AD203B41FA5}">
                      <a16:colId xmlns:a16="http://schemas.microsoft.com/office/drawing/2014/main" val="4048630161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358197978"/>
                    </a:ext>
                  </a:extLst>
                </a:gridCol>
              </a:tblGrid>
              <a:tr h="2704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dirty="0" smtClean="0">
                          <a:ea typeface="현대하모니 B" panose="02020603020101020101"/>
                        </a:rPr>
                        <a:t>기술 </a:t>
                      </a:r>
                      <a:r>
                        <a:rPr lang="ko-KR" altLang="en-US" sz="1100" b="1" i="0" dirty="0" err="1" smtClean="0">
                          <a:ea typeface="현대하모니 B" panose="02020603020101020101"/>
                        </a:rPr>
                        <a:t>로드맵</a:t>
                      </a:r>
                      <a:endParaRPr lang="ko-KR" altLang="en-US" sz="1100" b="1" i="0" dirty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ea typeface="현대하모니 B" panose="02020603020101020101"/>
                        </a:rPr>
                        <a:t>안전 기능 확보 방안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500562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1.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 </a:t>
                      </a:r>
                      <a:r>
                        <a:rPr lang="en-US" altLang="ko-KR" sz="900" b="1" baseline="0" dirty="0" err="1" smtClean="0">
                          <a:ea typeface="현대하모니 B" panose="02020603020101020101"/>
                        </a:rPr>
                        <a:t>Shath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 </a:t>
                      </a:r>
                      <a:r>
                        <a:rPr lang="en-US" altLang="ko-KR" sz="900" b="1" baseline="0" dirty="0" err="1" smtClean="0">
                          <a:ea typeface="현대하모니 B" panose="02020603020101020101"/>
                        </a:rPr>
                        <a:t>Heaer</a:t>
                      </a:r>
                      <a:r>
                        <a:rPr lang="ko-KR" altLang="en-US" sz="900" b="1" dirty="0" smtClean="0">
                          <a:ea typeface="현대하모니 B" panose="02020603020101020101"/>
                        </a:rPr>
                        <a:t> 제품 기능</a:t>
                      </a: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 -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 </a:t>
                      </a:r>
                      <a:r>
                        <a:rPr lang="ko-KR" altLang="en-US" sz="900" b="1" baseline="0" dirty="0" smtClean="0">
                          <a:ea typeface="현대하모니 B" panose="02020603020101020101"/>
                        </a:rPr>
                        <a:t>니크롬선 발열체 사용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, </a:t>
                      </a:r>
                      <a:r>
                        <a:rPr lang="ko-KR" altLang="en-US" sz="900" b="1" baseline="0" dirty="0" smtClean="0">
                          <a:ea typeface="현대하모니 B" panose="02020603020101020101"/>
                        </a:rPr>
                        <a:t>절연체 마그네슘 사용으로 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COD </a:t>
                      </a:r>
                      <a:r>
                        <a:rPr lang="ko-KR" altLang="en-US" sz="900" b="1" baseline="0" dirty="0" smtClean="0">
                          <a:ea typeface="현대하모니 B" panose="02020603020101020101"/>
                        </a:rPr>
                        <a:t>적용 </a:t>
                      </a:r>
                      <a:r>
                        <a:rPr lang="ko-KR" altLang="en-US" sz="900" b="1" baseline="0" dirty="0" err="1" smtClean="0">
                          <a:ea typeface="현대하모니 B" panose="02020603020101020101"/>
                        </a:rPr>
                        <a:t>양산중</a:t>
                      </a:r>
                      <a:endParaRPr lang="en-US" altLang="ko-KR" sz="900" b="1" baseline="0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2. </a:t>
                      </a:r>
                      <a:r>
                        <a:rPr lang="ko-KR" altLang="en-US" sz="900" b="1" dirty="0" smtClean="0">
                          <a:ea typeface="현대하모니 B" panose="02020603020101020101"/>
                        </a:rPr>
                        <a:t>개발 검토 </a:t>
                      </a: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TYPE</a:t>
                      </a:r>
                      <a:r>
                        <a:rPr lang="ko-KR" altLang="en-US" sz="900" b="1" dirty="0" smtClean="0">
                          <a:ea typeface="현대하모니 B" panose="02020603020101020101"/>
                        </a:rPr>
                        <a:t>별 </a:t>
                      </a: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ROD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 </a:t>
                      </a: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1.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 </a:t>
                      </a:r>
                      <a:r>
                        <a:rPr lang="ko-KR" altLang="en-US" sz="900" b="1" baseline="0" dirty="0" smtClean="0">
                          <a:ea typeface="현대하모니 B" panose="02020603020101020101"/>
                        </a:rPr>
                        <a:t>열화 방지 보호 기능 부품</a:t>
                      </a: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2.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 </a:t>
                      </a:r>
                      <a:r>
                        <a:rPr lang="ko-KR" altLang="en-US" sz="900" b="1" baseline="0" dirty="0" smtClean="0">
                          <a:ea typeface="현대하모니 B" panose="02020603020101020101"/>
                        </a:rPr>
                        <a:t>열화 방지 </a:t>
                      </a:r>
                      <a:r>
                        <a:rPr lang="ko-KR" altLang="en-US" sz="900" b="1" dirty="0" smtClean="0">
                          <a:ea typeface="현대하모니 B" panose="02020603020101020101"/>
                        </a:rPr>
                        <a:t>적용 </a:t>
                      </a: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Concept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743881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315186"/>
              </p:ext>
            </p:extLst>
          </p:nvPr>
        </p:nvGraphicFramePr>
        <p:xfrm>
          <a:off x="60435" y="565306"/>
          <a:ext cx="9000000" cy="119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1165">
                  <a:extLst>
                    <a:ext uri="{9D8B030D-6E8A-4147-A177-3AD203B41FA5}">
                      <a16:colId xmlns:a16="http://schemas.microsoft.com/office/drawing/2014/main" val="1690147088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35020852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38861941"/>
                    </a:ext>
                  </a:extLst>
                </a:gridCol>
                <a:gridCol w="3012491">
                  <a:extLst>
                    <a:ext uri="{9D8B030D-6E8A-4147-A177-3AD203B41FA5}">
                      <a16:colId xmlns:a16="http://schemas.microsoft.com/office/drawing/2014/main" val="2869045654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939771692"/>
                    </a:ext>
                  </a:extLst>
                </a:gridCol>
              </a:tblGrid>
              <a:tr h="324000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B" panose="02020603020101020101"/>
                          <a:cs typeface="+mn-cs"/>
                        </a:rPr>
                        <a:t>EV AIR Sheath Heater</a:t>
                      </a:r>
                      <a:r>
                        <a:rPr lang="ko-KR" altLang="en-US" sz="16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B" panose="02020603020101020101"/>
                          <a:cs typeface="+mn-cs"/>
                        </a:rPr>
                        <a:t> </a:t>
                      </a:r>
                      <a:r>
                        <a:rPr lang="ko-KR" altLang="en-US" sz="1600" b="1" baseline="0" dirty="0" smtClean="0">
                          <a:ea typeface="현대하모니 B" panose="02020603020101020101"/>
                        </a:rPr>
                        <a:t>검토</a:t>
                      </a:r>
                      <a:endParaRPr lang="ko-KR" altLang="en-US" sz="1600" b="1" dirty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ea typeface="현대하모니 B" panose="02020603020101020101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ea typeface="현대하모니 B" panose="02020603020101020101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 smtClean="0">
                          <a:ea typeface="현대하모니 B" panose="02020603020101020101"/>
                        </a:rPr>
                        <a:t>&lt; </a:t>
                      </a:r>
                      <a:r>
                        <a:rPr lang="ko-KR" altLang="en-US" sz="800" b="1" dirty="0" smtClean="0">
                          <a:ea typeface="현대하모니 B" panose="02020603020101020101"/>
                        </a:rPr>
                        <a:t>제품 형상 </a:t>
                      </a:r>
                      <a:r>
                        <a:rPr lang="en-US" altLang="ko-KR" sz="800" b="1" dirty="0" smtClean="0">
                          <a:ea typeface="현대하모니 B" panose="02020603020101020101"/>
                        </a:rPr>
                        <a:t>&gt;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53824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품      명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EV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AIR Sheath Heater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      능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PTC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aseline="0" dirty="0" smtClean="0">
                          <a:latin typeface="+mn-ea"/>
                          <a:ea typeface="+mn-ea"/>
                        </a:rPr>
                        <a:t>소자 대체 열원인 니크롬선 적용하여 발열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ea typeface="현대하모니 B" panose="0202060302010102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9177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차      종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MVa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FRONT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요구 성능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6.3kW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ea typeface="현대하모니 B" panose="02020603020101020101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83574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동작 조건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800Vdc / 0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℃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 300kgh</a:t>
                      </a:r>
                      <a:endParaRPr lang="ko-KR" altLang="en-US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 환경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-40~85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℃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 smtClean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60133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284" y="625926"/>
            <a:ext cx="613539" cy="89994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407307"/>
            <a:ext cx="2719388" cy="138750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645" y="2517661"/>
            <a:ext cx="1119133" cy="1147762"/>
          </a:xfrm>
          <a:prstGeom prst="rect">
            <a:avLst/>
          </a:prstGeom>
        </p:spPr>
      </p:pic>
      <p:pic>
        <p:nvPicPr>
          <p:cNvPr id="20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3195" y="763820"/>
            <a:ext cx="736782" cy="703190"/>
          </a:xfrm>
          <a:prstGeom prst="rect">
            <a:avLst/>
          </a:prstGeom>
          <a:ln w="19050">
            <a:solidFill>
              <a:srgbClr val="FF3300"/>
            </a:solidFill>
            <a:prstDash val="sysDash"/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156648"/>
              </p:ext>
            </p:extLst>
          </p:nvPr>
        </p:nvGraphicFramePr>
        <p:xfrm>
          <a:off x="161925" y="4460680"/>
          <a:ext cx="4322900" cy="206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614494778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13240729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893588978"/>
                    </a:ext>
                  </a:extLst>
                </a:gridCol>
              </a:tblGrid>
              <a:tr h="122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/>
                        <a:t>TYPE-1</a:t>
                      </a:r>
                      <a:endParaRPr lang="ko-KR" altLang="en-US" sz="9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/>
                        <a:t>TYPE-2</a:t>
                      </a:r>
                      <a:endParaRPr lang="ko-KR" altLang="en-US" sz="900" b="1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/>
                        <a:t>TYPE-3</a:t>
                      </a:r>
                      <a:endParaRPr lang="ko-KR" altLang="en-US" sz="900" b="1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755664"/>
                  </a:ext>
                </a:extLst>
              </a:tr>
              <a:tr h="133200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42953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Al</a:t>
                      </a:r>
                      <a:r>
                        <a:rPr lang="en-US" altLang="ko-KR" sz="800" baseline="0" dirty="0" smtClean="0"/>
                        <a:t> TUBU </a:t>
                      </a:r>
                      <a:r>
                        <a:rPr lang="ko-KR" altLang="en-US" sz="800" baseline="0" dirty="0" smtClean="0"/>
                        <a:t>동일 컨셉으로</a:t>
                      </a:r>
                      <a:endParaRPr lang="en-US" altLang="ko-KR" sz="800" baseline="0" dirty="0" smtClean="0"/>
                    </a:p>
                    <a:p>
                      <a:pPr algn="ctr" latinLnBrk="1"/>
                      <a:r>
                        <a:rPr lang="ko-KR" altLang="en-US" sz="800" baseline="0" dirty="0" smtClean="0"/>
                        <a:t>발열체 변경</a:t>
                      </a:r>
                      <a:r>
                        <a:rPr lang="en-US" altLang="ko-KR" sz="800" baseline="0" dirty="0" smtClean="0"/>
                        <a:t>, FIN </a:t>
                      </a:r>
                      <a:r>
                        <a:rPr lang="ko-KR" altLang="en-US" sz="800" baseline="0" dirty="0" smtClean="0"/>
                        <a:t>부착 </a:t>
                      </a:r>
                      <a:r>
                        <a:rPr lang="ko-KR" altLang="en-US" sz="800" baseline="0" dirty="0" err="1" smtClean="0"/>
                        <a:t>방식동일</a:t>
                      </a:r>
                      <a:r>
                        <a:rPr lang="ko-KR" altLang="en-US" sz="800" baseline="0" dirty="0" smtClean="0"/>
                        <a:t> 조건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PIPE</a:t>
                      </a:r>
                      <a:r>
                        <a:rPr lang="en-US" altLang="ko-KR" sz="800" baseline="0" dirty="0" smtClean="0"/>
                        <a:t> TYPE </a:t>
                      </a:r>
                      <a:r>
                        <a:rPr lang="ko-KR" altLang="en-US" sz="800" baseline="0" dirty="0" smtClean="0"/>
                        <a:t>컨셉</a:t>
                      </a:r>
                      <a:r>
                        <a:rPr lang="en-US" altLang="ko-KR" sz="800" baseline="0" dirty="0" smtClean="0"/>
                        <a:t>. FIN </a:t>
                      </a:r>
                      <a:r>
                        <a:rPr lang="ko-KR" altLang="en-US" sz="800" baseline="0" dirty="0" err="1" smtClean="0"/>
                        <a:t>분할형브레이징</a:t>
                      </a:r>
                      <a:r>
                        <a:rPr lang="ko-KR" altLang="en-US" sz="800" baseline="0" dirty="0" smtClean="0"/>
                        <a:t> 방식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/>
                        <a:t>PIPE</a:t>
                      </a:r>
                      <a:r>
                        <a:rPr lang="en-US" altLang="ko-KR" sz="800" baseline="0" dirty="0" smtClean="0"/>
                        <a:t> TYPE </a:t>
                      </a:r>
                      <a:r>
                        <a:rPr lang="ko-KR" altLang="en-US" sz="800" baseline="0" dirty="0" smtClean="0"/>
                        <a:t>컨셉</a:t>
                      </a:r>
                      <a:r>
                        <a:rPr lang="en-US" altLang="ko-KR" sz="800" baseline="0" dirty="0" smtClean="0"/>
                        <a:t>. SPIRAL FIN </a:t>
                      </a:r>
                      <a:r>
                        <a:rPr lang="ko-KR" altLang="en-US" sz="800" baseline="0" dirty="0" smtClean="0"/>
                        <a:t>일체형 방식</a:t>
                      </a:r>
                      <a:endParaRPr lang="en-US" altLang="ko-KR" sz="800" baseline="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 smtClean="0"/>
                        <a:t>(</a:t>
                      </a:r>
                      <a:r>
                        <a:rPr lang="ko-KR" altLang="en-US" sz="800" baseline="0" dirty="0" smtClean="0"/>
                        <a:t>온풍기 대중화 </a:t>
                      </a:r>
                      <a:r>
                        <a:rPr lang="ko-KR" altLang="en-US" sz="800" baseline="0" dirty="0" err="1" smtClean="0"/>
                        <a:t>적용품</a:t>
                      </a:r>
                      <a:r>
                        <a:rPr lang="en-US" altLang="ko-KR" sz="800" baseline="0" dirty="0" smtClean="0"/>
                        <a:t>) </a:t>
                      </a:r>
                      <a:endParaRPr lang="ko-KR" altLang="en-US" sz="800" dirty="0" smtClean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431584"/>
                  </a:ext>
                </a:extLst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594046">
            <a:off x="350485" y="5042480"/>
            <a:ext cx="1069242" cy="69630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5213838">
            <a:off x="1752035" y="5113674"/>
            <a:ext cx="1060349" cy="55781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3250353" y="5145932"/>
            <a:ext cx="1062037" cy="352323"/>
          </a:xfrm>
          <a:prstGeom prst="rect">
            <a:avLst/>
          </a:prstGeom>
        </p:spPr>
      </p:pic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045528"/>
              </p:ext>
            </p:extLst>
          </p:nvPr>
        </p:nvGraphicFramePr>
        <p:xfrm>
          <a:off x="4667250" y="2384230"/>
          <a:ext cx="4322900" cy="1920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614494778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13240729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893588978"/>
                    </a:ext>
                  </a:extLst>
                </a:gridCol>
              </a:tblGrid>
              <a:tr h="1224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바이 메탈</a:t>
                      </a:r>
                      <a:endParaRPr lang="ko-KR" altLang="en-US" sz="9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smtClean="0"/>
                        <a:t>온도 퓨즈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/>
                        <a:t>PTC</a:t>
                      </a:r>
                      <a:endParaRPr lang="ko-KR" altLang="en-US" sz="900" b="1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755664"/>
                  </a:ext>
                </a:extLst>
              </a:tr>
              <a:tr h="133200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4295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/>
                        <a:t>열팽장</a:t>
                      </a:r>
                      <a:r>
                        <a:rPr lang="ko-KR" altLang="en-US" sz="800" dirty="0" smtClean="0"/>
                        <a:t> </a:t>
                      </a:r>
                      <a:r>
                        <a:rPr lang="ko-KR" altLang="en-US" sz="800" dirty="0" err="1" smtClean="0"/>
                        <a:t>계수차</a:t>
                      </a:r>
                      <a:r>
                        <a:rPr lang="ko-KR" altLang="en-US" sz="800" dirty="0" smtClean="0"/>
                        <a:t> 철판으로</a:t>
                      </a:r>
                      <a:endParaRPr lang="en-US" altLang="ko-KR" sz="800" dirty="0" smtClean="0"/>
                    </a:p>
                    <a:p>
                      <a:pPr latinLnBrk="1"/>
                      <a:r>
                        <a:rPr lang="ko-KR" altLang="en-US" sz="800" dirty="0" smtClean="0"/>
                        <a:t>온도 변화 감지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온도 변화에 따른 내부 </a:t>
                      </a:r>
                      <a:r>
                        <a:rPr lang="en-US" altLang="ko-KR" sz="800" dirty="0" smtClean="0"/>
                        <a:t>Coil</a:t>
                      </a:r>
                      <a:r>
                        <a:rPr lang="en-US" altLang="ko-KR" sz="800" baseline="0" dirty="0" smtClean="0"/>
                        <a:t> </a:t>
                      </a:r>
                      <a:r>
                        <a:rPr lang="ko-KR" altLang="en-US" sz="800" baseline="0" dirty="0" smtClean="0"/>
                        <a:t>단선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온도에 따른 저항 변화로 </a:t>
                      </a:r>
                      <a:endParaRPr lang="en-US" altLang="ko-KR" sz="800" dirty="0" smtClean="0"/>
                    </a:p>
                    <a:p>
                      <a:pPr latinLnBrk="1"/>
                      <a:r>
                        <a:rPr lang="ko-KR" altLang="en-US" sz="800" dirty="0" smtClean="0"/>
                        <a:t>안전 기능 확보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153084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8700" y="2819400"/>
            <a:ext cx="1042542" cy="84931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3338" y="2844800"/>
            <a:ext cx="1027264" cy="80645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88275" y="2826491"/>
            <a:ext cx="987425" cy="910483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2650" y="4869160"/>
            <a:ext cx="1298920" cy="1020300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4901943" y="5438600"/>
            <a:ext cx="423949" cy="4858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77005" y="5567132"/>
            <a:ext cx="388159" cy="357913"/>
          </a:xfrm>
          <a:prstGeom prst="rect">
            <a:avLst/>
          </a:prstGeom>
        </p:spPr>
      </p:pic>
      <p:cxnSp>
        <p:nvCxnSpPr>
          <p:cNvPr id="23" name="직선 화살표 연결선 22"/>
          <p:cNvCxnSpPr/>
          <p:nvPr/>
        </p:nvCxnSpPr>
        <p:spPr bwMode="auto">
          <a:xfrm flipH="1" flipV="1">
            <a:off x="5059885" y="5816350"/>
            <a:ext cx="191193" cy="45719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4807457" y="6297672"/>
            <a:ext cx="10801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 smtClean="0">
                <a:solidFill>
                  <a:srgbClr val="FF0000"/>
                </a:solidFill>
              </a:rPr>
              <a:t>보호 부품 </a:t>
            </a:r>
            <a:r>
              <a:rPr lang="ko-KR" altLang="en-US" sz="800" b="1" dirty="0" err="1" smtClean="0">
                <a:solidFill>
                  <a:srgbClr val="FF0000"/>
                </a:solidFill>
              </a:rPr>
              <a:t>적용부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7" name="직선 화살표 연결선 26"/>
          <p:cNvCxnSpPr/>
          <p:nvPr/>
        </p:nvCxnSpPr>
        <p:spPr bwMode="auto">
          <a:xfrm>
            <a:off x="5043260" y="5217833"/>
            <a:ext cx="174567" cy="18288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4716016" y="4967635"/>
            <a:ext cx="6846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 smtClean="0"/>
              <a:t>단자 </a:t>
            </a:r>
            <a:r>
              <a:rPr lang="en-US" altLang="ko-KR" sz="800" b="1" dirty="0" smtClean="0"/>
              <a:t>(+)</a:t>
            </a:r>
            <a:endParaRPr lang="ko-KR" altLang="en-US" sz="8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5804984" y="6015038"/>
            <a:ext cx="6846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 smtClean="0"/>
              <a:t>단자 </a:t>
            </a:r>
            <a:r>
              <a:rPr lang="en-US" altLang="ko-KR" sz="800" b="1" dirty="0" smtClean="0"/>
              <a:t>(-)</a:t>
            </a:r>
            <a:endParaRPr lang="ko-KR" altLang="en-US" sz="800" b="1" dirty="0"/>
          </a:p>
        </p:txBody>
      </p:sp>
      <p:cxnSp>
        <p:nvCxnSpPr>
          <p:cNvPr id="35" name="직선 화살표 연결선 34"/>
          <p:cNvCxnSpPr/>
          <p:nvPr/>
        </p:nvCxnSpPr>
        <p:spPr bwMode="auto">
          <a:xfrm flipH="1" flipV="1">
            <a:off x="5965973" y="5882851"/>
            <a:ext cx="91440" cy="116378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6704387" y="4630589"/>
            <a:ext cx="2186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 smtClean="0">
                <a:solidFill>
                  <a:srgbClr val="0000FF"/>
                </a:solidFill>
              </a:rPr>
              <a:t>▶</a:t>
            </a:r>
            <a:r>
              <a:rPr lang="en-US" altLang="ko-KR" sz="800" b="1" dirty="0" smtClean="0">
                <a:solidFill>
                  <a:srgbClr val="0000FF"/>
                </a:solidFill>
              </a:rPr>
              <a:t> </a:t>
            </a:r>
            <a:r>
              <a:rPr lang="ko-KR" altLang="en-US" sz="800" b="1" dirty="0" smtClean="0">
                <a:solidFill>
                  <a:srgbClr val="0000FF"/>
                </a:solidFill>
              </a:rPr>
              <a:t>기능 설명</a:t>
            </a:r>
            <a:endParaRPr lang="en-US" altLang="ko-KR" sz="800" b="1" dirty="0" smtClean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800" b="1" dirty="0"/>
              <a:t> </a:t>
            </a:r>
            <a:r>
              <a:rPr lang="en-US" altLang="ko-KR" sz="800" b="1" dirty="0" smtClean="0"/>
              <a:t> - </a:t>
            </a:r>
            <a:r>
              <a:rPr lang="ko-KR" altLang="en-US" sz="800" b="1" dirty="0" smtClean="0"/>
              <a:t>순간 발열에 따른 </a:t>
            </a:r>
            <a:r>
              <a:rPr lang="en-US" altLang="ko-KR" sz="800" b="1" dirty="0" smtClean="0"/>
              <a:t>PWM </a:t>
            </a:r>
            <a:r>
              <a:rPr lang="ko-KR" altLang="en-US" sz="800" b="1" dirty="0" smtClean="0"/>
              <a:t>전력 제어 후 </a:t>
            </a:r>
            <a:endParaRPr lang="en-US" altLang="ko-KR" sz="800" b="1" dirty="0" smtClean="0"/>
          </a:p>
          <a:p>
            <a:pPr>
              <a:lnSpc>
                <a:spcPct val="150000"/>
              </a:lnSpc>
            </a:pPr>
            <a:r>
              <a:rPr lang="en-US" altLang="ko-KR" sz="800" b="1" dirty="0"/>
              <a:t> </a:t>
            </a:r>
            <a:r>
              <a:rPr lang="en-US" altLang="ko-KR" sz="800" b="1" dirty="0" smtClean="0"/>
              <a:t>   </a:t>
            </a:r>
            <a:r>
              <a:rPr lang="ko-KR" altLang="en-US" sz="800" b="1" dirty="0" smtClean="0"/>
              <a:t>일정 온도 도달 시 </a:t>
            </a:r>
            <a:r>
              <a:rPr lang="en-US" altLang="ko-KR" sz="800" b="1" dirty="0" smtClean="0"/>
              <a:t>CUT OFF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 smtClean="0"/>
              <a:t>   ※ </a:t>
            </a:r>
            <a:r>
              <a:rPr lang="ko-KR" altLang="en-US" sz="800" b="1" dirty="0" smtClean="0"/>
              <a:t>현재 </a:t>
            </a:r>
            <a:r>
              <a:rPr lang="en-US" altLang="ko-KR" sz="800" b="1" dirty="0" smtClean="0"/>
              <a:t>PTC TEMP SENSOR 100</a:t>
            </a:r>
            <a:r>
              <a:rPr lang="ko-KR" altLang="en-US" sz="800" b="1" dirty="0" smtClean="0"/>
              <a:t>℃ </a:t>
            </a:r>
            <a:r>
              <a:rPr lang="en-US" altLang="ko-KR" sz="800" b="1" dirty="0" smtClean="0"/>
              <a:t>CUT </a:t>
            </a:r>
            <a:endParaRPr lang="ko-KR" altLang="en-US" sz="8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6704387" y="5486799"/>
            <a:ext cx="21860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smtClean="0">
                <a:solidFill>
                  <a:srgbClr val="0000FF"/>
                </a:solidFill>
              </a:rPr>
              <a:t>▶</a:t>
            </a:r>
            <a:r>
              <a:rPr lang="en-US" altLang="ko-KR" sz="800" b="1" dirty="0" smtClean="0">
                <a:solidFill>
                  <a:srgbClr val="0000FF"/>
                </a:solidFill>
              </a:rPr>
              <a:t> </a:t>
            </a:r>
            <a:r>
              <a:rPr lang="ko-KR" altLang="en-US" sz="800" b="1" dirty="0" smtClean="0">
                <a:solidFill>
                  <a:srgbClr val="0000FF"/>
                </a:solidFill>
              </a:rPr>
              <a:t>전력 제어 방식</a:t>
            </a:r>
            <a:r>
              <a:rPr lang="en-US" altLang="ko-KR" sz="800" b="1" dirty="0">
                <a:solidFill>
                  <a:srgbClr val="0000FF"/>
                </a:solidFill>
              </a:rPr>
              <a:t> </a:t>
            </a:r>
            <a:r>
              <a:rPr lang="en-US" altLang="ko-KR" sz="800" b="1" dirty="0" smtClean="0">
                <a:solidFill>
                  <a:srgbClr val="0000FF"/>
                </a:solidFill>
              </a:rPr>
              <a:t>(IGBT PWM </a:t>
            </a:r>
            <a:r>
              <a:rPr lang="ko-KR" altLang="en-US" sz="800" b="1" dirty="0" smtClean="0">
                <a:solidFill>
                  <a:srgbClr val="0000FF"/>
                </a:solidFill>
              </a:rPr>
              <a:t>제어</a:t>
            </a:r>
            <a:r>
              <a:rPr lang="en-US" altLang="ko-KR" sz="800" b="1" dirty="0" smtClean="0">
                <a:solidFill>
                  <a:srgbClr val="0000FF"/>
                </a:solidFill>
              </a:rPr>
              <a:t>)</a:t>
            </a:r>
          </a:p>
          <a:p>
            <a:endParaRPr lang="en-US" altLang="ko-KR" sz="800" b="1" dirty="0">
              <a:solidFill>
                <a:srgbClr val="0000FF"/>
              </a:solidFill>
            </a:endParaRPr>
          </a:p>
          <a:p>
            <a:endParaRPr lang="en-US" altLang="ko-KR" sz="800" b="1" dirty="0" smtClean="0">
              <a:solidFill>
                <a:srgbClr val="0000FF"/>
              </a:solidFill>
            </a:endParaRPr>
          </a:p>
          <a:p>
            <a:endParaRPr lang="en-US" altLang="ko-KR" sz="800" b="1" dirty="0">
              <a:solidFill>
                <a:srgbClr val="0000FF"/>
              </a:solidFill>
            </a:endParaRPr>
          </a:p>
          <a:p>
            <a:endParaRPr lang="en-US" altLang="ko-KR" sz="800" b="1" dirty="0" smtClean="0">
              <a:solidFill>
                <a:srgbClr val="0000FF"/>
              </a:solidFill>
            </a:endParaRPr>
          </a:p>
          <a:p>
            <a:endParaRPr lang="en-US" altLang="ko-KR" sz="800" b="1" dirty="0">
              <a:solidFill>
                <a:srgbClr val="0000FF"/>
              </a:solidFill>
            </a:endParaRPr>
          </a:p>
          <a:p>
            <a:endParaRPr lang="en-US" altLang="ko-KR" sz="800" b="1" dirty="0" smtClean="0">
              <a:solidFill>
                <a:srgbClr val="0000FF"/>
              </a:solidFill>
            </a:endParaRPr>
          </a:p>
          <a:p>
            <a:r>
              <a:rPr lang="en-US" altLang="ko-KR" sz="800" dirty="0"/>
              <a:t> </a:t>
            </a:r>
            <a:r>
              <a:rPr lang="en-US" altLang="ko-KR" sz="800" dirty="0" smtClean="0"/>
              <a:t>※  </a:t>
            </a:r>
            <a:r>
              <a:rPr lang="ko-KR" altLang="en-US" sz="800" dirty="0" err="1" smtClean="0"/>
              <a:t>주기별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ON/OFF </a:t>
            </a:r>
            <a:r>
              <a:rPr lang="ko-KR" altLang="en-US" sz="800" dirty="0" smtClean="0"/>
              <a:t>제어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시간비</a:t>
            </a:r>
            <a:r>
              <a:rPr lang="ko-KR" altLang="en-US" sz="800" dirty="0" smtClean="0"/>
              <a:t> 변동</a:t>
            </a:r>
            <a:r>
              <a:rPr lang="en-US" altLang="ko-KR" sz="800" dirty="0" smtClean="0"/>
              <a:t>)</a:t>
            </a:r>
            <a:endParaRPr lang="en-US" altLang="ko-KR" sz="800" dirty="0"/>
          </a:p>
          <a:p>
            <a:endParaRPr lang="ko-KR" altLang="en-US" sz="800" b="1" dirty="0"/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17401" y="5760720"/>
            <a:ext cx="1648406" cy="53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63799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초격차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로드맵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924778"/>
              </p:ext>
            </p:extLst>
          </p:nvPr>
        </p:nvGraphicFramePr>
        <p:xfrm>
          <a:off x="68748" y="2272884"/>
          <a:ext cx="8999998" cy="45563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6828">
                  <a:extLst>
                    <a:ext uri="{9D8B030D-6E8A-4147-A177-3AD203B41FA5}">
                      <a16:colId xmlns:a16="http://schemas.microsoft.com/office/drawing/2014/main" val="3081778925"/>
                    </a:ext>
                  </a:extLst>
                </a:gridCol>
                <a:gridCol w="4156585">
                  <a:extLst>
                    <a:ext uri="{9D8B030D-6E8A-4147-A177-3AD203B41FA5}">
                      <a16:colId xmlns:a16="http://schemas.microsoft.com/office/drawing/2014/main" val="4048630161"/>
                    </a:ext>
                  </a:extLst>
                </a:gridCol>
                <a:gridCol w="4156585">
                  <a:extLst>
                    <a:ext uri="{9D8B030D-6E8A-4147-A177-3AD203B41FA5}">
                      <a16:colId xmlns:a16="http://schemas.microsoft.com/office/drawing/2014/main" val="358197978"/>
                    </a:ext>
                  </a:extLst>
                </a:gridCol>
              </a:tblGrid>
              <a:tr h="2417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dirty="0" smtClean="0">
                          <a:ea typeface="현대하모니 B" panose="02020603020101020101"/>
                        </a:rPr>
                        <a:t>구분</a:t>
                      </a:r>
                      <a:endParaRPr lang="ko-KR" altLang="en-US" sz="1100" b="1" i="0" dirty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baseline="0" dirty="0" smtClean="0">
                          <a:ea typeface="현대하모니 B" panose="02020603020101020101"/>
                        </a:rPr>
                        <a:t>PTC ROD ASS’Y (GEN-IV)</a:t>
                      </a:r>
                      <a:endParaRPr lang="ko-KR" altLang="en-US" sz="1100" b="1" i="0" dirty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rgbClr val="0000FF"/>
                          </a:solidFill>
                          <a:ea typeface="현대하모니 B" panose="02020603020101020101"/>
                        </a:rPr>
                        <a:t>SHEATH</a:t>
                      </a:r>
                      <a:r>
                        <a:rPr lang="en-US" altLang="ko-KR" sz="1100" b="1" baseline="0" dirty="0" smtClean="0">
                          <a:solidFill>
                            <a:srgbClr val="0000FF"/>
                          </a:solidFill>
                          <a:ea typeface="현대하모니 B" panose="02020603020101020101"/>
                        </a:rPr>
                        <a:t> ROD ASS’Y (GEN-V) / CONCEPT</a:t>
                      </a:r>
                      <a:endParaRPr lang="ko-KR" altLang="en-US" sz="1100" b="1" dirty="0">
                        <a:solidFill>
                          <a:srgbClr val="0000FF"/>
                        </a:solidFill>
                        <a:ea typeface="현대하모니 B" panose="02020603020101020101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500562"/>
                  </a:ext>
                </a:extLst>
              </a:tr>
              <a:tr h="2481212"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dirty="0" smtClean="0">
                          <a:latin typeface="+mj-lt"/>
                          <a:ea typeface="현대하모니 B" panose="02020603020101020101"/>
                        </a:rPr>
                        <a:t>ROD</a:t>
                      </a: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1" dirty="0" smtClean="0">
                          <a:latin typeface="+mj-lt"/>
                          <a:ea typeface="현대하모니 B" panose="02020603020101020101"/>
                        </a:rPr>
                        <a:t>구성</a:t>
                      </a:r>
                      <a:endParaRPr lang="en-US" altLang="ko-KR" sz="900" b="1" dirty="0" smtClean="0">
                        <a:latin typeface="+mj-lt"/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</a:txBody>
                  <a:tcPr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743881"/>
                  </a:ext>
                </a:extLst>
              </a:tr>
              <a:tr h="588000"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1" dirty="0" smtClean="0">
                          <a:latin typeface="+mj-lt"/>
                          <a:ea typeface="현대하모니 B" panose="02020603020101020101"/>
                        </a:rPr>
                        <a:t>설 명</a:t>
                      </a:r>
                      <a:endParaRPr lang="en-US" altLang="ko-KR" sz="900" b="1" dirty="0" smtClean="0">
                        <a:latin typeface="+mj-lt"/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티탄산바륨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($BaTiO_3$)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계열의 세라믹 반도체 소자를 활용</a:t>
                      </a:r>
                      <a:endParaRPr lang="en-US" altLang="ko-KR" sz="9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특정 온도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큐리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지점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 도달하면 저항이 기하급수적으로 증가하여 전류를 스스로 제한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(</a:t>
                      </a:r>
                      <a:r>
                        <a:rPr lang="ko-KR" altLang="en-US" sz="9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가변저항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900" dirty="0" smtClean="0"/>
                        <a:t>-</a:t>
                      </a:r>
                      <a:r>
                        <a:rPr lang="ko-KR" altLang="en-US" sz="900" dirty="0" smtClean="0"/>
                        <a:t>금속 관</a:t>
                      </a:r>
                      <a:r>
                        <a:rPr lang="en-US" altLang="ko-KR" sz="900" dirty="0" smtClean="0"/>
                        <a:t>(Sheath)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내부에 </a:t>
                      </a:r>
                      <a:r>
                        <a:rPr lang="ko-KR" altLang="en-US" sz="9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니크롬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열선을 넣고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산화마그네슘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($</a:t>
                      </a:r>
                      <a:r>
                        <a:rPr lang="en-US" altLang="ko-KR" sz="9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MgO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$)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분말로 절연한 전통적인 저항 가열 방식</a:t>
                      </a:r>
                      <a:endParaRPr lang="en-US" altLang="ko-KR" sz="9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900" dirty="0" smtClean="0"/>
                        <a:t>- </a:t>
                      </a:r>
                      <a:r>
                        <a:rPr lang="ko-KR" altLang="en-US" sz="900" dirty="0" smtClean="0"/>
                        <a:t>인가된 전압에 따라 열선의 저항에 의해 열이 발생하며</a:t>
                      </a:r>
                      <a:r>
                        <a:rPr lang="en-US" altLang="ko-KR" sz="900" dirty="0" smtClean="0"/>
                        <a:t>, </a:t>
                      </a:r>
                      <a:r>
                        <a:rPr lang="ko-KR" altLang="en-US" sz="900" dirty="0" smtClean="0"/>
                        <a:t>외곽의 금속관을 통해 열을 전달</a:t>
                      </a:r>
                      <a:r>
                        <a:rPr lang="en-US" altLang="ko-KR" sz="900" dirty="0" smtClean="0"/>
                        <a:t>. (</a:t>
                      </a:r>
                      <a:r>
                        <a:rPr lang="ko-KR" altLang="en-US" sz="900" dirty="0" smtClean="0"/>
                        <a:t>고정 저항</a:t>
                      </a:r>
                      <a:r>
                        <a:rPr lang="en-US" altLang="ko-KR" sz="900" dirty="0" smtClean="0"/>
                        <a:t>)</a:t>
                      </a: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</a:txBody>
                  <a:tcPr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609429"/>
                  </a:ext>
                </a:extLst>
              </a:tr>
              <a:tr h="588000"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1" dirty="0" smtClean="0">
                          <a:latin typeface="+mj-lt"/>
                          <a:ea typeface="현대하모니 B" panose="02020603020101020101"/>
                        </a:rPr>
                        <a:t>장 점</a:t>
                      </a:r>
                      <a:endParaRPr lang="en-US" altLang="ko-KR" sz="900" b="1" dirty="0" smtClean="0">
                        <a:latin typeface="+mj-lt"/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- </a:t>
                      </a:r>
                      <a:r>
                        <a:rPr lang="ko-KR" altLang="en-US" sz="900" b="0" dirty="0" smtClean="0">
                          <a:ea typeface="현대하모니 B" panose="02020603020101020101"/>
                        </a:rPr>
                        <a:t>자가 온도 제어로 과열 보호로 안정성 확보</a:t>
                      </a:r>
                      <a:endParaRPr lang="en-US" altLang="ko-KR" sz="900" b="0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- CORE ZONE</a:t>
                      </a:r>
                      <a:r>
                        <a:rPr lang="en-US" altLang="ko-KR" sz="900" b="0" baseline="0" dirty="0" smtClean="0">
                          <a:ea typeface="현대하모니 B" panose="02020603020101020101"/>
                        </a:rPr>
                        <a:t> </a:t>
                      </a:r>
                      <a:r>
                        <a:rPr lang="ko-KR" altLang="en-US" sz="900" b="0" baseline="0" dirty="0" smtClean="0">
                          <a:ea typeface="현대하모니 B" panose="02020603020101020101"/>
                        </a:rPr>
                        <a:t>구성 배치에 용이함</a:t>
                      </a:r>
                      <a:endParaRPr lang="en-US" altLang="ko-KR" sz="900" b="0" baseline="0" dirty="0" smtClean="0">
                        <a:ea typeface="현대하모니 B" panose="02020603020101020101"/>
                      </a:endParaRPr>
                    </a:p>
                    <a:p>
                      <a:pPr marL="171450" indent="-171450" latinLnBrk="0">
                        <a:lnSpc>
                          <a:spcPct val="100000"/>
                        </a:lnSpc>
                        <a:buFontTx/>
                        <a:buChar char="-"/>
                      </a:pPr>
                      <a:endParaRPr lang="en-US" altLang="ko-KR" sz="900" b="0" dirty="0" smtClean="0">
                        <a:ea typeface="현대하모니 B" panose="02020603020101020101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- </a:t>
                      </a:r>
                      <a:r>
                        <a:rPr lang="ko-KR" altLang="en-US" sz="900" b="0" dirty="0" smtClean="0">
                          <a:ea typeface="현대하모니 B" panose="02020603020101020101"/>
                        </a:rPr>
                        <a:t>돌입 전류가 없어 안정적 전류 사용</a:t>
                      </a:r>
                      <a:endParaRPr lang="en-US" altLang="ko-KR" sz="900" b="0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- </a:t>
                      </a:r>
                      <a:r>
                        <a:rPr lang="ko-KR" altLang="en-US" sz="900" b="0" dirty="0" smtClean="0">
                          <a:ea typeface="현대하모니 B" panose="02020603020101020101"/>
                        </a:rPr>
                        <a:t>형상 가공에 용이함</a:t>
                      </a:r>
                      <a:endParaRPr lang="en-US" altLang="ko-KR" sz="900" b="0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- </a:t>
                      </a:r>
                      <a:r>
                        <a:rPr lang="ko-KR" altLang="en-US" sz="900" b="0" dirty="0" smtClean="0">
                          <a:ea typeface="현대하모니 B" panose="02020603020101020101"/>
                        </a:rPr>
                        <a:t>부품 간소화 가능</a:t>
                      </a:r>
                      <a:endParaRPr lang="en-US" altLang="ko-KR" sz="900" b="0" dirty="0" smtClean="0">
                        <a:ea typeface="현대하모니 B" panose="02020603020101020101"/>
                      </a:endParaRPr>
                    </a:p>
                  </a:txBody>
                  <a:tcPr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530297"/>
                  </a:ext>
                </a:extLst>
              </a:tr>
              <a:tr h="588000"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1" dirty="0" smtClean="0">
                          <a:latin typeface="+mj-lt"/>
                          <a:ea typeface="현대하모니 B" panose="02020603020101020101"/>
                        </a:rPr>
                        <a:t>단 점</a:t>
                      </a:r>
                      <a:endParaRPr lang="en-US" altLang="ko-KR" sz="900" b="1" dirty="0" smtClean="0">
                        <a:latin typeface="+mj-lt"/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- </a:t>
                      </a:r>
                      <a:r>
                        <a:rPr lang="ko-KR" altLang="en-US" sz="900" b="0" dirty="0" smtClean="0">
                          <a:ea typeface="현대하모니 B" panose="02020603020101020101"/>
                        </a:rPr>
                        <a:t>돌입 전류에 따른 초기 전류 불안정</a:t>
                      </a:r>
                      <a:endParaRPr lang="en-US" altLang="ko-KR" sz="900" b="0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- STONE </a:t>
                      </a:r>
                      <a:r>
                        <a:rPr lang="ko-KR" altLang="en-US" sz="900" b="0" dirty="0" smtClean="0">
                          <a:ea typeface="현대하모니 B" panose="02020603020101020101"/>
                        </a:rPr>
                        <a:t>별 배치에 따른 자유도 형성 어려움</a:t>
                      </a:r>
                      <a:endParaRPr lang="en-US" altLang="ko-KR" sz="900" b="0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- </a:t>
                      </a:r>
                      <a:r>
                        <a:rPr lang="ko-KR" altLang="en-US" sz="900" b="0" dirty="0" smtClean="0">
                          <a:ea typeface="현대하모니 B" panose="02020603020101020101"/>
                        </a:rPr>
                        <a:t>부품 간소화 불가능 </a:t>
                      </a:r>
                      <a:endParaRPr lang="en-US" altLang="ko-KR" sz="900" b="0" dirty="0" smtClean="0">
                        <a:ea typeface="현대하모니 B" panose="02020603020101020101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- </a:t>
                      </a:r>
                      <a:r>
                        <a:rPr lang="ko-KR" altLang="en-US" sz="900" b="0" dirty="0" smtClean="0">
                          <a:ea typeface="현대하모니 B" panose="02020603020101020101"/>
                        </a:rPr>
                        <a:t>열화에 의한 위험성 존재</a:t>
                      </a:r>
                      <a:endParaRPr lang="en-US" altLang="ko-KR" sz="900" b="0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- </a:t>
                      </a:r>
                      <a:r>
                        <a:rPr lang="ko-KR" altLang="en-US" sz="900" b="0" dirty="0" smtClean="0">
                          <a:ea typeface="현대하모니 B" panose="02020603020101020101"/>
                        </a:rPr>
                        <a:t>습기 </a:t>
                      </a:r>
                      <a:r>
                        <a:rPr lang="ko-KR" altLang="en-US" sz="900" b="0" dirty="0" err="1" smtClean="0">
                          <a:ea typeface="현대하모니 B" panose="02020603020101020101"/>
                        </a:rPr>
                        <a:t>유입시</a:t>
                      </a:r>
                      <a:r>
                        <a:rPr lang="ko-KR" altLang="en-US" sz="900" b="0" dirty="0" smtClean="0">
                          <a:ea typeface="현대하모니 B" panose="02020603020101020101"/>
                        </a:rPr>
                        <a:t> 절연에 취약 </a:t>
                      </a: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(</a:t>
                      </a:r>
                      <a:r>
                        <a:rPr lang="ko-KR" altLang="en-US" sz="900" b="0" dirty="0" smtClean="0">
                          <a:ea typeface="현대하모니 B" panose="02020603020101020101"/>
                        </a:rPr>
                        <a:t>절연체 마그네슘 </a:t>
                      </a:r>
                      <a:r>
                        <a:rPr lang="ko-KR" altLang="en-US" sz="900" b="0" dirty="0" err="1" smtClean="0">
                          <a:ea typeface="현대하모니 B" panose="02020603020101020101"/>
                        </a:rPr>
                        <a:t>흡습</a:t>
                      </a: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)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- </a:t>
                      </a:r>
                      <a:r>
                        <a:rPr lang="ko-KR" altLang="en-US" sz="900" b="0" dirty="0" smtClean="0">
                          <a:ea typeface="현대하모니 B" panose="02020603020101020101"/>
                        </a:rPr>
                        <a:t>열화에 따른 온도 안정 부품 적용 필요 </a:t>
                      </a: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(</a:t>
                      </a:r>
                      <a:r>
                        <a:rPr lang="ko-KR" altLang="en-US" sz="900" b="0" dirty="0" smtClean="0">
                          <a:ea typeface="현대하모니 B" panose="02020603020101020101"/>
                        </a:rPr>
                        <a:t>바이메탈</a:t>
                      </a: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, </a:t>
                      </a:r>
                      <a:r>
                        <a:rPr lang="ko-KR" altLang="en-US" sz="900" b="0" dirty="0" err="1" smtClean="0">
                          <a:ea typeface="현대하모니 B" panose="02020603020101020101"/>
                        </a:rPr>
                        <a:t>서미스터</a:t>
                      </a: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, </a:t>
                      </a:r>
                      <a:r>
                        <a:rPr lang="ko-KR" altLang="en-US" sz="900" b="0" dirty="0" err="1" smtClean="0">
                          <a:ea typeface="현대하모니 B" panose="02020603020101020101"/>
                        </a:rPr>
                        <a:t>온도퓨즈</a:t>
                      </a:r>
                      <a:r>
                        <a:rPr lang="en-US" altLang="ko-KR" sz="900" b="0" baseline="0" dirty="0" smtClean="0">
                          <a:ea typeface="현대하모니 B" panose="02020603020101020101"/>
                        </a:rPr>
                        <a:t> </a:t>
                      </a:r>
                      <a:r>
                        <a:rPr lang="ko-KR" altLang="en-US" sz="900" b="0" baseline="0" dirty="0" smtClean="0">
                          <a:ea typeface="현대하모니 B" panose="02020603020101020101"/>
                        </a:rPr>
                        <a:t>등</a:t>
                      </a:r>
                      <a:r>
                        <a:rPr lang="en-US" altLang="ko-KR" sz="900" b="0" baseline="0" dirty="0" smtClean="0">
                          <a:ea typeface="현대하모니 B" panose="02020603020101020101"/>
                        </a:rPr>
                        <a:t>)</a:t>
                      </a:r>
                      <a:endParaRPr lang="en-US" altLang="ko-KR" sz="900" b="0" dirty="0" smtClean="0">
                        <a:ea typeface="현대하모니 B" panose="02020603020101020101"/>
                      </a:endParaRPr>
                    </a:p>
                  </a:txBody>
                  <a:tcPr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605070"/>
                  </a:ext>
                </a:extLst>
              </a:tr>
            </a:tbl>
          </a:graphicData>
        </a:graphic>
      </p:graphicFrame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117585" y="576207"/>
            <a:ext cx="821799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▶ 당사 </a:t>
            </a:r>
            <a:r>
              <a:rPr lang="en-US" altLang="ko-KR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HEAT ROD </a:t>
            </a:r>
            <a:r>
              <a:rPr lang="ko-KR" altLang="en-US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개발 단계 </a:t>
            </a:r>
            <a:r>
              <a:rPr lang="en-US" altLang="ko-KR" sz="1400" b="1" dirty="0">
                <a:solidFill>
                  <a:srgbClr val="00B05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GEN-IV</a:t>
            </a:r>
            <a:r>
              <a:rPr lang="en-US" altLang="ko-KR" sz="1400" b="1" dirty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VS </a:t>
            </a:r>
            <a:r>
              <a:rPr lang="en-US" altLang="ko-KR" sz="1400" b="1" dirty="0">
                <a:solidFill>
                  <a:srgbClr val="0000FF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GEN-V </a:t>
            </a:r>
            <a:r>
              <a:rPr lang="ko-KR" altLang="en-US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비교</a:t>
            </a:r>
            <a:r>
              <a:rPr lang="en-US" altLang="ko-KR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</a:t>
            </a:r>
            <a:endParaRPr lang="en-US" altLang="ko-KR" sz="14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725" y="809625"/>
            <a:ext cx="292973" cy="1182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직사각형 97"/>
          <p:cNvSpPr>
            <a:spLocks noChangeArrowheads="1"/>
          </p:cNvSpPr>
          <p:nvPr/>
        </p:nvSpPr>
        <p:spPr bwMode="auto">
          <a:xfrm>
            <a:off x="849359" y="1465598"/>
            <a:ext cx="310575" cy="253511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lIns="84992" tIns="42497" rIns="84992" bIns="42497" anchor="ctr"/>
          <a:lstStyle/>
          <a:p>
            <a:pPr algn="ctr"/>
            <a:r>
              <a:rPr lang="en-US" altLang="ko-KR" sz="900" dirty="0">
                <a:solidFill>
                  <a:srgbClr val="FF0000"/>
                </a:solidFill>
                <a:cs typeface="Tahoma" pitchFamily="34" charset="0"/>
              </a:rPr>
              <a:t>“A”</a:t>
            </a:r>
            <a:endParaRPr lang="ko-KR" altLang="en-US" sz="900" dirty="0">
              <a:solidFill>
                <a:srgbClr val="FF0000"/>
              </a:solidFill>
              <a:cs typeface="Tahoma" pitchFamily="34" charset="0"/>
            </a:endParaRPr>
          </a:p>
        </p:txBody>
      </p: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704883"/>
              </p:ext>
            </p:extLst>
          </p:nvPr>
        </p:nvGraphicFramePr>
        <p:xfrm>
          <a:off x="1514885" y="1003531"/>
          <a:ext cx="7560000" cy="1202396"/>
        </p:xfrm>
        <a:graphic>
          <a:graphicData uri="http://schemas.openxmlformats.org/drawingml/2006/table">
            <a:tbl>
              <a:tblPr firstRow="1" bandRow="1"/>
              <a:tblGrid>
                <a:gridCol w="15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666594298"/>
                    </a:ext>
                  </a:extLst>
                </a:gridCol>
              </a:tblGrid>
              <a:tr h="14294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0" dirty="0">
                          <a:latin typeface="+mn-ea"/>
                          <a:ea typeface="+mn-ea"/>
                          <a:cs typeface="Tahoma" pitchFamily="34" charset="0"/>
                        </a:rPr>
                        <a:t>GEN-II</a:t>
                      </a:r>
                      <a:endParaRPr lang="ko-KR" altLang="en-US" sz="1000" b="0" dirty="0"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+mn-ea"/>
                          <a:ea typeface="+mn-ea"/>
                          <a:cs typeface="Tahoma" pitchFamily="34" charset="0"/>
                        </a:rPr>
                        <a:t>GEN-III</a:t>
                      </a:r>
                      <a:endParaRPr lang="ko-KR" altLang="en-US" sz="1000" b="0" dirty="0"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GEN-IV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rgbClr val="3366FF"/>
                        </a:solidFill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GEN-V</a:t>
                      </a:r>
                      <a:endParaRPr lang="ko-KR" altLang="en-US" sz="1000" b="1" kern="120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7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Silicone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 adhesion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Silicone molding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Laser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 welding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AL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 Tube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SUS Tube</a:t>
                      </a:r>
                      <a:endParaRPr lang="ko-KR" altLang="en-US" sz="100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991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PTC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</a:rPr>
                        <a:t> STONE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 smtClean="0">
                          <a:solidFill>
                            <a:srgbClr val="0000FF"/>
                          </a:solidFill>
                        </a:rPr>
                        <a:t>Nichrome</a:t>
                      </a: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</a:rPr>
                        <a:t> wire</a:t>
                      </a:r>
                      <a:endParaRPr lang="ko-KR" altLang="en-US" sz="300" b="1" dirty="0" smtClean="0">
                        <a:solidFill>
                          <a:srgbClr val="0000FF"/>
                        </a:solidFill>
                        <a:latin typeface="+mn-ea"/>
                      </a:endParaRPr>
                    </a:p>
                  </a:txBody>
                  <a:tcPr marL="84406" marR="84406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32981"/>
                  </a:ext>
                </a:extLst>
              </a:tr>
            </a:tbl>
          </a:graphicData>
        </a:graphic>
      </p:graphicFrame>
      <p:pic>
        <p:nvPicPr>
          <p:cNvPr id="28" name="Picture 280" descr="Heat Rod Ass'y(2)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B"/>
              </a:clrFrom>
              <a:clrTo>
                <a:srgbClr val="FFFFFB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25885" y="1293729"/>
            <a:ext cx="741115" cy="364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그림 28" descr="변경후_3.bmp"/>
          <p:cNvPicPr>
            <a:picLocks noChangeAspect="1"/>
          </p:cNvPicPr>
          <p:nvPr/>
        </p:nvPicPr>
        <p:blipFill>
          <a:blip r:embed="rId4" cstate="print"/>
          <a:srcRect t="28778" b="33450"/>
          <a:stretch>
            <a:fillRect/>
          </a:stretch>
        </p:blipFill>
        <p:spPr bwMode="auto">
          <a:xfrm>
            <a:off x="3196894" y="1357507"/>
            <a:ext cx="1104174" cy="246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16200000">
            <a:off x="6630605" y="974386"/>
            <a:ext cx="308651" cy="97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62419" y="1337767"/>
            <a:ext cx="1071114" cy="245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7788" y="1344979"/>
            <a:ext cx="878766" cy="312936"/>
          </a:xfrm>
          <a:prstGeom prst="rect">
            <a:avLst/>
          </a:prstGeom>
        </p:spPr>
      </p:pic>
      <p:grpSp>
        <p:nvGrpSpPr>
          <p:cNvPr id="36" name="그룹 47"/>
          <p:cNvGrpSpPr/>
          <p:nvPr/>
        </p:nvGrpSpPr>
        <p:grpSpPr>
          <a:xfrm>
            <a:off x="755576" y="2861795"/>
            <a:ext cx="2558524" cy="1827576"/>
            <a:chOff x="2727609" y="1527775"/>
            <a:chExt cx="3551188" cy="2748033"/>
          </a:xfrm>
        </p:grpSpPr>
        <p:pic>
          <p:nvPicPr>
            <p:cNvPr id="37" name="Picture 5"/>
            <p:cNvPicPr>
              <a:picLocks noChangeAspect="1" noChangeArrowheads="1"/>
            </p:cNvPicPr>
            <p:nvPr/>
          </p:nvPicPr>
          <p:blipFill>
            <a:blip r:embed="rId8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987824" y="1556792"/>
              <a:ext cx="2992071" cy="2719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8" name="직선 화살표 연결선 37"/>
            <p:cNvCxnSpPr/>
            <p:nvPr/>
          </p:nvCxnSpPr>
          <p:spPr bwMode="auto">
            <a:xfrm flipH="1">
              <a:off x="5634024" y="1679028"/>
              <a:ext cx="2557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9" name="TextBox 38"/>
            <p:cNvSpPr txBox="1"/>
            <p:nvPr/>
          </p:nvSpPr>
          <p:spPr>
            <a:xfrm>
              <a:off x="5823385" y="1527775"/>
              <a:ext cx="301519" cy="381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 smtClean="0"/>
                <a:t>①</a:t>
              </a:r>
              <a:endParaRPr lang="ko-KR" altLang="en-US" b="1" dirty="0"/>
            </a:p>
          </p:txBody>
        </p:sp>
        <p:cxnSp>
          <p:nvCxnSpPr>
            <p:cNvPr id="40" name="직선 화살표 연결선 39"/>
            <p:cNvCxnSpPr/>
            <p:nvPr/>
          </p:nvCxnSpPr>
          <p:spPr bwMode="auto">
            <a:xfrm flipH="1">
              <a:off x="5673439" y="1954924"/>
              <a:ext cx="2557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1" name="TextBox 40"/>
            <p:cNvSpPr txBox="1"/>
            <p:nvPr/>
          </p:nvSpPr>
          <p:spPr>
            <a:xfrm>
              <a:off x="5862800" y="1803671"/>
              <a:ext cx="301519" cy="381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 smtClean="0"/>
                <a:t>②</a:t>
              </a:r>
              <a:endParaRPr lang="ko-KR" altLang="en-US" b="1" dirty="0"/>
            </a:p>
          </p:txBody>
        </p:sp>
        <p:cxnSp>
          <p:nvCxnSpPr>
            <p:cNvPr id="42" name="직선 화살표 연결선 41"/>
            <p:cNvCxnSpPr/>
            <p:nvPr/>
          </p:nvCxnSpPr>
          <p:spPr bwMode="auto">
            <a:xfrm flipH="1" flipV="1">
              <a:off x="5612524" y="2215055"/>
              <a:ext cx="229972" cy="55179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3" name="TextBox 42"/>
            <p:cNvSpPr txBox="1"/>
            <p:nvPr/>
          </p:nvSpPr>
          <p:spPr>
            <a:xfrm>
              <a:off x="5776090" y="2118981"/>
              <a:ext cx="301519" cy="381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 smtClean="0"/>
                <a:t>③</a:t>
              </a:r>
              <a:endParaRPr lang="ko-KR" altLang="en-US" b="1" dirty="0"/>
            </a:p>
          </p:txBody>
        </p:sp>
        <p:cxnSp>
          <p:nvCxnSpPr>
            <p:cNvPr id="44" name="직선 화살표 연결선 43"/>
            <p:cNvCxnSpPr/>
            <p:nvPr/>
          </p:nvCxnSpPr>
          <p:spPr bwMode="auto">
            <a:xfrm>
              <a:off x="2956034" y="2877207"/>
              <a:ext cx="268014" cy="3941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2727609" y="2741809"/>
              <a:ext cx="301519" cy="381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 smtClean="0"/>
                <a:t>④</a:t>
              </a:r>
              <a:endParaRPr lang="ko-KR" altLang="en-US" b="1" dirty="0"/>
            </a:p>
          </p:txBody>
        </p:sp>
        <p:cxnSp>
          <p:nvCxnSpPr>
            <p:cNvPr id="46" name="직선 화살표 연결선 45"/>
            <p:cNvCxnSpPr/>
            <p:nvPr/>
          </p:nvCxnSpPr>
          <p:spPr bwMode="auto">
            <a:xfrm flipH="1" flipV="1">
              <a:off x="5654085" y="2506809"/>
              <a:ext cx="229972" cy="55179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7" name="TextBox 46"/>
            <p:cNvSpPr txBox="1"/>
            <p:nvPr/>
          </p:nvSpPr>
          <p:spPr>
            <a:xfrm>
              <a:off x="5817650" y="2410734"/>
              <a:ext cx="301519" cy="381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 smtClean="0"/>
                <a:t>⑤</a:t>
              </a:r>
              <a:endParaRPr lang="ko-KR" altLang="en-US" b="1" dirty="0"/>
            </a:p>
          </p:txBody>
        </p:sp>
        <p:cxnSp>
          <p:nvCxnSpPr>
            <p:cNvPr id="48" name="직선 화살표 연결선 47"/>
            <p:cNvCxnSpPr/>
            <p:nvPr/>
          </p:nvCxnSpPr>
          <p:spPr bwMode="auto">
            <a:xfrm flipH="1" flipV="1">
              <a:off x="5813713" y="2743200"/>
              <a:ext cx="229972" cy="55179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9" name="TextBox 48"/>
            <p:cNvSpPr txBox="1"/>
            <p:nvPr/>
          </p:nvSpPr>
          <p:spPr>
            <a:xfrm>
              <a:off x="5977278" y="2647126"/>
              <a:ext cx="301519" cy="381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 smtClean="0"/>
                <a:t>⑥</a:t>
              </a:r>
              <a:endParaRPr lang="ko-KR" altLang="en-US" b="1" dirty="0"/>
            </a:p>
          </p:txBody>
        </p:sp>
        <p:cxnSp>
          <p:nvCxnSpPr>
            <p:cNvPr id="50" name="직선 화살표 연결선 49"/>
            <p:cNvCxnSpPr/>
            <p:nvPr/>
          </p:nvCxnSpPr>
          <p:spPr bwMode="auto">
            <a:xfrm flipH="1" flipV="1">
              <a:off x="5764444" y="3019097"/>
              <a:ext cx="229972" cy="55179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1" name="TextBox 50"/>
            <p:cNvSpPr txBox="1"/>
            <p:nvPr/>
          </p:nvSpPr>
          <p:spPr>
            <a:xfrm>
              <a:off x="5928008" y="2923023"/>
              <a:ext cx="301519" cy="381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 smtClean="0"/>
                <a:t>③</a:t>
              </a:r>
              <a:endParaRPr lang="ko-KR" altLang="en-US" b="1" dirty="0"/>
            </a:p>
          </p:txBody>
        </p:sp>
        <p:cxnSp>
          <p:nvCxnSpPr>
            <p:cNvPr id="52" name="직선 화살표 연결선 51"/>
            <p:cNvCxnSpPr/>
            <p:nvPr/>
          </p:nvCxnSpPr>
          <p:spPr bwMode="auto">
            <a:xfrm>
              <a:off x="3152928" y="3736150"/>
              <a:ext cx="268014" cy="3941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3" name="TextBox 52"/>
            <p:cNvSpPr txBox="1"/>
            <p:nvPr/>
          </p:nvSpPr>
          <p:spPr>
            <a:xfrm>
              <a:off x="2924503" y="3600752"/>
              <a:ext cx="301519" cy="381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 smtClean="0"/>
                <a:t>④</a:t>
              </a:r>
              <a:endParaRPr lang="ko-KR" altLang="en-US" b="1" dirty="0"/>
            </a:p>
          </p:txBody>
        </p:sp>
        <p:cxnSp>
          <p:nvCxnSpPr>
            <p:cNvPr id="54" name="직선 화살표 연결선 53"/>
            <p:cNvCxnSpPr/>
            <p:nvPr/>
          </p:nvCxnSpPr>
          <p:spPr bwMode="auto">
            <a:xfrm flipH="1" flipV="1">
              <a:off x="5945217" y="3350172"/>
              <a:ext cx="49200" cy="23054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5" name="TextBox 54"/>
            <p:cNvSpPr txBox="1"/>
            <p:nvPr/>
          </p:nvSpPr>
          <p:spPr>
            <a:xfrm>
              <a:off x="5898773" y="3463365"/>
              <a:ext cx="301519" cy="381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 smtClean="0"/>
                <a:t>②</a:t>
              </a:r>
              <a:endParaRPr lang="ko-KR" altLang="en-US" b="1" dirty="0"/>
            </a:p>
          </p:txBody>
        </p:sp>
      </p:grpSp>
      <p:pic>
        <p:nvPicPr>
          <p:cNvPr id="56" name="Picture 1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35627" y="2639929"/>
            <a:ext cx="1080389" cy="726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7" name="표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771797"/>
              </p:ext>
            </p:extLst>
          </p:nvPr>
        </p:nvGraphicFramePr>
        <p:xfrm>
          <a:off x="3312032" y="3501008"/>
          <a:ext cx="1548000" cy="1450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331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Part</a:t>
                      </a:r>
                      <a:r>
                        <a:rPr lang="en-US" altLang="ko-KR" sz="700" baseline="0" dirty="0" smtClean="0"/>
                        <a:t> List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No.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품명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수량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Aluminum</a:t>
                      </a:r>
                      <a:r>
                        <a:rPr lang="en-US" altLang="ko-KR" sz="700" baseline="0" dirty="0" smtClean="0"/>
                        <a:t> Tube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Pad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Terminal Lower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Terminal</a:t>
                      </a:r>
                      <a:r>
                        <a:rPr lang="en-US" altLang="ko-KR" sz="700" baseline="0" dirty="0" smtClean="0"/>
                        <a:t> Upper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Stone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8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6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Stone Holder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3998652" y="3183551"/>
            <a:ext cx="861380" cy="223720"/>
          </a:xfrm>
          <a:prstGeom prst="rect">
            <a:avLst/>
          </a:prstGeom>
          <a:noFill/>
        </p:spPr>
        <p:txBody>
          <a:bodyPr wrap="square" lIns="84396" tIns="42198" rIns="84396" bIns="42198">
            <a:spAutoFit/>
          </a:bodyPr>
          <a:lstStyle/>
          <a:p>
            <a:pPr algn="ctr">
              <a:defRPr/>
            </a:pPr>
            <a:r>
              <a:rPr lang="en-US" altLang="ko-KR" sz="900" b="1" u="sng" dirty="0" smtClean="0">
                <a:latin typeface="+mn-ea"/>
                <a:cs typeface="Tahoma" pitchFamily="34" charset="0"/>
              </a:rPr>
              <a:t>ISO VIEW</a:t>
            </a:r>
            <a:endParaRPr lang="ko-KR" altLang="en-US" sz="900" b="1" u="sng" dirty="0">
              <a:latin typeface="+mn-ea"/>
              <a:cs typeface="Tahoma" pitchFamily="34" charset="0"/>
            </a:endParaRPr>
          </a:p>
        </p:txBody>
      </p:sp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492979"/>
              </p:ext>
            </p:extLst>
          </p:nvPr>
        </p:nvGraphicFramePr>
        <p:xfrm>
          <a:off x="7402108" y="3803544"/>
          <a:ext cx="1548000" cy="92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331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Part</a:t>
                      </a:r>
                      <a:r>
                        <a:rPr lang="en-US" altLang="ko-KR" sz="700" baseline="0" dirty="0" smtClean="0"/>
                        <a:t> List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No.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품명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수량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Aluminum</a:t>
                      </a:r>
                      <a:r>
                        <a:rPr lang="en-US" altLang="ko-KR" sz="700" baseline="0" dirty="0" smtClean="0"/>
                        <a:t> Tube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Magnesium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rgbClr val="0000FF"/>
                          </a:solidFill>
                        </a:rPr>
                        <a:t>Nichrome</a:t>
                      </a:r>
                      <a:r>
                        <a:rPr lang="en-US" altLang="ko-KR" sz="800" dirty="0" smtClean="0">
                          <a:solidFill>
                            <a:srgbClr val="0000FF"/>
                          </a:solidFill>
                        </a:rPr>
                        <a:t> wire</a:t>
                      </a:r>
                      <a:endParaRPr lang="ko-KR" altLang="en-US" sz="100" b="1" dirty="0" smtClean="0">
                        <a:solidFill>
                          <a:srgbClr val="0000FF"/>
                        </a:solidFill>
                        <a:latin typeface="+mn-ea"/>
                      </a:endParaRPr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marL="80808" marR="80808" marT="37296" marB="37296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1359435" y="4653136"/>
            <a:ext cx="1484373" cy="223720"/>
          </a:xfrm>
          <a:prstGeom prst="rect">
            <a:avLst/>
          </a:prstGeom>
          <a:noFill/>
        </p:spPr>
        <p:txBody>
          <a:bodyPr wrap="square" lIns="84396" tIns="42198" rIns="84396" bIns="42198">
            <a:spAutoFit/>
          </a:bodyPr>
          <a:lstStyle/>
          <a:p>
            <a:pPr algn="ctr">
              <a:defRPr/>
            </a:pPr>
            <a:r>
              <a:rPr lang="en-US" altLang="ko-KR" sz="900" b="1" u="sng" dirty="0" smtClean="0">
                <a:latin typeface="+mn-ea"/>
                <a:cs typeface="Tahoma" pitchFamily="34" charset="0"/>
              </a:rPr>
              <a:t>&lt;EXPLODED VIEW&gt;</a:t>
            </a:r>
            <a:endParaRPr lang="ko-KR" altLang="en-US" sz="900" b="1" u="sng" dirty="0">
              <a:latin typeface="+mn-ea"/>
              <a:cs typeface="Tahoma" pitchFamily="34" charset="0"/>
            </a:endParaRPr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5423" y="2564904"/>
            <a:ext cx="1599072" cy="88275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004195" y="3272616"/>
            <a:ext cx="861380" cy="223720"/>
          </a:xfrm>
          <a:prstGeom prst="rect">
            <a:avLst/>
          </a:prstGeom>
          <a:noFill/>
        </p:spPr>
        <p:txBody>
          <a:bodyPr wrap="square" lIns="84396" tIns="42198" rIns="84396" bIns="42198">
            <a:spAutoFit/>
          </a:bodyPr>
          <a:lstStyle/>
          <a:p>
            <a:pPr algn="ctr">
              <a:defRPr/>
            </a:pPr>
            <a:r>
              <a:rPr lang="en-US" altLang="ko-KR" sz="900" b="1" u="sng" dirty="0" smtClean="0">
                <a:latin typeface="+mn-ea"/>
                <a:cs typeface="Tahoma" pitchFamily="34" charset="0"/>
              </a:rPr>
              <a:t>ISO VIEW</a:t>
            </a:r>
            <a:endParaRPr lang="ko-KR" altLang="en-US" sz="900" b="1" u="sng" dirty="0">
              <a:latin typeface="+mn-ea"/>
              <a:cs typeface="Tahoma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463891" y="4645440"/>
            <a:ext cx="1484373" cy="223720"/>
          </a:xfrm>
          <a:prstGeom prst="rect">
            <a:avLst/>
          </a:prstGeom>
          <a:noFill/>
        </p:spPr>
        <p:txBody>
          <a:bodyPr wrap="square" lIns="84396" tIns="42198" rIns="84396" bIns="42198">
            <a:spAutoFit/>
          </a:bodyPr>
          <a:lstStyle/>
          <a:p>
            <a:pPr algn="ctr">
              <a:defRPr/>
            </a:pPr>
            <a:r>
              <a:rPr lang="en-US" altLang="ko-KR" sz="900" b="1" u="sng" dirty="0" smtClean="0">
                <a:latin typeface="+mn-ea"/>
                <a:cs typeface="Tahoma" pitchFamily="34" charset="0"/>
              </a:rPr>
              <a:t>&lt;EXPLODED VIEW&gt;</a:t>
            </a:r>
            <a:endParaRPr lang="ko-KR" altLang="en-US" sz="900" b="1" u="sng" dirty="0">
              <a:latin typeface="+mn-ea"/>
              <a:cs typeface="Tahoma" pitchFamily="34" charset="0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5119633" y="2564904"/>
            <a:ext cx="2116663" cy="2071327"/>
            <a:chOff x="4894006" y="2695092"/>
            <a:chExt cx="2116663" cy="2071327"/>
          </a:xfrm>
        </p:grpSpPr>
        <p:cxnSp>
          <p:nvCxnSpPr>
            <p:cNvPr id="72" name="직선 화살표 연결선 71"/>
            <p:cNvCxnSpPr/>
            <p:nvPr/>
          </p:nvCxnSpPr>
          <p:spPr bwMode="auto">
            <a:xfrm flipH="1">
              <a:off x="6619083" y="2833783"/>
              <a:ext cx="18427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73" name="TextBox 72"/>
            <p:cNvSpPr txBox="1"/>
            <p:nvPr/>
          </p:nvSpPr>
          <p:spPr>
            <a:xfrm>
              <a:off x="6784087" y="2695092"/>
              <a:ext cx="21723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 smtClean="0"/>
                <a:t>①</a:t>
              </a:r>
              <a:endParaRPr lang="ko-KR" altLang="en-US" b="1" dirty="0"/>
            </a:p>
          </p:txBody>
        </p:sp>
        <p:cxnSp>
          <p:nvCxnSpPr>
            <p:cNvPr id="74" name="직선 화살표 연결선 73"/>
            <p:cNvCxnSpPr/>
            <p:nvPr/>
          </p:nvCxnSpPr>
          <p:spPr bwMode="auto">
            <a:xfrm flipH="1">
              <a:off x="6628430" y="3353817"/>
              <a:ext cx="18427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75" name="TextBox 74"/>
            <p:cNvSpPr txBox="1"/>
            <p:nvPr/>
          </p:nvSpPr>
          <p:spPr>
            <a:xfrm>
              <a:off x="6793434" y="3215126"/>
              <a:ext cx="21723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 smtClean="0"/>
                <a:t>②</a:t>
              </a:r>
              <a:endParaRPr lang="ko-KR" altLang="en-US" b="1" dirty="0"/>
            </a:p>
          </p:txBody>
        </p:sp>
        <p:cxnSp>
          <p:nvCxnSpPr>
            <p:cNvPr id="76" name="직선 화살표 연결선 75"/>
            <p:cNvCxnSpPr/>
            <p:nvPr/>
          </p:nvCxnSpPr>
          <p:spPr bwMode="auto">
            <a:xfrm flipH="1" flipV="1">
              <a:off x="6587718" y="3888767"/>
              <a:ext cx="165688" cy="3669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77" name="TextBox 76"/>
            <p:cNvSpPr txBox="1"/>
            <p:nvPr/>
          </p:nvSpPr>
          <p:spPr>
            <a:xfrm>
              <a:off x="6734137" y="3796298"/>
              <a:ext cx="21723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 smtClean="0"/>
                <a:t>③</a:t>
              </a:r>
              <a:endParaRPr lang="ko-KR" altLang="en-US" b="1" dirty="0"/>
            </a:p>
          </p:txBody>
        </p:sp>
        <p:pic>
          <p:nvPicPr>
            <p:cNvPr id="80" name="그림 7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894006" y="2788106"/>
              <a:ext cx="1724550" cy="1978313"/>
            </a:xfrm>
            <a:prstGeom prst="rect">
              <a:avLst/>
            </a:prstGeom>
          </p:spPr>
        </p:pic>
      </p:grpSp>
      <p:cxnSp>
        <p:nvCxnSpPr>
          <p:cNvPr id="7" name="직선 연결선 6"/>
          <p:cNvCxnSpPr/>
          <p:nvPr/>
        </p:nvCxnSpPr>
        <p:spPr bwMode="auto">
          <a:xfrm>
            <a:off x="395536" y="1323322"/>
            <a:ext cx="694822" cy="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직선 화살표 연결선 8"/>
          <p:cNvCxnSpPr/>
          <p:nvPr/>
        </p:nvCxnSpPr>
        <p:spPr bwMode="auto">
          <a:xfrm flipV="1">
            <a:off x="1001273" y="1336578"/>
            <a:ext cx="0" cy="158545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4" name="직사각형 97"/>
          <p:cNvSpPr>
            <a:spLocks noChangeArrowheads="1"/>
          </p:cNvSpPr>
          <p:nvPr/>
        </p:nvSpPr>
        <p:spPr bwMode="auto">
          <a:xfrm>
            <a:off x="299026" y="1465598"/>
            <a:ext cx="310575" cy="253511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lIns="84992" tIns="42497" rIns="84992" bIns="42497" anchor="ctr"/>
          <a:lstStyle/>
          <a:p>
            <a:pPr algn="ctr"/>
            <a:r>
              <a:rPr lang="en-US" altLang="ko-KR" sz="900" dirty="0">
                <a:solidFill>
                  <a:srgbClr val="FF0000"/>
                </a:solidFill>
                <a:cs typeface="Tahoma" pitchFamily="34" charset="0"/>
              </a:rPr>
              <a:t>“A”</a:t>
            </a:r>
            <a:endParaRPr lang="ko-KR" altLang="en-US" sz="900" dirty="0">
              <a:solidFill>
                <a:srgbClr val="FF0000"/>
              </a:solidFill>
              <a:cs typeface="Tahoma" pitchFamily="34" charset="0"/>
            </a:endParaRPr>
          </a:p>
        </p:txBody>
      </p:sp>
      <p:cxnSp>
        <p:nvCxnSpPr>
          <p:cNvPr id="65" name="직선 화살표 연결선 64"/>
          <p:cNvCxnSpPr/>
          <p:nvPr/>
        </p:nvCxnSpPr>
        <p:spPr bwMode="auto">
          <a:xfrm flipV="1">
            <a:off x="450940" y="1336578"/>
            <a:ext cx="0" cy="158545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44985" y="2005186"/>
            <a:ext cx="1484373" cy="208331"/>
          </a:xfrm>
          <a:prstGeom prst="rect">
            <a:avLst/>
          </a:prstGeom>
          <a:noFill/>
        </p:spPr>
        <p:txBody>
          <a:bodyPr wrap="square" lIns="84396" tIns="42198" rIns="84396" bIns="42198">
            <a:spAutoFit/>
          </a:bodyPr>
          <a:lstStyle/>
          <a:p>
            <a:pPr algn="ctr">
              <a:defRPr/>
            </a:pPr>
            <a:r>
              <a:rPr lang="en-US" altLang="ko-KR" sz="800" b="1" u="sng" dirty="0" smtClean="0">
                <a:latin typeface="+mn-ea"/>
                <a:cs typeface="Tahoma" pitchFamily="34" charset="0"/>
              </a:rPr>
              <a:t>&lt;SECTION A-A&gt;</a:t>
            </a:r>
            <a:endParaRPr lang="ko-KR" altLang="en-US" sz="800" b="1" u="sng" dirty="0">
              <a:latin typeface="+mn-ea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21460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초격차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로드맵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117585" y="576207"/>
            <a:ext cx="821799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▶ 하드웨어 </a:t>
            </a:r>
            <a:r>
              <a:rPr lang="en-US" altLang="ko-KR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ROD </a:t>
            </a:r>
            <a:r>
              <a:rPr lang="ko-KR" altLang="en-US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구성 비교  </a:t>
            </a:r>
            <a:r>
              <a:rPr lang="en-US" altLang="ko-KR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</a:t>
            </a:r>
            <a:endParaRPr lang="en-US" altLang="ko-KR" sz="14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235054"/>
              </p:ext>
            </p:extLst>
          </p:nvPr>
        </p:nvGraphicFramePr>
        <p:xfrm>
          <a:off x="177338" y="980728"/>
          <a:ext cx="8825346" cy="57205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2673">
                  <a:extLst>
                    <a:ext uri="{9D8B030D-6E8A-4147-A177-3AD203B41FA5}">
                      <a16:colId xmlns:a16="http://schemas.microsoft.com/office/drawing/2014/main" val="2805608320"/>
                    </a:ext>
                  </a:extLst>
                </a:gridCol>
                <a:gridCol w="4412673">
                  <a:extLst>
                    <a:ext uri="{9D8B030D-6E8A-4147-A177-3AD203B41FA5}">
                      <a16:colId xmlns:a16="http://schemas.microsoft.com/office/drawing/2014/main" val="2847512224"/>
                    </a:ext>
                  </a:extLst>
                </a:gridCol>
              </a:tblGrid>
              <a:tr h="2845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ROD</a:t>
                      </a:r>
                      <a:r>
                        <a:rPr lang="en-US" altLang="ko-KR" sz="1100" b="1" i="0" baseline="0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 </a:t>
                      </a:r>
                      <a:r>
                        <a:rPr lang="ko-KR" altLang="en-US" sz="1100" b="1" i="0" baseline="0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직렬 </a:t>
                      </a:r>
                      <a:r>
                        <a:rPr lang="en-US" altLang="ko-KR" sz="1100" b="1" i="0" baseline="0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(Series</a:t>
                      </a:r>
                      <a:r>
                        <a:rPr lang="en-US" altLang="ko-KR" sz="1100" b="1" baseline="0" dirty="0" smtClean="0"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)</a:t>
                      </a:r>
                      <a:endParaRPr lang="ko-KR" altLang="en-US" sz="1100" b="1" i="0" dirty="0">
                        <a:solidFill>
                          <a:schemeClr val="tx1"/>
                        </a:solidFill>
                        <a:latin typeface="현대하모니 B" panose="02020603020101020101" pitchFamily="18" charset="-127"/>
                        <a:ea typeface="현대하모니 B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ROD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병렬 </a:t>
                      </a:r>
                      <a:r>
                        <a:rPr lang="en-US" altLang="ko-KR" sz="1100" b="1" i="0" baseline="0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(Parallel</a:t>
                      </a:r>
                      <a:r>
                        <a:rPr lang="en-US" altLang="ko-KR" sz="1100" b="1" baseline="0" dirty="0" smtClean="0"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현대하모니 B" panose="02020603020101020101" pitchFamily="18" charset="-127"/>
                        <a:ea typeface="현대하모니 B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488367"/>
                  </a:ext>
                </a:extLst>
              </a:tr>
              <a:tr h="482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i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9832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직렬 저항 기준 </a:t>
                      </a:r>
                      <a:r>
                        <a:rPr lang="en-US" altLang="ko-KR" sz="10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en-US" altLang="ko-KR" sz="1000" b="1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Vmin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12</a:t>
                      </a:r>
                      <a:r>
                        <a:rPr lang="el-GR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Ω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, </a:t>
                      </a:r>
                      <a:r>
                        <a:rPr lang="en-US" altLang="ko-KR" sz="1000" b="1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Vn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68</a:t>
                      </a:r>
                      <a:r>
                        <a:rPr lang="el-GR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Ω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, </a:t>
                      </a:r>
                      <a:r>
                        <a:rPr lang="en-US" altLang="ko-KR" sz="1000" b="1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Vmax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119</a:t>
                      </a:r>
                      <a:r>
                        <a:rPr lang="el-GR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Ω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</a:t>
                      </a:r>
                      <a:r>
                        <a:rPr lang="ko-KR" altLang="en-US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→ 저항 발열 시 저항 오차율 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5% ( COD </a:t>
                      </a:r>
                      <a:r>
                        <a:rPr lang="ko-KR" altLang="en-US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확인 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  </a:t>
                      </a:r>
                      <a:r>
                        <a:rPr lang="ko-KR" altLang="en-US" sz="10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병렬 저항 기준 </a:t>
                      </a:r>
                      <a:r>
                        <a:rPr lang="en-US" altLang="ko-KR" sz="10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en-US" altLang="ko-KR" sz="1000" b="1" baseline="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Vmin</a:t>
                      </a:r>
                      <a:r>
                        <a:rPr lang="en-US" altLang="ko-KR" sz="10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70</a:t>
                      </a:r>
                      <a:r>
                        <a:rPr lang="el-GR" altLang="ko-KR" sz="10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Ω</a:t>
                      </a:r>
                      <a:r>
                        <a:rPr lang="en-US" altLang="ko-KR" sz="10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, </a:t>
                      </a:r>
                      <a:r>
                        <a:rPr lang="en-US" altLang="ko-KR" sz="1000" b="1" baseline="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Vn</a:t>
                      </a:r>
                      <a:r>
                        <a:rPr lang="en-US" altLang="ko-KR" sz="10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407</a:t>
                      </a:r>
                      <a:r>
                        <a:rPr lang="el-GR" altLang="ko-KR" sz="10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Ω</a:t>
                      </a:r>
                      <a:r>
                        <a:rPr lang="en-US" altLang="ko-KR" sz="10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, </a:t>
                      </a:r>
                      <a:r>
                        <a:rPr lang="en-US" altLang="ko-KR" sz="1000" b="1" baseline="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Vmax</a:t>
                      </a:r>
                      <a:r>
                        <a:rPr lang="en-US" altLang="ko-KR" sz="10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712</a:t>
                      </a:r>
                      <a:r>
                        <a:rPr lang="el-GR" altLang="ko-KR" sz="10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Ω</a:t>
                      </a:r>
                      <a:endParaRPr lang="en-US" altLang="ko-KR" sz="1000" b="1" baseline="0" dirty="0" smtClean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b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→ 저항 발열 시 저항 오차율 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5% ( COD </a:t>
                      </a:r>
                      <a:r>
                        <a:rPr lang="ko-KR" altLang="en-US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확인 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161257"/>
                  </a:ext>
                </a:extLst>
              </a:tr>
            </a:tbl>
          </a:graphicData>
        </a:graphic>
      </p:graphicFrame>
      <p:pic>
        <p:nvPicPr>
          <p:cNvPr id="300" name="그림 29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763" y="2920247"/>
            <a:ext cx="1893788" cy="940801"/>
          </a:xfrm>
          <a:prstGeom prst="rect">
            <a:avLst/>
          </a:prstGeom>
        </p:spPr>
      </p:pic>
      <p:grpSp>
        <p:nvGrpSpPr>
          <p:cNvPr id="378" name="그룹 377"/>
          <p:cNvGrpSpPr/>
          <p:nvPr/>
        </p:nvGrpSpPr>
        <p:grpSpPr>
          <a:xfrm>
            <a:off x="4818558" y="2743289"/>
            <a:ext cx="1742230" cy="3206338"/>
            <a:chOff x="373878" y="2743289"/>
            <a:chExt cx="1742230" cy="320633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3878" y="2743289"/>
              <a:ext cx="1742230" cy="2797248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585155" y="5580295"/>
              <a:ext cx="1385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 smtClean="0"/>
                <a:t>&lt;BODY ASS’Y 800V&gt;</a:t>
              </a:r>
            </a:p>
            <a:p>
              <a:pPr algn="ctr"/>
              <a:r>
                <a:rPr lang="en-US" altLang="ko-KR" sz="900" b="1" dirty="0" err="1" smtClean="0">
                  <a:solidFill>
                    <a:srgbClr val="0000FF"/>
                  </a:solidFill>
                </a:rPr>
                <a:t>Mva</a:t>
              </a:r>
              <a:r>
                <a:rPr lang="en-US" altLang="ko-KR" sz="900" b="1" dirty="0" smtClean="0">
                  <a:solidFill>
                    <a:srgbClr val="0000FF"/>
                  </a:solidFill>
                </a:rPr>
                <a:t> PTC</a:t>
              </a:r>
              <a:endParaRPr lang="ko-KR" altLang="en-US" sz="900" b="1" dirty="0">
                <a:solidFill>
                  <a:srgbClr val="0000FF"/>
                </a:solidFill>
              </a:endParaRPr>
            </a:p>
          </p:txBody>
        </p:sp>
        <p:cxnSp>
          <p:nvCxnSpPr>
            <p:cNvPr id="181" name="직선 연결선 180"/>
            <p:cNvCxnSpPr/>
            <p:nvPr/>
          </p:nvCxnSpPr>
          <p:spPr bwMode="auto">
            <a:xfrm>
              <a:off x="703093" y="3284984"/>
              <a:ext cx="0" cy="1945447"/>
            </a:xfrm>
            <a:prstGeom prst="line">
              <a:avLst/>
            </a:prstGeom>
            <a:noFill/>
            <a:ln w="25400" cap="flat" cmpd="sng" algn="ctr">
              <a:solidFill>
                <a:srgbClr val="FFC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2" name="직선 연결선 181"/>
            <p:cNvCxnSpPr>
              <a:endCxn id="183" idx="1"/>
            </p:cNvCxnSpPr>
            <p:nvPr/>
          </p:nvCxnSpPr>
          <p:spPr bwMode="auto">
            <a:xfrm>
              <a:off x="775083" y="3284984"/>
              <a:ext cx="0" cy="1951053"/>
            </a:xfrm>
            <a:prstGeom prst="line">
              <a:avLst/>
            </a:prstGeom>
            <a:noFill/>
            <a:ln w="25400" cap="flat" cmpd="sng" algn="ctr">
              <a:solidFill>
                <a:srgbClr val="FFC000"/>
              </a:solidFill>
              <a:prstDash val="dash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183" name="막힌 원호 182"/>
            <p:cNvSpPr/>
            <p:nvPr/>
          </p:nvSpPr>
          <p:spPr>
            <a:xfrm flipV="1">
              <a:off x="703535" y="5209563"/>
              <a:ext cx="71566" cy="51340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184" name="직선 연결선 183"/>
            <p:cNvCxnSpPr>
              <a:endCxn id="185" idx="1"/>
            </p:cNvCxnSpPr>
            <p:nvPr/>
          </p:nvCxnSpPr>
          <p:spPr bwMode="auto">
            <a:xfrm>
              <a:off x="984589" y="3284984"/>
              <a:ext cx="0" cy="1953425"/>
            </a:xfrm>
            <a:prstGeom prst="line">
              <a:avLst/>
            </a:prstGeom>
            <a:noFill/>
            <a:ln w="25400" cap="flat" cmpd="sng" algn="ctr">
              <a:solidFill>
                <a:srgbClr val="FFC000"/>
              </a:solidFill>
              <a:prstDash val="dash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185" name="막힌 원호 184"/>
            <p:cNvSpPr/>
            <p:nvPr/>
          </p:nvSpPr>
          <p:spPr>
            <a:xfrm flipV="1">
              <a:off x="913041" y="5211935"/>
              <a:ext cx="71566" cy="51340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186" name="직선 연결선 185"/>
            <p:cNvCxnSpPr/>
            <p:nvPr/>
          </p:nvCxnSpPr>
          <p:spPr bwMode="auto">
            <a:xfrm>
              <a:off x="913041" y="3284984"/>
              <a:ext cx="0" cy="1969569"/>
            </a:xfrm>
            <a:prstGeom prst="line">
              <a:avLst/>
            </a:prstGeom>
            <a:noFill/>
            <a:ln w="25400" cap="flat" cmpd="sng" algn="ctr">
              <a:solidFill>
                <a:srgbClr val="FFC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7" name="직선 연결선 186"/>
            <p:cNvCxnSpPr>
              <a:endCxn id="188" idx="1"/>
            </p:cNvCxnSpPr>
            <p:nvPr/>
          </p:nvCxnSpPr>
          <p:spPr bwMode="auto">
            <a:xfrm>
              <a:off x="1162408" y="3284984"/>
              <a:ext cx="0" cy="1954471"/>
            </a:xfrm>
            <a:prstGeom prst="line">
              <a:avLst/>
            </a:prstGeom>
            <a:noFill/>
            <a:ln w="25400" cap="flat" cmpd="sng" algn="ctr">
              <a:solidFill>
                <a:srgbClr val="FFC000"/>
              </a:solidFill>
              <a:prstDash val="dash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188" name="막힌 원호 187"/>
            <p:cNvSpPr/>
            <p:nvPr/>
          </p:nvSpPr>
          <p:spPr>
            <a:xfrm flipV="1">
              <a:off x="1090860" y="5212981"/>
              <a:ext cx="71566" cy="51340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189" name="직선 연결선 188"/>
            <p:cNvCxnSpPr/>
            <p:nvPr/>
          </p:nvCxnSpPr>
          <p:spPr bwMode="auto">
            <a:xfrm>
              <a:off x="1090860" y="3284984"/>
              <a:ext cx="0" cy="1970615"/>
            </a:xfrm>
            <a:prstGeom prst="line">
              <a:avLst/>
            </a:prstGeom>
            <a:noFill/>
            <a:ln w="25400" cap="flat" cmpd="sng" algn="ctr">
              <a:solidFill>
                <a:srgbClr val="FFC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0" name="직선 연결선 189"/>
            <p:cNvCxnSpPr>
              <a:endCxn id="191" idx="1"/>
            </p:cNvCxnSpPr>
            <p:nvPr/>
          </p:nvCxnSpPr>
          <p:spPr bwMode="auto">
            <a:xfrm>
              <a:off x="1349172" y="3284984"/>
              <a:ext cx="0" cy="1954471"/>
            </a:xfrm>
            <a:prstGeom prst="line">
              <a:avLst/>
            </a:prstGeom>
            <a:noFill/>
            <a:ln w="25400" cap="flat" cmpd="sng" algn="ctr">
              <a:solidFill>
                <a:srgbClr val="FFC000"/>
              </a:solidFill>
              <a:prstDash val="dash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191" name="막힌 원호 190"/>
            <p:cNvSpPr/>
            <p:nvPr/>
          </p:nvSpPr>
          <p:spPr>
            <a:xfrm flipV="1">
              <a:off x="1277624" y="5212981"/>
              <a:ext cx="71566" cy="51340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192" name="직선 연결선 191"/>
            <p:cNvCxnSpPr/>
            <p:nvPr/>
          </p:nvCxnSpPr>
          <p:spPr bwMode="auto">
            <a:xfrm>
              <a:off x="1277624" y="3284984"/>
              <a:ext cx="0" cy="1970615"/>
            </a:xfrm>
            <a:prstGeom prst="line">
              <a:avLst/>
            </a:prstGeom>
            <a:noFill/>
            <a:ln w="25400" cap="flat" cmpd="sng" algn="ctr">
              <a:solidFill>
                <a:srgbClr val="FFC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3" name="직선 연결선 192"/>
            <p:cNvCxnSpPr>
              <a:endCxn id="194" idx="1"/>
            </p:cNvCxnSpPr>
            <p:nvPr/>
          </p:nvCxnSpPr>
          <p:spPr bwMode="auto">
            <a:xfrm>
              <a:off x="1535936" y="3284984"/>
              <a:ext cx="0" cy="1949995"/>
            </a:xfrm>
            <a:prstGeom prst="line">
              <a:avLst/>
            </a:prstGeom>
            <a:noFill/>
            <a:ln w="25400" cap="flat" cmpd="sng" algn="ctr">
              <a:solidFill>
                <a:srgbClr val="FFC000"/>
              </a:solidFill>
              <a:prstDash val="dash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194" name="막힌 원호 193"/>
            <p:cNvSpPr/>
            <p:nvPr/>
          </p:nvSpPr>
          <p:spPr>
            <a:xfrm flipV="1">
              <a:off x="1464388" y="5208505"/>
              <a:ext cx="71566" cy="51340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195" name="직선 연결선 194"/>
            <p:cNvCxnSpPr/>
            <p:nvPr/>
          </p:nvCxnSpPr>
          <p:spPr bwMode="auto">
            <a:xfrm>
              <a:off x="1464388" y="3284984"/>
              <a:ext cx="0" cy="1966139"/>
            </a:xfrm>
            <a:prstGeom prst="line">
              <a:avLst/>
            </a:prstGeom>
            <a:noFill/>
            <a:ln w="25400" cap="flat" cmpd="sng" algn="ctr">
              <a:solidFill>
                <a:srgbClr val="FFC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6" name="직선 연결선 195"/>
            <p:cNvCxnSpPr>
              <a:endCxn id="197" idx="1"/>
            </p:cNvCxnSpPr>
            <p:nvPr/>
          </p:nvCxnSpPr>
          <p:spPr bwMode="auto">
            <a:xfrm>
              <a:off x="1731913" y="3284984"/>
              <a:ext cx="0" cy="1947047"/>
            </a:xfrm>
            <a:prstGeom prst="line">
              <a:avLst/>
            </a:prstGeom>
            <a:noFill/>
            <a:ln w="25400" cap="flat" cmpd="sng" algn="ctr">
              <a:solidFill>
                <a:srgbClr val="FFC000"/>
              </a:solidFill>
              <a:prstDash val="dash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197" name="막힌 원호 196"/>
            <p:cNvSpPr/>
            <p:nvPr/>
          </p:nvSpPr>
          <p:spPr>
            <a:xfrm flipV="1">
              <a:off x="1660365" y="5205557"/>
              <a:ext cx="71566" cy="51340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198" name="직선 연결선 197"/>
            <p:cNvCxnSpPr/>
            <p:nvPr/>
          </p:nvCxnSpPr>
          <p:spPr bwMode="auto">
            <a:xfrm>
              <a:off x="1649760" y="3284984"/>
              <a:ext cx="0" cy="1978571"/>
            </a:xfrm>
            <a:prstGeom prst="line">
              <a:avLst/>
            </a:prstGeom>
            <a:noFill/>
            <a:ln w="25400" cap="flat" cmpd="sng" algn="ctr">
              <a:solidFill>
                <a:srgbClr val="FFC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0" name="직사각형 199"/>
            <p:cNvSpPr/>
            <p:nvPr/>
          </p:nvSpPr>
          <p:spPr>
            <a:xfrm>
              <a:off x="584435" y="3212976"/>
              <a:ext cx="1280581" cy="20882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26" name="그림 3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067" y="2924944"/>
            <a:ext cx="1721381" cy="843330"/>
          </a:xfrm>
          <a:prstGeom prst="rect">
            <a:avLst/>
          </a:prstGeom>
        </p:spPr>
      </p:pic>
      <p:pic>
        <p:nvPicPr>
          <p:cNvPr id="327" name="그림 326"/>
          <p:cNvPicPr>
            <a:picLocks noChangeAspect="1"/>
          </p:cNvPicPr>
          <p:nvPr/>
        </p:nvPicPr>
        <p:blipFill rotWithShape="1">
          <a:blip r:embed="rId6" cstate="print">
            <a:extLst/>
          </a:blip>
          <a:srcRect t="3006" b="2301"/>
          <a:stretch/>
        </p:blipFill>
        <p:spPr>
          <a:xfrm rot="16200000">
            <a:off x="5206451" y="892368"/>
            <a:ext cx="804910" cy="1982861"/>
          </a:xfrm>
          <a:prstGeom prst="rect">
            <a:avLst/>
          </a:prstGeom>
        </p:spPr>
      </p:pic>
      <p:sp>
        <p:nvSpPr>
          <p:cNvPr id="328" name="TextBox 327"/>
          <p:cNvSpPr txBox="1"/>
          <p:nvPr/>
        </p:nvSpPr>
        <p:spPr>
          <a:xfrm>
            <a:off x="4906422" y="2294850"/>
            <a:ext cx="13856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smtClean="0"/>
              <a:t>&lt;PCB ASS’Y 800V&gt;</a:t>
            </a:r>
            <a:endParaRPr lang="ko-KR" altLang="en-US" sz="900" b="1" dirty="0"/>
          </a:p>
        </p:txBody>
      </p:sp>
      <p:grpSp>
        <p:nvGrpSpPr>
          <p:cNvPr id="379" name="그룹 378"/>
          <p:cNvGrpSpPr/>
          <p:nvPr/>
        </p:nvGrpSpPr>
        <p:grpSpPr>
          <a:xfrm>
            <a:off x="374703" y="2743289"/>
            <a:ext cx="1742230" cy="3206338"/>
            <a:chOff x="4695145" y="2743289"/>
            <a:chExt cx="1742230" cy="3206338"/>
          </a:xfrm>
        </p:grpSpPr>
        <p:pic>
          <p:nvPicPr>
            <p:cNvPr id="337" name="그림 33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5145" y="2743289"/>
              <a:ext cx="1742230" cy="2797248"/>
            </a:xfrm>
            <a:prstGeom prst="rect">
              <a:avLst/>
            </a:prstGeom>
          </p:spPr>
        </p:pic>
        <p:sp>
          <p:nvSpPr>
            <p:cNvPr id="338" name="TextBox 337"/>
            <p:cNvSpPr txBox="1"/>
            <p:nvPr/>
          </p:nvSpPr>
          <p:spPr>
            <a:xfrm>
              <a:off x="4906422" y="5580295"/>
              <a:ext cx="1385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 smtClean="0"/>
                <a:t>&lt;BODY ASS’Y 800V&gt;</a:t>
              </a:r>
            </a:p>
            <a:p>
              <a:pPr algn="ctr"/>
              <a:r>
                <a:rPr lang="en-US" altLang="ko-KR" sz="900" b="1" dirty="0" err="1" smtClean="0">
                  <a:solidFill>
                    <a:srgbClr val="0000FF"/>
                  </a:solidFill>
                </a:rPr>
                <a:t>Mva</a:t>
              </a:r>
              <a:r>
                <a:rPr lang="en-US" altLang="ko-KR" sz="900" b="1" dirty="0" smtClean="0">
                  <a:solidFill>
                    <a:srgbClr val="0000FF"/>
                  </a:solidFill>
                </a:rPr>
                <a:t> PTC</a:t>
              </a:r>
              <a:endParaRPr lang="ko-KR" altLang="en-US" sz="900" b="1" dirty="0">
                <a:solidFill>
                  <a:srgbClr val="0000FF"/>
                </a:solidFill>
              </a:endParaRPr>
            </a:p>
          </p:txBody>
        </p:sp>
        <p:cxnSp>
          <p:nvCxnSpPr>
            <p:cNvPr id="339" name="직선 연결선 338"/>
            <p:cNvCxnSpPr/>
            <p:nvPr/>
          </p:nvCxnSpPr>
          <p:spPr bwMode="auto">
            <a:xfrm>
              <a:off x="5024360" y="3284984"/>
              <a:ext cx="0" cy="1945447"/>
            </a:xfrm>
            <a:prstGeom prst="line">
              <a:avLst/>
            </a:prstGeom>
            <a:noFill/>
            <a:ln w="25400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0" name="직선 연결선 339"/>
            <p:cNvCxnSpPr>
              <a:endCxn id="341" idx="1"/>
            </p:cNvCxnSpPr>
            <p:nvPr/>
          </p:nvCxnSpPr>
          <p:spPr bwMode="auto">
            <a:xfrm>
              <a:off x="5096350" y="3284984"/>
              <a:ext cx="0" cy="1951053"/>
            </a:xfrm>
            <a:prstGeom prst="line">
              <a:avLst/>
            </a:prstGeom>
            <a:noFill/>
            <a:ln w="25400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dash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341" name="막힌 원호 340"/>
            <p:cNvSpPr/>
            <p:nvPr/>
          </p:nvSpPr>
          <p:spPr>
            <a:xfrm flipV="1">
              <a:off x="5024802" y="5209563"/>
              <a:ext cx="71566" cy="51340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342" name="직선 연결선 341"/>
            <p:cNvCxnSpPr>
              <a:endCxn id="343" idx="1"/>
            </p:cNvCxnSpPr>
            <p:nvPr/>
          </p:nvCxnSpPr>
          <p:spPr bwMode="auto">
            <a:xfrm>
              <a:off x="5305856" y="3284984"/>
              <a:ext cx="0" cy="1953425"/>
            </a:xfrm>
            <a:prstGeom prst="line">
              <a:avLst/>
            </a:prstGeom>
            <a:noFill/>
            <a:ln w="25400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dash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343" name="막힌 원호 342"/>
            <p:cNvSpPr/>
            <p:nvPr/>
          </p:nvSpPr>
          <p:spPr>
            <a:xfrm flipV="1">
              <a:off x="5234308" y="5211935"/>
              <a:ext cx="71566" cy="51340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344" name="직선 연결선 343"/>
            <p:cNvCxnSpPr/>
            <p:nvPr/>
          </p:nvCxnSpPr>
          <p:spPr bwMode="auto">
            <a:xfrm>
              <a:off x="5234308" y="3284984"/>
              <a:ext cx="0" cy="1969569"/>
            </a:xfrm>
            <a:prstGeom prst="line">
              <a:avLst/>
            </a:prstGeom>
            <a:noFill/>
            <a:ln w="25400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5" name="직선 연결선 344"/>
            <p:cNvCxnSpPr>
              <a:endCxn id="346" idx="1"/>
            </p:cNvCxnSpPr>
            <p:nvPr/>
          </p:nvCxnSpPr>
          <p:spPr bwMode="auto">
            <a:xfrm>
              <a:off x="5483675" y="3284984"/>
              <a:ext cx="0" cy="1954471"/>
            </a:xfrm>
            <a:prstGeom prst="line">
              <a:avLst/>
            </a:prstGeom>
            <a:noFill/>
            <a:ln w="25400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dash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346" name="막힌 원호 345"/>
            <p:cNvSpPr/>
            <p:nvPr/>
          </p:nvSpPr>
          <p:spPr>
            <a:xfrm flipV="1">
              <a:off x="5412127" y="5212981"/>
              <a:ext cx="71566" cy="51340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347" name="직선 연결선 346"/>
            <p:cNvCxnSpPr/>
            <p:nvPr/>
          </p:nvCxnSpPr>
          <p:spPr bwMode="auto">
            <a:xfrm>
              <a:off x="5412127" y="3284984"/>
              <a:ext cx="0" cy="1970615"/>
            </a:xfrm>
            <a:prstGeom prst="line">
              <a:avLst/>
            </a:prstGeom>
            <a:noFill/>
            <a:ln w="25400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8" name="직선 연결선 347"/>
            <p:cNvCxnSpPr>
              <a:endCxn id="349" idx="1"/>
            </p:cNvCxnSpPr>
            <p:nvPr/>
          </p:nvCxnSpPr>
          <p:spPr bwMode="auto">
            <a:xfrm>
              <a:off x="5670439" y="3284984"/>
              <a:ext cx="0" cy="1954471"/>
            </a:xfrm>
            <a:prstGeom prst="line">
              <a:avLst/>
            </a:prstGeom>
            <a:noFill/>
            <a:ln w="25400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dash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349" name="막힌 원호 348"/>
            <p:cNvSpPr/>
            <p:nvPr/>
          </p:nvSpPr>
          <p:spPr>
            <a:xfrm flipV="1">
              <a:off x="5598891" y="5212981"/>
              <a:ext cx="71566" cy="51340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350" name="직선 연결선 349"/>
            <p:cNvCxnSpPr/>
            <p:nvPr/>
          </p:nvCxnSpPr>
          <p:spPr bwMode="auto">
            <a:xfrm>
              <a:off x="5598891" y="3284984"/>
              <a:ext cx="0" cy="1970615"/>
            </a:xfrm>
            <a:prstGeom prst="line">
              <a:avLst/>
            </a:prstGeom>
            <a:noFill/>
            <a:ln w="25400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1" name="직선 연결선 350"/>
            <p:cNvCxnSpPr>
              <a:endCxn id="352" idx="1"/>
            </p:cNvCxnSpPr>
            <p:nvPr/>
          </p:nvCxnSpPr>
          <p:spPr bwMode="auto">
            <a:xfrm>
              <a:off x="5857203" y="3284984"/>
              <a:ext cx="0" cy="1949995"/>
            </a:xfrm>
            <a:prstGeom prst="line">
              <a:avLst/>
            </a:prstGeom>
            <a:noFill/>
            <a:ln w="25400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dash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352" name="막힌 원호 351"/>
            <p:cNvSpPr/>
            <p:nvPr/>
          </p:nvSpPr>
          <p:spPr>
            <a:xfrm flipV="1">
              <a:off x="5785655" y="5208505"/>
              <a:ext cx="71566" cy="51340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353" name="직선 연결선 352"/>
            <p:cNvCxnSpPr/>
            <p:nvPr/>
          </p:nvCxnSpPr>
          <p:spPr bwMode="auto">
            <a:xfrm>
              <a:off x="5785655" y="3284984"/>
              <a:ext cx="0" cy="1966139"/>
            </a:xfrm>
            <a:prstGeom prst="line">
              <a:avLst/>
            </a:prstGeom>
            <a:noFill/>
            <a:ln w="25400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4" name="직선 연결선 353"/>
            <p:cNvCxnSpPr>
              <a:endCxn id="355" idx="1"/>
            </p:cNvCxnSpPr>
            <p:nvPr/>
          </p:nvCxnSpPr>
          <p:spPr bwMode="auto">
            <a:xfrm>
              <a:off x="6053180" y="3284984"/>
              <a:ext cx="0" cy="1947047"/>
            </a:xfrm>
            <a:prstGeom prst="line">
              <a:avLst/>
            </a:prstGeom>
            <a:noFill/>
            <a:ln w="25400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dash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355" name="막힌 원호 354"/>
            <p:cNvSpPr/>
            <p:nvPr/>
          </p:nvSpPr>
          <p:spPr>
            <a:xfrm flipV="1">
              <a:off x="5981632" y="5205557"/>
              <a:ext cx="71566" cy="51340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356" name="직선 연결선 355"/>
            <p:cNvCxnSpPr/>
            <p:nvPr/>
          </p:nvCxnSpPr>
          <p:spPr bwMode="auto">
            <a:xfrm>
              <a:off x="5971027" y="3284984"/>
              <a:ext cx="0" cy="1978571"/>
            </a:xfrm>
            <a:prstGeom prst="line">
              <a:avLst/>
            </a:prstGeom>
            <a:noFill/>
            <a:ln w="25400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7" name="직사각형 356"/>
            <p:cNvSpPr/>
            <p:nvPr/>
          </p:nvSpPr>
          <p:spPr>
            <a:xfrm>
              <a:off x="4905702" y="3212976"/>
              <a:ext cx="1280581" cy="20882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8" name="막힌 원호 357"/>
            <p:cNvSpPr/>
            <p:nvPr/>
          </p:nvSpPr>
          <p:spPr>
            <a:xfrm>
              <a:off x="5101206" y="3259314"/>
              <a:ext cx="137544" cy="45719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9" name="막힌 원호 358"/>
            <p:cNvSpPr/>
            <p:nvPr/>
          </p:nvSpPr>
          <p:spPr>
            <a:xfrm>
              <a:off x="5479031" y="3259314"/>
              <a:ext cx="137544" cy="45719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0" name="막힌 원호 359"/>
            <p:cNvSpPr/>
            <p:nvPr/>
          </p:nvSpPr>
          <p:spPr>
            <a:xfrm>
              <a:off x="5847331" y="3259314"/>
              <a:ext cx="137544" cy="45719"/>
            </a:xfrm>
            <a:prstGeom prst="blockArc">
              <a:avLst>
                <a:gd name="adj1" fmla="val 10800000"/>
                <a:gd name="adj2" fmla="val 21522722"/>
                <a:gd name="adj3" fmla="val 0"/>
              </a:avLst>
            </a:prstGeom>
            <a:solidFill>
              <a:srgbClr val="FFC000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6" name="그림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8307" y="1483185"/>
            <a:ext cx="2051228" cy="461281"/>
          </a:xfrm>
          <a:prstGeom prst="rect">
            <a:avLst/>
          </a:prstGeom>
        </p:spPr>
      </p:pic>
      <p:pic>
        <p:nvPicPr>
          <p:cNvPr id="76" name="그림 7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7940" y="1483185"/>
            <a:ext cx="2051228" cy="461281"/>
          </a:xfrm>
          <a:prstGeom prst="rect">
            <a:avLst/>
          </a:prstGeom>
        </p:spPr>
      </p:pic>
      <p:sp>
        <p:nvSpPr>
          <p:cNvPr id="370" name="Text Box 3">
            <a:extLst>
              <a:ext uri="{FF2B5EF4-FFF2-40B4-BE49-F238E27FC236}">
                <a16:creationId xmlns:a16="http://schemas.microsoft.com/office/drawing/2014/main" id="{9BF71E5E-C3B1-4C00-BC56-49B59E9E937B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7352772" y="2054906"/>
            <a:ext cx="1035652" cy="4385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900" b="1" dirty="0"/>
              <a:t>&lt;JOIN PCB</a:t>
            </a:r>
            <a:r>
              <a:rPr lang="en-US" altLang="ko-KR" sz="900" b="1" dirty="0" smtClean="0"/>
              <a:t>&gt;</a:t>
            </a:r>
          </a:p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ko-KR" altLang="en-US" sz="900" b="1" dirty="0" smtClean="0"/>
              <a:t>병렬 구조</a:t>
            </a:r>
            <a:endParaRPr lang="en-US" altLang="ko-KR" sz="900" b="1" dirty="0"/>
          </a:p>
        </p:txBody>
      </p:sp>
      <p:cxnSp>
        <p:nvCxnSpPr>
          <p:cNvPr id="371" name="직선 화살표 연결선 370"/>
          <p:cNvCxnSpPr/>
          <p:nvPr/>
        </p:nvCxnSpPr>
        <p:spPr bwMode="auto">
          <a:xfrm>
            <a:off x="7143330" y="1827098"/>
            <a:ext cx="1431875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2" name="Text Box 3">
            <a:extLst>
              <a:ext uri="{FF2B5EF4-FFF2-40B4-BE49-F238E27FC236}">
                <a16:creationId xmlns:a16="http://schemas.microsoft.com/office/drawing/2014/main" id="{9BF71E5E-C3B1-4C00-BC56-49B59E9E937B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8508512" y="1795042"/>
            <a:ext cx="387166" cy="20005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7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(+)</a:t>
            </a:r>
            <a:endParaRPr lang="en-US" altLang="ko-KR" sz="7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5" name="Text Box 3">
            <a:extLst>
              <a:ext uri="{FF2B5EF4-FFF2-40B4-BE49-F238E27FC236}">
                <a16:creationId xmlns:a16="http://schemas.microsoft.com/office/drawing/2014/main" id="{9BF71E5E-C3B1-4C00-BC56-49B59E9E937B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8508512" y="1441832"/>
            <a:ext cx="387166" cy="20005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7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(-)</a:t>
            </a:r>
            <a:endParaRPr lang="en-US" altLang="ko-KR" sz="7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 cstate="print">
            <a:extLst/>
          </a:blip>
          <a:srcRect t="3006" b="2301"/>
          <a:stretch/>
        </p:blipFill>
        <p:spPr>
          <a:xfrm rot="16200000">
            <a:off x="885184" y="892368"/>
            <a:ext cx="804910" cy="19828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5155" y="2294850"/>
            <a:ext cx="13856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smtClean="0"/>
              <a:t>&lt;PCB ASS’Y 800V&gt;</a:t>
            </a:r>
            <a:endParaRPr lang="ko-KR" altLang="en-US" sz="900" b="1" dirty="0"/>
          </a:p>
        </p:txBody>
      </p:sp>
      <p:sp>
        <p:nvSpPr>
          <p:cNvPr id="91" name="Text Box 3">
            <a:extLst>
              <a:ext uri="{FF2B5EF4-FFF2-40B4-BE49-F238E27FC236}">
                <a16:creationId xmlns:a16="http://schemas.microsoft.com/office/drawing/2014/main" id="{9BF71E5E-C3B1-4C00-BC56-49B59E9E937B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2987824" y="2054906"/>
            <a:ext cx="1035652" cy="4385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900" b="1" dirty="0"/>
              <a:t>&lt;JOIN PCB</a:t>
            </a:r>
            <a:r>
              <a:rPr lang="en-US" altLang="ko-KR" sz="900" b="1" dirty="0" smtClean="0"/>
              <a:t>&gt;</a:t>
            </a:r>
          </a:p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ko-KR" altLang="en-US" sz="900" b="1" dirty="0"/>
              <a:t>직</a:t>
            </a:r>
            <a:r>
              <a:rPr lang="ko-KR" altLang="en-US" sz="900" b="1" dirty="0" smtClean="0"/>
              <a:t>렬 구조</a:t>
            </a:r>
            <a:endParaRPr lang="en-US" altLang="ko-KR" sz="900" b="1" dirty="0"/>
          </a:p>
        </p:txBody>
      </p:sp>
      <p:cxnSp>
        <p:nvCxnSpPr>
          <p:cNvPr id="92" name="직선 화살표 연결선 91"/>
          <p:cNvCxnSpPr/>
          <p:nvPr/>
        </p:nvCxnSpPr>
        <p:spPr bwMode="auto">
          <a:xfrm flipV="1">
            <a:off x="2780748" y="1542427"/>
            <a:ext cx="0" cy="297808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3" name="Text Box 3">
            <a:extLst>
              <a:ext uri="{FF2B5EF4-FFF2-40B4-BE49-F238E27FC236}">
                <a16:creationId xmlns:a16="http://schemas.microsoft.com/office/drawing/2014/main" id="{9BF71E5E-C3B1-4C00-BC56-49B59E9E937B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2600276" y="2101835"/>
            <a:ext cx="387166" cy="20005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7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(+)</a:t>
            </a:r>
            <a:endParaRPr lang="en-US" altLang="ko-KR" sz="7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77" name="직선 화살표 연결선 76"/>
          <p:cNvCxnSpPr/>
          <p:nvPr/>
        </p:nvCxnSpPr>
        <p:spPr bwMode="auto">
          <a:xfrm>
            <a:off x="7143330" y="1542427"/>
            <a:ext cx="1431875" cy="0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 bwMode="auto">
          <a:xfrm flipV="1">
            <a:off x="3030914" y="1542427"/>
            <a:ext cx="0" cy="297808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 bwMode="auto">
          <a:xfrm flipV="1">
            <a:off x="3350092" y="1542427"/>
            <a:ext cx="0" cy="297808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/>
          <p:nvPr/>
        </p:nvCxnSpPr>
        <p:spPr bwMode="auto">
          <a:xfrm flipV="1">
            <a:off x="3626137" y="1542427"/>
            <a:ext cx="0" cy="297808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/>
          <p:nvPr/>
        </p:nvCxnSpPr>
        <p:spPr bwMode="auto">
          <a:xfrm flipV="1">
            <a:off x="3919435" y="1542427"/>
            <a:ext cx="0" cy="297808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 bwMode="auto">
          <a:xfrm flipV="1">
            <a:off x="4212733" y="1542427"/>
            <a:ext cx="0" cy="297808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 bwMode="auto">
          <a:xfrm>
            <a:off x="2743858" y="1533800"/>
            <a:ext cx="324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/>
          <p:nvPr/>
        </p:nvCxnSpPr>
        <p:spPr bwMode="auto">
          <a:xfrm>
            <a:off x="3002650" y="1801218"/>
            <a:ext cx="324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 bwMode="auto">
          <a:xfrm>
            <a:off x="3606499" y="1801218"/>
            <a:ext cx="324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 bwMode="auto">
          <a:xfrm>
            <a:off x="3313202" y="1533800"/>
            <a:ext cx="324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 bwMode="auto">
          <a:xfrm>
            <a:off x="3899799" y="1533800"/>
            <a:ext cx="324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9" name="오른쪽 화살표 98"/>
          <p:cNvSpPr/>
          <p:nvPr/>
        </p:nvSpPr>
        <p:spPr>
          <a:xfrm rot="16200000">
            <a:off x="2684737" y="1948086"/>
            <a:ext cx="208355" cy="10320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오른쪽 화살표 99"/>
          <p:cNvSpPr/>
          <p:nvPr/>
        </p:nvSpPr>
        <p:spPr>
          <a:xfrm rot="5400000" flipV="1">
            <a:off x="4110237" y="1948088"/>
            <a:ext cx="208355" cy="10320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 Box 3">
            <a:extLst>
              <a:ext uri="{FF2B5EF4-FFF2-40B4-BE49-F238E27FC236}">
                <a16:creationId xmlns:a16="http://schemas.microsoft.com/office/drawing/2014/main" id="{9BF71E5E-C3B1-4C00-BC56-49B59E9E937B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4028235" y="2101835"/>
            <a:ext cx="387166" cy="20005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7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(-)</a:t>
            </a:r>
            <a:endParaRPr lang="en-US" altLang="ko-KR" sz="7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2643117" y="4308783"/>
            <a:ext cx="1612350" cy="862073"/>
          </a:xfrm>
          <a:prstGeom prst="rect">
            <a:avLst/>
          </a:prstGeom>
        </p:spPr>
      </p:pic>
      <p:pic>
        <p:nvPicPr>
          <p:cNvPr id="103" name="그림 1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7111601" y="4308783"/>
            <a:ext cx="1612350" cy="862073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7270060" y="5676404"/>
            <a:ext cx="13856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smtClean="0"/>
              <a:t>&lt;HEAT ROD 6EA&gt;</a:t>
            </a:r>
            <a:endParaRPr lang="ko-KR" altLang="en-US" sz="900" b="1" dirty="0"/>
          </a:p>
        </p:txBody>
      </p:sp>
      <p:sp>
        <p:nvSpPr>
          <p:cNvPr id="105" name="TextBox 104"/>
          <p:cNvSpPr txBox="1"/>
          <p:nvPr/>
        </p:nvSpPr>
        <p:spPr>
          <a:xfrm>
            <a:off x="2784324" y="5676404"/>
            <a:ext cx="13856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smtClean="0"/>
              <a:t>&lt;HEAT ROD 6EA&gt;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88759953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초격차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로드맵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666262"/>
              </p:ext>
            </p:extLst>
          </p:nvPr>
        </p:nvGraphicFramePr>
        <p:xfrm>
          <a:off x="86766" y="836712"/>
          <a:ext cx="8967748" cy="5668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6828">
                  <a:extLst>
                    <a:ext uri="{9D8B030D-6E8A-4147-A177-3AD203B41FA5}">
                      <a16:colId xmlns:a16="http://schemas.microsoft.com/office/drawing/2014/main" val="3081778925"/>
                    </a:ext>
                  </a:extLst>
                </a:gridCol>
                <a:gridCol w="4156585">
                  <a:extLst>
                    <a:ext uri="{9D8B030D-6E8A-4147-A177-3AD203B41FA5}">
                      <a16:colId xmlns:a16="http://schemas.microsoft.com/office/drawing/2014/main" val="4048630161"/>
                    </a:ext>
                  </a:extLst>
                </a:gridCol>
                <a:gridCol w="4124335">
                  <a:extLst>
                    <a:ext uri="{9D8B030D-6E8A-4147-A177-3AD203B41FA5}">
                      <a16:colId xmlns:a16="http://schemas.microsoft.com/office/drawing/2014/main" val="358197978"/>
                    </a:ext>
                  </a:extLst>
                </a:gridCol>
              </a:tblGrid>
              <a:tr h="2791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dirty="0" smtClean="0">
                          <a:ea typeface="현대하모니 B" panose="02020603020101020101"/>
                        </a:rPr>
                        <a:t>구분</a:t>
                      </a:r>
                      <a:endParaRPr lang="ko-KR" altLang="en-US" sz="1100" b="1" i="0" dirty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ROD</a:t>
                      </a:r>
                      <a:r>
                        <a:rPr lang="en-US" altLang="ko-KR" sz="1100" b="1" i="0" baseline="0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 </a:t>
                      </a:r>
                      <a:r>
                        <a:rPr lang="ko-KR" altLang="en-US" sz="1100" b="1" i="0" baseline="0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직렬 </a:t>
                      </a:r>
                      <a:r>
                        <a:rPr lang="en-US" altLang="ko-KR" sz="1100" b="1" i="0" baseline="0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(Series</a:t>
                      </a:r>
                      <a:r>
                        <a:rPr lang="en-US" altLang="ko-KR" sz="1100" b="1" baseline="0" dirty="0" smtClean="0"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)</a:t>
                      </a:r>
                      <a:endParaRPr lang="ko-KR" altLang="en-US" sz="1100" b="1" i="0" dirty="0">
                        <a:solidFill>
                          <a:schemeClr val="tx1"/>
                        </a:solidFill>
                        <a:latin typeface="현대하모니 B" panose="02020603020101020101" pitchFamily="18" charset="-127"/>
                        <a:ea typeface="현대하모니 B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ROD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병렬 </a:t>
                      </a:r>
                      <a:r>
                        <a:rPr lang="en-US" altLang="ko-KR" sz="1100" b="1" i="0" baseline="0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(Parallel</a:t>
                      </a:r>
                      <a:r>
                        <a:rPr lang="en-US" altLang="ko-KR" sz="1100" b="1" baseline="0" dirty="0" smtClean="0"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현대하모니 B" panose="02020603020101020101" pitchFamily="18" charset="-127"/>
                        <a:ea typeface="현대하모니 B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500562"/>
                  </a:ext>
                </a:extLst>
              </a:tr>
              <a:tr h="2052000"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dirty="0" smtClean="0">
                          <a:latin typeface="+mj-lt"/>
                          <a:ea typeface="현대하모니 B" panose="02020603020101020101"/>
                        </a:rPr>
                        <a:t>ROD</a:t>
                      </a: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1" dirty="0" smtClean="0">
                          <a:latin typeface="+mj-lt"/>
                          <a:ea typeface="현대하모니 B" panose="02020603020101020101"/>
                        </a:rPr>
                        <a:t>구성</a:t>
                      </a:r>
                      <a:endParaRPr lang="en-US" altLang="ko-KR" sz="900" b="1" dirty="0" smtClean="0">
                        <a:latin typeface="+mj-lt"/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743881"/>
                  </a:ext>
                </a:extLst>
              </a:tr>
              <a:tr h="1290763"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1" dirty="0" smtClean="0">
                          <a:latin typeface="+mj-lt"/>
                          <a:ea typeface="현대하모니 B" panose="02020603020101020101"/>
                        </a:rPr>
                        <a:t>특성</a:t>
                      </a:r>
                      <a:endParaRPr lang="en-US" altLang="ko-KR" sz="900" b="1" dirty="0" smtClean="0">
                        <a:latin typeface="+mj-lt"/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900" b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전류 </a:t>
                      </a:r>
                      <a:r>
                        <a:rPr lang="en-US" altLang="ko-KR" sz="900" b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900" b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모두 동일</a:t>
                      </a:r>
                      <a:endParaRPr lang="en-US" altLang="ko-KR" sz="900" b="0" dirty="0" smtClean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indent="-17145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900" b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전압 </a:t>
                      </a:r>
                      <a:r>
                        <a:rPr lang="en-US" altLang="ko-KR" sz="900" b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900" b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각 저항에 </a:t>
                      </a:r>
                      <a:r>
                        <a:rPr lang="ko-KR" altLang="en-US" sz="900" b="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부배됨</a:t>
                      </a:r>
                      <a:r>
                        <a:rPr lang="ko-KR" altLang="en-US" sz="900" b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endParaRPr lang="en-US" altLang="ko-KR" sz="900" b="0" dirty="0" smtClean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→ 이상적으로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654V / 6 =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약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109V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씩 분대 됨</a:t>
                      </a:r>
                      <a:endParaRPr lang="en-US" altLang="ko-KR" sz="900" b="0" baseline="0" dirty="0" smtClean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900" b="0" baseline="0" dirty="0" smtClean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※ 6300W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기준 작성 </a:t>
                      </a:r>
                      <a:endParaRPr lang="en-US" altLang="ko-KR" sz="900" b="0" baseline="0" dirty="0" smtClean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indent="-17145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MVA FRONT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기준 </a:t>
                      </a:r>
                      <a:r>
                        <a:rPr lang="en-US" altLang="ko-KR" sz="900" b="0" baseline="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Vmin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270V , </a:t>
                      </a:r>
                      <a:r>
                        <a:rPr lang="en-US" altLang="ko-KR" sz="900" b="0" baseline="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Vn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654V, </a:t>
                      </a:r>
                      <a:r>
                        <a:rPr lang="en-US" altLang="ko-KR" sz="900" b="0" baseline="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Vmax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865V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직렬 저항 기준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en-US" altLang="ko-KR" sz="900" b="1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Vmin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12</a:t>
                      </a:r>
                      <a:r>
                        <a:rPr lang="el-GR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Ω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, </a:t>
                      </a:r>
                      <a:r>
                        <a:rPr lang="en-US" altLang="ko-KR" sz="900" b="1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Vn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68</a:t>
                      </a:r>
                      <a:r>
                        <a:rPr lang="el-GR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Ω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, </a:t>
                      </a:r>
                      <a:r>
                        <a:rPr lang="en-US" altLang="ko-KR" sz="900" b="1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Vmax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119</a:t>
                      </a:r>
                      <a:r>
                        <a:rPr lang="el-GR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Ω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</a:t>
                      </a: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→ 저항 발열 시 저항 오차율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5% ( COD </a:t>
                      </a: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확인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   [</a:t>
                      </a:r>
                      <a:r>
                        <a:rPr lang="ko-KR" altLang="en-US" sz="900" b="1" baseline="0" dirty="0" smtClean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저항이 상승함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]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ROD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당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1050W 4.815A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IGBT HIGH 1EA LOW SIDE 2EA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→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IGBT HIGH SIDE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┖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HIGH SIDE IGBT </a:t>
                      </a: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약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9.63A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→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IGBT LOW SIDE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</a:t>
                      </a: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┖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LOW SIDE IGBT </a:t>
                      </a: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하나당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ROD3 EA </a:t>
                      </a: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약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4.815A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전압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전부 동일 </a:t>
                      </a:r>
                      <a:endParaRPr lang="en-US" altLang="ko-KR" sz="900" b="0" baseline="0" dirty="0" smtClean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→ 각 저항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654V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그대로 입력 됨 </a:t>
                      </a:r>
                      <a:endParaRPr lang="en-US" altLang="ko-KR" sz="900" b="0" baseline="0" dirty="0" smtClean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전류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분기됨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각 저항으로 나눠짐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en-US" altLang="ko-KR" sz="900" b="0" baseline="0" dirty="0" smtClean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※ 6300W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기준 작성 </a:t>
                      </a:r>
                      <a:endParaRPr lang="en-US" altLang="ko-KR" sz="900" b="0" baseline="0" dirty="0" smtClean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indent="-17145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MVA FRONT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기준 </a:t>
                      </a:r>
                      <a:r>
                        <a:rPr lang="en-US" altLang="ko-KR" sz="900" b="0" baseline="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Vmin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270V , </a:t>
                      </a:r>
                      <a:r>
                        <a:rPr lang="en-US" altLang="ko-KR" sz="900" b="0" baseline="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Vn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654V, </a:t>
                      </a:r>
                      <a:r>
                        <a:rPr lang="en-US" altLang="ko-KR" sz="900" b="0" baseline="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Vmax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865V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 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병렬 저항 기준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en-US" altLang="ko-KR" sz="900" b="1" baseline="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Vmin</a:t>
                      </a:r>
                      <a:r>
                        <a:rPr lang="en-US" altLang="ko-KR" sz="9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70</a:t>
                      </a:r>
                      <a:r>
                        <a:rPr lang="el-GR" altLang="ko-KR" sz="9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Ω</a:t>
                      </a:r>
                      <a:r>
                        <a:rPr lang="en-US" altLang="ko-KR" sz="9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, </a:t>
                      </a:r>
                      <a:r>
                        <a:rPr lang="en-US" altLang="ko-KR" sz="900" b="1" baseline="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Vn</a:t>
                      </a:r>
                      <a:r>
                        <a:rPr lang="en-US" altLang="ko-KR" sz="9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407</a:t>
                      </a:r>
                      <a:r>
                        <a:rPr lang="el-GR" altLang="ko-KR" sz="9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Ω</a:t>
                      </a:r>
                      <a:r>
                        <a:rPr lang="en-US" altLang="ko-KR" sz="9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, </a:t>
                      </a:r>
                      <a:r>
                        <a:rPr lang="en-US" altLang="ko-KR" sz="900" b="1" baseline="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Vmax</a:t>
                      </a:r>
                      <a:r>
                        <a:rPr lang="en-US" altLang="ko-KR" sz="9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: 712</a:t>
                      </a:r>
                      <a:r>
                        <a:rPr lang="el-GR" altLang="ko-KR" sz="900" b="1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Ω</a:t>
                      </a:r>
                      <a:endParaRPr lang="en-US" altLang="ko-KR" sz="900" b="1" baseline="0" dirty="0" smtClean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→ 저항 발열 시 저항 오차율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5% ( COD </a:t>
                      </a: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확인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      [</a:t>
                      </a:r>
                      <a:r>
                        <a:rPr lang="ko-KR" altLang="en-US" sz="900" b="1" baseline="0" dirty="0" smtClean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저항이 상승함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]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ROD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당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1050W 1.61A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IGBT HIGH 1EA LOW SIDE 2EA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→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IGBT HIGH SIDE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┖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HIGH SIDE IGBT </a:t>
                      </a: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약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9.63A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→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IGBT LOW SIDE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</a:t>
                      </a: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┖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LOW SIDE IGBT </a:t>
                      </a: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하나당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ROD3 EA </a:t>
                      </a:r>
                      <a:r>
                        <a:rPr lang="ko-KR" altLang="en-US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약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4.815A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530297"/>
                  </a:ext>
                </a:extLst>
              </a:tr>
              <a:tr h="1157235"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1" dirty="0" smtClean="0">
                          <a:latin typeface="+mj-lt"/>
                          <a:ea typeface="현대하모니 B" panose="02020603020101020101"/>
                        </a:rPr>
                        <a:t>유의 </a:t>
                      </a:r>
                      <a:r>
                        <a:rPr lang="ko-KR" altLang="en-US" sz="900" b="1" baseline="0" dirty="0" smtClean="0">
                          <a:latin typeface="+mj-lt"/>
                          <a:ea typeface="현대하모니 B" panose="02020603020101020101"/>
                        </a:rPr>
                        <a:t>사항</a:t>
                      </a:r>
                      <a:endParaRPr lang="en-US" altLang="ko-KR" sz="900" b="1" dirty="0" smtClean="0">
                        <a:latin typeface="+mj-lt"/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성능 만족 전압에 대해서 기준을 정해야 함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</a:t>
                      </a:r>
                    </a:p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→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MVA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기준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270V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전압으로는 저항이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r>
                        <a:rPr lang="el-GR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Ω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임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900" b="0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 </a:t>
                      </a:r>
                      <a:r>
                        <a:rPr lang="en-US" altLang="ko-KR" sz="900" b="1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 </a:t>
                      </a:r>
                      <a:r>
                        <a:rPr lang="ko-KR" altLang="en-US" sz="900" b="1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성능을 만족 하려면 </a:t>
                      </a:r>
                      <a:r>
                        <a:rPr lang="en-US" altLang="ko-KR" sz="900" b="1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6.3KW </a:t>
                      </a:r>
                      <a:r>
                        <a:rPr lang="ko-KR" altLang="en-US" sz="900" b="1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기준이 아닌 </a:t>
                      </a:r>
                      <a:r>
                        <a:rPr lang="en-US" altLang="ko-KR" sz="900" b="1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7~7.5KW </a:t>
                      </a:r>
                      <a:r>
                        <a:rPr lang="ko-KR" altLang="en-US" sz="900" b="1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기준으로 진행 해야함 </a:t>
                      </a:r>
                      <a:r>
                        <a:rPr lang="en-US" altLang="ko-KR" sz="900" b="1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171450" indent="-17145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TCR (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온도 변화에 따른 저항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변화량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→ 직렬로 연결한 저항이 동일한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변화량을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가지고 있으면 괜찮지만 변화율이 다르면 한 저항에 열 폭주 가능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  CORE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온도 센서에 대해서 구성 방안 필요 </a:t>
                      </a:r>
                      <a:r>
                        <a:rPr lang="en-US" altLang="ko-KR" sz="900" b="0" baseline="0" dirty="0" smtClean="0">
                          <a:ea typeface="현대하모니 B" panose="02020603020101020101"/>
                        </a:rPr>
                        <a:t>.</a:t>
                      </a:r>
                      <a:endParaRPr lang="en-US" altLang="ko-KR" sz="900" b="0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900" b="1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성능 만족 전압에 대해서 기준을 정해야 함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</a:t>
                      </a:r>
                    </a:p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→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MVA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기준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270V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전압으로는 저항이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r>
                        <a:rPr lang="el-GR" altLang="ko-KR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Ω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임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900" b="1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 ( </a:t>
                      </a:r>
                      <a:r>
                        <a:rPr lang="ko-KR" altLang="en-US" sz="900" b="1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성능을 만족 하려면 </a:t>
                      </a:r>
                      <a:r>
                        <a:rPr lang="en-US" altLang="ko-KR" sz="900" b="1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6.3KW </a:t>
                      </a:r>
                      <a:r>
                        <a:rPr lang="ko-KR" altLang="en-US" sz="900" b="1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기준이 아닌 </a:t>
                      </a:r>
                      <a:r>
                        <a:rPr lang="en-US" altLang="ko-KR" sz="900" b="1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7~7.5KW </a:t>
                      </a:r>
                      <a:r>
                        <a:rPr lang="ko-KR" altLang="en-US" sz="900" b="1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기준으로 진행 해야함 </a:t>
                      </a:r>
                      <a:r>
                        <a:rPr lang="en-US" altLang="ko-KR" sz="900" b="1" baseline="0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CORE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온도 센서에 대해서 구성 방안 필요 </a:t>
                      </a:r>
                      <a:r>
                        <a:rPr lang="en-US" altLang="ko-KR" sz="900" b="0" baseline="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</a:t>
                      </a:r>
                      <a:endParaRPr lang="en-US" altLang="ko-KR" sz="900" b="0" dirty="0" smtClean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605070"/>
                  </a:ext>
                </a:extLst>
              </a:tr>
            </a:tbl>
          </a:graphicData>
        </a:graphic>
      </p:graphicFrame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117585" y="576207"/>
            <a:ext cx="821799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▶ 하드웨어 </a:t>
            </a:r>
            <a:r>
              <a:rPr lang="en-US" altLang="ko-KR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ROD </a:t>
            </a:r>
            <a:r>
              <a:rPr lang="ko-KR" altLang="en-US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구성 비교  </a:t>
            </a:r>
            <a:r>
              <a:rPr lang="en-US" altLang="ko-KR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</a:t>
            </a:r>
            <a:endParaRPr lang="en-US" altLang="ko-KR" sz="14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30" y="1196752"/>
            <a:ext cx="3757982" cy="18669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033" y="1177702"/>
            <a:ext cx="3888432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06668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Box 3">
            <a:extLst>
              <a:ext uri="{FF2B5EF4-FFF2-40B4-BE49-F238E27FC236}">
                <a16:creationId xmlns:a16="http://schemas.microsoft.com/office/drawing/2014/main" id="{9BF71E5E-C3B1-4C00-BC56-49B59E9E937B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35496" y="576769"/>
            <a:ext cx="4444891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u="sng" spc="-91" dirty="0">
                <a:latin typeface="+mj-ea"/>
                <a:ea typeface="+mj-ea"/>
                <a:cs typeface="Tahoma" panose="020B0604030504040204" pitchFamily="34" charset="0"/>
              </a:rPr>
              <a:t>1. </a:t>
            </a:r>
            <a:r>
              <a:rPr lang="ko-KR" altLang="en-US" sz="1200" b="1" u="sng" spc="-91" dirty="0">
                <a:latin typeface="+mj-ea"/>
                <a:ea typeface="+mj-ea"/>
                <a:cs typeface="Tahoma" panose="020B0604030504040204" pitchFamily="34" charset="0"/>
              </a:rPr>
              <a:t>적용 가능성 검토 내용 </a:t>
            </a:r>
            <a:r>
              <a:rPr lang="en-US" altLang="ko-KR" sz="1200" b="1" u="sng" spc="-91" dirty="0">
                <a:latin typeface="+mj-ea"/>
                <a:ea typeface="+mj-ea"/>
                <a:cs typeface="Tahoma" panose="020B0604030504040204" pitchFamily="34" charset="0"/>
              </a:rPr>
              <a:t>(</a:t>
            </a:r>
            <a:r>
              <a:rPr lang="ko-KR" altLang="en-US" sz="1200" b="1" u="sng" spc="-91" dirty="0">
                <a:latin typeface="+mj-ea"/>
                <a:ea typeface="+mj-ea"/>
                <a:cs typeface="Tahoma" panose="020B0604030504040204" pitchFamily="34" charset="0"/>
              </a:rPr>
              <a:t>공정</a:t>
            </a:r>
            <a:r>
              <a:rPr lang="en-US" altLang="ko-KR" sz="1200" b="1" u="sng" spc="-91" dirty="0">
                <a:latin typeface="+mj-ea"/>
                <a:ea typeface="+mj-ea"/>
                <a:cs typeface="Tahoma" panose="020B0604030504040204" pitchFamily="34" charset="0"/>
              </a:rPr>
              <a:t>/</a:t>
            </a:r>
            <a:r>
              <a:rPr lang="ko-KR" altLang="en-US" sz="1200" b="1" u="sng" spc="-91" dirty="0">
                <a:latin typeface="+mj-ea"/>
                <a:ea typeface="+mj-ea"/>
                <a:cs typeface="Tahoma" panose="020B0604030504040204" pitchFamily="34" charset="0"/>
              </a:rPr>
              <a:t>단가</a:t>
            </a:r>
            <a:r>
              <a:rPr lang="en-US" altLang="ko-KR" sz="1200" b="1" u="sng" spc="-91" dirty="0">
                <a:latin typeface="+mj-ea"/>
                <a:ea typeface="+mj-ea"/>
                <a:cs typeface="Tahoma" panose="020B0604030504040204" pitchFamily="34" charset="0"/>
              </a:rPr>
              <a:t>)</a:t>
            </a:r>
          </a:p>
        </p:txBody>
      </p: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818832"/>
              </p:ext>
            </p:extLst>
          </p:nvPr>
        </p:nvGraphicFramePr>
        <p:xfrm>
          <a:off x="251520" y="950451"/>
          <a:ext cx="8712509" cy="11103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092">
                  <a:extLst>
                    <a:ext uri="{9D8B030D-6E8A-4147-A177-3AD203B41FA5}">
                      <a16:colId xmlns:a16="http://schemas.microsoft.com/office/drawing/2014/main" val="1321464569"/>
                    </a:ext>
                  </a:extLst>
                </a:gridCol>
                <a:gridCol w="803536">
                  <a:extLst>
                    <a:ext uri="{9D8B030D-6E8A-4147-A177-3AD203B41FA5}">
                      <a16:colId xmlns:a16="http://schemas.microsoft.com/office/drawing/2014/main" val="1035093076"/>
                    </a:ext>
                  </a:extLst>
                </a:gridCol>
                <a:gridCol w="736641">
                  <a:extLst>
                    <a:ext uri="{9D8B030D-6E8A-4147-A177-3AD203B41FA5}">
                      <a16:colId xmlns:a16="http://schemas.microsoft.com/office/drawing/2014/main" val="3693363731"/>
                    </a:ext>
                  </a:extLst>
                </a:gridCol>
                <a:gridCol w="736641">
                  <a:extLst>
                    <a:ext uri="{9D8B030D-6E8A-4147-A177-3AD203B41FA5}">
                      <a16:colId xmlns:a16="http://schemas.microsoft.com/office/drawing/2014/main" val="240457569"/>
                    </a:ext>
                  </a:extLst>
                </a:gridCol>
                <a:gridCol w="736641">
                  <a:extLst>
                    <a:ext uri="{9D8B030D-6E8A-4147-A177-3AD203B41FA5}">
                      <a16:colId xmlns:a16="http://schemas.microsoft.com/office/drawing/2014/main" val="2381597478"/>
                    </a:ext>
                  </a:extLst>
                </a:gridCol>
                <a:gridCol w="736641">
                  <a:extLst>
                    <a:ext uri="{9D8B030D-6E8A-4147-A177-3AD203B41FA5}">
                      <a16:colId xmlns:a16="http://schemas.microsoft.com/office/drawing/2014/main" val="1409526487"/>
                    </a:ext>
                  </a:extLst>
                </a:gridCol>
                <a:gridCol w="825037">
                  <a:extLst>
                    <a:ext uri="{9D8B030D-6E8A-4147-A177-3AD203B41FA5}">
                      <a16:colId xmlns:a16="http://schemas.microsoft.com/office/drawing/2014/main" val="889864249"/>
                    </a:ext>
                  </a:extLst>
                </a:gridCol>
                <a:gridCol w="825037">
                  <a:extLst>
                    <a:ext uri="{9D8B030D-6E8A-4147-A177-3AD203B41FA5}">
                      <a16:colId xmlns:a16="http://schemas.microsoft.com/office/drawing/2014/main" val="3186684282"/>
                    </a:ext>
                  </a:extLst>
                </a:gridCol>
                <a:gridCol w="648243">
                  <a:extLst>
                    <a:ext uri="{9D8B030D-6E8A-4147-A177-3AD203B41FA5}">
                      <a16:colId xmlns:a16="http://schemas.microsoft.com/office/drawing/2014/main" val="211747953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83963762"/>
                    </a:ext>
                  </a:extLst>
                </a:gridCol>
              </a:tblGrid>
              <a:tr h="33145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구분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적용 공정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적용 내용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재질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사용 설비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경화 시간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공정 비용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err="1" smtClean="0"/>
                        <a:t>싸이클</a:t>
                      </a:r>
                      <a:r>
                        <a:rPr lang="ko-KR" altLang="en-US" sz="1000" b="1" dirty="0" smtClean="0"/>
                        <a:t> 타임</a:t>
                      </a:r>
                      <a:endParaRPr lang="en-US" altLang="ko-KR" sz="1000" b="1" dirty="0" smtClean="0"/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dirty="0" smtClean="0"/>
                        <a:t>(</a:t>
                      </a:r>
                      <a:r>
                        <a:rPr lang="ko-KR" altLang="en-US" sz="1000" b="1" dirty="0" err="1" smtClean="0"/>
                        <a:t>로드조립</a:t>
                      </a:r>
                      <a:r>
                        <a:rPr lang="en-US" altLang="ko-KR" sz="1000" b="1" dirty="0" smtClean="0"/>
                        <a:t>)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효과 금액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비 고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73280"/>
                  </a:ext>
                </a:extLst>
              </a:tr>
              <a:tr h="389469">
                <a:tc>
                  <a:txBody>
                    <a:bodyPr/>
                    <a:lstStyle/>
                    <a:p>
                      <a:pPr marL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Tahoma" panose="020B0604030504040204" pitchFamily="34" charset="0"/>
                        </a:rPr>
                        <a:t>기존</a:t>
                      </a:r>
                      <a:endParaRPr lang="en-US" altLang="ko-KR" sz="8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Tahoma" panose="020B0604030504040204" pitchFamily="34" charset="0"/>
                        </a:rPr>
                        <a:t>HEAT ROD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dirty="0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spc="-10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157407"/>
                  </a:ext>
                </a:extLst>
              </a:tr>
              <a:tr h="38946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Tahoma" panose="020B0604030504040204" pitchFamily="34" charset="0"/>
                        </a:rPr>
                        <a:t>변경</a:t>
                      </a:r>
                      <a:endParaRPr lang="en-US" altLang="ko-KR" sz="8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Tahoma" panose="020B0604030504040204" pitchFamily="34" charset="0"/>
                        </a:rPr>
                        <a:t>SHEATH</a:t>
                      </a:r>
                      <a:r>
                        <a:rPr lang="en-US" altLang="ko-KR" sz="800" b="1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Tahoma" panose="020B0604030504040204" pitchFamily="34" charset="0"/>
                        </a:rPr>
                        <a:t> HEATER</a:t>
                      </a:r>
                      <a:endParaRPr lang="en-US" altLang="ko-KR" sz="8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dirty="0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737759"/>
                  </a:ext>
                </a:extLst>
              </a:tr>
            </a:tbl>
          </a:graphicData>
        </a:graphic>
      </p:graphicFrame>
      <p:sp>
        <p:nvSpPr>
          <p:cNvPr id="55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초격차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비용 절감 효과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6" name="다이어그램 5"/>
          <p:cNvGraphicFramePr/>
          <p:nvPr>
            <p:extLst>
              <p:ext uri="{D42A27DB-BD31-4B8C-83A1-F6EECF244321}">
                <p14:modId xmlns:p14="http://schemas.microsoft.com/office/powerpoint/2010/main" val="3961753038"/>
              </p:ext>
            </p:extLst>
          </p:nvPr>
        </p:nvGraphicFramePr>
        <p:xfrm>
          <a:off x="4770806" y="2771838"/>
          <a:ext cx="4337698" cy="2970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521106"/>
              </p:ext>
            </p:extLst>
          </p:nvPr>
        </p:nvGraphicFramePr>
        <p:xfrm>
          <a:off x="224333" y="4545296"/>
          <a:ext cx="4464000" cy="15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000">
                  <a:extLst>
                    <a:ext uri="{9D8B030D-6E8A-4147-A177-3AD203B41FA5}">
                      <a16:colId xmlns:a16="http://schemas.microsoft.com/office/drawing/2014/main" val="231222419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69336373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0862904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28640720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6491925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구분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공정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설비 </a:t>
                      </a:r>
                      <a:r>
                        <a:rPr lang="ko-KR" altLang="en-US" sz="900" b="1" dirty="0" err="1" smtClean="0"/>
                        <a:t>상각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총 금액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비고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7328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기존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1574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변경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 smtClean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502145"/>
                  </a:ext>
                </a:extLst>
              </a:tr>
              <a:tr h="3960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효과 금액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</a:t>
                      </a:r>
                      <a:r>
                        <a:rPr lang="en-US" altLang="ko-KR" sz="900" baseline="0" dirty="0" smtClean="0"/>
                        <a:t> Core </a:t>
                      </a:r>
                      <a:r>
                        <a:rPr lang="ko-KR" altLang="en-US" sz="900" baseline="0" dirty="0" smtClean="0"/>
                        <a:t>기준</a:t>
                      </a:r>
                      <a:endParaRPr lang="ko-KR" altLang="en-US" sz="900" dirty="0" smtClean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905877"/>
                  </a:ext>
                </a:extLst>
              </a:tr>
            </a:tbl>
          </a:graphicData>
        </a:graphic>
      </p:graphicFrame>
      <p:sp>
        <p:nvSpPr>
          <p:cNvPr id="62" name="Text Box 3">
            <a:extLst>
              <a:ext uri="{FF2B5EF4-FFF2-40B4-BE49-F238E27FC236}">
                <a16:creationId xmlns:a16="http://schemas.microsoft.com/office/drawing/2014/main" id="{9BF71E5E-C3B1-4C00-BC56-49B59E9E937B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0" y="4257264"/>
            <a:ext cx="4664995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u="sng" dirty="0">
                <a:latin typeface="+mj-ea"/>
                <a:ea typeface="+mj-ea"/>
                <a:cs typeface="Tahoma" panose="020B0604030504040204" pitchFamily="34" charset="0"/>
              </a:rPr>
              <a:t>3</a:t>
            </a:r>
            <a:r>
              <a:rPr lang="en-US" altLang="ko-KR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. </a:t>
            </a:r>
            <a:r>
              <a:rPr lang="ko-KR" altLang="en-US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원가 비교 </a:t>
            </a:r>
            <a:r>
              <a:rPr lang="en-US" altLang="ko-KR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(</a:t>
            </a:r>
            <a:r>
              <a:rPr lang="ko-KR" altLang="en-US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단가</a:t>
            </a:r>
            <a:r>
              <a:rPr lang="en-US" altLang="ko-KR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)</a:t>
            </a:r>
            <a:endParaRPr lang="en-US" altLang="ko-KR" sz="800" b="1" u="sng" dirty="0">
              <a:latin typeface="+mj-ea"/>
              <a:ea typeface="+mj-ea"/>
              <a:cs typeface="Tahoma" panose="020B0604030504040204" pitchFamily="34" charset="0"/>
            </a:endParaRPr>
          </a:p>
        </p:txBody>
      </p:sp>
      <p:sp>
        <p:nvSpPr>
          <p:cNvPr id="63" name="Text Box 3">
            <a:extLst>
              <a:ext uri="{FF2B5EF4-FFF2-40B4-BE49-F238E27FC236}">
                <a16:creationId xmlns:a16="http://schemas.microsoft.com/office/drawing/2014/main" id="{9BF71E5E-C3B1-4C00-BC56-49B59E9E937B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-2878" y="2241040"/>
            <a:ext cx="4667871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u="sng" dirty="0">
                <a:latin typeface="+mj-ea"/>
                <a:ea typeface="+mj-ea"/>
                <a:cs typeface="Tahoma" panose="020B0604030504040204" pitchFamily="34" charset="0"/>
              </a:rPr>
              <a:t>2</a:t>
            </a:r>
            <a:r>
              <a:rPr lang="en-US" altLang="ko-KR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. </a:t>
            </a:r>
            <a:r>
              <a:rPr lang="ko-KR" altLang="en-US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적용 검토 </a:t>
            </a:r>
            <a:r>
              <a:rPr lang="en-US" altLang="ko-KR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(</a:t>
            </a:r>
            <a:r>
              <a:rPr lang="ko-KR" altLang="en-US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공정</a:t>
            </a:r>
            <a:r>
              <a:rPr lang="en-US" altLang="ko-KR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)</a:t>
            </a:r>
            <a:endParaRPr lang="en-US" altLang="ko-KR" sz="800" b="1" u="sng" dirty="0">
              <a:latin typeface="+mj-ea"/>
              <a:ea typeface="+mj-ea"/>
              <a:cs typeface="Tahoma" panose="020B0604030504040204" pitchFamily="34" charset="0"/>
            </a:endParaRPr>
          </a:p>
        </p:txBody>
      </p:sp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957611"/>
              </p:ext>
            </p:extLst>
          </p:nvPr>
        </p:nvGraphicFramePr>
        <p:xfrm>
          <a:off x="237602" y="2529240"/>
          <a:ext cx="4428000" cy="151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321464569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035093076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69336373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4045756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38159747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40952648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구분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적용 공정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적용 내용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재질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사용 설비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시간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7328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ko-KR" altLang="en-US" sz="9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Tahoma" panose="020B0604030504040204" pitchFamily="34" charset="0"/>
                        </a:rPr>
                        <a:t>기존</a:t>
                      </a: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fontAlgn="base" latinLnBrk="0"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1574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Tahoma" panose="020B0604030504040204" pitchFamily="34" charset="0"/>
                        </a:rPr>
                        <a:t>변경</a:t>
                      </a: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737759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331640" y="1628800"/>
            <a:ext cx="6480720" cy="411388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FF0000"/>
                </a:solidFill>
              </a:rPr>
              <a:t>추후 절감 효과 내용 적용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43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06" y="836712"/>
            <a:ext cx="3029400" cy="44451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6" name="AutoShape 60"/>
          <p:cNvSpPr>
            <a:spLocks noChangeArrowheads="1"/>
          </p:cNvSpPr>
          <p:nvPr/>
        </p:nvSpPr>
        <p:spPr bwMode="auto">
          <a:xfrm>
            <a:off x="5652120" y="1090389"/>
            <a:ext cx="3456384" cy="4714875"/>
          </a:xfrm>
          <a:prstGeom prst="roundRect">
            <a:avLst>
              <a:gd name="adj" fmla="val 1903"/>
            </a:avLst>
          </a:prstGeom>
          <a:noFill/>
          <a:ln w="15875" algn="ctr">
            <a:noFill/>
            <a:round/>
            <a:headEnd/>
            <a:tailEnd/>
          </a:ln>
        </p:spPr>
        <p:txBody>
          <a:bodyPr wrap="none" lIns="36000"/>
          <a:lstStyle/>
          <a:p>
            <a:pPr marL="85725" defTabSz="844550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en-US" altLang="ko-KR" sz="1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Arial" pitchFamily="34" charset="0"/>
              </a:rPr>
              <a:t> </a:t>
            </a:r>
            <a:r>
              <a:rPr lang="en-US" altLang="ko-KR" sz="12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Arial" pitchFamily="34" charset="0"/>
              </a:rPr>
              <a:t>EV Heater </a:t>
            </a:r>
            <a:r>
              <a:rPr lang="en-US" altLang="ko-KR" sz="1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Arial" pitchFamily="34" charset="0"/>
              </a:rPr>
              <a:t>general characteristic</a:t>
            </a:r>
          </a:p>
          <a:p>
            <a:pPr marL="85725" defTabSz="844550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200" b="1" dirty="0">
                <a:solidFill>
                  <a:srgbClr val="FF3300"/>
                </a:solidFill>
                <a:latin typeface="+mn-ea"/>
                <a:cs typeface="Arial" pitchFamily="34" charset="0"/>
              </a:rPr>
              <a:t>  </a:t>
            </a:r>
            <a:r>
              <a:rPr lang="en-US" altLang="ko-KR" sz="1200" b="1" dirty="0" smtClean="0">
                <a:solidFill>
                  <a:srgbClr val="FF3300"/>
                </a:solidFill>
                <a:latin typeface="+mn-ea"/>
                <a:cs typeface="Arial" pitchFamily="34" charset="0"/>
              </a:rPr>
              <a:t>EV </a:t>
            </a:r>
            <a:r>
              <a:rPr lang="en-US" altLang="ko-KR" sz="1200" b="1" dirty="0">
                <a:solidFill>
                  <a:srgbClr val="FF3300"/>
                </a:solidFill>
                <a:latin typeface="+mn-ea"/>
                <a:cs typeface="Arial" pitchFamily="34" charset="0"/>
              </a:rPr>
              <a:t>Heater Performance : </a:t>
            </a:r>
            <a:r>
              <a:rPr lang="en-US" altLang="ko-KR" sz="1200" b="1" dirty="0" smtClean="0">
                <a:solidFill>
                  <a:srgbClr val="FF3300"/>
                </a:solidFill>
                <a:latin typeface="+mn-ea"/>
                <a:cs typeface="Arial" pitchFamily="34" charset="0"/>
              </a:rPr>
              <a:t>6,300Watt</a:t>
            </a:r>
            <a:endParaRPr lang="en-US" altLang="ko-KR" sz="1200" b="1" dirty="0">
              <a:solidFill>
                <a:srgbClr val="FF3300"/>
              </a:solidFill>
              <a:latin typeface="+mn-ea"/>
              <a:cs typeface="Arial" pitchFamily="34" charset="0"/>
            </a:endParaRPr>
          </a:p>
          <a:p>
            <a:pPr marL="85725" defTabSz="844550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200" b="1" dirty="0" smtClean="0">
                <a:solidFill>
                  <a:srgbClr val="FF3300"/>
                </a:solidFill>
                <a:latin typeface="+mn-ea"/>
                <a:cs typeface="Arial" pitchFamily="34" charset="0"/>
              </a:rPr>
              <a:t>  Core fin (Module Core)</a:t>
            </a:r>
            <a:endParaRPr lang="en-US" altLang="ko-KR" sz="1200" b="1" dirty="0">
              <a:solidFill>
                <a:srgbClr val="FF3300"/>
              </a:solidFill>
              <a:latin typeface="+mn-ea"/>
              <a:cs typeface="Arial" pitchFamily="34" charset="0"/>
            </a:endParaRPr>
          </a:p>
          <a:p>
            <a:pPr marL="85725" defTabSz="844550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200" b="1" dirty="0">
                <a:solidFill>
                  <a:srgbClr val="FF3300"/>
                </a:solidFill>
                <a:latin typeface="+mn-ea"/>
                <a:cs typeface="Arial" pitchFamily="34" charset="0"/>
              </a:rPr>
              <a:t>  Al-tube Heat </a:t>
            </a:r>
            <a:r>
              <a:rPr lang="en-US" altLang="ko-KR" sz="1200" b="1" dirty="0" smtClean="0">
                <a:solidFill>
                  <a:srgbClr val="FF3300"/>
                </a:solidFill>
                <a:latin typeface="+mn-ea"/>
                <a:cs typeface="Arial" pitchFamily="34" charset="0"/>
              </a:rPr>
              <a:t>rod (Sheath Heater)</a:t>
            </a:r>
            <a:endParaRPr lang="en-US" altLang="ko-KR" sz="1200" b="1" dirty="0">
              <a:solidFill>
                <a:srgbClr val="FF3300"/>
              </a:solidFill>
              <a:latin typeface="+mn-ea"/>
              <a:cs typeface="Arial" pitchFamily="34" charset="0"/>
            </a:endParaRPr>
          </a:p>
          <a:p>
            <a:pPr marL="85725" defTabSz="844550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200" b="1" dirty="0">
                <a:latin typeface="+mn-ea"/>
                <a:cs typeface="Arial" pitchFamily="34" charset="0"/>
              </a:rPr>
              <a:t>  Heater core </a:t>
            </a:r>
            <a:r>
              <a:rPr lang="en-US" altLang="ko-KR" sz="1200" b="1" dirty="0" smtClean="0">
                <a:latin typeface="+mn-ea"/>
                <a:cs typeface="Arial" pitchFamily="34" charset="0"/>
              </a:rPr>
              <a:t>Single zone</a:t>
            </a:r>
          </a:p>
          <a:p>
            <a:pPr marL="85725" defTabSz="844550">
              <a:spcBef>
                <a:spcPct val="50000"/>
              </a:spcBef>
              <a:buFont typeface="Arial" charset="0"/>
              <a:buChar char="•"/>
              <a:defRPr/>
            </a:pPr>
            <a:r>
              <a:rPr lang="ko-KR" altLang="en-US" sz="1200" b="1" dirty="0" smtClean="0">
                <a:latin typeface="+mn-ea"/>
                <a:cs typeface="Arial" pitchFamily="34" charset="0"/>
              </a:rPr>
              <a:t>  </a:t>
            </a:r>
            <a:r>
              <a:rPr lang="en-US" altLang="ko-KR" sz="1200" b="1" dirty="0" smtClean="0">
                <a:latin typeface="+mn-ea"/>
                <a:cs typeface="Arial" pitchFamily="34" charset="0"/>
              </a:rPr>
              <a:t>Heater System Operating :  Power control</a:t>
            </a:r>
          </a:p>
          <a:p>
            <a:pPr marL="85725" defTabSz="844550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200" b="1" dirty="0" smtClean="0">
                <a:latin typeface="+mn-ea"/>
                <a:cs typeface="Arial" pitchFamily="34" charset="0"/>
              </a:rPr>
              <a:t>  </a:t>
            </a:r>
            <a:r>
              <a:rPr lang="en-US" altLang="ko-KR" sz="1200" b="1" dirty="0">
                <a:latin typeface="+mn-ea"/>
                <a:cs typeface="Arial" pitchFamily="34" charset="0"/>
              </a:rPr>
              <a:t>HV Connector </a:t>
            </a:r>
            <a:r>
              <a:rPr lang="en-US" altLang="ko-KR" sz="1200" b="1" dirty="0" smtClean="0">
                <a:latin typeface="+mn-ea"/>
                <a:cs typeface="Arial" pitchFamily="34" charset="0"/>
              </a:rPr>
              <a:t>: APTIV 35415839</a:t>
            </a:r>
          </a:p>
          <a:p>
            <a:pPr marL="85725" defTabSz="844550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200" b="1" dirty="0" smtClean="0">
                <a:latin typeface="+mn-ea"/>
                <a:cs typeface="Arial" pitchFamily="34" charset="0"/>
              </a:rPr>
              <a:t>Signal </a:t>
            </a:r>
            <a:r>
              <a:rPr lang="en-US" altLang="ko-KR" sz="1200" b="1" dirty="0">
                <a:latin typeface="+mn-ea"/>
                <a:cs typeface="Arial" pitchFamily="34" charset="0"/>
              </a:rPr>
              <a:t>Connector : KET MG </a:t>
            </a:r>
            <a:r>
              <a:rPr lang="en-US" altLang="ko-KR" sz="1200" b="1" dirty="0" smtClean="0">
                <a:latin typeface="+mn-ea"/>
                <a:cs typeface="Arial" pitchFamily="34" charset="0"/>
              </a:rPr>
              <a:t>651098-5</a:t>
            </a:r>
            <a:endParaRPr lang="en-US" altLang="ko-KR" sz="1200" b="1" dirty="0">
              <a:latin typeface="+mn-ea"/>
              <a:cs typeface="Arial" pitchFamily="34" charset="0"/>
            </a:endParaRPr>
          </a:p>
          <a:p>
            <a:pPr marL="85725" defTabSz="844550" eaLnBrk="0" latinLnBrk="0" hangingPunct="0">
              <a:spcBef>
                <a:spcPct val="50000"/>
              </a:spcBef>
            </a:pPr>
            <a:r>
              <a:rPr lang="en-US" altLang="ko-KR" sz="1200" b="1" dirty="0">
                <a:latin typeface="+mn-ea"/>
                <a:cs typeface="Arial" pitchFamily="34" charset="0"/>
              </a:rPr>
              <a:t>                 (Mate : KET </a:t>
            </a:r>
            <a:r>
              <a:rPr lang="en-US" altLang="ko-KR" sz="1200" b="1" dirty="0" smtClean="0">
                <a:latin typeface="+mn-ea"/>
                <a:cs typeface="Arial" pitchFamily="34" charset="0"/>
              </a:rPr>
              <a:t>641101-5)</a:t>
            </a:r>
            <a:endParaRPr lang="en-US" altLang="ko-KR" sz="1200" b="1" dirty="0">
              <a:latin typeface="+mn-ea"/>
              <a:cs typeface="Arial" pitchFamily="34" charset="0"/>
            </a:endParaRPr>
          </a:p>
          <a:p>
            <a:pPr marL="85725" defTabSz="844550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en-US" altLang="ko-KR" sz="1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Arial" pitchFamily="34" charset="0"/>
              </a:rPr>
              <a:t> Safety function</a:t>
            </a:r>
            <a:endParaRPr lang="en-US" altLang="ko-KR" sz="1200" b="1" dirty="0">
              <a:latin typeface="+mn-ea"/>
              <a:cs typeface="Arial" pitchFamily="34" charset="0"/>
            </a:endParaRPr>
          </a:p>
          <a:p>
            <a:pPr marL="85725" defTabSz="844550" eaLnBrk="0" latinLnBrk="0" hangingPunct="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ko-KR" sz="1200" b="1" dirty="0">
                <a:latin typeface="+mn-ea"/>
                <a:cs typeface="Arial" pitchFamily="34" charset="0"/>
              </a:rPr>
              <a:t>  High Voltage Over/Under Protection</a:t>
            </a:r>
          </a:p>
          <a:p>
            <a:pPr marL="85725" defTabSz="844550" eaLnBrk="0" latinLnBrk="0" hangingPunct="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ko-KR" sz="1200" b="1" dirty="0">
                <a:latin typeface="+mn-ea"/>
                <a:cs typeface="Arial" pitchFamily="34" charset="0"/>
              </a:rPr>
              <a:t>  Low Voltage Over Protection</a:t>
            </a:r>
          </a:p>
          <a:p>
            <a:pPr marL="85725" defTabSz="844550" eaLnBrk="0" latinLnBrk="0" hangingPunct="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ko-KR" sz="1200" b="1" dirty="0">
                <a:latin typeface="+mn-ea"/>
                <a:cs typeface="Arial" pitchFamily="34" charset="0"/>
              </a:rPr>
              <a:t>  Over/Under Current Protection</a:t>
            </a:r>
          </a:p>
          <a:p>
            <a:pPr marL="85725" defTabSz="844550" eaLnBrk="0" latinLnBrk="0" hangingPunct="0">
              <a:spcBef>
                <a:spcPct val="50000"/>
              </a:spcBef>
              <a:buFont typeface="Arial" pitchFamily="34" charset="0"/>
              <a:buChar char="•"/>
            </a:pPr>
            <a:r>
              <a:rPr lang="ko-KR" altLang="en-US" sz="1200" b="1" dirty="0">
                <a:latin typeface="+mn-ea"/>
                <a:cs typeface="Arial" pitchFamily="34" charset="0"/>
              </a:rPr>
              <a:t>  </a:t>
            </a:r>
            <a:r>
              <a:rPr lang="en-US" altLang="ko-KR" sz="1200" b="1" dirty="0">
                <a:latin typeface="+mn-ea"/>
                <a:cs typeface="Arial" pitchFamily="34" charset="0"/>
              </a:rPr>
              <a:t>Over Heat Protection (PCB)</a:t>
            </a:r>
          </a:p>
          <a:p>
            <a:pPr marL="85725" defTabSz="844550" eaLnBrk="0" latinLnBrk="0" hangingPunct="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ko-KR" sz="1200" b="1" dirty="0">
                <a:latin typeface="+mn-ea"/>
                <a:cs typeface="Arial" pitchFamily="34" charset="0"/>
              </a:rPr>
              <a:t>  Communication lost</a:t>
            </a:r>
          </a:p>
          <a:p>
            <a:pPr marL="85725" defTabSz="844550" eaLnBrk="0" latinLnBrk="0" hangingPunct="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ko-KR" sz="1200" b="1" dirty="0">
                <a:latin typeface="+mn-ea"/>
                <a:cs typeface="Arial" pitchFamily="34" charset="0"/>
              </a:rPr>
              <a:t>  Voltage surge</a:t>
            </a:r>
          </a:p>
        </p:txBody>
      </p:sp>
      <p:sp>
        <p:nvSpPr>
          <p:cNvPr id="7" name="직사각형 6"/>
          <p:cNvSpPr/>
          <p:nvPr/>
        </p:nvSpPr>
        <p:spPr bwMode="auto">
          <a:xfrm>
            <a:off x="2937445" y="1010179"/>
            <a:ext cx="1887855" cy="5524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altLang="ko-KR" sz="1400" b="1" dirty="0">
                <a:latin typeface="+mn-ea"/>
              </a:rPr>
              <a:t>Signal </a:t>
            </a:r>
            <a:endParaRPr lang="en-US" altLang="ko-KR" sz="1400" b="1" dirty="0" smtClean="0">
              <a:latin typeface="+mn-ea"/>
            </a:endParaRPr>
          </a:p>
          <a:p>
            <a:pPr algn="ctr">
              <a:defRPr/>
            </a:pPr>
            <a:r>
              <a:rPr lang="en-US" altLang="ko-KR" sz="1400" b="1" dirty="0" smtClean="0">
                <a:latin typeface="+mn-ea"/>
              </a:rPr>
              <a:t>Connector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-263658" y="937887"/>
            <a:ext cx="1887855" cy="5524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altLang="ko-KR" sz="1400" b="1" dirty="0">
                <a:latin typeface="+mn-ea"/>
              </a:rPr>
              <a:t>PWM Part</a:t>
            </a:r>
            <a:endParaRPr lang="ko-KR" altLang="en-US" sz="1400" b="1" dirty="0">
              <a:latin typeface="+mn-ea"/>
            </a:endParaRPr>
          </a:p>
        </p:txBody>
      </p:sp>
      <p:cxnSp>
        <p:nvCxnSpPr>
          <p:cNvPr id="9" name="꺾인 연결선 55"/>
          <p:cNvCxnSpPr>
            <a:cxnSpLocks noChangeShapeType="1"/>
            <a:stCxn id="8" idx="2"/>
          </p:cNvCxnSpPr>
          <p:nvPr/>
        </p:nvCxnSpPr>
        <p:spPr bwMode="auto">
          <a:xfrm rot="16200000" flipH="1">
            <a:off x="1051898" y="1118709"/>
            <a:ext cx="416375" cy="1159630"/>
          </a:xfrm>
          <a:prstGeom prst="bentConnector2">
            <a:avLst/>
          </a:prstGeom>
          <a:noFill/>
          <a:ln w="9525" algn="ctr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직사각형 9"/>
          <p:cNvSpPr/>
          <p:nvPr/>
        </p:nvSpPr>
        <p:spPr bwMode="auto">
          <a:xfrm>
            <a:off x="-60707" y="4450280"/>
            <a:ext cx="1959394" cy="5524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altLang="ko-KR" sz="1400" b="1" dirty="0" smtClean="0">
                <a:solidFill>
                  <a:srgbClr val="FF3300"/>
                </a:solidFill>
                <a:latin typeface="+mn-ea"/>
              </a:rPr>
              <a:t> Sheath Rod Core Part</a:t>
            </a:r>
          </a:p>
          <a:p>
            <a:pPr algn="ctr">
              <a:defRPr/>
            </a:pPr>
            <a:r>
              <a:rPr lang="en-US" altLang="ko-KR" sz="1400" b="1" dirty="0" smtClean="0">
                <a:solidFill>
                  <a:srgbClr val="FF3300"/>
                </a:solidFill>
                <a:latin typeface="+mn-ea"/>
              </a:rPr>
              <a:t>(6EA Rod)</a:t>
            </a:r>
            <a:endParaRPr lang="ko-KR" altLang="en-US" sz="1400" b="1" dirty="0">
              <a:solidFill>
                <a:srgbClr val="FF3300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-248190" y="2547032"/>
            <a:ext cx="1887855" cy="5524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altLang="ko-KR" sz="1400" b="1" dirty="0">
                <a:latin typeface="+mn-ea"/>
              </a:rPr>
              <a:t>HV Connector</a:t>
            </a:r>
            <a:endParaRPr lang="ko-KR" altLang="en-US" sz="1400" b="1" dirty="0">
              <a:latin typeface="+mn-ea"/>
            </a:endParaRPr>
          </a:p>
        </p:txBody>
      </p:sp>
      <p:cxnSp>
        <p:nvCxnSpPr>
          <p:cNvPr id="13" name="꺾인 연결선 61"/>
          <p:cNvCxnSpPr>
            <a:cxnSpLocks noChangeShapeType="1"/>
          </p:cNvCxnSpPr>
          <p:nvPr/>
        </p:nvCxnSpPr>
        <p:spPr bwMode="auto">
          <a:xfrm>
            <a:off x="3068703" y="2572361"/>
            <a:ext cx="968656" cy="692479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직사각형 13"/>
          <p:cNvSpPr/>
          <p:nvPr/>
        </p:nvSpPr>
        <p:spPr bwMode="auto">
          <a:xfrm>
            <a:off x="3845625" y="2971458"/>
            <a:ext cx="1887220" cy="5524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altLang="ko-KR" sz="1400" b="1" dirty="0">
                <a:latin typeface="+mn-ea"/>
              </a:rPr>
              <a:t>Cooling Device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3980289" y="2019982"/>
            <a:ext cx="1887855" cy="5270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altLang="ko-KR" sz="1400" b="1" dirty="0">
                <a:latin typeface="+mn-ea"/>
              </a:rPr>
              <a:t>Chassis Ground</a:t>
            </a:r>
            <a:endParaRPr lang="ko-KR" altLang="en-US" sz="1400" b="1" dirty="0">
              <a:latin typeface="+mn-ea"/>
            </a:endParaRPr>
          </a:p>
        </p:txBody>
      </p:sp>
      <p:cxnSp>
        <p:nvCxnSpPr>
          <p:cNvPr id="16" name="직선 화살표 연결선 75"/>
          <p:cNvCxnSpPr>
            <a:cxnSpLocks noChangeShapeType="1"/>
          </p:cNvCxnSpPr>
          <p:nvPr/>
        </p:nvCxnSpPr>
        <p:spPr bwMode="auto">
          <a:xfrm flipH="1">
            <a:off x="3599632" y="1561029"/>
            <a:ext cx="239018" cy="593766"/>
          </a:xfrm>
          <a:prstGeom prst="straightConnector1">
            <a:avLst/>
          </a:prstGeom>
          <a:noFill/>
          <a:ln w="9525" algn="ctr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화살표 연결선 75"/>
          <p:cNvCxnSpPr>
            <a:cxnSpLocks noChangeShapeType="1"/>
          </p:cNvCxnSpPr>
          <p:nvPr/>
        </p:nvCxnSpPr>
        <p:spPr bwMode="auto">
          <a:xfrm flipH="1" flipV="1">
            <a:off x="3841988" y="2158654"/>
            <a:ext cx="375676" cy="51669"/>
          </a:xfrm>
          <a:prstGeom prst="straightConnector1">
            <a:avLst/>
          </a:prstGeom>
          <a:noFill/>
          <a:ln w="9525" algn="ctr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직선 화살표 연결선 75"/>
          <p:cNvCxnSpPr>
            <a:cxnSpLocks noChangeShapeType="1"/>
          </p:cNvCxnSpPr>
          <p:nvPr/>
        </p:nvCxnSpPr>
        <p:spPr bwMode="auto">
          <a:xfrm flipV="1">
            <a:off x="765350" y="2223833"/>
            <a:ext cx="223865" cy="439918"/>
          </a:xfrm>
          <a:prstGeom prst="straightConnector1">
            <a:avLst/>
          </a:prstGeom>
          <a:noFill/>
          <a:ln w="9525" algn="ctr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초격차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</a:t>
            </a:r>
            <a:r>
              <a:rPr lang="en-US" altLang="ko-KR" sz="2000" b="1" dirty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제품 사양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pic>
        <p:nvPicPr>
          <p:cNvPr id="2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373" y="3716196"/>
            <a:ext cx="1377286" cy="1314492"/>
          </a:xfrm>
          <a:prstGeom prst="rect">
            <a:avLst/>
          </a:prstGeom>
          <a:ln w="19050">
            <a:solidFill>
              <a:srgbClr val="FF3300"/>
            </a:solidFill>
            <a:prstDash val="sysDash"/>
          </a:ln>
        </p:spPr>
      </p:pic>
      <p:pic>
        <p:nvPicPr>
          <p:cNvPr id="23" name="图片 5"/>
          <p:cNvPicPr>
            <a:picLocks noChangeAspect="1"/>
          </p:cNvPicPr>
          <p:nvPr/>
        </p:nvPicPr>
        <p:blipFill rotWithShape="1">
          <a:blip r:embed="rId4"/>
          <a:srcRect l="14369" r="10878"/>
          <a:stretch/>
        </p:blipFill>
        <p:spPr>
          <a:xfrm rot="16200000">
            <a:off x="2560764" y="3728157"/>
            <a:ext cx="650622" cy="4351812"/>
          </a:xfrm>
          <a:prstGeom prst="rect">
            <a:avLst/>
          </a:prstGeom>
        </p:spPr>
      </p:pic>
      <p:cxnSp>
        <p:nvCxnSpPr>
          <p:cNvPr id="25" name="직선 화살표 연결선 75"/>
          <p:cNvCxnSpPr>
            <a:cxnSpLocks noChangeShapeType="1"/>
          </p:cNvCxnSpPr>
          <p:nvPr/>
        </p:nvCxnSpPr>
        <p:spPr bwMode="auto">
          <a:xfrm flipV="1">
            <a:off x="1155469" y="4069259"/>
            <a:ext cx="1529542" cy="440575"/>
          </a:xfrm>
          <a:prstGeom prst="straightConnector1">
            <a:avLst/>
          </a:prstGeom>
          <a:noFill/>
          <a:ln w="9525" algn="ctr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부제목 2"/>
          <p:cNvSpPr txBox="1">
            <a:spLocks/>
          </p:cNvSpPr>
          <p:nvPr/>
        </p:nvSpPr>
        <p:spPr>
          <a:xfrm>
            <a:off x="179512" y="548680"/>
            <a:ext cx="7056784" cy="432048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1600" dirty="0" smtClean="0">
                <a:latin typeface="현대하모니 M" pitchFamily="18" charset="-127"/>
                <a:ea typeface="현대하모니 M" pitchFamily="18" charset="-127"/>
              </a:rPr>
              <a:t>■ </a:t>
            </a:r>
            <a:r>
              <a:rPr lang="ko-KR" altLang="en-US" sz="1600" dirty="0" smtClean="0">
                <a:latin typeface="현대하모니 M" pitchFamily="18" charset="-127"/>
                <a:ea typeface="현대하모니 M" pitchFamily="18" charset="-127"/>
              </a:rPr>
              <a:t>제품 사양</a:t>
            </a:r>
            <a:endParaRPr lang="en-US" altLang="ko-KR" sz="16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712835" y="2606045"/>
            <a:ext cx="163369" cy="2178108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 bwMode="auto">
          <a:xfrm>
            <a:off x="2884516" y="2585258"/>
            <a:ext cx="973449" cy="1130037"/>
          </a:xfrm>
          <a:prstGeom prst="line">
            <a:avLst/>
          </a:prstGeom>
          <a:noFill/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직선 연결선 25"/>
          <p:cNvCxnSpPr/>
          <p:nvPr/>
        </p:nvCxnSpPr>
        <p:spPr bwMode="auto">
          <a:xfrm>
            <a:off x="2886075" y="4781550"/>
            <a:ext cx="985838" cy="269081"/>
          </a:xfrm>
          <a:prstGeom prst="line">
            <a:avLst/>
          </a:prstGeom>
          <a:noFill/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직사각형 30"/>
          <p:cNvSpPr/>
          <p:nvPr/>
        </p:nvSpPr>
        <p:spPr bwMode="auto">
          <a:xfrm>
            <a:off x="1788224" y="6177573"/>
            <a:ext cx="2429439" cy="5524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altLang="ko-KR" sz="1400" b="1" dirty="0" smtClean="0">
                <a:solidFill>
                  <a:srgbClr val="FF3300"/>
                </a:solidFill>
                <a:latin typeface="+mn-ea"/>
              </a:rPr>
              <a:t>[Sheath heat Rod Concept]</a:t>
            </a:r>
            <a:endParaRPr lang="ko-KR" altLang="en-US" sz="1400" b="1" dirty="0">
              <a:solidFill>
                <a:srgbClr val="FF3300"/>
              </a:solidFill>
              <a:latin typeface="+mn-ea"/>
            </a:endParaRPr>
          </a:p>
        </p:txBody>
      </p:sp>
      <p:cxnSp>
        <p:nvCxnSpPr>
          <p:cNvPr id="28" name="직선 화살표 연결선 27"/>
          <p:cNvCxnSpPr/>
          <p:nvPr/>
        </p:nvCxnSpPr>
        <p:spPr bwMode="auto">
          <a:xfrm flipH="1">
            <a:off x="930856" y="5347335"/>
            <a:ext cx="395024" cy="431676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직사각형 32"/>
          <p:cNvSpPr/>
          <p:nvPr/>
        </p:nvSpPr>
        <p:spPr bwMode="auto">
          <a:xfrm>
            <a:off x="1292925" y="5171733"/>
            <a:ext cx="1088356" cy="2422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 altLang="ko-KR" sz="800" dirty="0" err="1">
                <a:solidFill>
                  <a:srgbClr val="FF3300"/>
                </a:solidFill>
              </a:rPr>
              <a:t>Nichrome</a:t>
            </a:r>
            <a:r>
              <a:rPr lang="en-US" altLang="ko-KR" sz="800" dirty="0">
                <a:solidFill>
                  <a:srgbClr val="FF3300"/>
                </a:solidFill>
              </a:rPr>
              <a:t> wire</a:t>
            </a:r>
            <a:endParaRPr lang="ko-KR" altLang="en-US" sz="100" b="1" dirty="0">
              <a:solidFill>
                <a:srgbClr val="FF3300"/>
              </a:solidFill>
              <a:latin typeface="+mn-ea"/>
            </a:endParaRPr>
          </a:p>
        </p:txBody>
      </p:sp>
      <p:cxnSp>
        <p:nvCxnSpPr>
          <p:cNvPr id="34" name="직선 화살표 연결선 33"/>
          <p:cNvCxnSpPr/>
          <p:nvPr/>
        </p:nvCxnSpPr>
        <p:spPr bwMode="auto">
          <a:xfrm flipH="1">
            <a:off x="1944316" y="5461635"/>
            <a:ext cx="395024" cy="431676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직사각형 34"/>
          <p:cNvSpPr/>
          <p:nvPr/>
        </p:nvSpPr>
        <p:spPr bwMode="auto">
          <a:xfrm>
            <a:off x="2306385" y="5286033"/>
            <a:ext cx="1088356" cy="2422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 altLang="ko-KR" sz="800" dirty="0" smtClean="0">
                <a:solidFill>
                  <a:srgbClr val="FF3300"/>
                </a:solidFill>
              </a:rPr>
              <a:t>Al TUBE</a:t>
            </a:r>
            <a:endParaRPr lang="ko-KR" altLang="en-US" sz="100" b="1" dirty="0">
              <a:solidFill>
                <a:srgbClr val="FF33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890055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개체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212462"/>
              </p:ext>
            </p:extLst>
          </p:nvPr>
        </p:nvGraphicFramePr>
        <p:xfrm>
          <a:off x="-14396" y="1037742"/>
          <a:ext cx="2698616" cy="137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" name="프로덕트" r:id="rId3" imgW="4579200" imgH="2325600" progId="CATIA.Product">
                  <p:link updateAutomatic="1"/>
                </p:oleObj>
              </mc:Choice>
              <mc:Fallback>
                <p:oleObj name="프로덕트" r:id="rId3" imgW="4579200" imgH="2325600" progId="CATIA.Product">
                  <p:link updateAutomatic="1"/>
                  <p:pic>
                    <p:nvPicPr>
                      <p:cNvPr id="2" name="개체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4396" y="1037742"/>
                        <a:ext cx="2698616" cy="13712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24" name="부제목 2"/>
          <p:cNvSpPr txBox="1">
            <a:spLocks/>
          </p:cNvSpPr>
          <p:nvPr/>
        </p:nvSpPr>
        <p:spPr>
          <a:xfrm>
            <a:off x="179512" y="548680"/>
            <a:ext cx="7056784" cy="432048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1600" dirty="0" smtClean="0">
                <a:latin typeface="현대하모니 M" pitchFamily="18" charset="-127"/>
                <a:ea typeface="현대하모니 M" pitchFamily="18" charset="-127"/>
              </a:rPr>
              <a:t>■ </a:t>
            </a:r>
            <a:r>
              <a:rPr lang="ko-KR" altLang="en-US" sz="1600" dirty="0" smtClean="0">
                <a:latin typeface="현대하모니 M" pitchFamily="18" charset="-127"/>
                <a:ea typeface="현대하모니 M" pitchFamily="18" charset="-127"/>
              </a:rPr>
              <a:t>제품 사양</a:t>
            </a:r>
            <a:endParaRPr lang="en-US" altLang="ko-KR" sz="16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047117"/>
              </p:ext>
            </p:extLst>
          </p:nvPr>
        </p:nvGraphicFramePr>
        <p:xfrm>
          <a:off x="4355976" y="667301"/>
          <a:ext cx="4671700" cy="57140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781">
                  <a:extLst>
                    <a:ext uri="{9D8B030D-6E8A-4147-A177-3AD203B41FA5}">
                      <a16:colId xmlns:a16="http://schemas.microsoft.com/office/drawing/2014/main" val="4125957655"/>
                    </a:ext>
                  </a:extLst>
                </a:gridCol>
                <a:gridCol w="566605">
                  <a:extLst>
                    <a:ext uri="{9D8B030D-6E8A-4147-A177-3AD203B41FA5}">
                      <a16:colId xmlns:a16="http://schemas.microsoft.com/office/drawing/2014/main" val="3591981296"/>
                    </a:ext>
                  </a:extLst>
                </a:gridCol>
                <a:gridCol w="1447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7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Item</a:t>
                      </a:r>
                      <a:endParaRPr lang="ko-KR" altLang="en-US" sz="9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General Specification</a:t>
                      </a:r>
                      <a:endParaRPr lang="ko-KR" altLang="en-US" sz="9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Remark</a:t>
                      </a:r>
                      <a:endParaRPr lang="ko-KR" altLang="en-US" sz="9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203">
                <a:tc rowSpan="16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Part</a:t>
                      </a:r>
                    </a:p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Specification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Core</a:t>
                      </a:r>
                      <a:r>
                        <a:rPr lang="ko-KR" altLang="en-US" sz="800" b="0" baseline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Size(mm)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269L</a:t>
                      </a:r>
                      <a:r>
                        <a:rPr lang="en-US" altLang="ko-KR" sz="800" b="0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x 158W</a:t>
                      </a:r>
                      <a:r>
                        <a:rPr lang="en-US" altLang="ko-KR" sz="800" b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x </a:t>
                      </a:r>
                      <a:r>
                        <a:rPr lang="en-US" altLang="ko-KR" sz="800" b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34.5T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Without sponge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701549"/>
                  </a:ext>
                </a:extLst>
              </a:tr>
              <a:tr h="30720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Control Size(mm)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80L x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200W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x 42T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Nominal Power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6,300 W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(+10% /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-0%)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(654V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, 300kg/h, 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℃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Single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zone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97320"/>
                  </a:ext>
                </a:extLst>
              </a:tr>
              <a:tr h="307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Pressure drop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MAX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85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Pa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@300kg/h, 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℃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426386"/>
                  </a:ext>
                </a:extLst>
              </a:tr>
              <a:tr h="307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Voltage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HV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Nominal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654 V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518535"/>
                  </a:ext>
                </a:extLst>
              </a:tr>
              <a:tr h="307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Range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240V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~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900V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234463"/>
                  </a:ext>
                </a:extLst>
              </a:tr>
              <a:tr h="307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en-US" altLang="ko-KR" sz="9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LV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Nominal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12V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083374"/>
                  </a:ext>
                </a:extLst>
              </a:tr>
              <a:tr h="307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Range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8V ~ 18V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195428"/>
                  </a:ext>
                </a:extLst>
              </a:tr>
              <a:tr h="307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rgbClr val="FF3300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Safety logic</a:t>
                      </a:r>
                      <a:endParaRPr lang="en-US" altLang="ko-KR" sz="800" b="0" kern="1200" dirty="0">
                        <a:solidFill>
                          <a:srgbClr val="FF3300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 smtClean="0">
                          <a:solidFill>
                            <a:srgbClr val="FF3300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PTC / Bimetal</a:t>
                      </a:r>
                      <a:endParaRPr lang="en-US" altLang="ko-KR" sz="800" b="0" kern="1200" dirty="0">
                        <a:solidFill>
                          <a:srgbClr val="FF3300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rgbClr val="FF3300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Rod </a:t>
                      </a:r>
                      <a:r>
                        <a:rPr lang="ko-KR" altLang="en-US" sz="800" b="0" kern="1200" baseline="0" dirty="0" smtClean="0">
                          <a:solidFill>
                            <a:srgbClr val="FF3300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직접 접촉 </a:t>
                      </a:r>
                      <a:r>
                        <a:rPr lang="en-US" altLang="ko-KR" sz="800" b="0" kern="1200" baseline="0" dirty="0" smtClean="0">
                          <a:solidFill>
                            <a:srgbClr val="FF3300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Type</a:t>
                      </a:r>
                      <a:endParaRPr lang="en-US" altLang="ko-KR" sz="800" b="0" kern="1200" baseline="0" dirty="0">
                        <a:solidFill>
                          <a:srgbClr val="FF3300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910486"/>
                  </a:ext>
                </a:extLst>
              </a:tr>
              <a:tr h="383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Operating guarantee temp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-40°C to 85°C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Performance guarantee temp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-40°C to 85°C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Storage guarantee temp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-40°C to 105°C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Communication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High Speed CAN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7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Weight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Max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2.0 kg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7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Ingress Protection Degree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IP67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9407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Noise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dB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Max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32dB @ Duty 20% (50s)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  <a:p>
                      <a:pPr algn="l" latinLnBrk="1"/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                @ Duty 50% (20s)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ES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개정 예정 사항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622520"/>
                  </a:ext>
                </a:extLst>
              </a:tr>
            </a:tbl>
          </a:graphicData>
        </a:graphic>
      </p:graphicFrame>
      <p:sp>
        <p:nvSpPr>
          <p:cNvPr id="62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초격차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제품 제원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72" name="개체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914444"/>
              </p:ext>
            </p:extLst>
          </p:nvPr>
        </p:nvGraphicFramePr>
        <p:xfrm>
          <a:off x="3007574" y="2731365"/>
          <a:ext cx="1276394" cy="3184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" name="프로덕트" r:id="rId3" imgW="990000" imgH="2469600" progId="CATIA.Product">
                  <p:link updateAutomatic="1"/>
                </p:oleObj>
              </mc:Choice>
              <mc:Fallback>
                <p:oleObj name="프로덕트" r:id="rId3" imgW="990000" imgH="2469600" progId="CATIA.Product">
                  <p:link updateAutomatic="1"/>
                  <p:pic>
                    <p:nvPicPr>
                      <p:cNvPr id="17" name="개체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7574" y="2731365"/>
                        <a:ext cx="1276394" cy="31848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개체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171455"/>
              </p:ext>
            </p:extLst>
          </p:nvPr>
        </p:nvGraphicFramePr>
        <p:xfrm>
          <a:off x="382887" y="2544018"/>
          <a:ext cx="2164891" cy="3372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2" name="프로덕트" r:id="rId3" imgW="1663200" imgH="2592000" progId="CATIA.Product">
                  <p:link updateAutomatic="1"/>
                </p:oleObj>
              </mc:Choice>
              <mc:Fallback>
                <p:oleObj name="프로덕트" r:id="rId3" imgW="1663200" imgH="2592000" progId="CATIA.Product">
                  <p:link updateAutomatic="1"/>
                  <p:pic>
                    <p:nvPicPr>
                      <p:cNvPr id="4" name="개체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887" y="2544018"/>
                        <a:ext cx="2164891" cy="33721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5" name="직선 연결선 74"/>
          <p:cNvCxnSpPr/>
          <p:nvPr/>
        </p:nvCxnSpPr>
        <p:spPr bwMode="auto">
          <a:xfrm>
            <a:off x="2349170" y="999371"/>
            <a:ext cx="0" cy="900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직선 연결선 75"/>
          <p:cNvCxnSpPr/>
          <p:nvPr/>
        </p:nvCxnSpPr>
        <p:spPr bwMode="auto">
          <a:xfrm>
            <a:off x="360694" y="980728"/>
            <a:ext cx="0" cy="900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직선 연결선 76"/>
          <p:cNvCxnSpPr/>
          <p:nvPr/>
        </p:nvCxnSpPr>
        <p:spPr bwMode="auto">
          <a:xfrm flipH="1" flipV="1">
            <a:off x="370675" y="1105528"/>
            <a:ext cx="1968516" cy="66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8" name="직선 연결선 77"/>
          <p:cNvCxnSpPr/>
          <p:nvPr/>
        </p:nvCxnSpPr>
        <p:spPr bwMode="auto">
          <a:xfrm flipH="1">
            <a:off x="1374742" y="1340768"/>
            <a:ext cx="165618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직선 연결선 78"/>
          <p:cNvCxnSpPr/>
          <p:nvPr/>
        </p:nvCxnSpPr>
        <p:spPr bwMode="auto">
          <a:xfrm flipH="1">
            <a:off x="1747233" y="2208455"/>
            <a:ext cx="1333972" cy="972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직선 연결선 79"/>
          <p:cNvCxnSpPr/>
          <p:nvPr/>
        </p:nvCxnSpPr>
        <p:spPr bwMode="auto">
          <a:xfrm>
            <a:off x="2963588" y="1348697"/>
            <a:ext cx="0" cy="85975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1" name="TextBox 80"/>
          <p:cNvSpPr txBox="1"/>
          <p:nvPr/>
        </p:nvSpPr>
        <p:spPr>
          <a:xfrm rot="16200000">
            <a:off x="2638675" y="1667105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80</a:t>
            </a:r>
            <a:endParaRPr lang="ko-KR" altLang="en-US" sz="1000" dirty="0" smtClean="0">
              <a:latin typeface="+mn-ea"/>
            </a:endParaRPr>
          </a:p>
        </p:txBody>
      </p:sp>
      <p:sp>
        <p:nvSpPr>
          <p:cNvPr id="82" name="TextBox 81"/>
          <p:cNvSpPr txBox="1"/>
          <p:nvPr/>
        </p:nvSpPr>
        <p:spPr>
          <a:xfrm rot="16200000">
            <a:off x="2525367" y="2982977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42</a:t>
            </a:r>
            <a:endParaRPr lang="ko-KR" altLang="en-US" sz="1000" dirty="0" smtClean="0">
              <a:latin typeface="+mn-ea"/>
            </a:endParaRPr>
          </a:p>
        </p:txBody>
      </p:sp>
      <p:cxnSp>
        <p:nvCxnSpPr>
          <p:cNvPr id="83" name="직선 연결선 82"/>
          <p:cNvCxnSpPr/>
          <p:nvPr/>
        </p:nvCxnSpPr>
        <p:spPr bwMode="auto">
          <a:xfrm flipH="1">
            <a:off x="641413" y="3320802"/>
            <a:ext cx="2366137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직선 연결선 83"/>
          <p:cNvCxnSpPr/>
          <p:nvPr/>
        </p:nvCxnSpPr>
        <p:spPr bwMode="auto">
          <a:xfrm flipH="1">
            <a:off x="2442075" y="2876302"/>
            <a:ext cx="565475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5" name="직선 연결선 84"/>
          <p:cNvCxnSpPr/>
          <p:nvPr/>
        </p:nvCxnSpPr>
        <p:spPr bwMode="auto">
          <a:xfrm>
            <a:off x="2878165" y="2876302"/>
            <a:ext cx="0" cy="4445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6" name="직선 연결선 85"/>
          <p:cNvCxnSpPr/>
          <p:nvPr/>
        </p:nvCxnSpPr>
        <p:spPr bwMode="auto">
          <a:xfrm flipH="1">
            <a:off x="702732" y="5733256"/>
            <a:ext cx="21240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직선 연결선 86"/>
          <p:cNvCxnSpPr/>
          <p:nvPr/>
        </p:nvCxnSpPr>
        <p:spPr bwMode="auto">
          <a:xfrm flipH="1">
            <a:off x="2692645" y="3354054"/>
            <a:ext cx="11033" cy="237920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8" name="TextBox 87"/>
          <p:cNvSpPr txBox="1"/>
          <p:nvPr/>
        </p:nvSpPr>
        <p:spPr>
          <a:xfrm rot="16200000">
            <a:off x="2356014" y="4471382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269</a:t>
            </a:r>
            <a:endParaRPr lang="ko-KR" altLang="en-US" sz="1000" dirty="0" smtClean="0">
              <a:latin typeface="+mn-ea"/>
            </a:endParaRPr>
          </a:p>
        </p:txBody>
      </p:sp>
      <p:cxnSp>
        <p:nvCxnSpPr>
          <p:cNvPr id="89" name="직선 연결선 88"/>
          <p:cNvCxnSpPr/>
          <p:nvPr/>
        </p:nvCxnSpPr>
        <p:spPr bwMode="auto">
          <a:xfrm flipH="1">
            <a:off x="2230093" y="5513988"/>
            <a:ext cx="3476" cy="74872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직선 연결선 89"/>
          <p:cNvCxnSpPr/>
          <p:nvPr/>
        </p:nvCxnSpPr>
        <p:spPr bwMode="auto">
          <a:xfrm flipH="1">
            <a:off x="625088" y="5513988"/>
            <a:ext cx="896" cy="74872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1" name="직선 연결선 90"/>
          <p:cNvCxnSpPr/>
          <p:nvPr/>
        </p:nvCxnSpPr>
        <p:spPr bwMode="auto">
          <a:xfrm flipH="1">
            <a:off x="645918" y="6193213"/>
            <a:ext cx="155691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92" name="TextBox 91"/>
          <p:cNvSpPr txBox="1"/>
          <p:nvPr/>
        </p:nvSpPr>
        <p:spPr>
          <a:xfrm>
            <a:off x="1259632" y="5916214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158</a:t>
            </a:r>
            <a:endParaRPr lang="ko-KR" altLang="en-US" sz="1000" dirty="0" smtClean="0">
              <a:latin typeface="+mn-ea"/>
            </a:endParaRPr>
          </a:p>
        </p:txBody>
      </p:sp>
      <p:cxnSp>
        <p:nvCxnSpPr>
          <p:cNvPr id="93" name="직선 연결선 92"/>
          <p:cNvCxnSpPr/>
          <p:nvPr/>
        </p:nvCxnSpPr>
        <p:spPr bwMode="auto">
          <a:xfrm>
            <a:off x="3637218" y="4581127"/>
            <a:ext cx="0" cy="1800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4" name="직선 연결선 93"/>
          <p:cNvCxnSpPr/>
          <p:nvPr/>
        </p:nvCxnSpPr>
        <p:spPr bwMode="auto">
          <a:xfrm>
            <a:off x="3967161" y="4581127"/>
            <a:ext cx="0" cy="1800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5" name="직선 연결선 94"/>
          <p:cNvCxnSpPr/>
          <p:nvPr/>
        </p:nvCxnSpPr>
        <p:spPr bwMode="auto">
          <a:xfrm flipH="1">
            <a:off x="3647247" y="6262712"/>
            <a:ext cx="319914" cy="99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96" name="TextBox 95"/>
          <p:cNvSpPr txBox="1"/>
          <p:nvPr/>
        </p:nvSpPr>
        <p:spPr>
          <a:xfrm>
            <a:off x="3230837" y="5987871"/>
            <a:ext cx="312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+mn-ea"/>
              </a:rPr>
              <a:t>32</a:t>
            </a:r>
            <a:endParaRPr lang="ko-KR" altLang="en-US" sz="900" dirty="0" smtClean="0">
              <a:latin typeface="+mn-ea"/>
            </a:endParaRPr>
          </a:p>
        </p:txBody>
      </p:sp>
      <p:cxnSp>
        <p:nvCxnSpPr>
          <p:cNvPr id="97" name="직선 연결선 96"/>
          <p:cNvCxnSpPr/>
          <p:nvPr/>
        </p:nvCxnSpPr>
        <p:spPr bwMode="auto">
          <a:xfrm flipH="1">
            <a:off x="3207734" y="6262712"/>
            <a:ext cx="50059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1101690" y="895326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200</a:t>
            </a:r>
            <a:endParaRPr lang="ko-KR" altLang="en-US" sz="10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074621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62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초격차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시스템 구성도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33" name="Group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580296"/>
              </p:ext>
            </p:extLst>
          </p:nvPr>
        </p:nvGraphicFramePr>
        <p:xfrm>
          <a:off x="173971" y="692696"/>
          <a:ext cx="8862525" cy="5875610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2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5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시스템적 부품구조 및 작동방법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NO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작동 순서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작동원리 및 기능정의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요구품질 정의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중요도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상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중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하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833"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CONTROLLER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운전자 온도 조절장치 작동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en-US" altLang="ko-KR" sz="105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ATCU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 온도에 따른 신호 전달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ko-KR" altLang="en-US" sz="1050" dirty="0" err="1" smtClean="0">
                          <a:latin typeface="+mn-ea"/>
                          <a:ea typeface="+mn-ea"/>
                        </a:rPr>
                        <a:t>동작별</a:t>
                      </a:r>
                      <a:r>
                        <a:rPr lang="ko-KR" altLang="en-US" sz="1050" dirty="0" smtClean="0">
                          <a:latin typeface="+mn-ea"/>
                          <a:ea typeface="+mn-ea"/>
                        </a:rPr>
                        <a:t> 신호</a:t>
                      </a:r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HVAC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 </a:t>
                      </a:r>
                      <a:r>
                        <a:rPr kumimoji="1" lang="ko-KR" altLang="en-US" sz="105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풍량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및 풍향에 따른 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MODE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제어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MODE</a:t>
                      </a:r>
                      <a:r>
                        <a:rPr lang="en-US" altLang="ko-KR" sz="105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50" baseline="0" dirty="0" smtClean="0">
                          <a:latin typeface="+mn-ea"/>
                          <a:ea typeface="+mn-ea"/>
                        </a:rPr>
                        <a:t>별 작동</a:t>
                      </a:r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33996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EV AIR HEATER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ATCU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신호 입력 후 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PTC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작동</a:t>
                      </a:r>
                      <a:endParaRPr kumimoji="1" lang="en-US" altLang="ko-KR" sz="105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안전 기능 제어 개발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ko-KR" altLang="en-US" sz="1050" dirty="0" smtClean="0">
                          <a:latin typeface="+mn-ea"/>
                          <a:ea typeface="+mn-ea"/>
                        </a:rPr>
                        <a:t>실내 난방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PWM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제어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 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DUTY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따른 성능 제어</a:t>
                      </a:r>
                      <a:endParaRPr kumimoji="1" lang="en-US" altLang="ko-KR" sz="105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및 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ATCU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신호 전달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PID</a:t>
                      </a:r>
                      <a:r>
                        <a:rPr lang="en-US" altLang="ko-KR" sz="105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50" baseline="0" dirty="0" smtClean="0">
                          <a:latin typeface="+mn-ea"/>
                          <a:ea typeface="+mn-ea"/>
                        </a:rPr>
                        <a:t>제어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8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ATCU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ATCU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작동에 따른 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DUTY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지령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ko-KR" altLang="en-US" sz="1050" dirty="0" err="1" smtClean="0">
                          <a:latin typeface="+mn-ea"/>
                          <a:ea typeface="+mn-ea"/>
                        </a:rPr>
                        <a:t>동작별</a:t>
                      </a:r>
                      <a:r>
                        <a:rPr lang="ko-KR" altLang="en-US" sz="1050" dirty="0" smtClean="0">
                          <a:latin typeface="+mn-ea"/>
                          <a:ea typeface="+mn-ea"/>
                        </a:rPr>
                        <a:t> 신호</a:t>
                      </a:r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PWM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제어</a:t>
                      </a:r>
                      <a:endParaRPr kumimoji="1" lang="en-US" altLang="ko-KR" sz="105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ATCU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신호 전달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ko-KR" altLang="en-US" sz="11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2248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[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작동원리 및 </a:t>
                      </a:r>
                      <a:r>
                        <a:rPr kumimoji="1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부품특성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CONTROLLER ON </a:t>
                      </a:r>
                      <a:r>
                        <a:rPr lang="ko-KR" altLang="en-US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→ </a:t>
                      </a:r>
                      <a:r>
                        <a:rPr lang="en-US" altLang="ko-KR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ATCU</a:t>
                      </a:r>
                      <a:r>
                        <a:rPr lang="ko-KR" altLang="en-US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신호 전달</a:t>
                      </a:r>
                      <a:r>
                        <a:rPr lang="ko-KR" altLang="en-US" sz="120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→ </a:t>
                      </a:r>
                      <a:r>
                        <a:rPr lang="en-US" altLang="ko-KR" sz="120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HVAC MODE </a:t>
                      </a:r>
                      <a:r>
                        <a:rPr lang="ko-KR" altLang="en-US" sz="120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제어 →</a:t>
                      </a:r>
                      <a:r>
                        <a:rPr lang="ko-KR" altLang="en-US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입력 신호에 따른 </a:t>
                      </a:r>
                      <a:r>
                        <a:rPr lang="en-US" altLang="ko-KR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PTC HEATER </a:t>
                      </a:r>
                      <a:r>
                        <a:rPr lang="ko-KR" altLang="en-US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작동 → 차량 실내 난방</a:t>
                      </a:r>
                      <a:endParaRPr lang="ko-KR" altLang="ko-KR" sz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4" name="Rectangle 2"/>
          <p:cNvSpPr>
            <a:spLocks noChangeArrowheads="1"/>
          </p:cNvSpPr>
          <p:nvPr/>
        </p:nvSpPr>
        <p:spPr bwMode="auto">
          <a:xfrm>
            <a:off x="169652" y="4888470"/>
            <a:ext cx="1420591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400" dirty="0">
                <a:solidFill>
                  <a:srgbClr val="000000"/>
                </a:solidFill>
                <a:latin typeface="+mn-ea"/>
                <a:ea typeface="+mn-ea"/>
              </a:rPr>
              <a:t>▣ 작동 흐름도</a:t>
            </a:r>
            <a:endParaRPr lang="en-US" altLang="ko-KR" sz="1400" dirty="0">
              <a:solidFill>
                <a:srgbClr val="808080"/>
              </a:solidFill>
              <a:latin typeface="+mn-ea"/>
              <a:ea typeface="+mn-ea"/>
            </a:endParaRPr>
          </a:p>
        </p:txBody>
      </p:sp>
      <p:sp>
        <p:nvSpPr>
          <p:cNvPr id="35" name="Rectangle 2"/>
          <p:cNvSpPr>
            <a:spLocks noChangeArrowheads="1"/>
          </p:cNvSpPr>
          <p:nvPr/>
        </p:nvSpPr>
        <p:spPr bwMode="auto">
          <a:xfrm>
            <a:off x="169207" y="1122910"/>
            <a:ext cx="3248025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400" dirty="0">
                <a:solidFill>
                  <a:srgbClr val="000000"/>
                </a:solidFill>
                <a:latin typeface="+mn-ea"/>
                <a:ea typeface="+mn-ea"/>
              </a:rPr>
              <a:t>▣ </a:t>
            </a:r>
            <a:r>
              <a:rPr lang="en-US" altLang="ko-KR" sz="1400" dirty="0" smtClean="0">
                <a:solidFill>
                  <a:srgbClr val="000000"/>
                </a:solidFill>
                <a:latin typeface="+mn-ea"/>
                <a:ea typeface="+mn-ea"/>
              </a:rPr>
              <a:t>EV AIR HEATER</a:t>
            </a:r>
            <a:r>
              <a:rPr lang="ko-KR" altLang="en-US" sz="14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400" dirty="0">
                <a:solidFill>
                  <a:srgbClr val="000000"/>
                </a:solidFill>
                <a:latin typeface="+mn-ea"/>
                <a:ea typeface="+mn-ea"/>
              </a:rPr>
              <a:t>시스템 기능 분석  </a:t>
            </a:r>
            <a:endParaRPr lang="en-US" altLang="ko-KR" sz="1400" dirty="0">
              <a:solidFill>
                <a:srgbClr val="808080"/>
              </a:solidFill>
              <a:latin typeface="+mn-ea"/>
              <a:ea typeface="+mn-ea"/>
            </a:endParaRPr>
          </a:p>
        </p:txBody>
      </p:sp>
      <p:cxnSp>
        <p:nvCxnSpPr>
          <p:cNvPr id="36" name="직선 화살표 연결선 35"/>
          <p:cNvCxnSpPr/>
          <p:nvPr/>
        </p:nvCxnSpPr>
        <p:spPr bwMode="auto">
          <a:xfrm>
            <a:off x="4637753" y="2835201"/>
            <a:ext cx="0" cy="1800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stealth"/>
          </a:ln>
          <a:effectLst/>
        </p:spPr>
      </p:cxnSp>
      <p:cxnSp>
        <p:nvCxnSpPr>
          <p:cNvPr id="37" name="직선 화살표 연결선 36"/>
          <p:cNvCxnSpPr/>
          <p:nvPr/>
        </p:nvCxnSpPr>
        <p:spPr bwMode="auto">
          <a:xfrm>
            <a:off x="4637753" y="3359796"/>
            <a:ext cx="0" cy="1800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stealth"/>
          </a:ln>
          <a:effectLst/>
        </p:spPr>
      </p:cxnSp>
      <p:cxnSp>
        <p:nvCxnSpPr>
          <p:cNvPr id="38" name="직선 화살표 연결선 37"/>
          <p:cNvCxnSpPr/>
          <p:nvPr/>
        </p:nvCxnSpPr>
        <p:spPr bwMode="auto">
          <a:xfrm>
            <a:off x="4637753" y="3756600"/>
            <a:ext cx="0" cy="1800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stealth"/>
          </a:ln>
          <a:effectLst/>
        </p:spPr>
      </p:cxnSp>
      <p:cxnSp>
        <p:nvCxnSpPr>
          <p:cNvPr id="39" name="직선 화살표 연결선 38"/>
          <p:cNvCxnSpPr/>
          <p:nvPr/>
        </p:nvCxnSpPr>
        <p:spPr bwMode="auto">
          <a:xfrm>
            <a:off x="4637753" y="1497262"/>
            <a:ext cx="0" cy="1800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B050"/>
            </a:solidFill>
            <a:prstDash val="sysDot"/>
            <a:round/>
            <a:headEnd type="none" w="med" len="med"/>
            <a:tailEnd type="stealth"/>
          </a:ln>
          <a:effectLst/>
        </p:spPr>
      </p:cxnSp>
      <p:cxnSp>
        <p:nvCxnSpPr>
          <p:cNvPr id="40" name="직선 화살표 연결선 39"/>
          <p:cNvCxnSpPr/>
          <p:nvPr/>
        </p:nvCxnSpPr>
        <p:spPr bwMode="auto">
          <a:xfrm>
            <a:off x="4637753" y="1939573"/>
            <a:ext cx="0" cy="1800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B050"/>
            </a:solidFill>
            <a:prstDash val="sysDot"/>
            <a:round/>
            <a:headEnd type="none" w="med" len="med"/>
            <a:tailEnd type="stealth"/>
          </a:ln>
          <a:effectLst/>
        </p:spPr>
      </p:cxnSp>
      <p:pic>
        <p:nvPicPr>
          <p:cNvPr id="42" name="그림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93" y="1544194"/>
            <a:ext cx="1752846" cy="2571610"/>
          </a:xfrm>
          <a:prstGeom prst="rect">
            <a:avLst/>
          </a:prstGeom>
        </p:spPr>
      </p:pic>
      <p:sp>
        <p:nvSpPr>
          <p:cNvPr id="44" name="아래로 구부러진 화살표 43"/>
          <p:cNvSpPr/>
          <p:nvPr/>
        </p:nvSpPr>
        <p:spPr>
          <a:xfrm>
            <a:off x="3813354" y="3742739"/>
            <a:ext cx="252000" cy="108000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위로 구부러진 화살표 44"/>
          <p:cNvSpPr/>
          <p:nvPr/>
        </p:nvSpPr>
        <p:spPr>
          <a:xfrm flipH="1">
            <a:off x="3804474" y="3892224"/>
            <a:ext cx="252000" cy="108000"/>
          </a:xfrm>
          <a:prstGeom prst="curved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모서리가 둥근 직사각형 45"/>
          <p:cNvSpPr/>
          <p:nvPr/>
        </p:nvSpPr>
        <p:spPr bwMode="auto">
          <a:xfrm>
            <a:off x="292708" y="5649826"/>
            <a:ext cx="1316078" cy="51776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 smtClean="0">
                <a:solidFill>
                  <a:srgbClr val="000000"/>
                </a:solidFill>
                <a:latin typeface="+mn-ea"/>
              </a:rPr>
              <a:t>CONTROLLER ON</a:t>
            </a:r>
            <a:endParaRPr kumimoji="1" lang="ko-KR" altLang="en-US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" name="모서리가 둥근 직사각형 46"/>
          <p:cNvSpPr/>
          <p:nvPr/>
        </p:nvSpPr>
        <p:spPr bwMode="auto">
          <a:xfrm>
            <a:off x="2040302" y="5806170"/>
            <a:ext cx="1440000" cy="20821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 smtClean="0">
                <a:solidFill>
                  <a:srgbClr val="000000"/>
                </a:solidFill>
                <a:latin typeface="+mn-ea"/>
              </a:rPr>
              <a:t>ATCU</a:t>
            </a:r>
            <a:endParaRPr kumimoji="1" lang="ko-KR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" name="모서리가 둥근 직사각형 47"/>
          <p:cNvSpPr/>
          <p:nvPr/>
        </p:nvSpPr>
        <p:spPr bwMode="auto">
          <a:xfrm>
            <a:off x="4320929" y="5544790"/>
            <a:ext cx="1440000" cy="20821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 smtClean="0">
                <a:solidFill>
                  <a:srgbClr val="000000"/>
                </a:solidFill>
                <a:latin typeface="+mn-ea"/>
              </a:rPr>
              <a:t>HVAC</a:t>
            </a:r>
            <a:endParaRPr kumimoji="1" lang="ko-KR" altLang="en-US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49" name="직선 화살표 연결선 48"/>
          <p:cNvCxnSpPr/>
          <p:nvPr/>
        </p:nvCxnSpPr>
        <p:spPr bwMode="auto">
          <a:xfrm>
            <a:off x="1604654" y="5902658"/>
            <a:ext cx="435648" cy="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00FF"/>
            </a:solidFill>
            <a:prstDash val="sysDot"/>
            <a:round/>
            <a:headEnd type="none" w="med" len="med"/>
            <a:tailEnd type="stealth"/>
          </a:ln>
          <a:effectLst/>
        </p:spPr>
      </p:cxnSp>
      <p:cxnSp>
        <p:nvCxnSpPr>
          <p:cNvPr id="50" name="직선 화살표 연결선 49"/>
          <p:cNvCxnSpPr>
            <a:stCxn id="47" idx="3"/>
            <a:endCxn id="48" idx="1"/>
          </p:cNvCxnSpPr>
          <p:nvPr/>
        </p:nvCxnSpPr>
        <p:spPr bwMode="auto">
          <a:xfrm flipV="1">
            <a:off x="3480302" y="5648898"/>
            <a:ext cx="840627" cy="26138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00FF"/>
            </a:solidFill>
            <a:prstDash val="sysDot"/>
            <a:round/>
            <a:headEnd type="stealth" w="med" len="med"/>
            <a:tailEnd type="stealth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315232" y="5488703"/>
            <a:ext cx="140029" cy="138499"/>
          </a:xfrm>
          <a:prstGeom prst="rect">
            <a:avLst/>
          </a:prstGeom>
          <a:solidFill>
            <a:srgbClr val="FFCCFF"/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none" lIns="36000" tIns="0" rIns="3600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900" b="1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endParaRPr lang="ko-KR" altLang="en-US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069501" y="5614507"/>
            <a:ext cx="140029" cy="138499"/>
          </a:xfrm>
          <a:prstGeom prst="rect">
            <a:avLst/>
          </a:prstGeom>
          <a:solidFill>
            <a:srgbClr val="FFCCFF"/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none" lIns="36000" tIns="0" rIns="3600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900" b="1" dirty="0">
                <a:solidFill>
                  <a:srgbClr val="00B050"/>
                </a:solidFill>
                <a:latin typeface="+mn-ea"/>
                <a:ea typeface="+mn-ea"/>
              </a:rPr>
              <a:t>2</a:t>
            </a:r>
            <a:endParaRPr lang="ko-KR" altLang="en-US" sz="900" b="1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712192" y="5823832"/>
            <a:ext cx="140029" cy="138499"/>
          </a:xfrm>
          <a:prstGeom prst="rect">
            <a:avLst/>
          </a:prstGeom>
          <a:solidFill>
            <a:srgbClr val="FFCCFF"/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none" lIns="36000" tIns="0" rIns="3600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900" b="1" dirty="0">
                <a:solidFill>
                  <a:srgbClr val="00B050"/>
                </a:solidFill>
                <a:latin typeface="+mn-ea"/>
                <a:ea typeface="+mn-ea"/>
              </a:rPr>
              <a:t>3</a:t>
            </a:r>
            <a:endParaRPr lang="ko-KR" altLang="en-US" sz="900" b="1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320929" y="5823832"/>
            <a:ext cx="140029" cy="138499"/>
          </a:xfrm>
          <a:prstGeom prst="rect">
            <a:avLst/>
          </a:prstGeom>
          <a:solidFill>
            <a:srgbClr val="FFCCFF"/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none" lIns="36000" tIns="0" rIns="3600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900" b="1" dirty="0">
                <a:solidFill>
                  <a:srgbClr val="00B050"/>
                </a:solidFill>
                <a:latin typeface="+mn-ea"/>
                <a:ea typeface="+mn-ea"/>
              </a:rPr>
              <a:t>4</a:t>
            </a:r>
            <a:endParaRPr lang="ko-KR" altLang="en-US" sz="900" b="1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sp>
        <p:nvSpPr>
          <p:cNvPr id="56" name="모서리가 둥근 직사각형 55"/>
          <p:cNvSpPr/>
          <p:nvPr/>
        </p:nvSpPr>
        <p:spPr bwMode="auto">
          <a:xfrm>
            <a:off x="7432447" y="5798287"/>
            <a:ext cx="1476164" cy="20821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 smtClean="0">
                <a:solidFill>
                  <a:srgbClr val="000000"/>
                </a:solidFill>
                <a:latin typeface="+mn-ea"/>
              </a:rPr>
              <a:t>PWM </a:t>
            </a:r>
            <a:r>
              <a:rPr kumimoji="1" lang="ko-KR" altLang="en-US" sz="1100" dirty="0" smtClean="0">
                <a:solidFill>
                  <a:srgbClr val="000000"/>
                </a:solidFill>
                <a:latin typeface="+mn-ea"/>
              </a:rPr>
              <a:t>제어</a:t>
            </a:r>
            <a:endParaRPr kumimoji="1" lang="ko-KR" altLang="en-US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57" name="직선 화살표 연결선 56"/>
          <p:cNvCxnSpPr/>
          <p:nvPr/>
        </p:nvCxnSpPr>
        <p:spPr bwMode="auto">
          <a:xfrm flipV="1">
            <a:off x="5818909" y="5976851"/>
            <a:ext cx="1612669" cy="191194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00FF"/>
            </a:solidFill>
            <a:prstDash val="sysDot"/>
            <a:round/>
            <a:headEnd type="stealth" w="med" len="med"/>
            <a:tailEnd type="stealth"/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7441289" y="5630559"/>
            <a:ext cx="140029" cy="138499"/>
          </a:xfrm>
          <a:prstGeom prst="rect">
            <a:avLst/>
          </a:prstGeom>
          <a:solidFill>
            <a:srgbClr val="FFCCFF"/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none" lIns="36000" tIns="0" rIns="3600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900" b="1" dirty="0">
                <a:solidFill>
                  <a:srgbClr val="00B050"/>
                </a:solidFill>
                <a:latin typeface="+mn-ea"/>
                <a:ea typeface="+mn-ea"/>
              </a:rPr>
              <a:t>5</a:t>
            </a:r>
            <a:endParaRPr lang="ko-KR" altLang="en-US" sz="900" b="1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cxnSp>
        <p:nvCxnSpPr>
          <p:cNvPr id="59" name="꺾인 연결선 58"/>
          <p:cNvCxnSpPr>
            <a:stCxn id="47" idx="2"/>
            <a:endCxn id="56" idx="2"/>
          </p:cNvCxnSpPr>
          <p:nvPr/>
        </p:nvCxnSpPr>
        <p:spPr>
          <a:xfrm rot="5400000" flipH="1" flipV="1">
            <a:off x="5461473" y="3305331"/>
            <a:ext cx="7883" cy="5410227"/>
          </a:xfrm>
          <a:prstGeom prst="bentConnector3">
            <a:avLst>
              <a:gd name="adj1" fmla="val -6103247"/>
            </a:avLst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FF0000"/>
            </a:solidFill>
            <a:prstDash val="sysDot"/>
            <a:round/>
            <a:headEnd type="stealth" w="med" len="med"/>
            <a:tailEnd type="oval"/>
          </a:ln>
          <a:effectLst/>
        </p:spPr>
      </p:cxnSp>
      <p:cxnSp>
        <p:nvCxnSpPr>
          <p:cNvPr id="60" name="꺾인 연결선 59"/>
          <p:cNvCxnSpPr>
            <a:stCxn id="47" idx="0"/>
            <a:endCxn id="56" idx="0"/>
          </p:cNvCxnSpPr>
          <p:nvPr/>
        </p:nvCxnSpPr>
        <p:spPr>
          <a:xfrm rot="5400000" flipH="1" flipV="1">
            <a:off x="5461474" y="3097116"/>
            <a:ext cx="7883" cy="5410227"/>
          </a:xfrm>
          <a:prstGeom prst="bentConnector3">
            <a:avLst>
              <a:gd name="adj1" fmla="val 4969669"/>
            </a:avLst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B050"/>
            </a:solidFill>
            <a:prstDash val="sysDot"/>
            <a:round/>
            <a:headEnd type="oval" w="med" len="med"/>
            <a:tailEnd type="stealth"/>
          </a:ln>
          <a:effectLst/>
        </p:spPr>
      </p:cxnSp>
      <p:sp>
        <p:nvSpPr>
          <p:cNvPr id="61" name="모서리가 둥근 직사각형 60"/>
          <p:cNvSpPr/>
          <p:nvPr/>
        </p:nvSpPr>
        <p:spPr bwMode="auto">
          <a:xfrm>
            <a:off x="4320929" y="6027265"/>
            <a:ext cx="1476164" cy="338945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 smtClean="0">
                <a:solidFill>
                  <a:srgbClr val="FF3300"/>
                </a:solidFill>
                <a:latin typeface="+mn-ea"/>
              </a:rPr>
              <a:t>EV AIR HEATER</a:t>
            </a: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 smtClean="0">
                <a:solidFill>
                  <a:srgbClr val="FF3300"/>
                </a:solidFill>
                <a:latin typeface="+mn-ea"/>
              </a:rPr>
              <a:t>(SHEATH TYPE)</a:t>
            </a:r>
            <a:endParaRPr kumimoji="1" lang="ko-KR" altLang="en-US" sz="1100" dirty="0">
              <a:solidFill>
                <a:srgbClr val="FF3300"/>
              </a:solidFill>
              <a:latin typeface="+mn-ea"/>
            </a:endParaRPr>
          </a:p>
        </p:txBody>
      </p:sp>
      <p:cxnSp>
        <p:nvCxnSpPr>
          <p:cNvPr id="63" name="직선 화살표 연결선 62"/>
          <p:cNvCxnSpPr>
            <a:stCxn id="47" idx="3"/>
            <a:endCxn id="61" idx="1"/>
          </p:cNvCxnSpPr>
          <p:nvPr/>
        </p:nvCxnSpPr>
        <p:spPr bwMode="auto">
          <a:xfrm>
            <a:off x="3480302" y="5910278"/>
            <a:ext cx="840627" cy="28646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00FF"/>
            </a:solidFill>
            <a:prstDash val="sysDot"/>
            <a:round/>
            <a:headEnd type="stealth" w="med" len="med"/>
            <a:tailEnd type="stealth"/>
          </a:ln>
          <a:effectLst/>
        </p:spPr>
      </p:cxnSp>
      <p:sp>
        <p:nvSpPr>
          <p:cNvPr id="65" name="모서리가 둥근 직사각형 64"/>
          <p:cNvSpPr/>
          <p:nvPr/>
        </p:nvSpPr>
        <p:spPr bwMode="auto">
          <a:xfrm>
            <a:off x="5877967" y="5673597"/>
            <a:ext cx="1476164" cy="20821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 smtClean="0">
                <a:solidFill>
                  <a:srgbClr val="FF0000"/>
                </a:solidFill>
                <a:latin typeface="+mn-ea"/>
              </a:rPr>
              <a:t>PTC &amp; BIMETAL </a:t>
            </a:r>
            <a:r>
              <a:rPr kumimoji="1" lang="ko-KR" altLang="en-US" sz="1100" dirty="0" smtClean="0">
                <a:solidFill>
                  <a:srgbClr val="FF0000"/>
                </a:solidFill>
                <a:latin typeface="+mn-ea"/>
              </a:rPr>
              <a:t>제어</a:t>
            </a:r>
            <a:endParaRPr kumimoji="1" lang="ko-KR" altLang="en-US" sz="11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68" name="직선 화살표 연결선 67"/>
          <p:cNvCxnSpPr/>
          <p:nvPr/>
        </p:nvCxnSpPr>
        <p:spPr bwMode="auto">
          <a:xfrm flipV="1">
            <a:off x="5818909" y="5877098"/>
            <a:ext cx="764771" cy="22444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00FF"/>
            </a:solidFill>
            <a:prstDash val="sysDot"/>
            <a:round/>
            <a:headEnd type="stealth" w="med" len="med"/>
            <a:tailEnd type="stealth"/>
          </a:ln>
          <a:effectLst/>
        </p:spPr>
      </p:cxnSp>
      <p:sp>
        <p:nvSpPr>
          <p:cNvPr id="11" name="직사각형 10"/>
          <p:cNvSpPr/>
          <p:nvPr/>
        </p:nvSpPr>
        <p:spPr>
          <a:xfrm>
            <a:off x="4275842" y="5472514"/>
            <a:ext cx="3105860" cy="980822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41120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초격차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요구 </a:t>
            </a:r>
            <a:r>
              <a:rPr lang="en-US" altLang="ko-KR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SPEC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8" name="Group 12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793647"/>
              </p:ext>
            </p:extLst>
          </p:nvPr>
        </p:nvGraphicFramePr>
        <p:xfrm>
          <a:off x="110068" y="811969"/>
          <a:ext cx="4932731" cy="5916307"/>
        </p:xfrm>
        <a:graphic>
          <a:graphicData uri="http://schemas.openxmlformats.org/drawingml/2006/table">
            <a:tbl>
              <a:tblPr/>
              <a:tblGrid>
                <a:gridCol w="1800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2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요구품질 </a:t>
                      </a:r>
                      <a:r>
                        <a:rPr kumimoji="1" lang="en-US" altLang="ko-KR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– </a:t>
                      </a:r>
                      <a:r>
                        <a:rPr kumimoji="1" lang="ko-KR" altLang="en-US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컴플리트</a:t>
                      </a:r>
                      <a:endParaRPr kumimoji="1" lang="en-US" altLang="ko-KR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54001" marR="54001" marT="36004" marB="36004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6</a:t>
                      </a:r>
                      <a:r>
                        <a:rPr kumimoji="1" lang="ko-KR" altLang="en-US" sz="1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항목</a:t>
                      </a:r>
                      <a:endParaRPr kumimoji="1" lang="en-US" altLang="ko-KR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54001" marR="54001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4001" marR="54001" marT="36004" marB="36004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86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4001" marR="54001" marT="36004" marB="36004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919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■ 사용환경</a:t>
                      </a:r>
                      <a:endParaRPr kumimoji="1" lang="en-US" altLang="ko-KR" sz="9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-40℃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~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85℃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사용 조건에서 정상 작동할 것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2.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고온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다습 환경에서 정상 작동 할 것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■</a:t>
                      </a:r>
                      <a:r>
                        <a:rPr kumimoji="1" lang="en-US" altLang="ko-KR" sz="9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1" lang="ko-KR" altLang="en-US" sz="9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과거차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실패 사례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타사 제품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HVAC </a:t>
                      </a: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열변형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2.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당사 </a:t>
                      </a:r>
                      <a:r>
                        <a:rPr kumimoji="0" lang="en-US" altLang="ko-KR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Mva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PTC HEATER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소음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불쾌한 냄새 방출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4.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IEB </a:t>
                      </a: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선행개발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문제점 개선 이력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ㄴ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HVAC </a:t>
                      </a: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열변형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(R</a:t>
                      </a: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로직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및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STONE TC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규제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ㄴ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PTC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소음 개선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개별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FIN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적용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ㄴ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냄새 개선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페록사이드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미 사용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■</a:t>
                      </a:r>
                      <a:r>
                        <a:rPr kumimoji="1" lang="en-US" altLang="ko-KR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경계품질 </a:t>
                      </a:r>
                      <a:r>
                        <a:rPr kumimoji="1" lang="en-US" altLang="ko-KR" sz="9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kumimoji="1" lang="ko-KR" altLang="en-US" sz="9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상대부품에 요구되는 품질항목</a:t>
                      </a:r>
                      <a:r>
                        <a:rPr kumimoji="1" lang="en-US" altLang="ko-KR" sz="9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HVAC </a:t>
                      </a:r>
                      <a:r>
                        <a:rPr kumimoji="1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열변형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없을 것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(STONE TC 160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 이하 사용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2. HVAC MOUNTING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부 강성 보강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4001" marR="54001" marT="36004" marB="36004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52931" y="1510788"/>
            <a:ext cx="367982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1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.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성능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6.3kW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급 </a:t>
            </a:r>
            <a:r>
              <a:rPr lang="ko-KR" altLang="en-US" sz="900" dirty="0" err="1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난방성능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확보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 </a:t>
            </a:r>
            <a:r>
              <a:rPr lang="ko-KR" altLang="en-US" sz="900" dirty="0" err="1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보호로직을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적용한 온도 안전성 확보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AL TUBE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를 적용한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내구 성능 확보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LASER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용접을 적용한 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리크성능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확보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2.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강도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충격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진동 등 기계적 악의 환경에서의 성능 확보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3.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환경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 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열변화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간 성능 확보 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저온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고온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, 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열충격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)</a:t>
            </a: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 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수밀성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확보 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(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습도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,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방수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침수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)</a:t>
            </a: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4.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내구 품질 확보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5.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작동 소음 품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질 확보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(</a:t>
            </a:r>
            <a:r>
              <a:rPr lang="en-US" altLang="ko-KR" sz="900" dirty="0" err="1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Mva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ko-KR" altLang="en-US" sz="900" dirty="0" err="1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분할핀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적용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)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6.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차량 장착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조립 인터페이스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MG’T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3POINT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적용으로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HVAC </a:t>
            </a:r>
            <a:r>
              <a:rPr lang="ko-KR" altLang="en-US" sz="900" dirty="0" err="1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결합성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확보</a:t>
            </a:r>
            <a:endParaRPr lang="en-US" altLang="ko-KR" sz="900" dirty="0" smtClean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</a:t>
            </a:r>
            <a:r>
              <a:rPr lang="ko-KR" altLang="en-US" sz="900" dirty="0" err="1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ㄴ커넥터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매칭성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(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조립성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, 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작업성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확보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endParaRPr lang="en-US" altLang="ko-KR" sz="900" dirty="0" smtClean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CAN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통신에 따른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ATCU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신호 </a:t>
            </a:r>
            <a:r>
              <a:rPr lang="ko-KR" altLang="en-US" sz="900" dirty="0" err="1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매칭성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확보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</p:txBody>
      </p:sp>
      <p:sp>
        <p:nvSpPr>
          <p:cNvPr id="10" name="그림 2"/>
          <p:cNvSpPr>
            <a:spLocks noChangeAspect="1"/>
          </p:cNvSpPr>
          <p:nvPr/>
        </p:nvSpPr>
        <p:spPr bwMode="auto">
          <a:xfrm>
            <a:off x="3710519" y="4672466"/>
            <a:ext cx="1752600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354" y="918489"/>
            <a:ext cx="1735678" cy="2510511"/>
          </a:xfrm>
          <a:prstGeom prst="rect">
            <a:avLst/>
          </a:prstGeom>
        </p:spPr>
      </p:pic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482408"/>
              </p:ext>
            </p:extLst>
          </p:nvPr>
        </p:nvGraphicFramePr>
        <p:xfrm>
          <a:off x="5076056" y="811969"/>
          <a:ext cx="3960812" cy="59021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7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기본</a:t>
                      </a:r>
                      <a:endParaRPr lang="en-US" altLang="ko-KR" sz="7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항목</a:t>
                      </a: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시험 규격</a:t>
                      </a: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주요 내용</a:t>
                      </a: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소요</a:t>
                      </a:r>
                      <a:endParaRPr lang="en-US" altLang="ko-KR" sz="7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일정</a:t>
                      </a: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607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ES97110-03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(HV PTC ES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시험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※ 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기타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ES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ES91500-02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ES90000-01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ES90000-02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ES90000-03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ES90000-04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● 일반 기능시험</a:t>
                      </a:r>
                      <a:endParaRPr kumimoji="1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-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환경조건 및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정격전압에서 성능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5.5kW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만족 할 것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● 절연저항 시험</a:t>
                      </a:r>
                      <a:endParaRPr kumimoji="1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- </a:t>
                      </a:r>
                      <a:r>
                        <a:rPr kumimoji="1" lang="en-US" altLang="ko-KR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Vmax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인가 후 절연저항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10MΩ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이상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만족 할 것</a:t>
                      </a:r>
                      <a:endParaRPr kumimoji="1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내전압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시험</a:t>
                      </a:r>
                      <a:endParaRPr kumimoji="1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- 4,300V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인가 후 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허용전류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0.5mA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만족 할 것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● 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발열부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온도 분포</a:t>
                      </a:r>
                      <a:endParaRPr kumimoji="1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-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좌우 온도 편차 평균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℃ 이내 일 것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● 무풍 및 저온 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작동시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온도측정 시험</a:t>
                      </a:r>
                      <a:endParaRPr kumimoji="1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- FIN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 ROD : 150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℃ 이하 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일것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- </a:t>
                      </a:r>
                      <a:r>
                        <a:rPr kumimoji="1" lang="en-US" altLang="ko-KR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Tair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: 120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℃ 이하 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일것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18005" marR="18005" marT="19016" marB="19016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2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MOUNTING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강도 시험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정하중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10kgf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가한 후 변형 파손 확인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진동 시험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주파수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: 2000CPM / 4.4G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시험 후 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             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성능 변화율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5%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이하 일 것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1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저온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고온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kumimoji="0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열충격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시험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- -40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℃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x72hr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85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℃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x72hr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 -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40~80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℃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6cycle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등 환경 시험 후 성능 만족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습도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방수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먼지 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시험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-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습도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방수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먼지 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등 시험 후 성능 만족</a:t>
                      </a:r>
                    </a:p>
                  </a:txBody>
                  <a:tcPr marL="18005" marR="18005" marT="19016" marB="19016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작동 내구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시험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상온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저온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상온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저온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45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 내구 후 성능 만족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45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1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ES90700-00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ES95480-00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고속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Local Can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통신 </a:t>
                      </a: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단품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시험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45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5082277"/>
                  </a:ext>
                </a:extLst>
              </a:tr>
              <a:tr h="34713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18005" marR="18005" marT="18003" marB="18003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ES96200-00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(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전자파 면역 시험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ES90000-04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무연 </a:t>
                      </a:r>
                      <a:r>
                        <a:rPr kumimoji="1" lang="ko-KR" altLang="en-US" sz="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솔더링</a:t>
                      </a:r>
                      <a:r>
                        <a:rPr kumimoji="1" lang="ko-KR" altLang="en-US" sz="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환경 신뢰성 시험</a:t>
                      </a:r>
                      <a:r>
                        <a:rPr kumimoji="1" lang="en-US" altLang="ko-KR" sz="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EMI/EMS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검증 시험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솔더링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전장품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열충격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내구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고온 고습 내구 평가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각 해당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시험별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요구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스펙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만족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120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382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MS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MS184-01</a:t>
                      </a: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무연솔더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페이스트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03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MS184-02</a:t>
                      </a: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무연솔더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와이어</a:t>
                      </a: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03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MS 300-08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연소성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시험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038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18005" marR="18005" marT="18003" marB="18003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MS 300- 58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차량 실내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VOCs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시험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18005" marR="18005" marT="19020" marB="1902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08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MS201-02</a:t>
                      </a: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자동차 부품 및 재료의 유해물질 사용 금지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038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법규</a:t>
                      </a: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ECE-R-100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고전원장치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관련 요구사항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: 35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항목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01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LV123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고전원장치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관련 요구사항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: 50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항목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18005" marR="18005" marT="19016" marB="1901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62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j-ea"/>
                          <a:ea typeface="+mj-ea"/>
                        </a:rPr>
                        <a:t>품질</a:t>
                      </a:r>
                      <a:r>
                        <a:rPr lang="en-US" altLang="ko-KR" sz="800" b="1" dirty="0">
                          <a:latin typeface="+mj-ea"/>
                          <a:ea typeface="+mj-ea"/>
                        </a:rPr>
                        <a:t/>
                      </a:r>
                      <a:br>
                        <a:rPr lang="en-US" altLang="ko-KR" sz="800" b="1" dirty="0">
                          <a:latin typeface="+mj-ea"/>
                          <a:ea typeface="+mj-ea"/>
                        </a:rPr>
                      </a:br>
                      <a:r>
                        <a:rPr lang="ko-KR" altLang="en-US" sz="800" b="1" dirty="0">
                          <a:latin typeface="+mj-ea"/>
                          <a:ea typeface="+mj-ea"/>
                        </a:rPr>
                        <a:t>표준</a:t>
                      </a:r>
                      <a:endParaRPr lang="en-US" altLang="ko-KR" sz="800" b="1" dirty="0"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</a:rPr>
                        <a:t> Q-Standard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315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적용차종</a:t>
                      </a: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18005" marR="18005" marT="18001" marB="18001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MVa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FRONT 800V HEATER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기반 개발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18005" marR="18005" marT="18001" marB="18001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08468" y="542552"/>
            <a:ext cx="8217991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en-US" altLang="ko-KR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1. </a:t>
            </a:r>
            <a:r>
              <a:rPr lang="ko-KR" altLang="en-US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요구 품질 및 </a:t>
            </a:r>
            <a:r>
              <a:rPr lang="en-US" altLang="ko-KR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MS/ES </a:t>
            </a:r>
            <a:r>
              <a:rPr lang="ko-KR" altLang="en-US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검토 항목</a:t>
            </a:r>
            <a:endParaRPr lang="en-US" altLang="ko-KR" sz="1050" b="1" dirty="0" smtClean="0"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55646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초격차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투자비 </a:t>
            </a:r>
            <a:r>
              <a:rPr lang="en-US" altLang="ko-KR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(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예상 비용</a:t>
            </a:r>
            <a:r>
              <a:rPr lang="en-US" altLang="ko-KR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)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08468" y="575804"/>
            <a:ext cx="8217991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en-US" altLang="ko-KR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1. Mock up </a:t>
            </a:r>
            <a:r>
              <a:rPr lang="ko-KR" altLang="en-US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제작 비용 </a:t>
            </a:r>
            <a:r>
              <a:rPr lang="en-US" altLang="ko-KR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(</a:t>
            </a:r>
            <a:r>
              <a:rPr lang="ko-KR" altLang="en-US" sz="1050" b="1" dirty="0" err="1" smtClean="0">
                <a:ea typeface="현대하모니 B" panose="02020603020101020101" pitchFamily="18" charset="-127"/>
                <a:cs typeface="Arial" panose="020B0604020202020204" pitchFamily="34" charset="0"/>
              </a:rPr>
              <a:t>금형제작</a:t>
            </a:r>
            <a:r>
              <a:rPr lang="ko-KR" altLang="en-US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 비용 대체</a:t>
            </a:r>
            <a:r>
              <a:rPr lang="en-US" altLang="ko-KR" sz="1050" b="1" dirty="0">
                <a:ea typeface="현대하모니 B" panose="02020603020101020101" pitchFamily="18" charset="-127"/>
                <a:cs typeface="Arial" panose="020B0604020202020204" pitchFamily="34" charset="0"/>
              </a:rPr>
              <a:t>)</a:t>
            </a:r>
            <a:endParaRPr lang="en-US" altLang="ko-KR" sz="1050" b="1" dirty="0" smtClean="0"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792916"/>
              </p:ext>
            </p:extLst>
          </p:nvPr>
        </p:nvGraphicFramePr>
        <p:xfrm>
          <a:off x="166634" y="858526"/>
          <a:ext cx="8633592" cy="936000"/>
        </p:xfrm>
        <a:graphic>
          <a:graphicData uri="http://schemas.openxmlformats.org/drawingml/2006/table">
            <a:tbl>
              <a:tblPr/>
              <a:tblGrid>
                <a:gridCol w="328987">
                  <a:extLst>
                    <a:ext uri="{9D8B030D-6E8A-4147-A177-3AD203B41FA5}">
                      <a16:colId xmlns:a16="http://schemas.microsoft.com/office/drawing/2014/main" val="1874035362"/>
                    </a:ext>
                  </a:extLst>
                </a:gridCol>
                <a:gridCol w="1628107">
                  <a:extLst>
                    <a:ext uri="{9D8B030D-6E8A-4147-A177-3AD203B41FA5}">
                      <a16:colId xmlns:a16="http://schemas.microsoft.com/office/drawing/2014/main" val="3016343987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61273666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35436735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50753813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99893255"/>
                    </a:ext>
                  </a:extLst>
                </a:gridCol>
                <a:gridCol w="2716058">
                  <a:extLst>
                    <a:ext uri="{9D8B030D-6E8A-4147-A177-3AD203B41FA5}">
                      <a16:colId xmlns:a16="http://schemas.microsoft.com/office/drawing/2014/main" val="302189491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  명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  질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 량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개당 단가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0755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COVER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PBT-GF30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\300,000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\1,500,000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53260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UPPER HOUSING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AL6061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\700,000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\3,500,000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36019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LOWER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HOUSING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PBT-GF30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\300,000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\1,500,000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13782"/>
                  </a:ext>
                </a:extLst>
              </a:tr>
              <a:tr h="180000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합계 금액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\6,500,000</a:t>
                      </a:r>
                      <a:endParaRPr lang="en-US" altLang="ko-KR" sz="9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128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271149"/>
              </p:ext>
            </p:extLst>
          </p:nvPr>
        </p:nvGraphicFramePr>
        <p:xfrm>
          <a:off x="166634" y="2186845"/>
          <a:ext cx="8614146" cy="1353048"/>
        </p:xfrm>
        <a:graphic>
          <a:graphicData uri="http://schemas.openxmlformats.org/drawingml/2006/table">
            <a:tbl>
              <a:tblPr/>
              <a:tblGrid>
                <a:gridCol w="409889">
                  <a:extLst>
                    <a:ext uri="{9D8B030D-6E8A-4147-A177-3AD203B41FA5}">
                      <a16:colId xmlns:a16="http://schemas.microsoft.com/office/drawing/2014/main" val="323434901"/>
                    </a:ext>
                  </a:extLst>
                </a:gridCol>
                <a:gridCol w="3430772">
                  <a:extLst>
                    <a:ext uri="{9D8B030D-6E8A-4147-A177-3AD203B41FA5}">
                      <a16:colId xmlns:a16="http://schemas.microsoft.com/office/drawing/2014/main" val="2068645260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1663044608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4258027661"/>
                    </a:ext>
                  </a:extLst>
                </a:gridCol>
                <a:gridCol w="1101485">
                  <a:extLst>
                    <a:ext uri="{9D8B030D-6E8A-4147-A177-3AD203B41FA5}">
                      <a16:colId xmlns:a16="http://schemas.microsoft.com/office/drawing/2014/main" val="455711617"/>
                    </a:ext>
                  </a:extLst>
                </a:gridCol>
              </a:tblGrid>
              <a:tr h="3036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 험 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</a:t>
                      </a:r>
                      <a:r>
                        <a:rPr lang="ko-KR" altLang="en-US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시험 비용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280838"/>
                  </a:ext>
                </a:extLst>
              </a:tr>
              <a:tr h="2098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ES97110-01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공기 </a:t>
                      </a:r>
                      <a:r>
                        <a:rPr lang="ko-KR" altLang="en-US" sz="8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가열식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피티씨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히터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앗세이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신뢰성시험팀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외부시험소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\15,000,000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(JIG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포함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337132"/>
                  </a:ext>
                </a:extLst>
              </a:tr>
              <a:tr h="2098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HALT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시험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외부시험소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\10,000,000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741905"/>
                  </a:ext>
                </a:extLst>
              </a:tr>
              <a:tr h="2098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ES90000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-01,02,04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외부시험소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\40,000,000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165788"/>
                  </a:ext>
                </a:extLst>
              </a:tr>
              <a:tr h="2098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ES96200-10</a:t>
                      </a: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외부시험소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\60,000,000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348006"/>
                  </a:ext>
                </a:extLst>
              </a:tr>
              <a:tr h="209889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 금액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\125,000,000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845501"/>
                  </a:ext>
                </a:extLst>
              </a:tr>
            </a:tbl>
          </a:graphicData>
        </a:graphic>
      </p:graphicFrame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108468" y="1823332"/>
            <a:ext cx="8217991" cy="334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50" b="1">
                <a:ea typeface="현대하모니 B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 smtClean="0"/>
              <a:t>2</a:t>
            </a:r>
            <a:r>
              <a:rPr lang="en-US" altLang="ko-KR" dirty="0"/>
              <a:t>. </a:t>
            </a:r>
            <a:r>
              <a:rPr lang="ko-KR" altLang="en-US" dirty="0"/>
              <a:t>신뢰성 시험 비용</a:t>
            </a: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108468" y="3568699"/>
            <a:ext cx="8217991" cy="334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50" b="1">
                <a:ea typeface="현대하모니 B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dirty="0" smtClean="0"/>
              <a:t>설비 및 기타 투자비용 </a:t>
            </a:r>
            <a:endParaRPr lang="ko-KR" altLang="en-US" dirty="0"/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056704"/>
              </p:ext>
            </p:extLst>
          </p:nvPr>
        </p:nvGraphicFramePr>
        <p:xfrm>
          <a:off x="166634" y="3932212"/>
          <a:ext cx="8614146" cy="936000"/>
        </p:xfrm>
        <a:graphic>
          <a:graphicData uri="http://schemas.openxmlformats.org/drawingml/2006/table">
            <a:tbl>
              <a:tblPr/>
              <a:tblGrid>
                <a:gridCol w="409889">
                  <a:extLst>
                    <a:ext uri="{9D8B030D-6E8A-4147-A177-3AD203B41FA5}">
                      <a16:colId xmlns:a16="http://schemas.microsoft.com/office/drawing/2014/main" val="323434901"/>
                    </a:ext>
                  </a:extLst>
                </a:gridCol>
                <a:gridCol w="3430772">
                  <a:extLst>
                    <a:ext uri="{9D8B030D-6E8A-4147-A177-3AD203B41FA5}">
                      <a16:colId xmlns:a16="http://schemas.microsoft.com/office/drawing/2014/main" val="2068645260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1663044608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4258027661"/>
                    </a:ext>
                  </a:extLst>
                </a:gridCol>
                <a:gridCol w="1101485">
                  <a:extLst>
                    <a:ext uri="{9D8B030D-6E8A-4147-A177-3AD203B41FA5}">
                      <a16:colId xmlns:a16="http://schemas.microsoft.com/office/drawing/2014/main" val="45571161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시험 비용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28083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SHEATH HEATER SAMPLE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비용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HEAT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WELL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\10,000,000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(JIG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포함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33713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JIG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및 설비 투자 비용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HEAT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WELL &amp; WOORY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\10,000,000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7419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해외 출장 비용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(SAMPLE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제작 및 업체 미팅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WOORY</a:t>
                      </a: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 18,000,000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 기준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74559"/>
                  </a:ext>
                </a:extLst>
              </a:tr>
              <a:tr h="18000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 금액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\38,000,000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845501"/>
                  </a:ext>
                </a:extLst>
              </a:tr>
            </a:tbl>
          </a:graphicData>
        </a:graphic>
      </p:graphicFrame>
      <p:sp>
        <p:nvSpPr>
          <p:cNvPr id="23" name="Text Box 2"/>
          <p:cNvSpPr txBox="1">
            <a:spLocks noChangeArrowheads="1"/>
          </p:cNvSpPr>
          <p:nvPr/>
        </p:nvSpPr>
        <p:spPr bwMode="auto">
          <a:xfrm>
            <a:off x="108468" y="4897018"/>
            <a:ext cx="8217991" cy="303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50" b="1">
                <a:ea typeface="현대하모니 B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 smtClean="0"/>
              <a:t>4. H/W. S/W </a:t>
            </a:r>
            <a:r>
              <a:rPr lang="ko-KR" altLang="en-US" dirty="0" smtClean="0"/>
              <a:t>투자 비용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877880"/>
              </p:ext>
            </p:extLst>
          </p:nvPr>
        </p:nvGraphicFramePr>
        <p:xfrm>
          <a:off x="166634" y="5229304"/>
          <a:ext cx="8614146" cy="396000"/>
        </p:xfrm>
        <a:graphic>
          <a:graphicData uri="http://schemas.openxmlformats.org/drawingml/2006/table">
            <a:tbl>
              <a:tblPr/>
              <a:tblGrid>
                <a:gridCol w="409889">
                  <a:extLst>
                    <a:ext uri="{9D8B030D-6E8A-4147-A177-3AD203B41FA5}">
                      <a16:colId xmlns:a16="http://schemas.microsoft.com/office/drawing/2014/main" val="323434901"/>
                    </a:ext>
                  </a:extLst>
                </a:gridCol>
                <a:gridCol w="3430772">
                  <a:extLst>
                    <a:ext uri="{9D8B030D-6E8A-4147-A177-3AD203B41FA5}">
                      <a16:colId xmlns:a16="http://schemas.microsoft.com/office/drawing/2014/main" val="2068645260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1663044608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4258027661"/>
                    </a:ext>
                  </a:extLst>
                </a:gridCol>
                <a:gridCol w="1101485">
                  <a:extLst>
                    <a:ext uri="{9D8B030D-6E8A-4147-A177-3AD203B41FA5}">
                      <a16:colId xmlns:a16="http://schemas.microsoft.com/office/drawing/2014/main" val="45571161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시험 비용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28083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ARTWORK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및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PCB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ASS’Y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제작 비용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일렉스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한샘디지텍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\10,000,000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337132"/>
                  </a:ext>
                </a:extLst>
              </a:tr>
            </a:tbl>
          </a:graphicData>
        </a:graphic>
      </p:graphicFrame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297197" y="5778647"/>
            <a:ext cx="821799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50" b="1">
                <a:ea typeface="현대하모니 B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sz="1400" u="sng" dirty="0" smtClean="0">
                <a:solidFill>
                  <a:srgbClr val="0000FF"/>
                </a:solidFill>
              </a:rPr>
              <a:t>▶ 투자비 총 합계 </a:t>
            </a:r>
            <a:r>
              <a:rPr lang="en-US" altLang="ko-KR" sz="1400" u="sng" dirty="0" smtClean="0">
                <a:solidFill>
                  <a:srgbClr val="0000FF"/>
                </a:solidFill>
              </a:rPr>
              <a:t>: \179,500,000</a:t>
            </a:r>
            <a:r>
              <a:rPr lang="ko-KR" altLang="en-US" sz="1400" u="sng" dirty="0" smtClean="0">
                <a:solidFill>
                  <a:srgbClr val="0000FF"/>
                </a:solidFill>
              </a:rPr>
              <a:t>원 </a:t>
            </a:r>
            <a:r>
              <a:rPr lang="en-US" altLang="ko-KR" sz="1400" u="sng" dirty="0" smtClean="0">
                <a:solidFill>
                  <a:srgbClr val="0000FF"/>
                </a:solidFill>
              </a:rPr>
              <a:t>(</a:t>
            </a:r>
            <a:r>
              <a:rPr lang="ko-KR" altLang="en-US" sz="1400" u="sng" dirty="0" smtClean="0">
                <a:solidFill>
                  <a:srgbClr val="0000FF"/>
                </a:solidFill>
              </a:rPr>
              <a:t>약 </a:t>
            </a:r>
            <a:r>
              <a:rPr lang="en-US" altLang="ko-KR" sz="1400" u="sng" dirty="0" smtClean="0">
                <a:solidFill>
                  <a:srgbClr val="0000FF"/>
                </a:solidFill>
              </a:rPr>
              <a:t>1.8</a:t>
            </a:r>
            <a:r>
              <a:rPr lang="ko-KR" altLang="en-US" sz="1400" u="sng" dirty="0" smtClean="0">
                <a:solidFill>
                  <a:srgbClr val="0000FF"/>
                </a:solidFill>
              </a:rPr>
              <a:t>억</a:t>
            </a:r>
            <a:r>
              <a:rPr lang="en-US" altLang="ko-KR" sz="1400" u="sng" dirty="0" smtClean="0">
                <a:solidFill>
                  <a:srgbClr val="0000FF"/>
                </a:solidFill>
              </a:rPr>
              <a:t>)</a:t>
            </a:r>
            <a:endParaRPr lang="ko-KR" altLang="en-US" sz="1400" u="sn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55730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세부 진행 현황 </a:t>
            </a:r>
            <a:r>
              <a:rPr lang="en-US" altLang="ko-KR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LIST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82" name="표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469160"/>
              </p:ext>
            </p:extLst>
          </p:nvPr>
        </p:nvGraphicFramePr>
        <p:xfrm>
          <a:off x="94545" y="662528"/>
          <a:ext cx="8983516" cy="5863620"/>
        </p:xfrm>
        <a:graphic>
          <a:graphicData uri="http://schemas.openxmlformats.org/drawingml/2006/table">
            <a:tbl>
              <a:tblPr/>
              <a:tblGrid>
                <a:gridCol w="222285">
                  <a:extLst>
                    <a:ext uri="{9D8B030D-6E8A-4147-A177-3AD203B41FA5}">
                      <a16:colId xmlns:a16="http://schemas.microsoft.com/office/drawing/2014/main" val="2008111482"/>
                    </a:ext>
                  </a:extLst>
                </a:gridCol>
                <a:gridCol w="818132">
                  <a:extLst>
                    <a:ext uri="{9D8B030D-6E8A-4147-A177-3AD203B41FA5}">
                      <a16:colId xmlns:a16="http://schemas.microsoft.com/office/drawing/2014/main" val="4039242413"/>
                    </a:ext>
                  </a:extLst>
                </a:gridCol>
                <a:gridCol w="2055927">
                  <a:extLst>
                    <a:ext uri="{9D8B030D-6E8A-4147-A177-3AD203B41FA5}">
                      <a16:colId xmlns:a16="http://schemas.microsoft.com/office/drawing/2014/main" val="267106438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51776316"/>
                    </a:ext>
                  </a:extLst>
                </a:gridCol>
                <a:gridCol w="598723">
                  <a:extLst>
                    <a:ext uri="{9D8B030D-6E8A-4147-A177-3AD203B41FA5}">
                      <a16:colId xmlns:a16="http://schemas.microsoft.com/office/drawing/2014/main" val="627558689"/>
                    </a:ext>
                  </a:extLst>
                </a:gridCol>
                <a:gridCol w="598723">
                  <a:extLst>
                    <a:ext uri="{9D8B030D-6E8A-4147-A177-3AD203B41FA5}">
                      <a16:colId xmlns:a16="http://schemas.microsoft.com/office/drawing/2014/main" val="1753768764"/>
                    </a:ext>
                  </a:extLst>
                </a:gridCol>
                <a:gridCol w="598723">
                  <a:extLst>
                    <a:ext uri="{9D8B030D-6E8A-4147-A177-3AD203B41FA5}">
                      <a16:colId xmlns:a16="http://schemas.microsoft.com/office/drawing/2014/main" val="3555270163"/>
                    </a:ext>
                  </a:extLst>
                </a:gridCol>
                <a:gridCol w="598723">
                  <a:extLst>
                    <a:ext uri="{9D8B030D-6E8A-4147-A177-3AD203B41FA5}">
                      <a16:colId xmlns:a16="http://schemas.microsoft.com/office/drawing/2014/main" val="108556316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161815393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02379708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113321841"/>
                    </a:ext>
                  </a:extLst>
                </a:gridCol>
              </a:tblGrid>
              <a:tr h="1768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내용</a:t>
                      </a: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계획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 진행 사항</a:t>
                      </a: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</a:t>
                      </a: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</a:t>
                      </a: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502831"/>
                  </a:ext>
                </a:extLst>
              </a:tr>
              <a:tr h="1768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Start</a:t>
                      </a: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</a:t>
                      </a: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Start</a:t>
                      </a: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</a:t>
                      </a: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817429"/>
                  </a:ext>
                </a:extLst>
              </a:tr>
              <a:tr h="2053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KICK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OFF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 선정 및 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KICK OFF MEETING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Sheath Heater Type 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및 업체 선정 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(Heat well)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26.03.03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26.03.03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26.03.03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26.03.03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회의록 작성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098237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검토</a:t>
                      </a: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Concept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Type A,B,C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진행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26.03.05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26.03.15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26.03.17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26.03.17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설계 검토</a:t>
                      </a:r>
                      <a:r>
                        <a:rPr lang="ko-KR" altLang="en-US" sz="3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9226404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Concept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Core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ass’y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concept Sample 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가능여부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3D 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modling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검토 자료 작성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26.03.18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26.03.18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26.03.18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26.03.18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Concept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535434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직렬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병렬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자재 수급 및 제작 예정 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직렬 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ROD 15EA / 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병렬 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ROD 15EA)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26.03.20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26.04.16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2026.03.20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자재 </a:t>
                      </a:r>
                      <a:r>
                        <a:rPr lang="ko-KR" altLang="en-US" sz="7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수급중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305108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320725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453792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355713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3468344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090142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818979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00002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4088754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050612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553121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581989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840726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750320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283098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974322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175947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651175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662466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677908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546825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645500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309626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7070565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287652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985294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006539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299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05551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47908</TotalTime>
  <Words>2833</Words>
  <Application>Microsoft Office PowerPoint</Application>
  <PresentationFormat>화면 슬라이드 쇼(4:3)</PresentationFormat>
  <Paragraphs>872</Paragraphs>
  <Slides>14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연결</vt:lpstr>
      </vt:variant>
      <vt:variant>
        <vt:i4>3</vt:i4>
      </vt:variant>
      <vt:variant>
        <vt:lpstr>슬라이드 제목</vt:lpstr>
      </vt:variant>
      <vt:variant>
        <vt:i4>14</vt:i4>
      </vt:variant>
    </vt:vector>
  </HeadingPairs>
  <TitlesOfParts>
    <vt:vector size="28" baseType="lpstr">
      <vt:lpstr>굴림</vt:lpstr>
      <vt:lpstr>맑은 고딕</vt:lpstr>
      <vt:lpstr>현대하모니 B</vt:lpstr>
      <vt:lpstr>현대하모니 L</vt:lpstr>
      <vt:lpstr>현대하모니 M</vt:lpstr>
      <vt:lpstr>Arial</vt:lpstr>
      <vt:lpstr>Lucida Sans Unicode</vt:lpstr>
      <vt:lpstr>Tahoma</vt:lpstr>
      <vt:lpstr>Verdana</vt:lpstr>
      <vt:lpstr>Wingdings</vt:lpstr>
      <vt:lpstr>제안서 템플릿</vt:lpstr>
      <vt:lpstr>file:///C:\Users\user\Desktop\두견\3D-3\01_NEa%20PE_PTC%20HEATER%20ASSY_230216.CATProduct</vt:lpstr>
      <vt:lpstr>file:///C:\Users\user\Desktop\두견\3D-3\01_NEa%20PE_PTC%20HEATER%20ASSY_230216.CATProduct</vt:lpstr>
      <vt:lpstr>file:///C:\Users\user\Desktop\두견\3D-3\01_NEa%20PE_PTC%20HEATER%20ASSY_230216.CATProduct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5021</cp:revision>
  <cp:lastPrinted>2024-04-29T08:56:20Z</cp:lastPrinted>
  <dcterms:created xsi:type="dcterms:W3CDTF">2019-10-24T04:42:23Z</dcterms:created>
  <dcterms:modified xsi:type="dcterms:W3CDTF">2026-03-26T04:53:16Z</dcterms:modified>
</cp:coreProperties>
</file>