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6" r:id="rId2"/>
    <p:sldId id="272" r:id="rId3"/>
    <p:sldId id="278" r:id="rId4"/>
    <p:sldId id="279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16" autoAdjust="0"/>
  </p:normalViewPr>
  <p:slideViewPr>
    <p:cSldViewPr>
      <p:cViewPr varScale="1">
        <p:scale>
          <a:sx n="152" d="100"/>
          <a:sy n="152" d="100"/>
        </p:scale>
        <p:origin x="3822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4098A-4737-423D-94AD-5CFBD91B4550}" type="datetimeFigureOut">
              <a:rPr lang="ko-KR" altLang="en-US" smtClean="0"/>
              <a:pPr/>
              <a:t>2025-09-23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30893B-D5B6-4BD4-9EBE-DEACC20011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27FB3-A66D-44CF-B0BC-3DB5B74015CD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840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27FB3-A66D-44CF-B0BC-3DB5B74015CD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914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27FB3-A66D-44CF-B0BC-3DB5B74015CD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367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2025-09-23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2025-09-23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2025-09-23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2025-09-23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2025-09-23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2025-09-23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2025-09-23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2025-09-23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2025-09-23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2025-09-23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2025-09-23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2"/>
          <p:cNvSpPr>
            <a:spLocks noChangeArrowheads="1"/>
          </p:cNvSpPr>
          <p:nvPr/>
        </p:nvSpPr>
        <p:spPr bwMode="auto">
          <a:xfrm>
            <a:off x="2015231" y="6495425"/>
            <a:ext cx="6153246" cy="3600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120000"/>
              </a:lnSpc>
              <a:buClr>
                <a:srgbClr val="0000FF"/>
              </a:buClr>
              <a:buFont typeface="Wingdings" pitchFamily="2" charset="2"/>
              <a:buChar char="v"/>
              <a:defRPr/>
            </a:pPr>
            <a:endParaRPr lang="en-US" altLang="ko-KR" b="1">
              <a:latin typeface="굴림" pitchFamily="50" charset="-127"/>
            </a:endParaRPr>
          </a:p>
        </p:txBody>
      </p:sp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8172400" y="6453336"/>
            <a:ext cx="735366" cy="40838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9pPr>
          </a:lstStyle>
          <a:p>
            <a:pPr>
              <a:lnSpc>
                <a:spcPct val="120000"/>
              </a:lnSpc>
              <a:buClr>
                <a:srgbClr val="0000FF"/>
              </a:buClr>
              <a:buFont typeface="Wingdings" pitchFamily="2" charset="2"/>
              <a:buChar char="v"/>
              <a:defRPr/>
            </a:pPr>
            <a:endParaRPr lang="en-US" altLang="ko-KR" sz="1800" b="1" dirty="0" smtClean="0">
              <a:latin typeface="굴림" pitchFamily="50" charset="-127"/>
            </a:endParaRPr>
          </a:p>
        </p:txBody>
      </p:sp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5158525" y="6652662"/>
            <a:ext cx="271901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en-US" sz="500" dirty="0" smtClean="0">
                <a:solidFill>
                  <a:srgbClr val="7F7F7F"/>
                </a:solidFill>
                <a:latin typeface="Arial" charset="0"/>
                <a:cs typeface="Arial" charset="0"/>
              </a:rPr>
              <a:t>COPYRIGHT©2014 WOORY INDUSTRIAL COMPANY, LTD. ALL RIGHTS RESERVED.</a:t>
            </a:r>
          </a:p>
        </p:txBody>
      </p:sp>
      <p:sp>
        <p:nvSpPr>
          <p:cNvPr id="7" name="TextBox 15"/>
          <p:cNvSpPr txBox="1">
            <a:spLocks noChangeArrowheads="1"/>
          </p:cNvSpPr>
          <p:nvPr/>
        </p:nvSpPr>
        <p:spPr bwMode="auto">
          <a:xfrm>
            <a:off x="2490727" y="6508402"/>
            <a:ext cx="539121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en-US" sz="800" dirty="0" smtClean="0">
                <a:solidFill>
                  <a:srgbClr val="7F7F7F"/>
                </a:solidFill>
                <a:latin typeface="Arial" charset="0"/>
                <a:cs typeface="Arial" charset="0"/>
              </a:rPr>
              <a:t>The information contained in this document may be privileged and confidential and thus protected from disclosure.</a:t>
            </a:r>
          </a:p>
        </p:txBody>
      </p: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248575" y="3"/>
            <a:ext cx="7922347" cy="18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9pPr>
          </a:lstStyle>
          <a:p>
            <a:pPr>
              <a:lnSpc>
                <a:spcPct val="120000"/>
              </a:lnSpc>
              <a:buClr>
                <a:srgbClr val="0000FF"/>
              </a:buClr>
              <a:buFont typeface="Wingdings" pitchFamily="2" charset="2"/>
              <a:buChar char="v"/>
              <a:defRPr/>
            </a:pPr>
            <a:endParaRPr lang="en-US" altLang="ko-KR" b="1" dirty="0" smtClean="0">
              <a:latin typeface="굴림" pitchFamily="50" charset="-127"/>
            </a:endParaRPr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8170923" y="3"/>
            <a:ext cx="720000" cy="1800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120000"/>
              </a:lnSpc>
              <a:buClr>
                <a:srgbClr val="0000FF"/>
              </a:buClr>
              <a:buFont typeface="Wingdings" pitchFamily="2" charset="2"/>
              <a:buChar char="v"/>
              <a:defRPr/>
            </a:pPr>
            <a:endParaRPr lang="en-US" altLang="ko-KR" b="1">
              <a:latin typeface="굴림" pitchFamily="50" charset="-127"/>
            </a:endParaRPr>
          </a:p>
        </p:txBody>
      </p:sp>
      <p:pic>
        <p:nvPicPr>
          <p:cNvPr id="10" name="Picture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99" y="6559517"/>
            <a:ext cx="1549936" cy="19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2015231" y="6453336"/>
            <a:ext cx="6153246" cy="3600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120000"/>
              </a:lnSpc>
              <a:buClr>
                <a:srgbClr val="0000FF"/>
              </a:buClr>
              <a:buFont typeface="Wingdings" pitchFamily="2" charset="2"/>
              <a:buChar char="v"/>
              <a:defRPr/>
            </a:pPr>
            <a:endParaRPr lang="en-US" altLang="ko-KR" b="1">
              <a:latin typeface="굴림" pitchFamily="50" charset="-127"/>
            </a:endParaRPr>
          </a:p>
        </p:txBody>
      </p:sp>
      <p:sp>
        <p:nvSpPr>
          <p:cNvPr id="13" name="TextBox 1"/>
          <p:cNvSpPr txBox="1">
            <a:spLocks noChangeArrowheads="1"/>
          </p:cNvSpPr>
          <p:nvPr userDrawn="1"/>
        </p:nvSpPr>
        <p:spPr bwMode="auto">
          <a:xfrm>
            <a:off x="5158525" y="6652662"/>
            <a:ext cx="271901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en-US" sz="500" dirty="0" smtClean="0">
                <a:solidFill>
                  <a:srgbClr val="7F7F7F"/>
                </a:solidFill>
                <a:latin typeface="Arial" charset="0"/>
                <a:cs typeface="Arial" charset="0"/>
              </a:rPr>
              <a:t>COPYRIGHT©2014 WOORY INDUSTRIAL COMPANY, LTD. ALL RIGHTS RESERVED.</a:t>
            </a:r>
          </a:p>
        </p:txBody>
      </p:sp>
      <p:sp>
        <p:nvSpPr>
          <p:cNvPr id="14" name="TextBox 15"/>
          <p:cNvSpPr txBox="1">
            <a:spLocks noChangeArrowheads="1"/>
          </p:cNvSpPr>
          <p:nvPr userDrawn="1"/>
        </p:nvSpPr>
        <p:spPr bwMode="auto">
          <a:xfrm>
            <a:off x="2490727" y="6508402"/>
            <a:ext cx="539121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en-US" sz="800" dirty="0" smtClean="0">
                <a:solidFill>
                  <a:srgbClr val="7F7F7F"/>
                </a:solidFill>
                <a:latin typeface="Arial" charset="0"/>
                <a:cs typeface="Arial" charset="0"/>
              </a:rPr>
              <a:t>The information contained in this document may be privileged and confidential and thus protected from disclosure.</a:t>
            </a:r>
          </a:p>
        </p:txBody>
      </p:sp>
      <p:sp>
        <p:nvSpPr>
          <p:cNvPr id="15" name="Rectangle 12"/>
          <p:cNvSpPr>
            <a:spLocks noChangeArrowheads="1"/>
          </p:cNvSpPr>
          <p:nvPr userDrawn="1"/>
        </p:nvSpPr>
        <p:spPr bwMode="auto">
          <a:xfrm>
            <a:off x="248575" y="3"/>
            <a:ext cx="7922347" cy="18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9pPr>
          </a:lstStyle>
          <a:p>
            <a:pPr>
              <a:lnSpc>
                <a:spcPct val="120000"/>
              </a:lnSpc>
              <a:buClr>
                <a:srgbClr val="0000FF"/>
              </a:buClr>
              <a:buFont typeface="Wingdings" pitchFamily="2" charset="2"/>
              <a:buChar char="v"/>
              <a:defRPr/>
            </a:pPr>
            <a:endParaRPr lang="en-US" altLang="ko-KR" b="1" dirty="0" smtClean="0">
              <a:latin typeface="굴림" pitchFamily="50" charset="-127"/>
            </a:endParaRPr>
          </a:p>
        </p:txBody>
      </p:sp>
      <p:sp>
        <p:nvSpPr>
          <p:cNvPr id="16" name="Rectangle 12"/>
          <p:cNvSpPr>
            <a:spLocks noChangeArrowheads="1"/>
          </p:cNvSpPr>
          <p:nvPr userDrawn="1"/>
        </p:nvSpPr>
        <p:spPr bwMode="auto">
          <a:xfrm>
            <a:off x="8170923" y="3"/>
            <a:ext cx="720000" cy="1800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120000"/>
              </a:lnSpc>
              <a:buClr>
                <a:srgbClr val="0000FF"/>
              </a:buClr>
              <a:buFont typeface="Wingdings" pitchFamily="2" charset="2"/>
              <a:buChar char="v"/>
              <a:defRPr/>
            </a:pPr>
            <a:endParaRPr lang="en-US" altLang="ko-KR" b="1">
              <a:latin typeface="굴림" pitchFamily="50" charset="-127"/>
            </a:endParaRPr>
          </a:p>
        </p:txBody>
      </p:sp>
      <p:pic>
        <p:nvPicPr>
          <p:cNvPr id="17" name="Picture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99" y="6559517"/>
            <a:ext cx="1549936" cy="19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TextBox 18"/>
          <p:cNvSpPr txBox="1"/>
          <p:nvPr userDrawn="1"/>
        </p:nvSpPr>
        <p:spPr>
          <a:xfrm rot="19769790">
            <a:off x="2727567" y="3118398"/>
            <a:ext cx="4290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solidFill>
                    <a:prstClr val="black">
                      <a:alpha val="20000"/>
                    </a:prstClr>
                  </a:solidFill>
                </a:ln>
                <a:solidFill>
                  <a:prstClr val="white">
                    <a:lumMod val="50000"/>
                    <a:alpha val="2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CONFIDENTIAL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solidFill>
                    <a:prstClr val="black">
                      <a:alpha val="20000"/>
                    </a:prstClr>
                  </a:solidFill>
                </a:ln>
                <a:solidFill>
                  <a:prstClr val="white">
                    <a:lumMod val="50000"/>
                    <a:alpha val="2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본 자료는 우리산업주식회사의 소유 자산으로 사용 용도 외 불법유출 시 </a:t>
            </a:r>
            <a:endParaRPr kumimoji="0" lang="en-US" altLang="ko-KR" sz="900" b="1" i="0" u="none" strike="noStrike" kern="1200" cap="none" spc="0" normalizeH="0" baseline="0" noProof="0" dirty="0">
              <a:ln>
                <a:solidFill>
                  <a:prstClr val="black">
                    <a:alpha val="20000"/>
                  </a:prstClr>
                </a:solidFill>
              </a:ln>
              <a:solidFill>
                <a:prstClr val="white">
                  <a:lumMod val="50000"/>
                  <a:alpha val="20000"/>
                </a:prst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solidFill>
                    <a:prstClr val="black">
                      <a:alpha val="20000"/>
                    </a:prstClr>
                  </a:solidFill>
                </a:ln>
                <a:solidFill>
                  <a:prstClr val="white">
                    <a:lumMod val="50000"/>
                    <a:alpha val="2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관계법령 및 회사 규정에 의해 처벌받게 됩니다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solidFill>
                    <a:prstClr val="black">
                      <a:alpha val="20000"/>
                    </a:prstClr>
                  </a:solidFill>
                </a:ln>
                <a:solidFill>
                  <a:prstClr val="white">
                    <a:lumMod val="50000"/>
                    <a:alpha val="2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</a:t>
            </a:r>
          </a:p>
        </p:txBody>
      </p:sp>
      <p:cxnSp>
        <p:nvCxnSpPr>
          <p:cNvPr id="22" name="직선 연결선 21"/>
          <p:cNvCxnSpPr/>
          <p:nvPr userDrawn="1"/>
        </p:nvCxnSpPr>
        <p:spPr>
          <a:xfrm>
            <a:off x="113328" y="548680"/>
            <a:ext cx="8928992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6"/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015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7" name="Freeform 38"/>
          <p:cNvSpPr>
            <a:spLocks/>
          </p:cNvSpPr>
          <p:nvPr userDrawn="1"/>
        </p:nvSpPr>
        <p:spPr bwMode="gray">
          <a:xfrm>
            <a:off x="0" y="3284984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015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8" name="Freeform 44"/>
          <p:cNvSpPr>
            <a:spLocks/>
          </p:cNvSpPr>
          <p:nvPr userDrawn="1"/>
        </p:nvSpPr>
        <p:spPr bwMode="gray">
          <a:xfrm>
            <a:off x="1908175" y="2276477"/>
            <a:ext cx="7240588" cy="1008509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015" dirty="0">
              <a:solidFill>
                <a:srgbClr val="FFFFFF"/>
              </a:solidFill>
              <a:ea typeface="굴림" pitchFamily="50" charset="-127"/>
            </a:endParaRPr>
          </a:p>
        </p:txBody>
      </p:sp>
      <p:pic>
        <p:nvPicPr>
          <p:cNvPr id="19" name="Picture 46"/>
          <p:cNvPicPr>
            <a:picLocks noChangeAspect="1" noChangeArrowheads="1"/>
          </p:cNvPicPr>
          <p:nvPr userDrawn="1"/>
        </p:nvPicPr>
        <p:blipFill>
          <a:blip r:embed="rId2" cstate="print"/>
          <a:srcRect l="36575" b="-2045"/>
          <a:stretch>
            <a:fillRect/>
          </a:stretch>
        </p:blipFill>
        <p:spPr bwMode="auto">
          <a:xfrm>
            <a:off x="252414" y="2655217"/>
            <a:ext cx="14986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2348882"/>
            <a:ext cx="1728316" cy="297581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22193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3E3FF9-2D19-4BE8-9A64-3FBAD4C12BA1}" type="datetimeFigureOut">
              <a:rPr lang="ko-KR" altLang="en-US" smtClean="0"/>
              <a:pPr/>
              <a:t>2025-09-23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2123728" y="2564904"/>
            <a:ext cx="66796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balanced" dir="t"/>
          </a:scene3d>
          <a:sp3d prstMaterial="matte"/>
        </p:spPr>
        <p:txBody>
          <a:bodyPr wrap="square">
            <a:spAutoFit/>
            <a:flatTx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ko-KR" sz="2000" b="1" smtClean="0">
                <a:solidFill>
                  <a:schemeClr val="bg1"/>
                </a:solidFill>
                <a:latin typeface="+mn-ea"/>
              </a:rPr>
              <a:t>SPQA </a:t>
            </a:r>
            <a:r>
              <a:rPr lang="ko-KR" altLang="en-US" sz="2000" b="1" smtClean="0">
                <a:solidFill>
                  <a:schemeClr val="bg1"/>
                </a:solidFill>
                <a:latin typeface="+mn-ea"/>
              </a:rPr>
              <a:t>평가 결과 및 대안</a:t>
            </a:r>
            <a:endParaRPr lang="en-US" altLang="ko-KR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white">
          <a:xfrm>
            <a:off x="3442028" y="4758380"/>
            <a:ext cx="2658757" cy="30546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385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anose="020B0604020202020204" pitchFamily="34" charset="0"/>
              </a:rPr>
              <a:t>Woory R&amp;D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white">
          <a:xfrm>
            <a:off x="7097819" y="6170442"/>
            <a:ext cx="1528785" cy="2343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923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anose="020B0604020202020204" pitchFamily="34" charset="0"/>
              </a:rPr>
              <a:t>2024.11.21</a:t>
            </a:r>
          </a:p>
        </p:txBody>
      </p:sp>
    </p:spTree>
    <p:extLst>
      <p:ext uri="{BB962C8B-B14F-4D97-AF65-F5344CB8AC3E}">
        <p14:creationId xmlns:p14="http://schemas.microsoft.com/office/powerpoint/2010/main" val="944743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부제목 2"/>
          <p:cNvSpPr txBox="1">
            <a:spLocks/>
          </p:cNvSpPr>
          <p:nvPr/>
        </p:nvSpPr>
        <p:spPr>
          <a:xfrm>
            <a:off x="179512" y="188640"/>
            <a:ext cx="7200800" cy="36004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20000"/>
              </a:lnSpc>
              <a:defRPr/>
            </a:pPr>
            <a:r>
              <a:rPr lang="en-US" altLang="ko-KR" b="1">
                <a:latin typeface="+mn-ea"/>
              </a:rPr>
              <a:t>SPQA </a:t>
            </a:r>
            <a:r>
              <a:rPr lang="ko-KR" altLang="en-US" b="1">
                <a:latin typeface="+mn-ea"/>
              </a:rPr>
              <a:t>평가 결과 및 대안</a:t>
            </a:r>
            <a:endParaRPr lang="en-US" altLang="ko-KR" b="1" dirty="0">
              <a:latin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3528" y="646819"/>
            <a:ext cx="2748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smtClean="0"/>
              <a:t>■ </a:t>
            </a:r>
            <a:r>
              <a:rPr lang="ko-KR" altLang="en-US" sz="1400" smtClean="0"/>
              <a:t>금년도 </a:t>
            </a:r>
            <a:r>
              <a:rPr lang="en-US" altLang="ko-KR" sz="1400" smtClean="0"/>
              <a:t>SPQA </a:t>
            </a:r>
            <a:r>
              <a:rPr lang="ko-KR" altLang="en-US" sz="1400" smtClean="0"/>
              <a:t>평가 결과 예측</a:t>
            </a:r>
            <a:endParaRPr lang="ko-KR" altLang="en-US" sz="140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817" y="3615896"/>
            <a:ext cx="4002950" cy="2663661"/>
          </a:xfrm>
          <a:prstGeom prst="rect">
            <a:avLst/>
          </a:prstGeom>
        </p:spPr>
      </p:pic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812960"/>
              </p:ext>
            </p:extLst>
          </p:nvPr>
        </p:nvGraphicFramePr>
        <p:xfrm>
          <a:off x="683568" y="980728"/>
          <a:ext cx="8064896" cy="2232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308395689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201786452"/>
                    </a:ext>
                  </a:extLst>
                </a:gridCol>
                <a:gridCol w="5688632">
                  <a:extLst>
                    <a:ext uri="{9D8B030D-6E8A-4147-A177-3AD203B41FA5}">
                      <a16:colId xmlns:a16="http://schemas.microsoft.com/office/drawing/2014/main" val="2005646724"/>
                    </a:ext>
                  </a:extLst>
                </a:gridCol>
              </a:tblGrid>
              <a:tr h="4495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mtClean="0">
                          <a:solidFill>
                            <a:schemeClr val="tx1"/>
                          </a:solidFill>
                          <a:latin typeface="+mn-lt"/>
                        </a:rPr>
                        <a:t>평가 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  <a:latin typeface="+mn-lt"/>
                        </a:rPr>
                        <a:t>평가 결과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  <a:latin typeface="+mn-lt"/>
                        </a:rPr>
                        <a:t>사유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5202770"/>
                  </a:ext>
                </a:extLst>
              </a:tr>
              <a:tr h="6562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+mn-lt"/>
                        </a:rPr>
                        <a:t>24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  <a:latin typeface="+mn-lt"/>
                        </a:rPr>
                        <a:t>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+mn-lt"/>
                        </a:rPr>
                        <a:t>B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+mn-lt"/>
                        </a:rPr>
                        <a:t>- 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  <a:latin typeface="+mn-lt"/>
                        </a:rPr>
                        <a:t>다소 부족한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SPQA 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산출물 및 검증 결과 였지만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비 전문가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현대 담당자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가 평가 진행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- 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평가 시 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ALM 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의 필요성을 재차 강조함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- 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자동차 대일정과 무관하게 로컬 산출물로만 심사 진행함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291930"/>
                  </a:ext>
                </a:extLst>
              </a:tr>
              <a:tr h="8384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+mn-lt"/>
                        </a:rPr>
                        <a:t>25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  <a:latin typeface="+mn-lt"/>
                        </a:rPr>
                        <a:t>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+mn-lt"/>
                        </a:rPr>
                        <a:t>C or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조건부 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B</a:t>
                      </a:r>
                    </a:p>
                    <a:p>
                      <a:pPr algn="ctr" latinLnBrk="1"/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미정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>
                          <a:solidFill>
                            <a:schemeClr val="tx1"/>
                          </a:solidFill>
                          <a:latin typeface="+mn-lt"/>
                        </a:rPr>
                        <a:t>- 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SPQA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에서 요구하는 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SPEC 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에 근거한 산출물 및 검증 결과 였지만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전문가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(C&amp;Bis)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가 평가 진행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- </a:t>
                      </a:r>
                      <a:r>
                        <a:rPr lang="ko-KR" altLang="en-US" sz="1000" b="1" baseline="0" smtClean="0">
                          <a:solidFill>
                            <a:srgbClr val="0070C0"/>
                          </a:solidFill>
                          <a:latin typeface="+mn-lt"/>
                        </a:rPr>
                        <a:t>프로세스 기반의 평가로써는 </a:t>
                      </a:r>
                      <a:r>
                        <a:rPr lang="en-US" altLang="ko-KR" sz="1000" b="1" baseline="0" smtClean="0">
                          <a:solidFill>
                            <a:srgbClr val="0070C0"/>
                          </a:solidFill>
                          <a:latin typeface="+mn-lt"/>
                        </a:rPr>
                        <a:t>B</a:t>
                      </a:r>
                      <a:r>
                        <a:rPr lang="ko-KR" altLang="en-US" sz="1000" b="1" baseline="0" smtClean="0">
                          <a:solidFill>
                            <a:srgbClr val="0070C0"/>
                          </a:solidFill>
                          <a:latin typeface="+mn-lt"/>
                        </a:rPr>
                        <a:t>등급 이상이지만</a:t>
                      </a:r>
                      <a:r>
                        <a:rPr lang="en-US" altLang="ko-KR" sz="1000" b="1" baseline="0" smtClean="0">
                          <a:solidFill>
                            <a:srgbClr val="0070C0"/>
                          </a:solidFill>
                          <a:latin typeface="+mn-lt"/>
                        </a:rPr>
                        <a:t>, ALM </a:t>
                      </a:r>
                      <a:r>
                        <a:rPr lang="ko-KR" altLang="en-US" sz="1000" b="1" baseline="0" smtClean="0">
                          <a:solidFill>
                            <a:srgbClr val="0070C0"/>
                          </a:solidFill>
                          <a:latin typeface="+mn-lt"/>
                        </a:rPr>
                        <a:t>도입 후 </a:t>
                      </a:r>
                      <a:r>
                        <a:rPr lang="en-US" altLang="ko-KR" sz="1000" b="1" baseline="0" smtClean="0">
                          <a:solidFill>
                            <a:srgbClr val="0070C0"/>
                          </a:solidFill>
                          <a:latin typeface="+mn-lt"/>
                        </a:rPr>
                        <a:t>Project </a:t>
                      </a:r>
                      <a:r>
                        <a:rPr lang="ko-KR" altLang="en-US" sz="1000" b="1" baseline="0" smtClean="0">
                          <a:solidFill>
                            <a:srgbClr val="0070C0"/>
                          </a:solidFill>
                          <a:latin typeface="+mn-lt"/>
                        </a:rPr>
                        <a:t>시작이 </a:t>
                      </a:r>
                      <a:r>
                        <a:rPr lang="en-US" altLang="ko-KR" sz="1000" b="1" baseline="0" smtClean="0">
                          <a:solidFill>
                            <a:srgbClr val="0070C0"/>
                          </a:solidFill>
                          <a:latin typeface="+mn-lt"/>
                        </a:rPr>
                        <a:t>7</a:t>
                      </a:r>
                      <a:r>
                        <a:rPr lang="ko-KR" altLang="en-US" sz="1000" b="1" baseline="0" smtClean="0">
                          <a:solidFill>
                            <a:srgbClr val="0070C0"/>
                          </a:solidFill>
                          <a:latin typeface="+mn-lt"/>
                        </a:rPr>
                        <a:t>월로 자동차 마</a:t>
                      </a:r>
                      <a:endParaRPr lang="en-US" altLang="ko-KR" sz="1000" b="1" baseline="0" smtClean="0">
                        <a:solidFill>
                          <a:srgbClr val="0070C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baseline="0" smtClean="0">
                          <a:solidFill>
                            <a:srgbClr val="0070C0"/>
                          </a:solidFill>
                          <a:latin typeface="+mn-lt"/>
                        </a:rPr>
                        <a:t>  </a:t>
                      </a:r>
                      <a:r>
                        <a:rPr lang="ko-KR" altLang="en-US" sz="1000" b="1" baseline="0" smtClean="0">
                          <a:solidFill>
                            <a:srgbClr val="0070C0"/>
                          </a:solidFill>
                          <a:latin typeface="+mn-lt"/>
                        </a:rPr>
                        <a:t>일스톤에 맞지 않음이 낮은 평가 결과의 요인임</a:t>
                      </a:r>
                      <a:r>
                        <a:rPr lang="en-US" altLang="ko-KR" sz="1000" b="1" baseline="0" smtClean="0">
                          <a:solidFill>
                            <a:srgbClr val="0070C0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  (2027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년부터 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ASPICE 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정식 도입에 따른 </a:t>
                      </a:r>
                      <a:r>
                        <a:rPr lang="ko-KR" altLang="en-US" sz="1000" b="1" baseline="0" smtClean="0">
                          <a:solidFill>
                            <a:srgbClr val="0070C0"/>
                          </a:solidFill>
                          <a:latin typeface="+mn-lt"/>
                        </a:rPr>
                        <a:t>심사 기준 상향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됨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634301"/>
                  </a:ext>
                </a:extLst>
              </a:tr>
            </a:tbl>
          </a:graphicData>
        </a:graphic>
      </p:graphicFrame>
      <p:cxnSp>
        <p:nvCxnSpPr>
          <p:cNvPr id="12" name="직선 연결선 11"/>
          <p:cNvCxnSpPr/>
          <p:nvPr/>
        </p:nvCxnSpPr>
        <p:spPr>
          <a:xfrm>
            <a:off x="467544" y="3429000"/>
            <a:ext cx="8352928" cy="0"/>
          </a:xfrm>
          <a:prstGeom prst="line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3526" y="3641271"/>
            <a:ext cx="42484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smtClean="0"/>
              <a:t>■ </a:t>
            </a:r>
            <a:r>
              <a:rPr lang="en-US" altLang="ko-KR" sz="1400" smtClean="0"/>
              <a:t>SPQA </a:t>
            </a:r>
            <a:r>
              <a:rPr lang="ko-KR" altLang="en-US" sz="1400" smtClean="0"/>
              <a:t>평가 결과</a:t>
            </a:r>
            <a:r>
              <a:rPr lang="ko-KR" altLang="en-US" sz="1400"/>
              <a:t>에 따른 </a:t>
            </a:r>
            <a:r>
              <a:rPr lang="ko-KR" altLang="en-US" sz="1400"/>
              <a:t>입찰 </a:t>
            </a:r>
            <a:r>
              <a:rPr lang="ko-KR" altLang="en-US" sz="1400" smtClean="0"/>
              <a:t>제한 상황</a:t>
            </a:r>
            <a:endParaRPr lang="ko-KR" altLang="en-US" sz="1400"/>
          </a:p>
        </p:txBody>
      </p:sp>
      <p:sp>
        <p:nvSpPr>
          <p:cNvPr id="13" name="TextBox 12"/>
          <p:cNvSpPr txBox="1"/>
          <p:nvPr/>
        </p:nvSpPr>
        <p:spPr>
          <a:xfrm>
            <a:off x="467544" y="3940314"/>
            <a:ext cx="427327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smtClean="0"/>
              <a:t>- 24</a:t>
            </a:r>
            <a:r>
              <a:rPr lang="ko-KR" altLang="en-US" sz="1000" smtClean="0"/>
              <a:t>년 부터 시행 중 </a:t>
            </a:r>
            <a:r>
              <a:rPr lang="en-US" altLang="ko-KR" sz="1000" smtClean="0"/>
              <a:t>(24</a:t>
            </a:r>
            <a:r>
              <a:rPr lang="ko-KR" altLang="en-US" sz="1000" smtClean="0"/>
              <a:t>년 평가 결과로 </a:t>
            </a:r>
            <a:r>
              <a:rPr lang="en-US" altLang="ko-KR" sz="1000" smtClean="0"/>
              <a:t>25</a:t>
            </a:r>
            <a:r>
              <a:rPr lang="ko-KR" altLang="en-US" sz="1000" smtClean="0"/>
              <a:t>년 입찰 제한 업체 발생</a:t>
            </a:r>
            <a:r>
              <a:rPr lang="en-US" altLang="ko-KR" sz="100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000" smtClean="0"/>
              <a:t>  </a:t>
            </a:r>
            <a:r>
              <a:rPr lang="ko-KR" altLang="en-US" sz="1000" smtClean="0"/>
              <a:t>당사는 </a:t>
            </a:r>
            <a:r>
              <a:rPr lang="en-US" altLang="ko-KR" sz="1000" smtClean="0"/>
              <a:t>24</a:t>
            </a:r>
            <a:r>
              <a:rPr lang="ko-KR" altLang="en-US" sz="1000" smtClean="0"/>
              <a:t>년 </a:t>
            </a:r>
            <a:r>
              <a:rPr lang="en-US" altLang="ko-KR" sz="1000" smtClean="0"/>
              <a:t>B</a:t>
            </a:r>
            <a:r>
              <a:rPr lang="ko-KR" altLang="en-US" sz="1000" smtClean="0"/>
              <a:t>등급으로 아무런 평가 결과 회신이 없었으며</a:t>
            </a:r>
            <a:r>
              <a:rPr lang="en-US" altLang="ko-KR" sz="1000" smtClean="0"/>
              <a:t>, </a:t>
            </a:r>
            <a:r>
              <a:rPr lang="ko-KR" altLang="en-US" sz="1000" smtClean="0"/>
              <a:t>입찰 제한 </a:t>
            </a:r>
            <a:endParaRPr lang="en-US" altLang="ko-KR" sz="1000" smtClean="0"/>
          </a:p>
          <a:p>
            <a:pPr>
              <a:lnSpc>
                <a:spcPct val="150000"/>
              </a:lnSpc>
            </a:pPr>
            <a:r>
              <a:rPr lang="en-US" altLang="ko-KR" sz="1000"/>
              <a:t> </a:t>
            </a:r>
            <a:r>
              <a:rPr lang="en-US" altLang="ko-KR" sz="1000" smtClean="0"/>
              <a:t> </a:t>
            </a:r>
            <a:r>
              <a:rPr lang="ko-KR" altLang="en-US" sz="1000" smtClean="0"/>
              <a:t>상황을 인지 하지 못함</a:t>
            </a:r>
            <a:r>
              <a:rPr lang="en-US" altLang="ko-KR" sz="1000" smtClean="0"/>
              <a:t>.</a:t>
            </a:r>
            <a:endParaRPr lang="en-US" altLang="ko-KR" sz="1000" b="1" smtClean="0"/>
          </a:p>
          <a:p>
            <a:pPr>
              <a:lnSpc>
                <a:spcPct val="150000"/>
              </a:lnSpc>
            </a:pPr>
            <a:r>
              <a:rPr lang="en-US" altLang="ko-KR" sz="1000" b="1" smtClean="0"/>
              <a:t>- </a:t>
            </a:r>
            <a:r>
              <a:rPr lang="en-US" altLang="ko-KR" sz="1000" smtClean="0"/>
              <a:t>PTC</a:t>
            </a:r>
            <a:r>
              <a:rPr lang="ko-KR" altLang="en-US" sz="1000" smtClean="0"/>
              <a:t>는 입찰 자격제 대상이 아니나</a:t>
            </a:r>
            <a:r>
              <a:rPr lang="en-US" altLang="ko-KR" sz="1000" smtClean="0"/>
              <a:t>, PTC</a:t>
            </a:r>
            <a:r>
              <a:rPr lang="ko-KR" altLang="en-US" sz="1000" smtClean="0"/>
              <a:t>가 입찰 자격제 대상이라는 </a:t>
            </a:r>
            <a:endParaRPr lang="en-US" altLang="ko-KR" sz="1000" smtClean="0"/>
          </a:p>
          <a:p>
            <a:pPr>
              <a:lnSpc>
                <a:spcPct val="150000"/>
              </a:lnSpc>
            </a:pPr>
            <a:r>
              <a:rPr lang="ko-KR" altLang="en-US" sz="1000" smtClean="0"/>
              <a:t>  것을 </a:t>
            </a:r>
            <a:r>
              <a:rPr lang="en-US" altLang="ko-KR" sz="1000" smtClean="0"/>
              <a:t>25</a:t>
            </a:r>
            <a:r>
              <a:rPr lang="ko-KR" altLang="en-US" sz="1000" smtClean="0"/>
              <a:t>년 </a:t>
            </a:r>
            <a:r>
              <a:rPr lang="en-US" altLang="ko-KR" sz="1000" smtClean="0"/>
              <a:t>9</a:t>
            </a:r>
            <a:r>
              <a:rPr lang="ko-KR" altLang="en-US" sz="1000" smtClean="0"/>
              <a:t>월 </a:t>
            </a:r>
            <a:r>
              <a:rPr lang="en-US" altLang="ko-KR" sz="1000" smtClean="0"/>
              <a:t>22</a:t>
            </a:r>
            <a:r>
              <a:rPr lang="ko-KR" altLang="en-US" sz="1000" smtClean="0"/>
              <a:t>일 인지함</a:t>
            </a:r>
            <a:r>
              <a:rPr lang="en-US" altLang="ko-KR" sz="100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000" smtClean="0"/>
              <a:t>- </a:t>
            </a:r>
            <a:r>
              <a:rPr lang="ko-KR" altLang="en-US" sz="1000" smtClean="0"/>
              <a:t>육성 프로젝트와 입찰 제한 평가 프로젝트는 별도 프로젝트임</a:t>
            </a:r>
            <a:endParaRPr lang="en-US" altLang="ko-KR" sz="1000" smtClean="0"/>
          </a:p>
          <a:p>
            <a:pPr>
              <a:lnSpc>
                <a:spcPct val="150000"/>
              </a:lnSpc>
            </a:pPr>
            <a:r>
              <a:rPr lang="ko-KR" altLang="en-US" sz="1000" smtClean="0"/>
              <a:t>  그러나</a:t>
            </a:r>
            <a:r>
              <a:rPr lang="en-US" altLang="ko-KR" sz="1000" smtClean="0"/>
              <a:t>, PTC</a:t>
            </a:r>
            <a:r>
              <a:rPr lang="ko-KR" altLang="en-US" sz="1000"/>
              <a:t> </a:t>
            </a:r>
            <a:r>
              <a:rPr lang="ko-KR" altLang="en-US" sz="1000" smtClean="0"/>
              <a:t>제어기로 입찰 자격 대상 평가가 진행됨</a:t>
            </a:r>
            <a:r>
              <a:rPr lang="en-US" altLang="ko-KR" sz="100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000" smtClean="0"/>
              <a:t>[</a:t>
            </a:r>
            <a:r>
              <a:rPr lang="ko-KR" altLang="en-US" sz="1000" smtClean="0"/>
              <a:t>입찰 제한 기준</a:t>
            </a:r>
            <a:r>
              <a:rPr lang="en-US" altLang="ko-KR" sz="1000" smtClean="0"/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1000" smtClean="0"/>
              <a:t>- “</a:t>
            </a:r>
            <a:r>
              <a:rPr lang="ko-KR" altLang="en-US" sz="1000" smtClean="0"/>
              <a:t>상</a:t>
            </a:r>
            <a:r>
              <a:rPr lang="en-US" altLang="ko-KR" sz="1000" smtClean="0"/>
              <a:t>” </a:t>
            </a:r>
            <a:r>
              <a:rPr lang="ko-KR" altLang="en-US" sz="1000" smtClean="0"/>
              <a:t>등급 제어기 </a:t>
            </a:r>
            <a:r>
              <a:rPr lang="en-US" altLang="ko-KR" sz="1000" smtClean="0">
                <a:sym typeface="Wingdings" panose="05000000000000000000" pitchFamily="2" charset="2"/>
              </a:rPr>
              <a:t> </a:t>
            </a:r>
            <a:r>
              <a:rPr lang="ko-KR" altLang="en-US" sz="1000" smtClean="0">
                <a:sym typeface="Wingdings" panose="05000000000000000000" pitchFamily="2" charset="2"/>
              </a:rPr>
              <a:t>평가 결과 </a:t>
            </a:r>
            <a:r>
              <a:rPr lang="en-US" altLang="ko-KR" sz="1000" smtClean="0">
                <a:sym typeface="Wingdings" panose="05000000000000000000" pitchFamily="2" charset="2"/>
              </a:rPr>
              <a:t>A </a:t>
            </a:r>
            <a:r>
              <a:rPr lang="ko-KR" altLang="en-US" sz="1000" smtClean="0">
                <a:sym typeface="Wingdings" panose="05000000000000000000" pitchFamily="2" charset="2"/>
              </a:rPr>
              <a:t>등급 이상</a:t>
            </a:r>
            <a:endParaRPr lang="en-US" altLang="ko-KR" sz="1000" smtClean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000" smtClean="0"/>
              <a:t>- “</a:t>
            </a:r>
            <a:r>
              <a:rPr lang="ko-KR" altLang="en-US" sz="1000" smtClean="0"/>
              <a:t>중</a:t>
            </a:r>
            <a:r>
              <a:rPr lang="en-US" altLang="ko-KR" sz="1000" smtClean="0"/>
              <a:t>,</a:t>
            </a:r>
            <a:r>
              <a:rPr lang="ko-KR" altLang="en-US" sz="1000" smtClean="0"/>
              <a:t>하</a:t>
            </a:r>
            <a:r>
              <a:rPr lang="en-US" altLang="ko-KR" sz="1000" smtClean="0"/>
              <a:t>“ </a:t>
            </a:r>
            <a:r>
              <a:rPr lang="ko-KR" altLang="en-US" sz="1000" smtClean="0"/>
              <a:t>등급 제어기 </a:t>
            </a:r>
            <a:r>
              <a:rPr lang="en-US" altLang="ko-KR" sz="1000" smtClean="0">
                <a:sym typeface="Wingdings" panose="05000000000000000000" pitchFamily="2" charset="2"/>
              </a:rPr>
              <a:t> </a:t>
            </a:r>
            <a:r>
              <a:rPr lang="ko-KR" altLang="en-US" sz="1000" smtClean="0">
                <a:sym typeface="Wingdings" panose="05000000000000000000" pitchFamily="2" charset="2"/>
              </a:rPr>
              <a:t>평가 결과 </a:t>
            </a:r>
            <a:r>
              <a:rPr lang="en-US" altLang="ko-KR" sz="1000" smtClean="0">
                <a:sym typeface="Wingdings" panose="05000000000000000000" pitchFamily="2" charset="2"/>
              </a:rPr>
              <a:t>B </a:t>
            </a:r>
            <a:r>
              <a:rPr lang="ko-KR" altLang="en-US" sz="1000" smtClean="0">
                <a:sym typeface="Wingdings" panose="05000000000000000000" pitchFamily="2" charset="2"/>
              </a:rPr>
              <a:t>등급 이상</a:t>
            </a:r>
            <a:endParaRPr lang="en-US" altLang="ko-KR" sz="1000"/>
          </a:p>
        </p:txBody>
      </p:sp>
    </p:spTree>
    <p:extLst>
      <p:ext uri="{BB962C8B-B14F-4D97-AF65-F5344CB8AC3E}">
        <p14:creationId xmlns:p14="http://schemas.microsoft.com/office/powerpoint/2010/main" val="8732254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67544" y="954596"/>
            <a:ext cx="82089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smtClean="0"/>
              <a:t>  - </a:t>
            </a:r>
            <a:r>
              <a:rPr lang="ko-KR" altLang="en-US" sz="1000" smtClean="0"/>
              <a:t>고객사 구매 본부 </a:t>
            </a:r>
            <a:r>
              <a:rPr lang="en-US" altLang="ko-KR" sz="1000" smtClean="0"/>
              <a:t>Contact </a:t>
            </a:r>
            <a:r>
              <a:rPr lang="ko-KR" altLang="en-US" sz="1000" smtClean="0"/>
              <a:t>하여</a:t>
            </a:r>
            <a:r>
              <a:rPr lang="en-US" altLang="ko-KR" sz="1000" smtClean="0"/>
              <a:t> 24</a:t>
            </a:r>
            <a:r>
              <a:rPr lang="ko-KR" altLang="en-US" sz="1000" smtClean="0"/>
              <a:t>년은 평가결과 </a:t>
            </a:r>
            <a:r>
              <a:rPr lang="en-US" altLang="ko-KR" sz="1000" smtClean="0"/>
              <a:t>B</a:t>
            </a:r>
            <a:r>
              <a:rPr lang="ko-KR" altLang="en-US" sz="1000" smtClean="0"/>
              <a:t>였으나</a:t>
            </a:r>
            <a:r>
              <a:rPr lang="en-US" altLang="ko-KR" sz="1000" smtClean="0"/>
              <a:t>, 25</a:t>
            </a:r>
            <a:r>
              <a:rPr lang="ko-KR" altLang="en-US" sz="1000" smtClean="0"/>
              <a:t>년은 성장하기 위한 </a:t>
            </a:r>
            <a:r>
              <a:rPr lang="en-US" altLang="ko-KR" sz="1000" smtClean="0"/>
              <a:t>ALM </a:t>
            </a:r>
            <a:r>
              <a:rPr lang="ko-KR" altLang="en-US" sz="1000" smtClean="0"/>
              <a:t>시스템 도입에 따른 과도기임을 충분히 설명하였으 </a:t>
            </a:r>
            <a:endParaRPr lang="en-US" altLang="ko-KR" sz="1000" smtClean="0"/>
          </a:p>
          <a:p>
            <a:pPr>
              <a:lnSpc>
                <a:spcPct val="150000"/>
              </a:lnSpc>
            </a:pPr>
            <a:r>
              <a:rPr lang="en-US" altLang="ko-KR" sz="1000" smtClean="0"/>
              <a:t>    </a:t>
            </a:r>
            <a:r>
              <a:rPr lang="ko-KR" altLang="en-US" sz="1000" smtClean="0"/>
              <a:t>며</a:t>
            </a:r>
            <a:r>
              <a:rPr lang="en-US" altLang="ko-KR" sz="1000" smtClean="0"/>
              <a:t>, </a:t>
            </a:r>
            <a:r>
              <a:rPr lang="ko-KR" altLang="en-US" sz="1000" smtClean="0"/>
              <a:t>내부 논의 하여 조건부 </a:t>
            </a:r>
            <a:r>
              <a:rPr lang="en-US" altLang="ko-KR" sz="1000" smtClean="0"/>
              <a:t>B </a:t>
            </a:r>
            <a:r>
              <a:rPr lang="ko-KR" altLang="en-US" sz="1000" smtClean="0"/>
              <a:t>도 고려 하겠다고 회신 받음</a:t>
            </a:r>
            <a:r>
              <a:rPr lang="en-US" altLang="ko-KR" sz="1000" smtClean="0"/>
              <a:t>.</a:t>
            </a:r>
          </a:p>
          <a:p>
            <a:pPr>
              <a:lnSpc>
                <a:spcPct val="150000"/>
              </a:lnSpc>
            </a:pPr>
            <a:endParaRPr lang="en-US" altLang="ko-KR" sz="1000"/>
          </a:p>
          <a:p>
            <a:pPr>
              <a:lnSpc>
                <a:spcPct val="150000"/>
              </a:lnSpc>
            </a:pPr>
            <a:endParaRPr lang="en-US" altLang="ko-KR" sz="1000" smtClean="0"/>
          </a:p>
          <a:p>
            <a:pPr>
              <a:lnSpc>
                <a:spcPct val="150000"/>
              </a:lnSpc>
            </a:pPr>
            <a:r>
              <a:rPr lang="en-US" altLang="ko-KR" sz="1000"/>
              <a:t> </a:t>
            </a:r>
            <a:r>
              <a:rPr lang="en-US" altLang="ko-KR" sz="1000" smtClean="0"/>
              <a:t> </a:t>
            </a:r>
          </a:p>
          <a:p>
            <a:pPr>
              <a:lnSpc>
                <a:spcPct val="150000"/>
              </a:lnSpc>
            </a:pPr>
            <a:endParaRPr lang="en-US" altLang="ko-KR" sz="1000"/>
          </a:p>
          <a:p>
            <a:pPr>
              <a:lnSpc>
                <a:spcPct val="150000"/>
              </a:lnSpc>
            </a:pPr>
            <a:endParaRPr lang="en-US" altLang="ko-KR" sz="1000" smtClean="0"/>
          </a:p>
          <a:p>
            <a:pPr>
              <a:lnSpc>
                <a:spcPct val="150000"/>
              </a:lnSpc>
            </a:pPr>
            <a:r>
              <a:rPr lang="en-US" altLang="ko-KR" sz="1000" smtClean="0"/>
              <a:t> 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063540"/>
              </p:ext>
            </p:extLst>
          </p:nvPr>
        </p:nvGraphicFramePr>
        <p:xfrm>
          <a:off x="755575" y="1556792"/>
          <a:ext cx="792088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3472479376"/>
                    </a:ext>
                  </a:extLst>
                </a:gridCol>
                <a:gridCol w="1152129">
                  <a:extLst>
                    <a:ext uri="{9D8B030D-6E8A-4147-A177-3AD203B41FA5}">
                      <a16:colId xmlns:a16="http://schemas.microsoft.com/office/drawing/2014/main" val="662504659"/>
                    </a:ext>
                  </a:extLst>
                </a:gridCol>
                <a:gridCol w="5184577">
                  <a:extLst>
                    <a:ext uri="{9D8B030D-6E8A-4147-A177-3AD203B41FA5}">
                      <a16:colId xmlns:a16="http://schemas.microsoft.com/office/drawing/2014/main" val="1287583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평가결과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입찰 자격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대안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820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- 25</a:t>
                      </a:r>
                      <a:r>
                        <a:rPr lang="ko-KR" altLang="en-US" sz="10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년도 이내 </a:t>
                      </a:r>
                      <a:r>
                        <a:rPr lang="en-US" altLang="ko-KR" sz="10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QV</a:t>
                      </a:r>
                      <a:r>
                        <a:rPr lang="en-US" altLang="ko-KR" sz="1000" b="0" i="0" kern="1200" baseline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baseline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보완 후 입찰 제한 자격 복구 및 유지</a:t>
                      </a:r>
                      <a:endParaRPr lang="en-US" altLang="ko-KR" sz="10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752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조건부 </a:t>
                      </a:r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1206658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3528" y="646819"/>
            <a:ext cx="965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smtClean="0"/>
              <a:t>■ </a:t>
            </a:r>
            <a:r>
              <a:rPr lang="ko-KR" altLang="en-US" sz="1400" smtClean="0"/>
              <a:t>현상황</a:t>
            </a:r>
            <a:endParaRPr lang="ko-KR" altLang="en-US" sz="1400"/>
          </a:p>
        </p:txBody>
      </p:sp>
      <p:sp>
        <p:nvSpPr>
          <p:cNvPr id="11" name="부제목 2"/>
          <p:cNvSpPr txBox="1">
            <a:spLocks/>
          </p:cNvSpPr>
          <p:nvPr/>
        </p:nvSpPr>
        <p:spPr>
          <a:xfrm>
            <a:off x="179512" y="188640"/>
            <a:ext cx="7200800" cy="36004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20000"/>
              </a:lnSpc>
              <a:defRPr/>
            </a:pPr>
            <a:r>
              <a:rPr lang="en-US" altLang="ko-KR" b="1">
                <a:latin typeface="+mn-ea"/>
              </a:rPr>
              <a:t>SPQA </a:t>
            </a:r>
            <a:r>
              <a:rPr lang="ko-KR" altLang="en-US" b="1">
                <a:latin typeface="+mn-ea"/>
              </a:rPr>
              <a:t>평가 결과 및 대안</a:t>
            </a:r>
            <a:endParaRPr lang="en-US" altLang="ko-KR" b="1" dirty="0"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3528" y="3121223"/>
            <a:ext cx="20505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smtClean="0"/>
              <a:t>■ </a:t>
            </a:r>
            <a:r>
              <a:rPr lang="ko-KR" altLang="en-US" sz="1400" smtClean="0"/>
              <a:t>상세 대안 및 리스크</a:t>
            </a:r>
            <a:endParaRPr lang="ko-KR" altLang="en-US" sz="1400"/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934874"/>
              </p:ext>
            </p:extLst>
          </p:nvPr>
        </p:nvGraphicFramePr>
        <p:xfrm>
          <a:off x="755574" y="4386040"/>
          <a:ext cx="7920883" cy="137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8">
                  <a:extLst>
                    <a:ext uri="{9D8B030D-6E8A-4147-A177-3AD203B41FA5}">
                      <a16:colId xmlns:a16="http://schemas.microsoft.com/office/drawing/2014/main" val="52812071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472479376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3369988747"/>
                    </a:ext>
                  </a:extLst>
                </a:gridCol>
                <a:gridCol w="3960441">
                  <a:extLst>
                    <a:ext uri="{9D8B030D-6E8A-4147-A177-3AD203B41FA5}">
                      <a16:colId xmlns:a16="http://schemas.microsoft.com/office/drawing/2014/main" val="2196631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대안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리스크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내용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820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25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년도 이내 </a:t>
                      </a:r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QV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</a:rPr>
                        <a:t>보완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</a:rPr>
                        <a:t>- 26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</a:rPr>
                        <a:t>년도 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</a:rPr>
                        <a:t>SPQA 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</a:rPr>
                        <a:t>진행에 따른</a:t>
                      </a:r>
                      <a:endParaRPr lang="en-US" altLang="ko-KR" sz="1000" baseline="0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</a:rPr>
                        <a:t>업무 과부하로</a:t>
                      </a:r>
                      <a:endParaRPr lang="en-US" altLang="ko-KR" sz="1000" baseline="0" smtClean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</a:rPr>
                        <a:t>- 26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</a:rPr>
                        <a:t>년도 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</a:rPr>
                        <a:t>SPQA 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</a:rPr>
                        <a:t>일정 차질 </a:t>
                      </a:r>
                      <a:endParaRPr lang="en-US" altLang="ko-KR" sz="1000" baseline="0" smtClean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</a:rPr>
                        <a:t>예상</a:t>
                      </a:r>
                      <a:endParaRPr lang="en-US" altLang="ko-KR" sz="1000" baseline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</a:rPr>
                        <a:t>자동차 마일스톤에 준하도록 </a:t>
                      </a:r>
                      <a:r>
                        <a:rPr lang="en-US" altLang="ko-KR" sz="1000" smtClean="0">
                          <a:solidFill>
                            <a:schemeClr val="tx1"/>
                          </a:solidFill>
                        </a:rPr>
                        <a:t>24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</a:rPr>
                        <a:t>년도 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</a:rPr>
                        <a:t>~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</a:rPr>
                        <a:t>25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</a:rPr>
                        <a:t>월까지의 자</a:t>
                      </a:r>
                      <a:endParaRPr lang="en-US" altLang="ko-KR" sz="1000" baseline="0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</a:rPr>
                        <a:t>동차 대일정에 준하여 로컬 문서 작성 보완하여 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</a:rPr>
                        <a:t>25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</a:rPr>
                        <a:t>년 내 재 심사</a:t>
                      </a:r>
                      <a:endParaRPr lang="en-US" altLang="ko-KR" sz="1000" u="sng" baseline="0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</a:rPr>
                        <a:t>자동차 마일스톤에 준하여 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</a:rPr>
                        <a:t>SPQA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</a:rPr>
                        <a:t>를 진행 했다는 이력을 증명 해</a:t>
                      </a:r>
                      <a:endParaRPr lang="en-US" altLang="ko-KR" sz="1000" baseline="0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</a:rPr>
                        <a:t>야하며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000" baseline="0" smtClean="0">
                          <a:solidFill>
                            <a:schemeClr val="tx1"/>
                          </a:solidFill>
                        </a:rPr>
                        <a:t>ALM </a:t>
                      </a:r>
                      <a:r>
                        <a:rPr lang="ko-KR" altLang="en-US" sz="1000" baseline="0" smtClean="0">
                          <a:solidFill>
                            <a:schemeClr val="tx1"/>
                          </a:solidFill>
                        </a:rPr>
                        <a:t>사용 시 등록 시간이 기록상에 남아 사용 불가</a:t>
                      </a:r>
                      <a:endParaRPr lang="en-US" altLang="ko-KR" sz="1000" baseline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752648"/>
                  </a:ext>
                </a:extLst>
              </a:tr>
            </a:tbl>
          </a:graphicData>
        </a:graphic>
      </p:graphicFrame>
      <p:sp>
        <p:nvSpPr>
          <p:cNvPr id="18" name="직사각형 17"/>
          <p:cNvSpPr/>
          <p:nvPr/>
        </p:nvSpPr>
        <p:spPr>
          <a:xfrm>
            <a:off x="608920" y="3394448"/>
            <a:ext cx="80648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smtClean="0">
                <a:solidFill>
                  <a:srgbClr val="0070C0"/>
                </a:solidFill>
              </a:rPr>
              <a:t>※ </a:t>
            </a:r>
            <a:r>
              <a:rPr lang="ko-KR" altLang="en-US" sz="1200" b="1" smtClean="0">
                <a:solidFill>
                  <a:srgbClr val="0070C0"/>
                </a:solidFill>
              </a:rPr>
              <a:t>필수 업무 진행 </a:t>
            </a:r>
            <a:endParaRPr lang="en-US" altLang="ko-KR" sz="1200" b="1" smtClean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rgbClr val="0070C0"/>
                </a:solidFill>
              </a:rPr>
              <a:t> </a:t>
            </a:r>
            <a:r>
              <a:rPr lang="en-US" altLang="ko-KR" sz="1200" b="1" smtClean="0">
                <a:solidFill>
                  <a:srgbClr val="0070C0"/>
                </a:solidFill>
              </a:rPr>
              <a:t>  : 26</a:t>
            </a:r>
            <a:r>
              <a:rPr lang="ko-KR" altLang="en-US" sz="1200" b="1">
                <a:solidFill>
                  <a:srgbClr val="0070C0"/>
                </a:solidFill>
              </a:rPr>
              <a:t>년도 </a:t>
            </a:r>
            <a:r>
              <a:rPr lang="en-US" altLang="ko-KR" sz="1200" b="1">
                <a:solidFill>
                  <a:srgbClr val="0070C0"/>
                </a:solidFill>
              </a:rPr>
              <a:t>SPQA </a:t>
            </a:r>
            <a:r>
              <a:rPr lang="ko-KR" altLang="en-US" sz="1200" b="1">
                <a:solidFill>
                  <a:srgbClr val="0070C0"/>
                </a:solidFill>
              </a:rPr>
              <a:t>평가를 </a:t>
            </a:r>
            <a:r>
              <a:rPr lang="ko-KR" altLang="en-US" sz="1200" b="1" smtClean="0">
                <a:solidFill>
                  <a:srgbClr val="0070C0"/>
                </a:solidFill>
              </a:rPr>
              <a:t>위해 정상적인 </a:t>
            </a:r>
            <a:r>
              <a:rPr lang="en-US" altLang="ko-KR" sz="1200" b="1" smtClean="0">
                <a:solidFill>
                  <a:srgbClr val="0070C0"/>
                </a:solidFill>
              </a:rPr>
              <a:t>SPQA </a:t>
            </a:r>
            <a:r>
              <a:rPr lang="ko-KR" altLang="en-US" sz="1200" b="1">
                <a:solidFill>
                  <a:srgbClr val="0070C0"/>
                </a:solidFill>
              </a:rPr>
              <a:t>프로세스를 </a:t>
            </a:r>
            <a:r>
              <a:rPr lang="en-US" altLang="ko-KR" sz="1200" b="1">
                <a:solidFill>
                  <a:srgbClr val="0070C0"/>
                </a:solidFill>
              </a:rPr>
              <a:t>Forward</a:t>
            </a:r>
            <a:r>
              <a:rPr lang="ko-KR" altLang="en-US" sz="1200" b="1">
                <a:solidFill>
                  <a:srgbClr val="0070C0"/>
                </a:solidFill>
              </a:rPr>
              <a:t>로 </a:t>
            </a:r>
            <a:r>
              <a:rPr lang="ko-KR" altLang="en-US" sz="1200" b="1" smtClean="0">
                <a:solidFill>
                  <a:srgbClr val="0070C0"/>
                </a:solidFill>
              </a:rPr>
              <a:t>진행 하여 </a:t>
            </a:r>
            <a:r>
              <a:rPr lang="en-US" altLang="ko-KR" sz="1200" b="1" smtClean="0">
                <a:solidFill>
                  <a:srgbClr val="0070C0"/>
                </a:solidFill>
              </a:rPr>
              <a:t>B</a:t>
            </a:r>
            <a:r>
              <a:rPr lang="ko-KR" altLang="en-US" sz="1200" b="1" smtClean="0">
                <a:solidFill>
                  <a:srgbClr val="0070C0"/>
                </a:solidFill>
              </a:rPr>
              <a:t>등급 이상 평가 결과를 득하기 </a:t>
            </a:r>
            <a:endParaRPr lang="en-US" altLang="ko-KR" sz="1200" b="1" smtClean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rgbClr val="0070C0"/>
                </a:solidFill>
              </a:rPr>
              <a:t> </a:t>
            </a:r>
            <a:r>
              <a:rPr lang="en-US" altLang="ko-KR" sz="1200" b="1" smtClean="0">
                <a:solidFill>
                  <a:srgbClr val="0070C0"/>
                </a:solidFill>
              </a:rPr>
              <a:t>    </a:t>
            </a:r>
            <a:r>
              <a:rPr lang="ko-KR" altLang="en-US" sz="1200" b="1" smtClean="0">
                <a:solidFill>
                  <a:srgbClr val="0070C0"/>
                </a:solidFill>
              </a:rPr>
              <a:t>위해서는 현시점 부터 </a:t>
            </a:r>
            <a:r>
              <a:rPr lang="en-US" altLang="ko-KR" sz="1200" b="1" smtClean="0">
                <a:solidFill>
                  <a:srgbClr val="0070C0"/>
                </a:solidFill>
              </a:rPr>
              <a:t>SX3 </a:t>
            </a:r>
            <a:r>
              <a:rPr lang="ko-KR" altLang="en-US" sz="1200" b="1" smtClean="0">
                <a:solidFill>
                  <a:srgbClr val="0070C0"/>
                </a:solidFill>
              </a:rPr>
              <a:t>차종</a:t>
            </a:r>
            <a:r>
              <a:rPr lang="en-US" altLang="ko-KR" sz="1200" b="1" smtClean="0">
                <a:solidFill>
                  <a:srgbClr val="0070C0"/>
                </a:solidFill>
              </a:rPr>
              <a:t>(</a:t>
            </a:r>
            <a:r>
              <a:rPr lang="en-US" altLang="ko-KR" sz="1200" b="1">
                <a:solidFill>
                  <a:srgbClr val="0070C0"/>
                </a:solidFill>
              </a:rPr>
              <a:t>Proto </a:t>
            </a:r>
            <a:r>
              <a:rPr lang="en-US" altLang="ko-KR" sz="1200" b="1">
                <a:solidFill>
                  <a:srgbClr val="0070C0"/>
                </a:solidFill>
              </a:rPr>
              <a:t>26/8</a:t>
            </a:r>
            <a:r>
              <a:rPr lang="en-US" altLang="ko-KR" sz="1200" b="1" smtClean="0">
                <a:solidFill>
                  <a:srgbClr val="0070C0"/>
                </a:solidFill>
              </a:rPr>
              <a:t>)</a:t>
            </a:r>
            <a:r>
              <a:rPr lang="ko-KR" altLang="en-US" sz="1200" b="1" smtClean="0">
                <a:solidFill>
                  <a:srgbClr val="0070C0"/>
                </a:solidFill>
              </a:rPr>
              <a:t>으로 </a:t>
            </a:r>
            <a:r>
              <a:rPr lang="en-US" altLang="ko-KR" sz="1200" b="1" smtClean="0">
                <a:solidFill>
                  <a:srgbClr val="0070C0"/>
                </a:solidFill>
              </a:rPr>
              <a:t>ALM </a:t>
            </a:r>
            <a:r>
              <a:rPr lang="ko-KR" altLang="en-US" sz="1200" b="1" smtClean="0">
                <a:solidFill>
                  <a:srgbClr val="0070C0"/>
                </a:solidFill>
              </a:rPr>
              <a:t>등록 및 </a:t>
            </a:r>
            <a:r>
              <a:rPr lang="en-US" altLang="ko-KR" sz="1200" b="1" smtClean="0">
                <a:solidFill>
                  <a:srgbClr val="0070C0"/>
                </a:solidFill>
              </a:rPr>
              <a:t>SPQA </a:t>
            </a:r>
            <a:r>
              <a:rPr lang="ko-KR" altLang="en-US" sz="1200" b="1" smtClean="0">
                <a:solidFill>
                  <a:srgbClr val="0070C0"/>
                </a:solidFill>
              </a:rPr>
              <a:t>진행 하여야함</a:t>
            </a:r>
            <a:r>
              <a:rPr lang="en-US" altLang="ko-KR" sz="1200" b="1" smtClean="0">
                <a:solidFill>
                  <a:srgbClr val="0070C0"/>
                </a:solidFill>
              </a:rPr>
              <a:t>. </a:t>
            </a:r>
            <a:endParaRPr lang="ko-KR" altLang="en-US" sz="1200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12254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부제목 2"/>
          <p:cNvSpPr txBox="1">
            <a:spLocks/>
          </p:cNvSpPr>
          <p:nvPr/>
        </p:nvSpPr>
        <p:spPr>
          <a:xfrm>
            <a:off x="179512" y="188640"/>
            <a:ext cx="7200800" cy="36004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20000"/>
              </a:lnSpc>
              <a:defRPr/>
            </a:pPr>
            <a:r>
              <a:rPr lang="en-US" altLang="ko-KR" b="1" smtClean="0">
                <a:latin typeface="+mn-ea"/>
              </a:rPr>
              <a:t>#</a:t>
            </a:r>
            <a:r>
              <a:rPr lang="ko-KR" altLang="en-US" b="1" smtClean="0">
                <a:latin typeface="+mn-ea"/>
              </a:rPr>
              <a:t>별첨</a:t>
            </a:r>
            <a:endParaRPr lang="en-US" altLang="ko-KR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7723117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4919</TotalTime>
  <Words>451</Words>
  <Application>Microsoft Office PowerPoint</Application>
  <PresentationFormat>화면 슬라이드 쇼(4:3)</PresentationFormat>
  <Paragraphs>71</Paragraphs>
  <Slides>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굴림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Windows 사용자</cp:lastModifiedBy>
  <cp:revision>290</cp:revision>
  <dcterms:created xsi:type="dcterms:W3CDTF">2024-02-23T01:38:31Z</dcterms:created>
  <dcterms:modified xsi:type="dcterms:W3CDTF">2025-09-23T10:04:16Z</dcterms:modified>
</cp:coreProperties>
</file>