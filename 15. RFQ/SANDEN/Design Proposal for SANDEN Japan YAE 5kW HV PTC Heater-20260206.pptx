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"/>
    <p:sldMasterId id="2147483758" r:id="rId5"/>
  </p:sldMasterIdLst>
  <p:notesMasterIdLst>
    <p:notesMasterId r:id="rId16"/>
  </p:notesMasterIdLst>
  <p:handoutMasterIdLst>
    <p:handoutMasterId r:id="rId17"/>
  </p:handoutMasterIdLst>
  <p:sldIdLst>
    <p:sldId id="477" r:id="rId6"/>
    <p:sldId id="478" r:id="rId7"/>
    <p:sldId id="435" r:id="rId8"/>
    <p:sldId id="475" r:id="rId9"/>
    <p:sldId id="438" r:id="rId10"/>
    <p:sldId id="441" r:id="rId11"/>
    <p:sldId id="479" r:id="rId12"/>
    <p:sldId id="468" r:id="rId13"/>
    <p:sldId id="419" r:id="rId14"/>
    <p:sldId id="480" r:id="rId15"/>
  </p:sldIdLst>
  <p:sldSz cx="9144000" cy="6858000" type="screen4x3"/>
  <p:notesSz cx="6797675" cy="98742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33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9" autoAdjust="0"/>
    <p:restoredTop sz="92950" autoAdjust="0"/>
  </p:normalViewPr>
  <p:slideViewPr>
    <p:cSldViewPr>
      <p:cViewPr varScale="1">
        <p:scale>
          <a:sx n="153" d="100"/>
          <a:sy n="153" d="100"/>
        </p:scale>
        <p:origin x="168" y="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B94B7DE8-B63B-41C2-A6D8-8A0F8965C9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4EDE1657-4A80-4AE2-A356-1B1A163B14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6890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2CCB06-2CBB-4505-8C94-586CDDF32700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566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091571-CF16-4E94-A0E5-1E8377B23E1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79AD5B-9378-484B-84BD-B4B17892418D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2852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7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659921"/>
            <a:ext cx="1894561" cy="32620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850180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EE86795-58DA-4FEB-91AB-30C3C4213D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0A1A36B-D157-44F6-92BA-B3A14FC4FAD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BC56B06-C305-4998-B575-0C2F1702FB3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B78797B-0958-4819-AA82-48056DA41C3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AC28C72-7EB3-42CD-9625-C444D288AA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65B83D3-4BD9-4863-8491-FCFBB2F58D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AC5E665-A400-498D-8246-6B15A3529F2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1B67E7A-6BD6-4BB3-9955-0FF99B0ED04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DEB31C30-C239-4887-B093-0EAD4FE86B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215"/>
            </a:lvl1pPr>
            <a:lvl2pPr marL="422041" indent="0" algn="ctr">
              <a:buNone/>
              <a:defRPr sz="1846"/>
            </a:lvl2pPr>
            <a:lvl3pPr marL="844083" indent="0" algn="ctr">
              <a:buNone/>
              <a:defRPr sz="1662"/>
            </a:lvl3pPr>
            <a:lvl4pPr marL="1266124" indent="0" algn="ctr">
              <a:buNone/>
              <a:defRPr sz="1477"/>
            </a:lvl4pPr>
            <a:lvl5pPr marL="1688165" indent="0" algn="ctr">
              <a:buNone/>
              <a:defRPr sz="1477"/>
            </a:lvl5pPr>
            <a:lvl6pPr marL="2110207" indent="0" algn="ctr">
              <a:buNone/>
              <a:defRPr sz="1477"/>
            </a:lvl6pPr>
            <a:lvl7pPr marL="2532248" indent="0" algn="ctr">
              <a:buNone/>
              <a:defRPr sz="1477"/>
            </a:lvl7pPr>
            <a:lvl8pPr marL="2954289" indent="0" algn="ctr">
              <a:buNone/>
              <a:defRPr sz="1477"/>
            </a:lvl8pPr>
            <a:lvl9pPr marL="3376331" indent="0" algn="ctr">
              <a:buNone/>
              <a:defRPr sz="1477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619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863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4254" y="1709739"/>
            <a:ext cx="7886700" cy="2852737"/>
          </a:xfrm>
        </p:spPr>
        <p:txBody>
          <a:bodyPr anchor="b"/>
          <a:lstStyle>
            <a:lvl1pPr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4254" y="4589464"/>
            <a:ext cx="7886700" cy="1500187"/>
          </a:xfrm>
        </p:spPr>
        <p:txBody>
          <a:bodyPr/>
          <a:lstStyle>
            <a:lvl1pPr marL="0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1pPr>
            <a:lvl2pPr marL="42204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83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73011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9" y="1825625"/>
            <a:ext cx="387301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11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6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116" y="1681163"/>
            <a:ext cx="386861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116" y="2505075"/>
            <a:ext cx="386861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66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66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725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436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855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5499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09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38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4408" y="365125"/>
            <a:ext cx="1970943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7508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5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14" cstate="print"/>
          <a:srcRect l="26775" t="20591" r="33426" b="72507"/>
          <a:stretch/>
        </p:blipFill>
        <p:spPr>
          <a:xfrm>
            <a:off x="7868423" y="6572442"/>
            <a:ext cx="1262910" cy="266957"/>
          </a:xfrm>
          <a:prstGeom prst="rect">
            <a:avLst/>
          </a:prstGeom>
        </p:spPr>
      </p:pic>
      <p:sp>
        <p:nvSpPr>
          <p:cNvPr id="11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01659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sz="1846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12" name="Rectangle 36"/>
          <p:cNvSpPr>
            <a:spLocks noChangeArrowheads="1"/>
          </p:cNvSpPr>
          <p:nvPr userDrawn="1"/>
        </p:nvSpPr>
        <p:spPr bwMode="white">
          <a:xfrm>
            <a:off x="580292" y="480314"/>
            <a:ext cx="8563708" cy="65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015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9100" y="6516799"/>
            <a:ext cx="6248079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015"/>
              </a:lnSpc>
            </a:pPr>
            <a:r>
              <a:rPr lang="ko-KR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15"/>
              </a:lnSpc>
            </a:pPr>
            <a:r>
              <a:rPr lang="en-US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ransition>
    <p:blinds dir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5pPr>
      <a:lvl6pPr marL="422041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6pPr>
      <a:lvl7pPr marL="844083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7pPr>
      <a:lvl8pPr marL="1266124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8pPr>
      <a:lvl9pPr marL="1688165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1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DD624-8302-479C-8EC8-7D704AF3E6B9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1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05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l" defTabSz="844083" rtl="0" eaLnBrk="1" latinLnBrk="1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1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Relationship Id="rId5" Type="http://schemas.openxmlformats.org/officeDocument/2006/relationships/image" Target="../media/image4.wmf"/><Relationship Id="rId4" Type="http://schemas.openxmlformats.org/officeDocument/2006/relationships/oleObject" Target="file:///C:\Users\user\Desktop\QV3D_241202\00_QV_PTC_HEATER_ASSY_241202_LEE.CATProduct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file:///\\192.168.19.10\airptc\100___AIR_PTC_HEATER\10___&#44256;&#51204;&#50517;_PTC\QV1\550______&#49444;&#44228;DATA(2D3D)\3D\REV_2_LUMP__3\ROD_ASSY.CATProduct" TargetMode="External"/><Relationship Id="rId5" Type="http://schemas.openxmlformats.org/officeDocument/2006/relationships/image" Target="../media/image8.wmf"/><Relationship Id="rId4" Type="http://schemas.openxmlformats.org/officeDocument/2006/relationships/oleObject" Target="file:///C:\Users\user\Desktop\QV3D_241202\00_QV_PTC_HEATER_ASSY_241202_LEE.CATProduc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19.wmf"/><Relationship Id="rId3" Type="http://schemas.openxmlformats.org/officeDocument/2006/relationships/oleObject" Target="file:///C:\Users\user\Desktop\QV3D_241202\00_QV_PTC_HEATER_ASSY_241202_LEE.CATProduct" TargetMode="External"/><Relationship Id="rId7" Type="http://schemas.openxmlformats.org/officeDocument/2006/relationships/image" Target="../media/image15.wmf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4.vml"/><Relationship Id="rId6" Type="http://schemas.openxmlformats.org/officeDocument/2006/relationships/oleObject" Target="file:///\\192.168.19.10\airptc\100___AIR_PTC_HEATER\10___&#44256;&#51204;&#50517;_PTC\QV1\550______&#49444;&#44228;DATA(2D3D)\3D\REV_15_1_SEPARATE_ROD_DIRECT\BODY_ASSY.CATProduct" TargetMode="External"/><Relationship Id="rId11" Type="http://schemas.openxmlformats.org/officeDocument/2006/relationships/oleObject" Target="file:///\\192.168.19.10\airptc\100___AIR_PTC_HEATER\10___&#44256;&#51204;&#50517;_PTC\QV1\550______&#49444;&#44228;DATA(2D3D)\3D\REV_15_1_SEPARATE_ROD_DIRECT\00_QV_PTC_HEATER_ASSY_240401_SEPARATE_ROD_DIRECT.CATProduct" TargetMode="External"/><Relationship Id="rId5" Type="http://schemas.openxmlformats.org/officeDocument/2006/relationships/image" Target="../media/image22.png"/><Relationship Id="rId15" Type="http://schemas.openxmlformats.org/officeDocument/2006/relationships/image" Target="../media/image21.wmf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file:///\\192.168.19.10\airptc\100___AIR_PTC_HEATER\10___&#44256;&#51204;&#50517;_PTC\QV1\550______&#49444;&#44228;DATA(2D3D)\3D\REV_15_1_SEPARATE_ROD_DIRECT\LOWER_HOUSING_2.CATPart" TargetMode="External"/><Relationship Id="rId14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494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400">
                <a:solidFill>
                  <a:schemeClr val="bg1"/>
                </a:solidFill>
              </a:rPr>
              <a:t>Design Proposal for 5.5kW HV PTC Heater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491880" y="6232046"/>
            <a:ext cx="288032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WOORY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 dirty="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 dirty="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 dirty="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12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PTC </a:t>
            </a:r>
            <a:r>
              <a:rPr lang="en-US" altLang="zh-CN" sz="2585" dirty="0">
                <a:solidFill>
                  <a:schemeClr val="tx1"/>
                </a:solidFill>
              </a:rPr>
              <a:t>Heater Electric </a:t>
            </a:r>
            <a:r>
              <a:rPr lang="en-US" altLang="zh-CN" sz="2585" dirty="0" smtClean="0">
                <a:solidFill>
                  <a:schemeClr val="tx1"/>
                </a:solidFill>
              </a:rPr>
              <a:t>Generals 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9" name="개체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982964"/>
              </p:ext>
            </p:extLst>
          </p:nvPr>
        </p:nvGraphicFramePr>
        <p:xfrm>
          <a:off x="94646" y="1412776"/>
          <a:ext cx="4045305" cy="444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93" name="프로덕트" r:id="rId4" imgW="2499120" imgH="2388600" progId="CATIA.Product">
                  <p:link updateAutomatic="1"/>
                </p:oleObj>
              </mc:Choice>
              <mc:Fallback>
                <p:oleObj name="프로덕트" r:id="rId4" imgW="2499120" imgH="2388600" progId="CATIA.Product">
                  <p:link updateAutomatic="1"/>
                  <p:pic>
                    <p:nvPicPr>
                      <p:cNvPr id="8" name="개체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646" y="1412776"/>
                        <a:ext cx="4045305" cy="4441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90"/>
          <p:cNvSpPr>
            <a:spLocks noChangeArrowheads="1"/>
          </p:cNvSpPr>
          <p:nvPr/>
        </p:nvSpPr>
        <p:spPr bwMode="auto">
          <a:xfrm rot="21024005">
            <a:off x="2040736" y="2966526"/>
            <a:ext cx="669681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1</a:t>
            </a:r>
          </a:p>
        </p:txBody>
      </p:sp>
      <p:sp>
        <p:nvSpPr>
          <p:cNvPr id="21" name="Rectangle 90"/>
          <p:cNvSpPr>
            <a:spLocks noChangeArrowheads="1"/>
          </p:cNvSpPr>
          <p:nvPr/>
        </p:nvSpPr>
        <p:spPr bwMode="auto">
          <a:xfrm rot="20950199">
            <a:off x="2187003" y="4137557"/>
            <a:ext cx="668215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2</a:t>
            </a:r>
          </a:p>
        </p:txBody>
      </p:sp>
      <p:sp>
        <p:nvSpPr>
          <p:cNvPr id="24" name="AutoShape 60"/>
          <p:cNvSpPr>
            <a:spLocks noChangeArrowheads="1"/>
          </p:cNvSpPr>
          <p:nvPr/>
        </p:nvSpPr>
        <p:spPr bwMode="auto">
          <a:xfrm>
            <a:off x="3804295" y="1340768"/>
            <a:ext cx="5260898" cy="4572032"/>
          </a:xfrm>
          <a:prstGeom prst="roundRect">
            <a:avLst>
              <a:gd name="adj" fmla="val 1903"/>
            </a:avLst>
          </a:prstGeom>
          <a:noFill/>
          <a:ln w="15875" algn="ctr">
            <a:noFill/>
            <a:round/>
            <a:headEnd/>
            <a:tailEnd/>
          </a:ln>
        </p:spPr>
        <p:txBody>
          <a:bodyPr wrap="none" lIns="3600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r>
              <a:rPr lang="en-US" altLang="ko-KR" sz="140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Two Zone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    - PTC Heater Performance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5.5kW ±5%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    -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  <a:sym typeface="Wingdings" pitchFamily="2" charset="2"/>
              </a:rPr>
              <a:t>HV &amp; LV circuits are in One PCB Board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Ingress Protection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IP67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Heating Rod type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Aluminum tube type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  <a:sym typeface="Wingdings" pitchFamily="2" charset="2"/>
              </a:rPr>
              <a:t> Fin Type : Brazing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  <a:sym typeface="Wingdings" pitchFamily="2" charset="2"/>
              </a:rPr>
              <a:t>Fin (Separated type)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  <a:sym typeface="Wingdings" pitchFamily="2" charset="2"/>
            </a:endParaRPr>
          </a:p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Connector Type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Direct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Connector HV, LV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(IP67)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    - HV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APTIV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35415839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      </a:t>
            </a:r>
            <a:r>
              <a:rPr lang="ko-KR" altLang="en-US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→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Mating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APTIV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35415834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   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- LV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KET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MG651098-5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      </a:t>
            </a:r>
            <a:r>
              <a:rPr lang="ko-KR" altLang="en-US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→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Mating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KET MG641101-5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Chassis GND is necessary to meet the EMC spec.</a:t>
            </a:r>
          </a:p>
          <a:p>
            <a:pPr eaLnBrk="1" hangingPunct="1">
              <a:spcBef>
                <a:spcPct val="50000"/>
              </a:spcBef>
              <a:defRPr/>
            </a:pPr>
            <a:endParaRPr lang="ko-KR" altLang="en-US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892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PTC </a:t>
            </a:r>
            <a:r>
              <a:rPr lang="en-US" altLang="zh-CN" sz="2585" dirty="0">
                <a:solidFill>
                  <a:schemeClr val="tx1"/>
                </a:solidFill>
              </a:rPr>
              <a:t>Heater Dual Zone Concept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50" name="개체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47236"/>
              </p:ext>
            </p:extLst>
          </p:nvPr>
        </p:nvGraphicFramePr>
        <p:xfrm>
          <a:off x="3083807" y="2686719"/>
          <a:ext cx="1199178" cy="3536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55" name="프로덕트" r:id="rId4" imgW="997920" imgH="2944800" progId="CATIA.Product">
                  <p:link updateAutomatic="1"/>
                </p:oleObj>
              </mc:Choice>
              <mc:Fallback>
                <p:oleObj name="프로덕트" r:id="rId4" imgW="997920" imgH="2944800" progId="CATIA.Product">
                  <p:link updateAutomatic="1"/>
                  <p:pic>
                    <p:nvPicPr>
                      <p:cNvPr id="17" name="개체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3807" y="2686719"/>
                        <a:ext cx="1199178" cy="3536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직선 연결선 50"/>
          <p:cNvCxnSpPr/>
          <p:nvPr/>
        </p:nvCxnSpPr>
        <p:spPr bwMode="auto">
          <a:xfrm>
            <a:off x="2356378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직선 연결선 51"/>
          <p:cNvCxnSpPr/>
          <p:nvPr/>
        </p:nvCxnSpPr>
        <p:spPr bwMode="auto">
          <a:xfrm>
            <a:off x="348467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직선 연결선 53"/>
          <p:cNvCxnSpPr/>
          <p:nvPr/>
        </p:nvCxnSpPr>
        <p:spPr bwMode="auto">
          <a:xfrm flipH="1" flipV="1">
            <a:off x="372456" y="1162385"/>
            <a:ext cx="1919660" cy="167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1174821" y="87014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175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56" name="직선 연결선 55"/>
          <p:cNvCxnSpPr/>
          <p:nvPr/>
        </p:nvCxnSpPr>
        <p:spPr bwMode="auto">
          <a:xfrm flipH="1">
            <a:off x="1523427" y="1415200"/>
            <a:ext cx="165618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직선 연결선 57"/>
          <p:cNvCxnSpPr/>
          <p:nvPr/>
        </p:nvCxnSpPr>
        <p:spPr bwMode="auto">
          <a:xfrm flipH="1">
            <a:off x="1862508" y="2274958"/>
            <a:ext cx="1333972" cy="972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직선 연결선 58"/>
          <p:cNvCxnSpPr/>
          <p:nvPr/>
        </p:nvCxnSpPr>
        <p:spPr bwMode="auto">
          <a:xfrm>
            <a:off x="3012353" y="1431826"/>
            <a:ext cx="0" cy="85975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 rot="16200000">
            <a:off x="2640085" y="1710673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78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 rot="16200000">
            <a:off x="2308208" y="2964877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40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 flipH="1">
            <a:off x="607057" y="3320802"/>
            <a:ext cx="215670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/>
          <p:cNvCxnSpPr/>
          <p:nvPr/>
        </p:nvCxnSpPr>
        <p:spPr bwMode="auto">
          <a:xfrm flipH="1">
            <a:off x="2407719" y="2876302"/>
            <a:ext cx="35604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2677036" y="2876302"/>
            <a:ext cx="0" cy="4445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1" name="직선 연결선 80"/>
          <p:cNvCxnSpPr/>
          <p:nvPr/>
        </p:nvCxnSpPr>
        <p:spPr bwMode="auto">
          <a:xfrm flipH="1">
            <a:off x="639759" y="6013166"/>
            <a:ext cx="2124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직선 연결선 83"/>
          <p:cNvCxnSpPr/>
          <p:nvPr/>
        </p:nvCxnSpPr>
        <p:spPr bwMode="auto">
          <a:xfrm>
            <a:off x="2653875" y="3348091"/>
            <a:ext cx="0" cy="263978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 rot="16200000">
            <a:off x="2268393" y="448995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269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91" name="직선 연결선 90"/>
          <p:cNvCxnSpPr/>
          <p:nvPr/>
        </p:nvCxnSpPr>
        <p:spPr bwMode="auto">
          <a:xfrm>
            <a:off x="2116082" y="5513988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직선 연결선 94"/>
          <p:cNvCxnSpPr/>
          <p:nvPr/>
        </p:nvCxnSpPr>
        <p:spPr bwMode="auto">
          <a:xfrm>
            <a:off x="708507" y="5481127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직선 연결선 95"/>
          <p:cNvCxnSpPr/>
          <p:nvPr/>
        </p:nvCxnSpPr>
        <p:spPr bwMode="auto">
          <a:xfrm flipH="1">
            <a:off x="729814" y="6305887"/>
            <a:ext cx="134879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8" name="TextBox 97"/>
          <p:cNvSpPr txBox="1"/>
          <p:nvPr/>
        </p:nvSpPr>
        <p:spPr>
          <a:xfrm>
            <a:off x="1137992" y="608474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134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01" name="직선 연결선 100"/>
          <p:cNvCxnSpPr/>
          <p:nvPr/>
        </p:nvCxnSpPr>
        <p:spPr bwMode="auto">
          <a:xfrm>
            <a:off x="3602861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직선 연결선 109"/>
          <p:cNvCxnSpPr/>
          <p:nvPr/>
        </p:nvCxnSpPr>
        <p:spPr bwMode="auto">
          <a:xfrm>
            <a:off x="3932804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직선 연결선 115"/>
          <p:cNvCxnSpPr/>
          <p:nvPr/>
        </p:nvCxnSpPr>
        <p:spPr bwMode="auto">
          <a:xfrm flipH="1">
            <a:off x="3612890" y="6262712"/>
            <a:ext cx="319914" cy="99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7" name="TextBox 116"/>
          <p:cNvSpPr txBox="1"/>
          <p:nvPr/>
        </p:nvSpPr>
        <p:spPr>
          <a:xfrm>
            <a:off x="3196480" y="5987871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32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18" name="직선 연결선 117"/>
          <p:cNvCxnSpPr/>
          <p:nvPr/>
        </p:nvCxnSpPr>
        <p:spPr bwMode="auto">
          <a:xfrm flipH="1">
            <a:off x="3173377" y="6262712"/>
            <a:ext cx="500598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19" name="개체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503751"/>
              </p:ext>
            </p:extLst>
          </p:nvPr>
        </p:nvGraphicFramePr>
        <p:xfrm>
          <a:off x="249607" y="2731676"/>
          <a:ext cx="2097487" cy="343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56" name="프로덕트" r:id="rId6" imgW="895320" imgH="1466640" progId="CATIA.Product">
                  <p:link updateAutomatic="1"/>
                </p:oleObj>
              </mc:Choice>
              <mc:Fallback>
                <p:oleObj name="프로덕트" r:id="rId6" imgW="895320" imgH="1466640" progId="CATIA.Product">
                  <p:link updateAutomatic="1"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607" y="2731676"/>
                        <a:ext cx="2097487" cy="343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158800"/>
              </p:ext>
            </p:extLst>
          </p:nvPr>
        </p:nvGraphicFramePr>
        <p:xfrm>
          <a:off x="4355165" y="977578"/>
          <a:ext cx="4608289" cy="5512401"/>
        </p:xfrm>
        <a:graphic>
          <a:graphicData uri="http://schemas.openxmlformats.org/drawingml/2006/table">
            <a:tbl>
              <a:tblPr/>
              <a:tblGrid>
                <a:gridCol w="432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17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Item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Unit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Spec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Remark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9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Size(L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H x T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)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269 x 134 x 32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Core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part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175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78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40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Control part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(0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,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300kg/h, 357V)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kW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5.5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Steady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15.4A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@Nominal condition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Inrush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. 20A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Pressure Drop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 115Pa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Normal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Voltage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358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HV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150~432V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LV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 ~ 18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9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Communication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High Speed CAN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Operating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Storage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105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13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IP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Rate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IP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67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4289445" y="634046"/>
            <a:ext cx="2725226" cy="284057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>
              <a:defRPr/>
            </a:pPr>
            <a:r>
              <a:rPr lang="en-US" altLang="ko-KR" sz="1292" u="sng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General Specification</a:t>
            </a:r>
            <a:endParaRPr lang="ko-KR" altLang="en-US" sz="1292" u="sng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31933" y="1243444"/>
            <a:ext cx="2369230" cy="1192423"/>
            <a:chOff x="131933" y="1243444"/>
            <a:chExt cx="2369230" cy="1192423"/>
          </a:xfrm>
        </p:grpSpPr>
        <p:graphicFrame>
          <p:nvGraphicFramePr>
            <p:cNvPr id="120" name="개체 1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4728785"/>
                </p:ext>
              </p:extLst>
            </p:nvPr>
          </p:nvGraphicFramePr>
          <p:xfrm>
            <a:off x="131933" y="1243444"/>
            <a:ext cx="2369230" cy="1192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157" name="프로덕트" r:id="rId4" imgW="1139040" imgH="597960" progId="CATIA.Product">
                    <p:link updateAutomatic="1"/>
                  </p:oleObj>
                </mc:Choice>
                <mc:Fallback>
                  <p:oleObj name="프로덕트" r:id="rId4" imgW="1139040" imgH="597960" progId="CATIA.Product">
                    <p:link updateAutomatic="1"/>
                    <p:pic>
                      <p:nvPicPr>
                        <p:cNvPr id="16" name="개체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933" y="1243444"/>
                          <a:ext cx="2369230" cy="11924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99" t="16836" r="40619" b="34954"/>
            <a:stretch/>
          </p:blipFill>
          <p:spPr>
            <a:xfrm rot="5400000">
              <a:off x="1706377" y="1238968"/>
              <a:ext cx="288032" cy="68648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PTC </a:t>
            </a:r>
            <a:r>
              <a:rPr lang="en-US" altLang="zh-CN" sz="2585" dirty="0">
                <a:solidFill>
                  <a:schemeClr val="tx1"/>
                </a:solidFill>
              </a:rPr>
              <a:t>Heater Dual Zone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06" name="개체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769838"/>
              </p:ext>
            </p:extLst>
          </p:nvPr>
        </p:nvGraphicFramePr>
        <p:xfrm>
          <a:off x="441341" y="2318483"/>
          <a:ext cx="3397621" cy="334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30" name="프로덕트" r:id="rId4" imgW="3322080" imgH="3272760" progId="CATIA.Product">
                  <p:link updateAutomatic="1"/>
                </p:oleObj>
              </mc:Choice>
              <mc:Fallback>
                <p:oleObj name="프로덕트" r:id="rId4" imgW="3322080" imgH="3272760" progId="CATIA.Product">
                  <p:link updateAutomatic="1"/>
                  <p:pic>
                    <p:nvPicPr>
                      <p:cNvPr id="2" name="개체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41" y="2318483"/>
                        <a:ext cx="3397621" cy="3347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" name="그룹 106"/>
          <p:cNvGrpSpPr/>
          <p:nvPr/>
        </p:nvGrpSpPr>
        <p:grpSpPr>
          <a:xfrm>
            <a:off x="117953" y="2060848"/>
            <a:ext cx="3863068" cy="4219359"/>
            <a:chOff x="239395" y="929640"/>
            <a:chExt cx="4542704" cy="5213649"/>
          </a:xfrm>
        </p:grpSpPr>
        <p:cxnSp>
          <p:nvCxnSpPr>
            <p:cNvPr id="118" name="직선 연결선 117"/>
            <p:cNvCxnSpPr>
              <a:endCxn id="124" idx="2"/>
            </p:cNvCxnSpPr>
            <p:nvPr/>
          </p:nvCxnSpPr>
          <p:spPr bwMode="auto">
            <a:xfrm flipV="1">
              <a:off x="2710223" y="1231377"/>
              <a:ext cx="59013" cy="6215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Box 118"/>
            <p:cNvSpPr txBox="1"/>
            <p:nvPr/>
          </p:nvSpPr>
          <p:spPr>
            <a:xfrm>
              <a:off x="2314928" y="92964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</a:t>
              </a:r>
              <a:endParaRPr lang="ko-KR" altLang="en-US" sz="9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2651760" y="9461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2</a:t>
              </a:r>
              <a:endParaRPr lang="ko-KR" altLang="en-US" sz="900" dirty="0"/>
            </a:p>
          </p:txBody>
        </p:sp>
        <p:cxnSp>
          <p:nvCxnSpPr>
            <p:cNvPr id="125" name="직선 연결선 124"/>
            <p:cNvCxnSpPr>
              <a:endCxn id="119" idx="2"/>
            </p:cNvCxnSpPr>
            <p:nvPr/>
          </p:nvCxnSpPr>
          <p:spPr bwMode="auto">
            <a:xfrm flipV="1">
              <a:off x="2339128" y="1214867"/>
              <a:ext cx="93276" cy="33272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Box 125"/>
            <p:cNvSpPr txBox="1"/>
            <p:nvPr/>
          </p:nvSpPr>
          <p:spPr>
            <a:xfrm>
              <a:off x="3250283" y="11594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3</a:t>
              </a:r>
              <a:endParaRPr lang="ko-KR" altLang="en-US" sz="900" dirty="0"/>
            </a:p>
          </p:txBody>
        </p:sp>
        <p:cxnSp>
          <p:nvCxnSpPr>
            <p:cNvPr id="127" name="직선 연결선 126"/>
            <p:cNvCxnSpPr>
              <a:endCxn id="126" idx="2"/>
            </p:cNvCxnSpPr>
            <p:nvPr/>
          </p:nvCxnSpPr>
          <p:spPr bwMode="auto">
            <a:xfrm flipV="1">
              <a:off x="2980606" y="1444677"/>
              <a:ext cx="387153" cy="37532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직선 연결선 127"/>
            <p:cNvCxnSpPr/>
            <p:nvPr/>
          </p:nvCxnSpPr>
          <p:spPr bwMode="auto">
            <a:xfrm flipH="1" flipV="1">
              <a:off x="2769234" y="1686242"/>
              <a:ext cx="893953" cy="1571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TextBox 128"/>
            <p:cNvSpPr txBox="1"/>
            <p:nvPr/>
          </p:nvSpPr>
          <p:spPr>
            <a:xfrm>
              <a:off x="3670358" y="1574376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4</a:t>
              </a:r>
              <a:endParaRPr lang="ko-KR" altLang="en-US" sz="900" dirty="0"/>
            </a:p>
          </p:txBody>
        </p:sp>
        <p:cxnSp>
          <p:nvCxnSpPr>
            <p:cNvPr id="130" name="직선 연결선 129"/>
            <p:cNvCxnSpPr>
              <a:stCxn id="131" idx="3"/>
            </p:cNvCxnSpPr>
            <p:nvPr/>
          </p:nvCxnSpPr>
          <p:spPr bwMode="auto">
            <a:xfrm>
              <a:off x="1416685" y="1569458"/>
              <a:ext cx="812490" cy="3318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" name="TextBox 130"/>
            <p:cNvSpPr txBox="1"/>
            <p:nvPr/>
          </p:nvSpPr>
          <p:spPr>
            <a:xfrm>
              <a:off x="1181735" y="142684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5</a:t>
              </a:r>
              <a:endParaRPr lang="ko-KR" altLang="en-US" sz="900" dirty="0"/>
            </a:p>
          </p:txBody>
        </p:sp>
        <p:cxnSp>
          <p:nvCxnSpPr>
            <p:cNvPr id="132" name="직선 연결선 131"/>
            <p:cNvCxnSpPr>
              <a:stCxn id="135" idx="0"/>
            </p:cNvCxnSpPr>
            <p:nvPr/>
          </p:nvCxnSpPr>
          <p:spPr bwMode="auto">
            <a:xfrm flipV="1">
              <a:off x="671767" y="2456961"/>
              <a:ext cx="365580" cy="385691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554292" y="284265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6</a:t>
              </a:r>
              <a:endParaRPr lang="ko-KR" altLang="en-US" sz="900" dirty="0"/>
            </a:p>
          </p:txBody>
        </p:sp>
        <p:cxnSp>
          <p:nvCxnSpPr>
            <p:cNvPr id="136" name="직선 연결선 135"/>
            <p:cNvCxnSpPr>
              <a:stCxn id="137" idx="3"/>
            </p:cNvCxnSpPr>
            <p:nvPr/>
          </p:nvCxnSpPr>
          <p:spPr bwMode="auto">
            <a:xfrm flipV="1">
              <a:off x="474345" y="3927297"/>
              <a:ext cx="646698" cy="1593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239395" y="394398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7</a:t>
              </a:r>
              <a:endParaRPr lang="ko-KR" altLang="en-US" sz="900" dirty="0"/>
            </a:p>
          </p:txBody>
        </p:sp>
        <p:cxnSp>
          <p:nvCxnSpPr>
            <p:cNvPr id="138" name="직선 연결선 137"/>
            <p:cNvCxnSpPr>
              <a:endCxn id="140" idx="0"/>
            </p:cNvCxnSpPr>
            <p:nvPr/>
          </p:nvCxnSpPr>
          <p:spPr bwMode="auto">
            <a:xfrm flipH="1" flipV="1">
              <a:off x="436881" y="2112212"/>
              <a:ext cx="903598" cy="2124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0" name="TextBox 139"/>
            <p:cNvSpPr txBox="1"/>
            <p:nvPr/>
          </p:nvSpPr>
          <p:spPr>
            <a:xfrm>
              <a:off x="319405" y="211221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8</a:t>
              </a:r>
              <a:endParaRPr lang="ko-KR" altLang="en-US" sz="9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40480" y="1790745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9</a:t>
              </a:r>
              <a:endParaRPr lang="ko-KR" altLang="en-US" sz="900" dirty="0"/>
            </a:p>
          </p:txBody>
        </p:sp>
        <p:cxnSp>
          <p:nvCxnSpPr>
            <p:cNvPr id="142" name="직선 연결선 141"/>
            <p:cNvCxnSpPr>
              <a:stCxn id="141" idx="3"/>
            </p:cNvCxnSpPr>
            <p:nvPr/>
          </p:nvCxnSpPr>
          <p:spPr bwMode="auto">
            <a:xfrm>
              <a:off x="1575430" y="1933358"/>
              <a:ext cx="695057" cy="18550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직선 연결선 142"/>
            <p:cNvCxnSpPr>
              <a:stCxn id="144" idx="3"/>
            </p:cNvCxnSpPr>
            <p:nvPr/>
          </p:nvCxnSpPr>
          <p:spPr bwMode="auto">
            <a:xfrm flipV="1">
              <a:off x="1510418" y="2415378"/>
              <a:ext cx="820565" cy="31309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4" name="TextBox 143"/>
            <p:cNvSpPr txBox="1"/>
            <p:nvPr/>
          </p:nvSpPr>
          <p:spPr>
            <a:xfrm>
              <a:off x="1109576" y="2585860"/>
              <a:ext cx="4008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10</a:t>
              </a:r>
              <a:endParaRPr lang="ko-KR" altLang="en-US" sz="900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441700" y="2301873"/>
              <a:ext cx="388527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11</a:t>
              </a:r>
              <a:endParaRPr lang="ko-KR" altLang="en-US" sz="900" dirty="0"/>
            </a:p>
          </p:txBody>
        </p:sp>
        <p:cxnSp>
          <p:nvCxnSpPr>
            <p:cNvPr id="146" name="직선 연결선 145"/>
            <p:cNvCxnSpPr>
              <a:endCxn id="145" idx="1"/>
            </p:cNvCxnSpPr>
            <p:nvPr/>
          </p:nvCxnSpPr>
          <p:spPr bwMode="auto">
            <a:xfrm flipV="1">
              <a:off x="2583179" y="2444487"/>
              <a:ext cx="858521" cy="343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직선 연결선 146"/>
            <p:cNvCxnSpPr>
              <a:endCxn id="148" idx="1"/>
            </p:cNvCxnSpPr>
            <p:nvPr/>
          </p:nvCxnSpPr>
          <p:spPr bwMode="auto">
            <a:xfrm flipV="1">
              <a:off x="2541908" y="2101169"/>
              <a:ext cx="844807" cy="235269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8" name="TextBox 147"/>
            <p:cNvSpPr txBox="1"/>
            <p:nvPr/>
          </p:nvSpPr>
          <p:spPr>
            <a:xfrm>
              <a:off x="3386715" y="1958556"/>
              <a:ext cx="518593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12</a:t>
              </a:r>
              <a:endParaRPr lang="ko-KR" altLang="en-US" sz="900" dirty="0"/>
            </a:p>
          </p:txBody>
        </p:sp>
        <p:cxnSp>
          <p:nvCxnSpPr>
            <p:cNvPr id="149" name="직선 연결선 148"/>
            <p:cNvCxnSpPr>
              <a:endCxn id="150" idx="3"/>
            </p:cNvCxnSpPr>
            <p:nvPr/>
          </p:nvCxnSpPr>
          <p:spPr bwMode="auto">
            <a:xfrm flipH="1">
              <a:off x="1556143" y="2585387"/>
              <a:ext cx="697553" cy="54013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TextBox 149"/>
            <p:cNvSpPr txBox="1"/>
            <p:nvPr/>
          </p:nvSpPr>
          <p:spPr>
            <a:xfrm>
              <a:off x="1137549" y="2982910"/>
              <a:ext cx="41859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13</a:t>
              </a:r>
              <a:endParaRPr lang="ko-KR" altLang="en-US" sz="900" dirty="0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250283" y="5334074"/>
              <a:ext cx="4716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14</a:t>
              </a:r>
              <a:endParaRPr lang="ko-KR" altLang="en-US" sz="900" dirty="0"/>
            </a:p>
          </p:txBody>
        </p:sp>
        <p:cxnSp>
          <p:nvCxnSpPr>
            <p:cNvPr id="152" name="직선 연결선 151"/>
            <p:cNvCxnSpPr>
              <a:endCxn id="151" idx="0"/>
            </p:cNvCxnSpPr>
            <p:nvPr/>
          </p:nvCxnSpPr>
          <p:spPr bwMode="auto">
            <a:xfrm flipH="1">
              <a:off x="3486104" y="4478058"/>
              <a:ext cx="11502" cy="8560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직선 연결선 152"/>
            <p:cNvCxnSpPr>
              <a:endCxn id="154" idx="0"/>
            </p:cNvCxnSpPr>
            <p:nvPr/>
          </p:nvCxnSpPr>
          <p:spPr bwMode="auto">
            <a:xfrm>
              <a:off x="2695214" y="4818915"/>
              <a:ext cx="89898" cy="78909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4" name="TextBox 153"/>
            <p:cNvSpPr txBox="1"/>
            <p:nvPr/>
          </p:nvSpPr>
          <p:spPr>
            <a:xfrm>
              <a:off x="2583181" y="5608004"/>
              <a:ext cx="40386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15</a:t>
              </a:r>
              <a:endParaRPr lang="ko-KR" altLang="en-US" sz="900" dirty="0"/>
            </a:p>
          </p:txBody>
        </p:sp>
        <p:cxnSp>
          <p:nvCxnSpPr>
            <p:cNvPr id="155" name="직선 연결선 154"/>
            <p:cNvCxnSpPr>
              <a:stCxn id="156" idx="3"/>
            </p:cNvCxnSpPr>
            <p:nvPr/>
          </p:nvCxnSpPr>
          <p:spPr bwMode="auto">
            <a:xfrm flipV="1">
              <a:off x="1488441" y="3887793"/>
              <a:ext cx="929567" cy="86618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" name="TextBox 155"/>
            <p:cNvSpPr txBox="1"/>
            <p:nvPr/>
          </p:nvSpPr>
          <p:spPr>
            <a:xfrm>
              <a:off x="1094107" y="4611367"/>
              <a:ext cx="394335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16</a:t>
              </a:r>
              <a:endParaRPr lang="ko-KR" altLang="en-US" sz="900" dirty="0"/>
            </a:p>
          </p:txBody>
        </p:sp>
        <p:cxnSp>
          <p:nvCxnSpPr>
            <p:cNvPr id="157" name="직선 연결선 156"/>
            <p:cNvCxnSpPr>
              <a:endCxn id="158" idx="1"/>
            </p:cNvCxnSpPr>
            <p:nvPr/>
          </p:nvCxnSpPr>
          <p:spPr bwMode="auto">
            <a:xfrm flipV="1">
              <a:off x="2901623" y="3114081"/>
              <a:ext cx="1167444" cy="1912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TextBox 157"/>
            <p:cNvSpPr txBox="1"/>
            <p:nvPr/>
          </p:nvSpPr>
          <p:spPr>
            <a:xfrm>
              <a:off x="4069067" y="2971467"/>
              <a:ext cx="46703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17</a:t>
              </a:r>
              <a:endParaRPr lang="ko-KR" altLang="en-US" sz="900" dirty="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999866" y="2368529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18</a:t>
              </a:r>
              <a:endParaRPr lang="ko-KR" altLang="en-US" sz="900" dirty="0"/>
            </a:p>
          </p:txBody>
        </p:sp>
        <p:cxnSp>
          <p:nvCxnSpPr>
            <p:cNvPr id="160" name="직선 연결선 159"/>
            <p:cNvCxnSpPr>
              <a:endCxn id="159" idx="1"/>
            </p:cNvCxnSpPr>
            <p:nvPr/>
          </p:nvCxnSpPr>
          <p:spPr bwMode="auto">
            <a:xfrm flipV="1">
              <a:off x="2758539" y="2511143"/>
              <a:ext cx="1241326" cy="60041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976631" y="3323294"/>
              <a:ext cx="41977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20</a:t>
              </a:r>
              <a:endParaRPr lang="ko-KR" altLang="en-US" sz="900" dirty="0"/>
            </a:p>
          </p:txBody>
        </p:sp>
        <p:cxnSp>
          <p:nvCxnSpPr>
            <p:cNvPr id="162" name="직선 연결선 161"/>
            <p:cNvCxnSpPr>
              <a:stCxn id="161" idx="3"/>
            </p:cNvCxnSpPr>
            <p:nvPr/>
          </p:nvCxnSpPr>
          <p:spPr bwMode="auto">
            <a:xfrm flipV="1">
              <a:off x="1396405" y="2843746"/>
              <a:ext cx="1048273" cy="62216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Box 162"/>
            <p:cNvSpPr txBox="1"/>
            <p:nvPr/>
          </p:nvSpPr>
          <p:spPr>
            <a:xfrm>
              <a:off x="3830228" y="5858062"/>
              <a:ext cx="39759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21</a:t>
              </a:r>
              <a:endParaRPr lang="ko-KR" altLang="en-US" sz="900" dirty="0"/>
            </a:p>
          </p:txBody>
        </p:sp>
        <p:cxnSp>
          <p:nvCxnSpPr>
            <p:cNvPr id="164" name="직선 연결선 163"/>
            <p:cNvCxnSpPr>
              <a:endCxn id="163" idx="0"/>
            </p:cNvCxnSpPr>
            <p:nvPr/>
          </p:nvCxnSpPr>
          <p:spPr bwMode="auto">
            <a:xfrm flipH="1">
              <a:off x="4029023" y="5235106"/>
              <a:ext cx="88985" cy="62295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5" name="TextBox 164"/>
            <p:cNvSpPr txBox="1"/>
            <p:nvPr/>
          </p:nvSpPr>
          <p:spPr>
            <a:xfrm>
              <a:off x="1728486" y="5160327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22</a:t>
              </a:r>
              <a:endParaRPr lang="ko-KR" altLang="en-US" sz="900" dirty="0"/>
            </a:p>
          </p:txBody>
        </p:sp>
        <p:cxnSp>
          <p:nvCxnSpPr>
            <p:cNvPr id="166" name="직선 연결선 165"/>
            <p:cNvCxnSpPr>
              <a:endCxn id="165" idx="0"/>
            </p:cNvCxnSpPr>
            <p:nvPr/>
          </p:nvCxnSpPr>
          <p:spPr bwMode="auto">
            <a:xfrm flipH="1">
              <a:off x="1991090" y="4510242"/>
              <a:ext cx="704124" cy="65008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직선 연결선 166"/>
            <p:cNvCxnSpPr>
              <a:stCxn id="168" idx="1"/>
            </p:cNvCxnSpPr>
            <p:nvPr/>
          </p:nvCxnSpPr>
          <p:spPr bwMode="auto">
            <a:xfrm flipH="1">
              <a:off x="3261724" y="3526897"/>
              <a:ext cx="995166" cy="5597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8" name="TextBox 167"/>
            <p:cNvSpPr txBox="1"/>
            <p:nvPr/>
          </p:nvSpPr>
          <p:spPr>
            <a:xfrm>
              <a:off x="4256890" y="3384284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23</a:t>
              </a:r>
              <a:endParaRPr lang="ko-KR" altLang="en-US" sz="900" dirty="0"/>
            </a:p>
          </p:txBody>
        </p:sp>
        <p:cxnSp>
          <p:nvCxnSpPr>
            <p:cNvPr id="169" name="직선 연결선 168"/>
            <p:cNvCxnSpPr>
              <a:stCxn id="170" idx="3"/>
            </p:cNvCxnSpPr>
            <p:nvPr/>
          </p:nvCxnSpPr>
          <p:spPr bwMode="auto">
            <a:xfrm flipV="1">
              <a:off x="1219665" y="4393851"/>
              <a:ext cx="1579199" cy="85012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Box 169"/>
            <p:cNvSpPr txBox="1"/>
            <p:nvPr/>
          </p:nvSpPr>
          <p:spPr>
            <a:xfrm>
              <a:off x="785516" y="5101366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19</a:t>
              </a:r>
              <a:endParaRPr lang="ko-KR" altLang="en-US" sz="900" dirty="0"/>
            </a:p>
          </p:txBody>
        </p:sp>
      </p:grpSp>
      <p:graphicFrame>
        <p:nvGraphicFramePr>
          <p:cNvPr id="171" name="개체 1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326853"/>
              </p:ext>
            </p:extLst>
          </p:nvPr>
        </p:nvGraphicFramePr>
        <p:xfrm>
          <a:off x="3685013" y="897010"/>
          <a:ext cx="1492545" cy="1518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31" name="프로덕트" r:id="rId6" imgW="2171520" imgH="2209680" progId="CATIA.Product">
                  <p:link updateAutomatic="1"/>
                </p:oleObj>
              </mc:Choice>
              <mc:Fallback>
                <p:oleObj name="프로덕트" r:id="rId6" imgW="2171520" imgH="2209680" progId="CATIA.Product">
                  <p:link updateAutomatic="1"/>
                  <p:pic>
                    <p:nvPicPr>
                      <p:cNvPr id="94" name="개체 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85013" y="897010"/>
                        <a:ext cx="1492545" cy="1518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2" name="직선 연결선 171"/>
          <p:cNvCxnSpPr>
            <a:endCxn id="173" idx="3"/>
          </p:cNvCxnSpPr>
          <p:nvPr/>
        </p:nvCxnSpPr>
        <p:spPr bwMode="auto">
          <a:xfrm flipH="1" flipV="1">
            <a:off x="3374667" y="1173315"/>
            <a:ext cx="513442" cy="22830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2878181" y="1057899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19-1</a:t>
            </a:r>
            <a:endParaRPr lang="ko-KR" altLang="en-US" sz="900" dirty="0"/>
          </a:p>
        </p:txBody>
      </p:sp>
      <p:cxnSp>
        <p:nvCxnSpPr>
          <p:cNvPr id="174" name="직선 연결선 173"/>
          <p:cNvCxnSpPr>
            <a:endCxn id="175" idx="3"/>
          </p:cNvCxnSpPr>
          <p:nvPr/>
        </p:nvCxnSpPr>
        <p:spPr bwMode="auto">
          <a:xfrm flipH="1" flipV="1">
            <a:off x="3337646" y="1496947"/>
            <a:ext cx="434177" cy="581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5" name="TextBox 174"/>
          <p:cNvSpPr txBox="1"/>
          <p:nvPr/>
        </p:nvSpPr>
        <p:spPr>
          <a:xfrm>
            <a:off x="2841160" y="13815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19-2</a:t>
            </a:r>
            <a:endParaRPr lang="ko-KR" altLang="en-US" sz="900" dirty="0"/>
          </a:p>
        </p:txBody>
      </p:sp>
      <p:cxnSp>
        <p:nvCxnSpPr>
          <p:cNvPr id="176" name="직선 연결선 175"/>
          <p:cNvCxnSpPr>
            <a:endCxn id="177" idx="3"/>
          </p:cNvCxnSpPr>
          <p:nvPr/>
        </p:nvCxnSpPr>
        <p:spPr bwMode="auto">
          <a:xfrm flipH="1">
            <a:off x="3370763" y="1745523"/>
            <a:ext cx="419570" cy="1777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7" name="TextBox 176"/>
          <p:cNvSpPr txBox="1"/>
          <p:nvPr/>
        </p:nvSpPr>
        <p:spPr>
          <a:xfrm>
            <a:off x="2874277" y="164788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19-3</a:t>
            </a:r>
            <a:endParaRPr lang="ko-KR" altLang="en-US" sz="900" dirty="0"/>
          </a:p>
        </p:txBody>
      </p:sp>
      <p:cxnSp>
        <p:nvCxnSpPr>
          <p:cNvPr id="178" name="직선 연결선 177"/>
          <p:cNvCxnSpPr>
            <a:endCxn id="179" idx="3"/>
          </p:cNvCxnSpPr>
          <p:nvPr/>
        </p:nvCxnSpPr>
        <p:spPr bwMode="auto">
          <a:xfrm flipH="1">
            <a:off x="3419802" y="1818456"/>
            <a:ext cx="456359" cy="22102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2923316" y="1924066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19-4</a:t>
            </a:r>
            <a:endParaRPr lang="ko-KR" altLang="en-US" sz="900" dirty="0"/>
          </a:p>
        </p:txBody>
      </p:sp>
      <p:cxnSp>
        <p:nvCxnSpPr>
          <p:cNvPr id="180" name="직선 연결선 179"/>
          <p:cNvCxnSpPr>
            <a:endCxn id="181" idx="3"/>
          </p:cNvCxnSpPr>
          <p:nvPr/>
        </p:nvCxnSpPr>
        <p:spPr bwMode="auto">
          <a:xfrm flipH="1">
            <a:off x="3464526" y="2020417"/>
            <a:ext cx="310346" cy="26745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TextBox 180"/>
          <p:cNvSpPr txBox="1"/>
          <p:nvPr/>
        </p:nvSpPr>
        <p:spPr>
          <a:xfrm>
            <a:off x="2968040" y="2172455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19-5</a:t>
            </a:r>
            <a:endParaRPr lang="ko-KR" altLang="en-US" sz="900" dirty="0"/>
          </a:p>
        </p:txBody>
      </p:sp>
      <p:sp>
        <p:nvSpPr>
          <p:cNvPr id="182" name="TextBox 181"/>
          <p:cNvSpPr txBox="1"/>
          <p:nvPr/>
        </p:nvSpPr>
        <p:spPr>
          <a:xfrm>
            <a:off x="3424781" y="24632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19-6</a:t>
            </a:r>
            <a:endParaRPr lang="ko-KR" altLang="en-US" sz="900" dirty="0"/>
          </a:p>
        </p:txBody>
      </p:sp>
      <p:cxnSp>
        <p:nvCxnSpPr>
          <p:cNvPr id="183" name="직선 연결선 182"/>
          <p:cNvCxnSpPr>
            <a:endCxn id="182" idx="3"/>
          </p:cNvCxnSpPr>
          <p:nvPr/>
        </p:nvCxnSpPr>
        <p:spPr bwMode="auto">
          <a:xfrm flipH="1">
            <a:off x="3921267" y="1878713"/>
            <a:ext cx="715252" cy="6999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84" name="표 1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7839"/>
              </p:ext>
            </p:extLst>
          </p:nvPr>
        </p:nvGraphicFramePr>
        <p:xfrm>
          <a:off x="5667934" y="1006814"/>
          <a:ext cx="3121384" cy="553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88">
                  <a:extLst>
                    <a:ext uri="{9D8B030D-6E8A-4147-A177-3AD203B41FA5}">
                      <a16:colId xmlns:a16="http://schemas.microsoft.com/office/drawing/2014/main" val="307593584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7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Item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err="1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Q’ty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Remark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NAME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WARNING LABEL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COVER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VENT FILTER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2879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MAIN PCB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CHASSIS GROUND WIRE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 CONNECTOR ASSY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SIGNAL CONNECTOR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042106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JOIN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BOARD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20449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SEALANT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PAD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HOUSING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SIDE BAR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LOWER HOUSING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CORE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- 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ROD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9816"/>
                  </a:ext>
                </a:extLst>
              </a:tr>
              <a:tr h="155136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AL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TUBE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99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INSULATION PAD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505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UPPER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87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STONE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37451"/>
                  </a:ext>
                </a:extLst>
              </a:tr>
              <a:tr h="12928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STONE HOLDER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50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LOWER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52699"/>
                  </a:ext>
                </a:extLst>
              </a:tr>
              <a:tr h="12000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GROMMET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434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SPONGE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46620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CORE JOIN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5846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TEMPSENSOR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52947"/>
                  </a:ext>
                </a:extLst>
              </a:tr>
              <a:tr h="10677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비고</a:t>
                      </a:r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185" name="부제목 2"/>
          <p:cNvSpPr txBox="1">
            <a:spLocks/>
          </p:cNvSpPr>
          <p:nvPr/>
        </p:nvSpPr>
        <p:spPr>
          <a:xfrm>
            <a:off x="127313" y="561165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Exploded View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86" name="부제목 2"/>
          <p:cNvSpPr txBox="1">
            <a:spLocks/>
          </p:cNvSpPr>
          <p:nvPr/>
        </p:nvSpPr>
        <p:spPr>
          <a:xfrm>
            <a:off x="5541242" y="533209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Part List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>
                <a:solidFill>
                  <a:schemeClr val="tx1"/>
                </a:solidFill>
              </a:rPr>
              <a:t>HV </a:t>
            </a:r>
            <a:r>
              <a:rPr lang="en-US" altLang="zh-CN" sz="2585" smtClean="0">
                <a:solidFill>
                  <a:schemeClr val="tx1"/>
                </a:solidFill>
              </a:rPr>
              <a:t>&amp; LV Connector </a:t>
            </a:r>
            <a:r>
              <a:rPr lang="en-US" altLang="zh-CN" sz="2585" dirty="0" smtClean="0">
                <a:solidFill>
                  <a:schemeClr val="tx1"/>
                </a:solidFill>
              </a:rPr>
              <a:t>information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583072"/>
              </p:ext>
            </p:extLst>
          </p:nvPr>
        </p:nvGraphicFramePr>
        <p:xfrm>
          <a:off x="50371" y="944690"/>
          <a:ext cx="8842109" cy="4928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733">
                  <a:extLst>
                    <a:ext uri="{9D8B030D-6E8A-4147-A177-3AD203B41FA5}">
                      <a16:colId xmlns:a16="http://schemas.microsoft.com/office/drawing/2014/main" val="4046072373"/>
                    </a:ext>
                  </a:extLst>
                </a:gridCol>
                <a:gridCol w="2326653">
                  <a:extLst>
                    <a:ext uri="{9D8B030D-6E8A-4147-A177-3AD203B41FA5}">
                      <a16:colId xmlns:a16="http://schemas.microsoft.com/office/drawing/2014/main" val="420963282"/>
                    </a:ext>
                  </a:extLst>
                </a:gridCol>
                <a:gridCol w="763798">
                  <a:extLst>
                    <a:ext uri="{9D8B030D-6E8A-4147-A177-3AD203B41FA5}">
                      <a16:colId xmlns:a16="http://schemas.microsoft.com/office/drawing/2014/main" val="1083988765"/>
                    </a:ext>
                  </a:extLst>
                </a:gridCol>
                <a:gridCol w="2035757">
                  <a:extLst>
                    <a:ext uri="{9D8B030D-6E8A-4147-A177-3AD203B41FA5}">
                      <a16:colId xmlns:a16="http://schemas.microsoft.com/office/drawing/2014/main" val="1386754379"/>
                    </a:ext>
                  </a:extLst>
                </a:gridCol>
                <a:gridCol w="2612168">
                  <a:extLst>
                    <a:ext uri="{9D8B030D-6E8A-4147-A177-3AD203B41FA5}">
                      <a16:colId xmlns:a16="http://schemas.microsoft.com/office/drawing/2014/main" val="557843687"/>
                    </a:ext>
                  </a:extLst>
                </a:gridCol>
              </a:tblGrid>
              <a:tr h="3736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Part number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</a:t>
                      </a:r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name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Remark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66174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 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APTIV 35415839</a:t>
                      </a:r>
                    </a:p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(Mating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: </a:t>
                      </a:r>
                      <a:r>
                        <a:rPr lang="en-US" altLang="ko-KR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Aptiv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35415834)</a:t>
                      </a:r>
                      <a:endParaRPr lang="sv-SE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HV(+)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3548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HV(-)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895172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(+) – HV</a:t>
                      </a:r>
                      <a:r>
                        <a:rPr lang="en-US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996425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(-) – HV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522579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LV 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KET MG 651098-5</a:t>
                      </a:r>
                      <a:b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</a:br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(Mating : KET MG 641101-5)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IGN3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425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CAN</a:t>
                      </a:r>
                      <a:r>
                        <a:rPr lang="en-US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HIGH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072437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CAN</a:t>
                      </a:r>
                      <a:r>
                        <a:rPr lang="en-US" altLang="ko-KR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LOW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137624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GND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029919"/>
                  </a:ext>
                </a:extLst>
              </a:tr>
            </a:tbl>
          </a:graphicData>
        </a:graphic>
      </p:graphicFrame>
      <p:sp>
        <p:nvSpPr>
          <p:cNvPr id="16" name="Text Box 2">
            <a:extLst>
              <a:ext uri="{FF2B5EF4-FFF2-40B4-BE49-F238E27FC236}">
                <a16:creationId xmlns:a16="http://schemas.microsoft.com/office/drawing/2014/main" id="{53D199B3-443A-43BA-AE5F-2F514731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3539"/>
            <a:ext cx="2287722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>
                <a:latin typeface="현대하모니 M" pitchFamily="18" charset="-127"/>
                <a:ea typeface="현대하모니 M"/>
              </a:rPr>
              <a:t>■</a:t>
            </a:r>
            <a:r>
              <a:rPr lang="en-US" altLang="ko-KR" smtClean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Connectors &amp; Pin map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30" y="1918052"/>
            <a:ext cx="2086805" cy="1464558"/>
          </a:xfrm>
          <a:prstGeom prst="rect">
            <a:avLst/>
          </a:prstGeom>
        </p:spPr>
      </p:pic>
      <p:pic>
        <p:nvPicPr>
          <p:cNvPr id="22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2452" y="4293096"/>
            <a:ext cx="1398559" cy="982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395" y="1628800"/>
            <a:ext cx="2144990" cy="136536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395" y="3802528"/>
            <a:ext cx="2021785" cy="1626314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9" y="14234"/>
            <a:ext cx="4968746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>
                <a:solidFill>
                  <a:schemeClr val="tx1"/>
                </a:solidFill>
              </a:rPr>
              <a:t>IP </a:t>
            </a:r>
            <a:r>
              <a:rPr lang="en-US" altLang="zh-CN" sz="2585" dirty="0" smtClean="0">
                <a:solidFill>
                  <a:schemeClr val="tx1"/>
                </a:solidFill>
              </a:rPr>
              <a:t>Waterproof </a:t>
            </a:r>
            <a:r>
              <a:rPr lang="en-US" altLang="zh-CN" sz="2585" dirty="0">
                <a:solidFill>
                  <a:schemeClr val="tx1"/>
                </a:solidFill>
              </a:rPr>
              <a:t>structure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40" name="개체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26343"/>
              </p:ext>
            </p:extLst>
          </p:nvPr>
        </p:nvGraphicFramePr>
        <p:xfrm>
          <a:off x="-8133" y="1980975"/>
          <a:ext cx="3126713" cy="297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06" name="프로덕트" r:id="rId3" imgW="1630440" imgH="1550520" progId="CATIA.Product">
                  <p:link updateAutomatic="1"/>
                </p:oleObj>
              </mc:Choice>
              <mc:Fallback>
                <p:oleObj name="프로덕트" r:id="rId3" imgW="1630440" imgH="1550520" progId="CATIA.Product">
                  <p:link updateAutomatic="1"/>
                  <p:pic>
                    <p:nvPicPr>
                      <p:cNvPr id="4" name="개체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8133" y="1980975"/>
                        <a:ext cx="3126713" cy="2974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72560" y="1527944"/>
            <a:ext cx="1405805" cy="2154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SIGNAL CONNECTOR</a:t>
            </a:r>
            <a:endParaRPr lang="ko-KR" altLang="en-US" sz="800" b="1" dirty="0"/>
          </a:p>
        </p:txBody>
      </p:sp>
      <p:cxnSp>
        <p:nvCxnSpPr>
          <p:cNvPr id="43" name="직선 화살표 연결선 42"/>
          <p:cNvCxnSpPr>
            <a:stCxn id="42" idx="2"/>
          </p:cNvCxnSpPr>
          <p:nvPr/>
        </p:nvCxnSpPr>
        <p:spPr bwMode="auto">
          <a:xfrm flipH="1">
            <a:off x="911489" y="1743388"/>
            <a:ext cx="263974" cy="456969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96726" y="3082540"/>
            <a:ext cx="846020" cy="3385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smtClean="0"/>
              <a:t>HV </a:t>
            </a:r>
          </a:p>
          <a:p>
            <a:pPr algn="ctr"/>
            <a:r>
              <a:rPr lang="en-US" altLang="ko-KR" sz="800" b="1" dirty="0" smtClean="0"/>
              <a:t>CONNECTOR</a:t>
            </a:r>
            <a:endParaRPr lang="ko-KR" altLang="en-US" sz="800" b="1" dirty="0"/>
          </a:p>
        </p:txBody>
      </p:sp>
      <p:cxnSp>
        <p:nvCxnSpPr>
          <p:cNvPr id="50" name="직선 화살표 연결선 49"/>
          <p:cNvCxnSpPr>
            <a:stCxn id="45" idx="2"/>
          </p:cNvCxnSpPr>
          <p:nvPr/>
        </p:nvCxnSpPr>
        <p:spPr bwMode="auto">
          <a:xfrm>
            <a:off x="619736" y="3421094"/>
            <a:ext cx="339661" cy="878642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직선 화살표 연결선 50"/>
          <p:cNvCxnSpPr>
            <a:stCxn id="52" idx="2"/>
          </p:cNvCxnSpPr>
          <p:nvPr/>
        </p:nvCxnSpPr>
        <p:spPr bwMode="auto">
          <a:xfrm flipH="1">
            <a:off x="2650982" y="2200357"/>
            <a:ext cx="122464" cy="555355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2400587" y="1861803"/>
            <a:ext cx="745717" cy="33855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MEMBRANE</a:t>
            </a:r>
          </a:p>
          <a:p>
            <a:r>
              <a:rPr lang="en-US" altLang="ko-KR" sz="800" b="1" dirty="0" smtClean="0"/>
              <a:t>FILTER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>
            <a:stCxn id="54" idx="0"/>
          </p:cNvCxnSpPr>
          <p:nvPr/>
        </p:nvCxnSpPr>
        <p:spPr bwMode="auto">
          <a:xfrm flipH="1" flipV="1">
            <a:off x="2462937" y="4492568"/>
            <a:ext cx="171301" cy="506950"/>
          </a:xfrm>
          <a:prstGeom prst="straightConnector1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2286226" y="4999518"/>
            <a:ext cx="696024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HEAT ROD</a:t>
            </a:r>
            <a:endParaRPr lang="ko-KR" altLang="en-US" sz="800" b="1" dirty="0"/>
          </a:p>
        </p:txBody>
      </p:sp>
      <p:cxnSp>
        <p:nvCxnSpPr>
          <p:cNvPr id="55" name="직선 화살표 연결선 54"/>
          <p:cNvCxnSpPr/>
          <p:nvPr/>
        </p:nvCxnSpPr>
        <p:spPr bwMode="auto">
          <a:xfrm>
            <a:off x="2034729" y="2021626"/>
            <a:ext cx="37855" cy="4161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797120" y="1806182"/>
            <a:ext cx="524503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COVER</a:t>
            </a:r>
            <a:endParaRPr lang="ko-KR" altLang="en-US" sz="800" b="1" dirty="0"/>
          </a:p>
        </p:txBody>
      </p:sp>
      <p:sp>
        <p:nvSpPr>
          <p:cNvPr id="58" name="타원 57"/>
          <p:cNvSpPr/>
          <p:nvPr/>
        </p:nvSpPr>
        <p:spPr bwMode="auto">
          <a:xfrm>
            <a:off x="1571866" y="2732745"/>
            <a:ext cx="504056" cy="266328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62966"/>
              </p:ext>
            </p:extLst>
          </p:nvPr>
        </p:nvGraphicFramePr>
        <p:xfrm>
          <a:off x="3273272" y="581394"/>
          <a:ext cx="5817448" cy="601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7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52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HEAT ROD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4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HV CONNECTOR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smtClean="0">
                          <a:solidFill>
                            <a:schemeClr val="tx1"/>
                          </a:solidFill>
                        </a:rPr>
                        <a:t>LV 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</a:rPr>
                        <a:t>CONNECTOR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</a:rPr>
                        <a:t>COVER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773591"/>
                  </a:ext>
                </a:extLst>
              </a:tr>
            </a:tbl>
          </a:graphicData>
        </a:graphic>
      </p:graphicFrame>
      <p:pic>
        <p:nvPicPr>
          <p:cNvPr id="60" name="그림 5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71" y="2397475"/>
            <a:ext cx="2288906" cy="637971"/>
          </a:xfrm>
          <a:prstGeom prst="rect">
            <a:avLst/>
          </a:prstGeom>
        </p:spPr>
      </p:pic>
      <p:sp>
        <p:nvSpPr>
          <p:cNvPr id="61" name="TextBox 22"/>
          <p:cNvSpPr txBox="1"/>
          <p:nvPr/>
        </p:nvSpPr>
        <p:spPr>
          <a:xfrm>
            <a:off x="5382498" y="1851847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2" name="TextBox 22"/>
          <p:cNvSpPr txBox="1"/>
          <p:nvPr/>
        </p:nvSpPr>
        <p:spPr>
          <a:xfrm>
            <a:off x="5058272" y="65124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3" name="TextBox 31"/>
          <p:cNvSpPr txBox="1"/>
          <p:nvPr/>
        </p:nvSpPr>
        <p:spPr>
          <a:xfrm>
            <a:off x="6354195" y="1798962"/>
            <a:ext cx="1724920" cy="226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A-A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562328" y="544311"/>
            <a:ext cx="1055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실리콘 충진 부</a:t>
            </a:r>
            <a:endParaRPr lang="ko-KR" altLang="en-US" sz="10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6038774" y="2031894"/>
            <a:ext cx="1331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Silicon Filling Area </a:t>
            </a:r>
            <a:r>
              <a:rPr lang="en-US" altLang="ko-KR" sz="1000" b="1" smtClean="0"/>
              <a:t> </a:t>
            </a:r>
            <a:endParaRPr lang="ko-KR" altLang="en-US" sz="1000" b="1" dirty="0"/>
          </a:p>
        </p:txBody>
      </p:sp>
      <p:sp>
        <p:nvSpPr>
          <p:cNvPr id="67" name="TextBox 31"/>
          <p:cNvSpPr txBox="1"/>
          <p:nvPr/>
        </p:nvSpPr>
        <p:spPr>
          <a:xfrm>
            <a:off x="6992954" y="2937529"/>
            <a:ext cx="1724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B-B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7062213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 bwMode="auto">
          <a:xfrm>
            <a:off x="7370227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 bwMode="auto">
          <a:xfrm>
            <a:off x="7663121" y="2726281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 bwMode="auto">
          <a:xfrm>
            <a:off x="7968674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 bwMode="auto">
          <a:xfrm>
            <a:off x="8276688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5" name="개체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75504"/>
              </p:ext>
            </p:extLst>
          </p:nvPr>
        </p:nvGraphicFramePr>
        <p:xfrm>
          <a:off x="3858472" y="590559"/>
          <a:ext cx="2645081" cy="1374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07" name="프로덕트" r:id="rId6" imgW="4480560" imgH="2327760" progId="CATIA.Product">
                  <p:link updateAutomatic="1"/>
                </p:oleObj>
              </mc:Choice>
              <mc:Fallback>
                <p:oleObj name="프로덕트" r:id="rId6" imgW="4480560" imgH="2327760" progId="CATIA.Product">
                  <p:link updateAutomatic="1"/>
                  <p:pic>
                    <p:nvPicPr>
                      <p:cNvPr id="54" name="개체 5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8472" y="590559"/>
                        <a:ext cx="2645081" cy="1374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직사각형 78"/>
          <p:cNvSpPr/>
          <p:nvPr/>
        </p:nvSpPr>
        <p:spPr bwMode="auto">
          <a:xfrm>
            <a:off x="8569582" y="2724742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/>
          <p:cNvCxnSpPr>
            <a:stCxn id="66" idx="2"/>
            <a:endCxn id="68" idx="1"/>
          </p:cNvCxnSpPr>
          <p:nvPr/>
        </p:nvCxnSpPr>
        <p:spPr bwMode="auto">
          <a:xfrm>
            <a:off x="6704501" y="2278115"/>
            <a:ext cx="357712" cy="52793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5910022" y="2988322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LOWER HOUSING</a:t>
            </a:r>
            <a:endParaRPr lang="ko-KR" altLang="en-US" sz="800" b="1" dirty="0"/>
          </a:p>
        </p:txBody>
      </p:sp>
      <p:cxnSp>
        <p:nvCxnSpPr>
          <p:cNvPr id="85" name="직선 화살표 연결선 84"/>
          <p:cNvCxnSpPr>
            <a:stCxn id="84" idx="0"/>
          </p:cNvCxnSpPr>
          <p:nvPr/>
        </p:nvCxnSpPr>
        <p:spPr bwMode="auto">
          <a:xfrm flipV="1">
            <a:off x="6563339" y="2886667"/>
            <a:ext cx="251077" cy="1016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7372522" y="2049965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ROD ASS’Y</a:t>
            </a:r>
            <a:endParaRPr lang="ko-KR" altLang="en-US" sz="800" b="1" dirty="0"/>
          </a:p>
        </p:txBody>
      </p:sp>
      <p:cxnSp>
        <p:nvCxnSpPr>
          <p:cNvPr id="88" name="직선 화살표 연결선 87"/>
          <p:cNvCxnSpPr/>
          <p:nvPr/>
        </p:nvCxnSpPr>
        <p:spPr bwMode="auto">
          <a:xfrm flipH="1">
            <a:off x="7705312" y="2237791"/>
            <a:ext cx="1156" cy="1445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직사각형 89"/>
          <p:cNvSpPr/>
          <p:nvPr/>
        </p:nvSpPr>
        <p:spPr bwMode="auto">
          <a:xfrm>
            <a:off x="4331620" y="939699"/>
            <a:ext cx="143909" cy="44432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 bwMode="auto">
          <a:xfrm>
            <a:off x="5730235" y="1098305"/>
            <a:ext cx="108000" cy="12826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연결선 91"/>
          <p:cNvCxnSpPr/>
          <p:nvPr/>
        </p:nvCxnSpPr>
        <p:spPr bwMode="auto">
          <a:xfrm>
            <a:off x="5609712" y="736490"/>
            <a:ext cx="8210" cy="117549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직선 화살표 연결선 92"/>
          <p:cNvCxnSpPr>
            <a:stCxn id="64" idx="2"/>
            <a:endCxn id="98" idx="0"/>
          </p:cNvCxnSpPr>
          <p:nvPr/>
        </p:nvCxnSpPr>
        <p:spPr bwMode="auto">
          <a:xfrm flipH="1">
            <a:off x="5617922" y="790532"/>
            <a:ext cx="472252" cy="16011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4" name="직사각형 93"/>
          <p:cNvSpPr/>
          <p:nvPr/>
        </p:nvSpPr>
        <p:spPr bwMode="auto">
          <a:xfrm>
            <a:off x="4568949" y="942231"/>
            <a:ext cx="153691" cy="426551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 bwMode="auto">
          <a:xfrm>
            <a:off x="4800317" y="933377"/>
            <a:ext cx="159872" cy="458114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 bwMode="auto">
          <a:xfrm>
            <a:off x="5053156" y="932487"/>
            <a:ext cx="137201" cy="443663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 bwMode="auto">
          <a:xfrm>
            <a:off x="5289463" y="949730"/>
            <a:ext cx="150410" cy="43429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/>
          <p:cNvSpPr/>
          <p:nvPr/>
        </p:nvSpPr>
        <p:spPr bwMode="auto">
          <a:xfrm>
            <a:off x="5545583" y="950649"/>
            <a:ext cx="144678" cy="440842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22"/>
          <p:cNvSpPr txBox="1"/>
          <p:nvPr/>
        </p:nvSpPr>
        <p:spPr>
          <a:xfrm>
            <a:off x="5364668" y="528522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00" name="개체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855839"/>
              </p:ext>
            </p:extLst>
          </p:nvPr>
        </p:nvGraphicFramePr>
        <p:xfrm>
          <a:off x="6583833" y="625870"/>
          <a:ext cx="1296248" cy="118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08" name="프로덕트" r:id="rId6" imgW="2685960" imgH="2449800" progId="CATIA.Product">
                  <p:link updateAutomatic="1"/>
                </p:oleObj>
              </mc:Choice>
              <mc:Fallback>
                <p:oleObj name="프로덕트" r:id="rId6" imgW="2685960" imgH="2449800" progId="CATIA.Product">
                  <p:link updateAutomatic="1"/>
                  <p:pic>
                    <p:nvPicPr>
                      <p:cNvPr id="56" name="개체 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83833" y="625870"/>
                        <a:ext cx="1296248" cy="1182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8032969" y="739644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UPPER HOUSING</a:t>
            </a:r>
            <a:endParaRPr lang="ko-KR" altLang="en-US" sz="1000" b="1" dirty="0"/>
          </a:p>
        </p:txBody>
      </p:sp>
      <p:cxnSp>
        <p:nvCxnSpPr>
          <p:cNvPr id="102" name="직선 화살표 연결선 101"/>
          <p:cNvCxnSpPr/>
          <p:nvPr/>
        </p:nvCxnSpPr>
        <p:spPr bwMode="auto">
          <a:xfrm flipH="1">
            <a:off x="7788654" y="1477415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8079115" y="1311350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HEAT ROD</a:t>
            </a:r>
          </a:p>
          <a:p>
            <a:r>
              <a:rPr lang="en-US" altLang="ko-KR" sz="1000" b="1" dirty="0" smtClean="0"/>
              <a:t>GROMMET</a:t>
            </a:r>
            <a:endParaRPr lang="ko-KR" altLang="en-US" sz="1000" b="1" dirty="0"/>
          </a:p>
        </p:txBody>
      </p:sp>
      <p:cxnSp>
        <p:nvCxnSpPr>
          <p:cNvPr id="104" name="직선 화살표 연결선 103"/>
          <p:cNvCxnSpPr/>
          <p:nvPr/>
        </p:nvCxnSpPr>
        <p:spPr bwMode="auto">
          <a:xfrm flipH="1">
            <a:off x="7700061" y="949730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직선 화살표 연결선 104"/>
          <p:cNvCxnSpPr>
            <a:stCxn id="64" idx="2"/>
            <a:endCxn id="107" idx="1"/>
          </p:cNvCxnSpPr>
          <p:nvPr/>
        </p:nvCxnSpPr>
        <p:spPr bwMode="auto">
          <a:xfrm>
            <a:off x="6090174" y="790532"/>
            <a:ext cx="89077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6" name="직선 화살표 연결선 105"/>
          <p:cNvCxnSpPr>
            <a:stCxn id="64" idx="2"/>
            <a:endCxn id="108" idx="1"/>
          </p:cNvCxnSpPr>
          <p:nvPr/>
        </p:nvCxnSpPr>
        <p:spPr bwMode="auto">
          <a:xfrm>
            <a:off x="6090174" y="790532"/>
            <a:ext cx="122225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7" name="직사각형 106"/>
          <p:cNvSpPr/>
          <p:nvPr/>
        </p:nvSpPr>
        <p:spPr bwMode="auto">
          <a:xfrm>
            <a:off x="698094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/>
          <p:cNvSpPr/>
          <p:nvPr/>
        </p:nvSpPr>
        <p:spPr bwMode="auto">
          <a:xfrm>
            <a:off x="731242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9" name="개체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590339"/>
              </p:ext>
            </p:extLst>
          </p:nvPr>
        </p:nvGraphicFramePr>
        <p:xfrm>
          <a:off x="3821053" y="2228919"/>
          <a:ext cx="2458802" cy="6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09" name="파트" r:id="rId9" imgW="4827240" imgH="1371240" progId="CATIA.Part">
                  <p:link updateAutomatic="1"/>
                </p:oleObj>
              </mc:Choice>
              <mc:Fallback>
                <p:oleObj name="파트" r:id="rId9" imgW="4827240" imgH="1371240" progId="CATIA.Part">
                  <p:link updateAutomatic="1"/>
                  <p:pic>
                    <p:nvPicPr>
                      <p:cNvPr id="67" name="개체 6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21053" y="2228919"/>
                        <a:ext cx="2458802" cy="698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그룹 109"/>
          <p:cNvGrpSpPr/>
          <p:nvPr/>
        </p:nvGrpSpPr>
        <p:grpSpPr>
          <a:xfrm>
            <a:off x="4133385" y="2277348"/>
            <a:ext cx="1815878" cy="555907"/>
            <a:chOff x="7010103" y="4427322"/>
            <a:chExt cx="1334389" cy="375659"/>
          </a:xfrm>
        </p:grpSpPr>
        <p:sp>
          <p:nvSpPr>
            <p:cNvPr id="111" name="직사각형 110"/>
            <p:cNvSpPr/>
            <p:nvPr/>
          </p:nvSpPr>
          <p:spPr>
            <a:xfrm>
              <a:off x="7010103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244782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479461" y="442732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764679" y="4429920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8009566" y="4431839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8239420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17" name="직선 연결선 116"/>
          <p:cNvCxnSpPr/>
          <p:nvPr/>
        </p:nvCxnSpPr>
        <p:spPr bwMode="auto">
          <a:xfrm>
            <a:off x="3874824" y="2560535"/>
            <a:ext cx="2412867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18" name="TextBox 22"/>
          <p:cNvSpPr txBox="1"/>
          <p:nvPr/>
        </p:nvSpPr>
        <p:spPr>
          <a:xfrm>
            <a:off x="3508188" y="2456308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19" name="TextBox 22"/>
          <p:cNvSpPr txBox="1"/>
          <p:nvPr/>
        </p:nvSpPr>
        <p:spPr>
          <a:xfrm>
            <a:off x="6144842" y="241428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20" name="직선 화살표 연결선 119"/>
          <p:cNvCxnSpPr>
            <a:stCxn id="66" idx="2"/>
          </p:cNvCxnSpPr>
          <p:nvPr/>
        </p:nvCxnSpPr>
        <p:spPr bwMode="auto">
          <a:xfrm flipH="1">
            <a:off x="6090175" y="2278115"/>
            <a:ext cx="614326" cy="21418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1" name="개체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930233"/>
              </p:ext>
            </p:extLst>
          </p:nvPr>
        </p:nvGraphicFramePr>
        <p:xfrm>
          <a:off x="5025488" y="3419290"/>
          <a:ext cx="1254496" cy="123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10" name="프로덕트" r:id="rId11" imgW="2739240" imgH="2693520" progId="CATIA.Product">
                  <p:link updateAutomatic="1"/>
                </p:oleObj>
              </mc:Choice>
              <mc:Fallback>
                <p:oleObj name="프로덕트" r:id="rId11" imgW="2739240" imgH="2693520" progId="CATIA.Product">
                  <p:link updateAutomatic="1"/>
                  <p:pic>
                    <p:nvPicPr>
                      <p:cNvPr id="69" name="개체 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5488" y="3419290"/>
                        <a:ext cx="1254496" cy="1233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TextBox 31"/>
          <p:cNvSpPr txBox="1"/>
          <p:nvPr/>
        </p:nvSpPr>
        <p:spPr>
          <a:xfrm>
            <a:off x="4856376" y="4677859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C-C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349302" y="3324994"/>
            <a:ext cx="751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HV GROMMET</a:t>
            </a:r>
            <a:endParaRPr lang="ko-KR" altLang="en-US" sz="800" b="1" dirty="0"/>
          </a:p>
        </p:txBody>
      </p:sp>
      <p:cxnSp>
        <p:nvCxnSpPr>
          <p:cNvPr id="124" name="직선 화살표 연결선 123"/>
          <p:cNvCxnSpPr/>
          <p:nvPr/>
        </p:nvCxnSpPr>
        <p:spPr bwMode="auto">
          <a:xfrm>
            <a:off x="4996091" y="3499351"/>
            <a:ext cx="534814" cy="21846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4522282" y="4587646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26" name="직선 화살표 연결선 125"/>
          <p:cNvCxnSpPr>
            <a:stCxn id="125" idx="0"/>
          </p:cNvCxnSpPr>
          <p:nvPr/>
        </p:nvCxnSpPr>
        <p:spPr bwMode="auto">
          <a:xfrm flipV="1">
            <a:off x="4870108" y="3679350"/>
            <a:ext cx="1246159" cy="90829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7" name="개체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064956"/>
              </p:ext>
            </p:extLst>
          </p:nvPr>
        </p:nvGraphicFramePr>
        <p:xfrm>
          <a:off x="3787734" y="3812065"/>
          <a:ext cx="1188030" cy="774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11" name="프로덕트" r:id="rId11" imgW="2400120" imgH="1565640" progId="CATIA.Product">
                  <p:link updateAutomatic="1"/>
                </p:oleObj>
              </mc:Choice>
              <mc:Fallback>
                <p:oleObj name="프로덕트" r:id="rId11" imgW="2400120" imgH="1565640" progId="CATIA.Product">
                  <p:link updateAutomatic="1"/>
                  <p:pic>
                    <p:nvPicPr>
                      <p:cNvPr id="70" name="개체 6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87734" y="3812065"/>
                        <a:ext cx="1188030" cy="774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TextBox 22"/>
          <p:cNvSpPr txBox="1"/>
          <p:nvPr/>
        </p:nvSpPr>
        <p:spPr>
          <a:xfrm>
            <a:off x="4125009" y="471221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9" name="TextBox 22"/>
          <p:cNvSpPr txBox="1"/>
          <p:nvPr/>
        </p:nvSpPr>
        <p:spPr>
          <a:xfrm>
            <a:off x="4138429" y="3500311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30" name="직선 연결선 129"/>
          <p:cNvCxnSpPr/>
          <p:nvPr/>
        </p:nvCxnSpPr>
        <p:spPr bwMode="auto">
          <a:xfrm>
            <a:off x="4349302" y="3734720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1" name="TextBox 31"/>
          <p:cNvSpPr txBox="1"/>
          <p:nvPr/>
        </p:nvSpPr>
        <p:spPr>
          <a:xfrm>
            <a:off x="7204078" y="4723782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D-D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32" name="개체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469533"/>
              </p:ext>
            </p:extLst>
          </p:nvPr>
        </p:nvGraphicFramePr>
        <p:xfrm>
          <a:off x="8012550" y="3570141"/>
          <a:ext cx="890899" cy="10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12" name="프로덕트" r:id="rId11" imgW="2000160" imgH="2361960" progId="CATIA.Product">
                  <p:link updateAutomatic="1"/>
                </p:oleObj>
              </mc:Choice>
              <mc:Fallback>
                <p:oleObj name="프로덕트" r:id="rId11" imgW="2000160" imgH="2361960" progId="CATIA.Product">
                  <p:link updateAutomatic="1"/>
                  <p:pic>
                    <p:nvPicPr>
                      <p:cNvPr id="82" name="개체 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12550" y="3570141"/>
                        <a:ext cx="890899" cy="1052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7391852" y="3318066"/>
            <a:ext cx="856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L</a:t>
            </a:r>
            <a:r>
              <a:rPr lang="en-US" altLang="ko-KR" sz="800" b="1" dirty="0" smtClean="0"/>
              <a:t>V GROMMET</a:t>
            </a:r>
            <a:endParaRPr lang="ko-KR" altLang="en-US" sz="800" b="1" dirty="0"/>
          </a:p>
        </p:txBody>
      </p:sp>
      <p:cxnSp>
        <p:nvCxnSpPr>
          <p:cNvPr id="134" name="직선 화살표 연결선 133"/>
          <p:cNvCxnSpPr>
            <a:stCxn id="133" idx="2"/>
          </p:cNvCxnSpPr>
          <p:nvPr/>
        </p:nvCxnSpPr>
        <p:spPr bwMode="auto">
          <a:xfrm>
            <a:off x="7819983" y="3656620"/>
            <a:ext cx="541334" cy="17914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8553123" y="3279437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36" name="직선 화살표 연결선 135"/>
          <p:cNvCxnSpPr/>
          <p:nvPr/>
        </p:nvCxnSpPr>
        <p:spPr bwMode="auto">
          <a:xfrm flipH="1">
            <a:off x="8561545" y="3494121"/>
            <a:ext cx="37828" cy="29904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37" name="개체 1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35356"/>
              </p:ext>
            </p:extLst>
          </p:nvPr>
        </p:nvGraphicFramePr>
        <p:xfrm>
          <a:off x="6653584" y="3868699"/>
          <a:ext cx="1181183" cy="65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13" name="프로덕트" r:id="rId11" imgW="2255400" imgH="1249560" progId="CATIA.Product">
                  <p:link updateAutomatic="1"/>
                </p:oleObj>
              </mc:Choice>
              <mc:Fallback>
                <p:oleObj name="프로덕트" r:id="rId11" imgW="2255400" imgH="1249560" progId="CATIA.Product">
                  <p:link updateAutomatic="1"/>
                  <p:pic>
                    <p:nvPicPr>
                      <p:cNvPr id="83" name="개체 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3584" y="3868699"/>
                        <a:ext cx="1181183" cy="654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8" name="직선 연결선 137"/>
          <p:cNvCxnSpPr/>
          <p:nvPr/>
        </p:nvCxnSpPr>
        <p:spPr bwMode="auto">
          <a:xfrm>
            <a:off x="7252353" y="3691984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9" name="TextBox 22"/>
          <p:cNvSpPr txBox="1"/>
          <p:nvPr/>
        </p:nvSpPr>
        <p:spPr>
          <a:xfrm>
            <a:off x="7022992" y="342307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40" name="TextBox 22"/>
          <p:cNvSpPr txBox="1"/>
          <p:nvPr/>
        </p:nvSpPr>
        <p:spPr>
          <a:xfrm>
            <a:off x="7033638" y="4655300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45" name="TextBox 31"/>
          <p:cNvSpPr txBox="1"/>
          <p:nvPr/>
        </p:nvSpPr>
        <p:spPr>
          <a:xfrm>
            <a:off x="6679674" y="7102341"/>
            <a:ext cx="1665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E-E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6339" y="4976920"/>
            <a:ext cx="3924679" cy="1573988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8" y="14234"/>
            <a:ext cx="7882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ko-KR" sz="2800" smtClean="0">
                <a:solidFill>
                  <a:schemeClr val="tx1"/>
                </a:solidFill>
              </a:rPr>
              <a:t>Mounting Direction </a:t>
            </a:r>
            <a:r>
              <a:rPr lang="en-US" altLang="ko-KR" sz="2800">
                <a:solidFill>
                  <a:schemeClr val="tx1"/>
                </a:solidFill>
              </a:rPr>
              <a:t>&amp; air flow </a:t>
            </a:r>
            <a:r>
              <a:rPr lang="en-US" altLang="ko-KR" sz="2800" smtClean="0">
                <a:solidFill>
                  <a:schemeClr val="tx1"/>
                </a:solidFill>
              </a:rPr>
              <a:t>direction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067166"/>
            <a:ext cx="1138136" cy="2722418"/>
          </a:xfrm>
          <a:prstGeom prst="rect">
            <a:avLst/>
          </a:prstGeom>
        </p:spPr>
      </p:pic>
      <p:pic>
        <p:nvPicPr>
          <p:cNvPr id="141" name="그림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198191"/>
            <a:ext cx="2188723" cy="2524991"/>
          </a:xfrm>
          <a:prstGeom prst="rect">
            <a:avLst/>
          </a:prstGeom>
        </p:spPr>
      </p:pic>
      <p:cxnSp>
        <p:nvCxnSpPr>
          <p:cNvPr id="142" name="직선 화살표 연결선 141"/>
          <p:cNvCxnSpPr/>
          <p:nvPr/>
        </p:nvCxnSpPr>
        <p:spPr bwMode="auto">
          <a:xfrm flipH="1" flipV="1">
            <a:off x="2013884" y="1564406"/>
            <a:ext cx="1477996" cy="856482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3" name="직선 화살표 연결선 142"/>
          <p:cNvCxnSpPr/>
          <p:nvPr/>
        </p:nvCxnSpPr>
        <p:spPr bwMode="auto">
          <a:xfrm flipH="1" flipV="1">
            <a:off x="1475656" y="2924944"/>
            <a:ext cx="1148357" cy="684361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4" name="직사각형 143"/>
          <p:cNvSpPr/>
          <p:nvPr/>
        </p:nvSpPr>
        <p:spPr>
          <a:xfrm>
            <a:off x="218118" y="2003663"/>
            <a:ext cx="2117554" cy="68379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HVAC MT’G Direction</a:t>
            </a:r>
            <a:endParaRPr lang="ko-KR" altLang="en-US" dirty="0"/>
          </a:p>
        </p:txBody>
      </p:sp>
      <p:sp>
        <p:nvSpPr>
          <p:cNvPr id="146" name="오른쪽 화살표 145"/>
          <p:cNvSpPr/>
          <p:nvPr/>
        </p:nvSpPr>
        <p:spPr>
          <a:xfrm>
            <a:off x="5220072" y="2888655"/>
            <a:ext cx="1944216" cy="900385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  <p:sp>
        <p:nvSpPr>
          <p:cNvPr id="147" name="오른쪽 화살표 146"/>
          <p:cNvSpPr/>
          <p:nvPr/>
        </p:nvSpPr>
        <p:spPr>
          <a:xfrm rot="18245334">
            <a:off x="1603117" y="3714840"/>
            <a:ext cx="2315202" cy="900385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201018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408692" y="948950"/>
            <a:ext cx="3589322" cy="376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altLang="zh-CN" sz="1846" dirty="0">
                <a:solidFill>
                  <a:schemeClr val="tx1"/>
                </a:solidFill>
              </a:rPr>
              <a:t> BLOCK DIAGRAM </a:t>
            </a:r>
            <a:endParaRPr lang="zh-CN" altLang="en-US" sz="1846" dirty="0">
              <a:solidFill>
                <a:schemeClr val="tx1"/>
              </a:solidFill>
            </a:endParaRPr>
          </a:p>
        </p:txBody>
      </p:sp>
      <p:sp>
        <p:nvSpPr>
          <p:cNvPr id="6" name="Text Box 192"/>
          <p:cNvSpPr txBox="1">
            <a:spLocks noChangeArrowheads="1"/>
          </p:cNvSpPr>
          <p:nvPr/>
        </p:nvSpPr>
        <p:spPr bwMode="auto">
          <a:xfrm>
            <a:off x="0" y="21752"/>
            <a:ext cx="3855861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585" dirty="0">
                <a:solidFill>
                  <a:schemeClr val="tx1"/>
                </a:solidFill>
              </a:rPr>
              <a:t> </a:t>
            </a:r>
            <a:r>
              <a:rPr lang="zh-CN" altLang="en-US" sz="2585" dirty="0" smtClean="0">
                <a:solidFill>
                  <a:schemeClr val="tx1"/>
                </a:solidFill>
              </a:rPr>
              <a:t> </a:t>
            </a:r>
            <a:r>
              <a:rPr lang="en-US" altLang="ko-KR" sz="2585" dirty="0" smtClean="0">
                <a:solidFill>
                  <a:schemeClr val="tx1"/>
                </a:solidFill>
              </a:rPr>
              <a:t>Block </a:t>
            </a:r>
            <a:r>
              <a:rPr lang="en-US" altLang="ko-KR" sz="2585" dirty="0">
                <a:solidFill>
                  <a:schemeClr val="tx1"/>
                </a:solidFill>
              </a:rPr>
              <a:t>diagram</a:t>
            </a:r>
          </a:p>
        </p:txBody>
      </p:sp>
      <p:sp>
        <p:nvSpPr>
          <p:cNvPr id="5" name="Text Box 87"/>
          <p:cNvSpPr txBox="1">
            <a:spLocks noChangeAspect="1" noChangeArrowheads="1"/>
          </p:cNvSpPr>
          <p:nvPr/>
        </p:nvSpPr>
        <p:spPr bwMode="auto">
          <a:xfrm>
            <a:off x="6362782" y="1424490"/>
            <a:ext cx="578440" cy="18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290" tIns="38290" rIns="38290" bIns="3829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HV</a:t>
            </a:r>
            <a:r>
              <a:rPr lang="en-US" altLang="ko-KR" sz="700">
                <a:solidFill>
                  <a:schemeClr val="tx1"/>
                </a:solidFill>
                <a:latin typeface="HY헤드라인M" pitchFamily="18" charset="-127"/>
              </a:rPr>
              <a:t>(+)</a:t>
            </a:r>
            <a:endParaRPr lang="en-US" altLang="ja-JP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7" name="Rectangle 111"/>
          <p:cNvSpPr>
            <a:spLocks noChangeAspect="1" noChangeArrowheads="1"/>
          </p:cNvSpPr>
          <p:nvPr/>
        </p:nvSpPr>
        <p:spPr bwMode="auto">
          <a:xfrm>
            <a:off x="3507695" y="1996014"/>
            <a:ext cx="2721332" cy="391602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9" name="Rectangle 111"/>
          <p:cNvSpPr>
            <a:spLocks noChangeAspect="1" noChangeArrowheads="1"/>
          </p:cNvSpPr>
          <p:nvPr/>
        </p:nvSpPr>
        <p:spPr bwMode="auto">
          <a:xfrm>
            <a:off x="6411433" y="2434397"/>
            <a:ext cx="1336156" cy="2869793"/>
          </a:xfrm>
          <a:prstGeom prst="rect">
            <a:avLst/>
          </a:prstGeom>
          <a:solidFill>
            <a:srgbClr val="FF0000">
              <a:alpha val="21176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1" name="Rectangle 111"/>
          <p:cNvSpPr>
            <a:spLocks noChangeAspect="1" noChangeArrowheads="1"/>
          </p:cNvSpPr>
          <p:nvPr/>
        </p:nvSpPr>
        <p:spPr bwMode="auto">
          <a:xfrm>
            <a:off x="6480062" y="2993229"/>
            <a:ext cx="1184886" cy="698891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2" name="Freeform 84"/>
          <p:cNvSpPr>
            <a:spLocks noChangeAspect="1"/>
          </p:cNvSpPr>
          <p:nvPr/>
        </p:nvSpPr>
        <p:spPr bwMode="auto">
          <a:xfrm>
            <a:off x="1022361" y="2602467"/>
            <a:ext cx="911780" cy="0"/>
          </a:xfrm>
          <a:custGeom>
            <a:avLst/>
            <a:gdLst>
              <a:gd name="T0" fmla="*/ 0 w 1311"/>
              <a:gd name="T1" fmla="*/ 0 h 1"/>
              <a:gd name="T2" fmla="*/ 2147483647 w 1311"/>
              <a:gd name="T3" fmla="*/ 0 h 1"/>
              <a:gd name="T4" fmla="*/ 2147483647 w 1311"/>
              <a:gd name="T5" fmla="*/ 0 h 1"/>
              <a:gd name="T6" fmla="*/ 0 60000 65536"/>
              <a:gd name="T7" fmla="*/ 0 60000 65536"/>
              <a:gd name="T8" fmla="*/ 0 60000 65536"/>
              <a:gd name="T9" fmla="*/ 0 w 1311"/>
              <a:gd name="T10" fmla="*/ 0 h 1"/>
              <a:gd name="T11" fmla="*/ 1311 w 1311"/>
              <a:gd name="T12" fmla="*/ 0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1" h="1">
                <a:moveTo>
                  <a:pt x="0" y="0"/>
                </a:moveTo>
                <a:lnTo>
                  <a:pt x="1311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3" name="Text Box 137"/>
          <p:cNvSpPr txBox="1">
            <a:spLocks noChangeAspect="1" noChangeArrowheads="1"/>
          </p:cNvSpPr>
          <p:nvPr/>
        </p:nvSpPr>
        <p:spPr bwMode="auto">
          <a:xfrm>
            <a:off x="1040612" y="2442233"/>
            <a:ext cx="407432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IGN(+)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4" name="Freeform 84"/>
          <p:cNvSpPr>
            <a:spLocks noChangeAspect="1"/>
          </p:cNvSpPr>
          <p:nvPr/>
        </p:nvSpPr>
        <p:spPr bwMode="auto">
          <a:xfrm>
            <a:off x="1179226" y="2856822"/>
            <a:ext cx="761917" cy="134456"/>
          </a:xfrm>
          <a:custGeom>
            <a:avLst/>
            <a:gdLst>
              <a:gd name="T0" fmla="*/ 0 w 753"/>
              <a:gd name="T1" fmla="*/ 0 h 184"/>
              <a:gd name="T2" fmla="*/ 2147483647 w 753"/>
              <a:gd name="T3" fmla="*/ 0 h 184"/>
              <a:gd name="T4" fmla="*/ 2147483647 w 753"/>
              <a:gd name="T5" fmla="*/ 2147483647 h 184"/>
              <a:gd name="T6" fmla="*/ 0 60000 65536"/>
              <a:gd name="T7" fmla="*/ 0 60000 65536"/>
              <a:gd name="T8" fmla="*/ 0 60000 65536"/>
              <a:gd name="T9" fmla="*/ 0 w 753"/>
              <a:gd name="T10" fmla="*/ 0 h 184"/>
              <a:gd name="T11" fmla="*/ 753 w 753"/>
              <a:gd name="T12" fmla="*/ 184 h 1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53" h="184">
                <a:moveTo>
                  <a:pt x="4" y="184"/>
                </a:moveTo>
                <a:lnTo>
                  <a:pt x="0" y="0"/>
                </a:lnTo>
                <a:lnTo>
                  <a:pt x="753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5" name="Freeform 84"/>
          <p:cNvSpPr>
            <a:spLocks noChangeAspect="1"/>
          </p:cNvSpPr>
          <p:nvPr/>
        </p:nvSpPr>
        <p:spPr bwMode="auto">
          <a:xfrm flipH="1">
            <a:off x="4941191" y="1532422"/>
            <a:ext cx="1410387" cy="204485"/>
          </a:xfrm>
          <a:custGeom>
            <a:avLst/>
            <a:gdLst>
              <a:gd name="T0" fmla="*/ 0 w 1872"/>
              <a:gd name="T1" fmla="*/ 0 h 384"/>
              <a:gd name="T2" fmla="*/ 2147483647 w 1872"/>
              <a:gd name="T3" fmla="*/ 0 h 384"/>
              <a:gd name="T4" fmla="*/ 2147483647 w 1872"/>
              <a:gd name="T5" fmla="*/ 2147483647 h 384"/>
              <a:gd name="T6" fmla="*/ 0 60000 65536"/>
              <a:gd name="T7" fmla="*/ 0 60000 65536"/>
              <a:gd name="T8" fmla="*/ 0 60000 65536"/>
              <a:gd name="T9" fmla="*/ 0 w 1872"/>
              <a:gd name="T10" fmla="*/ 0 h 384"/>
              <a:gd name="T11" fmla="*/ 1872 w 187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384">
                <a:moveTo>
                  <a:pt x="0" y="0"/>
                </a:moveTo>
                <a:lnTo>
                  <a:pt x="1872" y="0"/>
                </a:lnTo>
                <a:lnTo>
                  <a:pt x="1872" y="384"/>
                </a:lnTo>
              </a:path>
            </a:pathLst>
          </a:cu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6" name="Text Box 87"/>
          <p:cNvSpPr txBox="1">
            <a:spLocks noChangeAspect="1" noChangeArrowheads="1"/>
          </p:cNvSpPr>
          <p:nvPr/>
        </p:nvSpPr>
        <p:spPr bwMode="auto">
          <a:xfrm>
            <a:off x="6312361" y="1544941"/>
            <a:ext cx="415973" cy="18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290" tIns="38290" rIns="38290" bIns="3829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HV</a:t>
            </a:r>
            <a:r>
              <a:rPr lang="en-US" altLang="ko-KR" sz="700">
                <a:solidFill>
                  <a:schemeClr val="tx1"/>
                </a:solidFill>
                <a:latin typeface="HY헤드라인M" pitchFamily="18" charset="-127"/>
              </a:rPr>
              <a:t>(-)</a:t>
            </a:r>
            <a:endParaRPr lang="en-US" altLang="ja-JP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7" name="Freeform 84"/>
          <p:cNvSpPr>
            <a:spLocks noChangeAspect="1"/>
          </p:cNvSpPr>
          <p:nvPr/>
        </p:nvSpPr>
        <p:spPr bwMode="auto">
          <a:xfrm flipH="1">
            <a:off x="6058855" y="1655673"/>
            <a:ext cx="257707" cy="302526"/>
          </a:xfrm>
          <a:custGeom>
            <a:avLst/>
            <a:gdLst>
              <a:gd name="T0" fmla="*/ 0 w 1872"/>
              <a:gd name="T1" fmla="*/ 0 h 384"/>
              <a:gd name="T2" fmla="*/ 2147483647 w 1872"/>
              <a:gd name="T3" fmla="*/ 0 h 384"/>
              <a:gd name="T4" fmla="*/ 2147483647 w 1872"/>
              <a:gd name="T5" fmla="*/ 2147483647 h 384"/>
              <a:gd name="T6" fmla="*/ 0 60000 65536"/>
              <a:gd name="T7" fmla="*/ 0 60000 65536"/>
              <a:gd name="T8" fmla="*/ 0 60000 65536"/>
              <a:gd name="T9" fmla="*/ 0 w 1872"/>
              <a:gd name="T10" fmla="*/ 0 h 384"/>
              <a:gd name="T11" fmla="*/ 1872 w 187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384">
                <a:moveTo>
                  <a:pt x="0" y="0"/>
                </a:moveTo>
                <a:lnTo>
                  <a:pt x="1872" y="0"/>
                </a:lnTo>
                <a:lnTo>
                  <a:pt x="1872" y="384"/>
                </a:lnTo>
              </a:path>
            </a:pathLst>
          </a:cu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8" name="Rectangle 77"/>
          <p:cNvSpPr>
            <a:spLocks noChangeAspect="1" noChangeArrowheads="1"/>
          </p:cNvSpPr>
          <p:nvPr/>
        </p:nvSpPr>
        <p:spPr bwMode="auto">
          <a:xfrm>
            <a:off x="1985962" y="2084252"/>
            <a:ext cx="1137273" cy="3794746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9" name="Text Box 112"/>
          <p:cNvSpPr txBox="1">
            <a:spLocks noChangeAspect="1" noChangeArrowheads="1"/>
          </p:cNvSpPr>
          <p:nvPr/>
        </p:nvSpPr>
        <p:spPr bwMode="auto">
          <a:xfrm>
            <a:off x="3586828" y="1993944"/>
            <a:ext cx="760516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HV circuit</a:t>
            </a:r>
          </a:p>
        </p:txBody>
      </p:sp>
      <p:cxnSp>
        <p:nvCxnSpPr>
          <p:cNvPr id="20" name="직선 연결선 19"/>
          <p:cNvCxnSpPr>
            <a:cxnSpLocks noChangeAspect="1" noChangeShapeType="1"/>
          </p:cNvCxnSpPr>
          <p:nvPr/>
        </p:nvCxnSpPr>
        <p:spPr bwMode="auto">
          <a:xfrm>
            <a:off x="3808120" y="2560449"/>
            <a:ext cx="275914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1" name="Text Box 112"/>
          <p:cNvSpPr txBox="1">
            <a:spLocks noChangeAspect="1" noChangeArrowheads="1"/>
          </p:cNvSpPr>
          <p:nvPr/>
        </p:nvSpPr>
        <p:spPr bwMode="auto">
          <a:xfrm>
            <a:off x="1985962" y="1924616"/>
            <a:ext cx="750712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LV circuit</a:t>
            </a:r>
          </a:p>
        </p:txBody>
      </p:sp>
      <p:cxnSp>
        <p:nvCxnSpPr>
          <p:cNvPr id="22" name="직선 연결선 21"/>
          <p:cNvCxnSpPr>
            <a:cxnSpLocks noChangeAspect="1" noChangeShapeType="1"/>
          </p:cNvCxnSpPr>
          <p:nvPr/>
        </p:nvCxnSpPr>
        <p:spPr bwMode="auto">
          <a:xfrm>
            <a:off x="4952395" y="2064643"/>
            <a:ext cx="0" cy="99805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23" name="직선 연결선 22"/>
          <p:cNvCxnSpPr>
            <a:cxnSpLocks noChangeAspect="1" noChangeShapeType="1"/>
          </p:cNvCxnSpPr>
          <p:nvPr/>
        </p:nvCxnSpPr>
        <p:spPr bwMode="auto">
          <a:xfrm>
            <a:off x="4967802" y="5592836"/>
            <a:ext cx="1127468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4" name="Text Box 137"/>
          <p:cNvSpPr txBox="1">
            <a:spLocks noChangeAspect="1" noChangeArrowheads="1"/>
          </p:cNvSpPr>
          <p:nvPr/>
        </p:nvSpPr>
        <p:spPr bwMode="auto">
          <a:xfrm>
            <a:off x="1042933" y="2701607"/>
            <a:ext cx="405111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GND(-)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25" name="직선 연결선 24"/>
          <p:cNvCxnSpPr>
            <a:cxnSpLocks noChangeAspect="1" noChangeShapeType="1"/>
          </p:cNvCxnSpPr>
          <p:nvPr/>
        </p:nvCxnSpPr>
        <p:spPr bwMode="auto">
          <a:xfrm>
            <a:off x="4673680" y="2376973"/>
            <a:ext cx="0" cy="2223287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26" name="Rectangle 102"/>
          <p:cNvSpPr>
            <a:spLocks noChangeAspect="1" noChangeArrowheads="1"/>
          </p:cNvSpPr>
          <p:nvPr/>
        </p:nvSpPr>
        <p:spPr bwMode="auto">
          <a:xfrm>
            <a:off x="6480062" y="2864375"/>
            <a:ext cx="1176489" cy="105044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sp>
        <p:nvSpPr>
          <p:cNvPr id="27" name="Rectangle 102"/>
          <p:cNvSpPr>
            <a:spLocks noChangeAspect="1" noChangeArrowheads="1"/>
          </p:cNvSpPr>
          <p:nvPr/>
        </p:nvSpPr>
        <p:spPr bwMode="auto">
          <a:xfrm>
            <a:off x="6494068" y="3707526"/>
            <a:ext cx="1159682" cy="9383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sp>
        <p:nvSpPr>
          <p:cNvPr id="28" name="Line 145"/>
          <p:cNvSpPr>
            <a:spLocks noChangeShapeType="1"/>
          </p:cNvSpPr>
          <p:nvPr/>
        </p:nvSpPr>
        <p:spPr bwMode="auto">
          <a:xfrm>
            <a:off x="4529419" y="3129926"/>
            <a:ext cx="14426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oval" w="med" len="med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29" name="직선 연결선 28"/>
          <p:cNvCxnSpPr>
            <a:cxnSpLocks noChangeAspect="1" noChangeShapeType="1"/>
          </p:cNvCxnSpPr>
          <p:nvPr/>
        </p:nvCxnSpPr>
        <p:spPr bwMode="auto">
          <a:xfrm>
            <a:off x="6079865" y="2080049"/>
            <a:ext cx="0" cy="3519513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lg" len="lg"/>
            <a:tailEnd type="oval" w="lg" len="lg"/>
          </a:ln>
        </p:spPr>
      </p:cxnSp>
      <p:cxnSp>
        <p:nvCxnSpPr>
          <p:cNvPr id="30" name="직선 연결선 29"/>
          <p:cNvCxnSpPr>
            <a:cxnSpLocks noChangeAspect="1" noChangeShapeType="1"/>
          </p:cNvCxnSpPr>
          <p:nvPr/>
        </p:nvCxnSpPr>
        <p:spPr bwMode="auto">
          <a:xfrm flipH="1">
            <a:off x="3931371" y="2792946"/>
            <a:ext cx="85855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31" name="Text Box 112"/>
          <p:cNvSpPr txBox="1">
            <a:spLocks noChangeAspect="1" noChangeArrowheads="1"/>
          </p:cNvSpPr>
          <p:nvPr/>
        </p:nvSpPr>
        <p:spPr bwMode="auto">
          <a:xfrm>
            <a:off x="6596310" y="2267759"/>
            <a:ext cx="885168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 Ass’y</a:t>
            </a:r>
          </a:p>
        </p:txBody>
      </p:sp>
      <p:grpSp>
        <p:nvGrpSpPr>
          <p:cNvPr id="32" name="그룹 33"/>
          <p:cNvGrpSpPr>
            <a:grpSpLocks/>
          </p:cNvGrpSpPr>
          <p:nvPr/>
        </p:nvGrpSpPr>
        <p:grpSpPr bwMode="auto">
          <a:xfrm>
            <a:off x="4139024" y="2637481"/>
            <a:ext cx="172224" cy="106444"/>
            <a:chOff x="4751420" y="2591675"/>
            <a:chExt cx="219075" cy="134938"/>
          </a:xfrm>
        </p:grpSpPr>
        <p:cxnSp>
          <p:nvCxnSpPr>
            <p:cNvPr id="33" name="직선 연결선 32"/>
            <p:cNvCxnSpPr>
              <a:cxnSpLocks noChangeAspect="1" noChangeShapeType="1"/>
            </p:cNvCxnSpPr>
            <p:nvPr/>
          </p:nvCxnSpPr>
          <p:spPr bwMode="auto">
            <a:xfrm>
              <a:off x="4849845" y="2591675"/>
              <a:ext cx="1588" cy="50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4" name="Line 79"/>
            <p:cNvSpPr>
              <a:spLocks noChangeAspect="1" noChangeShapeType="1"/>
            </p:cNvSpPr>
            <p:nvPr/>
          </p:nvSpPr>
          <p:spPr bwMode="auto">
            <a:xfrm>
              <a:off x="4751420" y="2642475"/>
              <a:ext cx="2190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35" name="Line 80"/>
            <p:cNvSpPr>
              <a:spLocks noChangeAspect="1" noChangeShapeType="1"/>
            </p:cNvSpPr>
            <p:nvPr/>
          </p:nvSpPr>
          <p:spPr bwMode="auto">
            <a:xfrm flipH="1">
              <a:off x="4753008" y="2642475"/>
              <a:ext cx="44450" cy="841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36" name="Line 81"/>
            <p:cNvSpPr>
              <a:spLocks noChangeAspect="1" noChangeShapeType="1"/>
            </p:cNvSpPr>
            <p:nvPr/>
          </p:nvSpPr>
          <p:spPr bwMode="auto">
            <a:xfrm flipH="1">
              <a:off x="4819683" y="2642475"/>
              <a:ext cx="44450" cy="841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37" name="Line 82"/>
            <p:cNvSpPr>
              <a:spLocks noChangeAspect="1" noChangeShapeType="1"/>
            </p:cNvSpPr>
            <p:nvPr/>
          </p:nvSpPr>
          <p:spPr bwMode="auto">
            <a:xfrm flipH="1">
              <a:off x="4884770" y="2642475"/>
              <a:ext cx="44450" cy="841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</p:grpSp>
      <p:sp>
        <p:nvSpPr>
          <p:cNvPr id="38" name="Text Box 137"/>
          <p:cNvSpPr txBox="1">
            <a:spLocks noChangeAspect="1" noChangeArrowheads="1"/>
          </p:cNvSpPr>
          <p:nvPr/>
        </p:nvSpPr>
        <p:spPr bwMode="auto">
          <a:xfrm>
            <a:off x="4952953" y="1519942"/>
            <a:ext cx="487273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Interlock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39" name="직선 연결선 38"/>
          <p:cNvCxnSpPr>
            <a:cxnSpLocks noChangeAspect="1" noChangeShapeType="1"/>
          </p:cNvCxnSpPr>
          <p:nvPr/>
        </p:nvCxnSpPr>
        <p:spPr bwMode="auto">
          <a:xfrm>
            <a:off x="3319316" y="1511413"/>
            <a:ext cx="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40" name="Text Box 112"/>
          <p:cNvSpPr txBox="1">
            <a:spLocks noChangeAspect="1" noChangeArrowheads="1"/>
          </p:cNvSpPr>
          <p:nvPr/>
        </p:nvSpPr>
        <p:spPr bwMode="auto">
          <a:xfrm>
            <a:off x="3032674" y="1627085"/>
            <a:ext cx="606452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Isolation</a:t>
            </a:r>
          </a:p>
        </p:txBody>
      </p:sp>
      <p:cxnSp>
        <p:nvCxnSpPr>
          <p:cNvPr id="41" name="직선 연결선 40"/>
          <p:cNvCxnSpPr>
            <a:cxnSpLocks noChangeAspect="1" noChangeShapeType="1"/>
          </p:cNvCxnSpPr>
          <p:nvPr/>
        </p:nvCxnSpPr>
        <p:spPr bwMode="auto">
          <a:xfrm flipH="1">
            <a:off x="3869746" y="3205557"/>
            <a:ext cx="11120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42" name="직선 연결선 41"/>
          <p:cNvCxnSpPr>
            <a:cxnSpLocks noChangeAspect="1" noChangeShapeType="1"/>
          </p:cNvCxnSpPr>
          <p:nvPr/>
        </p:nvCxnSpPr>
        <p:spPr bwMode="auto">
          <a:xfrm>
            <a:off x="4957998" y="5135218"/>
            <a:ext cx="0" cy="461963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lg" len="lg"/>
            <a:tailEnd type="oval" w="lg" len="lg"/>
          </a:ln>
        </p:spPr>
      </p:cxnSp>
      <p:sp>
        <p:nvSpPr>
          <p:cNvPr id="43" name="Text Box 116"/>
          <p:cNvSpPr txBox="1">
            <a:spLocks noChangeAspect="1" noChangeArrowheads="1"/>
          </p:cNvSpPr>
          <p:nvPr/>
        </p:nvSpPr>
        <p:spPr bwMode="auto">
          <a:xfrm>
            <a:off x="4939510" y="3075303"/>
            <a:ext cx="395184" cy="19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IGBT1</a:t>
            </a:r>
          </a:p>
        </p:txBody>
      </p:sp>
      <p:sp>
        <p:nvSpPr>
          <p:cNvPr id="44" name="Rectangle 111"/>
          <p:cNvSpPr>
            <a:spLocks noChangeAspect="1" noChangeArrowheads="1"/>
          </p:cNvSpPr>
          <p:nvPr/>
        </p:nvSpPr>
        <p:spPr bwMode="auto">
          <a:xfrm>
            <a:off x="6451860" y="4129102"/>
            <a:ext cx="1252010" cy="69749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45" name="Rectangle 102"/>
          <p:cNvSpPr>
            <a:spLocks noChangeAspect="1" noChangeArrowheads="1"/>
          </p:cNvSpPr>
          <p:nvPr/>
        </p:nvSpPr>
        <p:spPr bwMode="auto">
          <a:xfrm>
            <a:off x="6480063" y="4012853"/>
            <a:ext cx="1176489" cy="106444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sp>
        <p:nvSpPr>
          <p:cNvPr id="46" name="Rectangle 102"/>
          <p:cNvSpPr>
            <a:spLocks noChangeAspect="1" noChangeArrowheads="1"/>
          </p:cNvSpPr>
          <p:nvPr/>
        </p:nvSpPr>
        <p:spPr bwMode="auto">
          <a:xfrm>
            <a:off x="6509474" y="4854603"/>
            <a:ext cx="1161083" cy="95240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cxnSp>
        <p:nvCxnSpPr>
          <p:cNvPr id="47" name="직선 연결선 46"/>
          <p:cNvCxnSpPr>
            <a:cxnSpLocks noChangeAspect="1" noChangeShapeType="1"/>
          </p:cNvCxnSpPr>
          <p:nvPr/>
        </p:nvCxnSpPr>
        <p:spPr bwMode="auto">
          <a:xfrm>
            <a:off x="5294838" y="5351912"/>
            <a:ext cx="0" cy="242887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lg" len="lg"/>
            <a:tailEnd type="oval" w="lg" len="lg"/>
          </a:ln>
        </p:spPr>
      </p:cxnSp>
      <p:cxnSp>
        <p:nvCxnSpPr>
          <p:cNvPr id="48" name="직선 연결선 47"/>
          <p:cNvCxnSpPr>
            <a:cxnSpLocks noChangeAspect="1" noChangeShapeType="1"/>
          </p:cNvCxnSpPr>
          <p:nvPr/>
        </p:nvCxnSpPr>
        <p:spPr bwMode="auto">
          <a:xfrm>
            <a:off x="5341479" y="4215938"/>
            <a:ext cx="2202028" cy="0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cxnSp>
        <p:nvCxnSpPr>
          <p:cNvPr id="49" name="직선 연결선 48"/>
          <p:cNvCxnSpPr>
            <a:cxnSpLocks noChangeAspect="1" noChangeShapeType="1"/>
          </p:cNvCxnSpPr>
          <p:nvPr/>
        </p:nvCxnSpPr>
        <p:spPr bwMode="auto">
          <a:xfrm flipH="1">
            <a:off x="3871146" y="3967755"/>
            <a:ext cx="111164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50" name="직사각형 49"/>
          <p:cNvSpPr>
            <a:spLocks noChangeArrowheads="1"/>
          </p:cNvSpPr>
          <p:nvPr/>
        </p:nvSpPr>
        <p:spPr bwMode="auto">
          <a:xfrm>
            <a:off x="3452372" y="1914780"/>
            <a:ext cx="2816571" cy="4033678"/>
          </a:xfrm>
          <a:prstGeom prst="rect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51" name="직선 연결선 50"/>
          <p:cNvCxnSpPr>
            <a:cxnSpLocks noChangeAspect="1" noChangeShapeType="1"/>
          </p:cNvCxnSpPr>
          <p:nvPr/>
        </p:nvCxnSpPr>
        <p:spPr bwMode="auto">
          <a:xfrm>
            <a:off x="4851553" y="1860158"/>
            <a:ext cx="0" cy="5742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2" name="Freeform 90"/>
          <p:cNvSpPr>
            <a:spLocks noChangeAspect="1"/>
          </p:cNvSpPr>
          <p:nvPr/>
        </p:nvSpPr>
        <p:spPr bwMode="auto">
          <a:xfrm rot="5400000" flipH="1">
            <a:off x="4901974" y="5032123"/>
            <a:ext cx="113448" cy="91038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53" name="Freeform 90"/>
          <p:cNvSpPr>
            <a:spLocks noChangeAspect="1"/>
          </p:cNvSpPr>
          <p:nvPr/>
        </p:nvSpPr>
        <p:spPr bwMode="auto">
          <a:xfrm rot="5400000" flipH="1">
            <a:off x="5234612" y="5249038"/>
            <a:ext cx="113447" cy="896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54" name="직선 연결선 53"/>
          <p:cNvCxnSpPr>
            <a:cxnSpLocks noChangeAspect="1" noChangeShapeType="1"/>
          </p:cNvCxnSpPr>
          <p:nvPr/>
        </p:nvCxnSpPr>
        <p:spPr bwMode="auto">
          <a:xfrm flipH="1">
            <a:off x="4676482" y="5026522"/>
            <a:ext cx="28151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5" name="직선 연결선 54"/>
          <p:cNvCxnSpPr>
            <a:cxnSpLocks noChangeAspect="1" noChangeShapeType="1"/>
          </p:cNvCxnSpPr>
          <p:nvPr/>
        </p:nvCxnSpPr>
        <p:spPr bwMode="auto">
          <a:xfrm flipH="1">
            <a:off x="4694689" y="5137867"/>
            <a:ext cx="26190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6" name="직선 연결선 55"/>
          <p:cNvCxnSpPr>
            <a:cxnSpLocks noChangeAspect="1" noChangeShapeType="1"/>
          </p:cNvCxnSpPr>
          <p:nvPr/>
        </p:nvCxnSpPr>
        <p:spPr bwMode="auto">
          <a:xfrm flipH="1">
            <a:off x="4698891" y="5231707"/>
            <a:ext cx="603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7" name="직선 연결선 56"/>
          <p:cNvCxnSpPr>
            <a:cxnSpLocks noChangeAspect="1" noChangeShapeType="1"/>
          </p:cNvCxnSpPr>
          <p:nvPr/>
        </p:nvCxnSpPr>
        <p:spPr bwMode="auto">
          <a:xfrm flipH="1">
            <a:off x="4724803" y="5349355"/>
            <a:ext cx="57717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8" name="직선 연결선 57"/>
          <p:cNvCxnSpPr>
            <a:cxnSpLocks noChangeAspect="1" noChangeShapeType="1"/>
          </p:cNvCxnSpPr>
          <p:nvPr/>
        </p:nvCxnSpPr>
        <p:spPr bwMode="auto">
          <a:xfrm flipH="1">
            <a:off x="3852238" y="5090249"/>
            <a:ext cx="28291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grpSp>
        <p:nvGrpSpPr>
          <p:cNvPr id="59" name="그룹 75"/>
          <p:cNvGrpSpPr>
            <a:grpSpLocks/>
          </p:cNvGrpSpPr>
          <p:nvPr/>
        </p:nvGrpSpPr>
        <p:grpSpPr bwMode="auto">
          <a:xfrm>
            <a:off x="6015438" y="5661484"/>
            <a:ext cx="172271" cy="195171"/>
            <a:chOff x="6761195" y="5935190"/>
            <a:chExt cx="219075" cy="221216"/>
          </a:xfrm>
        </p:grpSpPr>
        <p:sp>
          <p:nvSpPr>
            <p:cNvPr id="60" name="Line 79"/>
            <p:cNvSpPr>
              <a:spLocks noChangeAspect="1" noChangeShapeType="1"/>
            </p:cNvSpPr>
            <p:nvPr/>
          </p:nvSpPr>
          <p:spPr bwMode="auto">
            <a:xfrm>
              <a:off x="6761195" y="6069888"/>
              <a:ext cx="2190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61" name="Line 80"/>
            <p:cNvSpPr>
              <a:spLocks noChangeAspect="1" noChangeShapeType="1"/>
            </p:cNvSpPr>
            <p:nvPr/>
          </p:nvSpPr>
          <p:spPr bwMode="auto">
            <a:xfrm flipH="1">
              <a:off x="6762783" y="6072269"/>
              <a:ext cx="44450" cy="84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62" name="Line 81"/>
            <p:cNvSpPr>
              <a:spLocks noChangeAspect="1" noChangeShapeType="1"/>
            </p:cNvSpPr>
            <p:nvPr/>
          </p:nvSpPr>
          <p:spPr bwMode="auto">
            <a:xfrm flipH="1">
              <a:off x="6829458" y="6072269"/>
              <a:ext cx="44450" cy="84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63" name="Line 82"/>
            <p:cNvSpPr>
              <a:spLocks noChangeAspect="1" noChangeShapeType="1"/>
            </p:cNvSpPr>
            <p:nvPr/>
          </p:nvSpPr>
          <p:spPr bwMode="auto">
            <a:xfrm flipH="1">
              <a:off x="6894545" y="6072269"/>
              <a:ext cx="44450" cy="84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64" name="직선 연결선 63"/>
            <p:cNvCxnSpPr>
              <a:cxnSpLocks noChangeAspect="1" noChangeShapeType="1"/>
            </p:cNvCxnSpPr>
            <p:nvPr/>
          </p:nvCxnSpPr>
          <p:spPr bwMode="auto">
            <a:xfrm>
              <a:off x="6845334" y="5935190"/>
              <a:ext cx="0" cy="133111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65" name="Freeform 84"/>
          <p:cNvSpPr>
            <a:spLocks noChangeAspect="1"/>
          </p:cNvSpPr>
          <p:nvPr/>
        </p:nvSpPr>
        <p:spPr bwMode="auto">
          <a:xfrm flipV="1">
            <a:off x="1012539" y="3792605"/>
            <a:ext cx="1220818" cy="40336"/>
          </a:xfrm>
          <a:custGeom>
            <a:avLst/>
            <a:gdLst>
              <a:gd name="T0" fmla="*/ 0 w 1311"/>
              <a:gd name="T1" fmla="*/ 0 h 1"/>
              <a:gd name="T2" fmla="*/ 2147483647 w 1311"/>
              <a:gd name="T3" fmla="*/ 0 h 1"/>
              <a:gd name="T4" fmla="*/ 2147483647 w 1311"/>
              <a:gd name="T5" fmla="*/ 2147483647 h 1"/>
              <a:gd name="T6" fmla="*/ 0 60000 65536"/>
              <a:gd name="T7" fmla="*/ 0 60000 65536"/>
              <a:gd name="T8" fmla="*/ 0 60000 65536"/>
              <a:gd name="T9" fmla="*/ 0 w 1311"/>
              <a:gd name="T10" fmla="*/ 0 h 1"/>
              <a:gd name="T11" fmla="*/ 1311 w 1311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1" h="1">
                <a:moveTo>
                  <a:pt x="0" y="0"/>
                </a:moveTo>
                <a:lnTo>
                  <a:pt x="1311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66" name="Freeform 84"/>
          <p:cNvSpPr>
            <a:spLocks noChangeAspect="1"/>
          </p:cNvSpPr>
          <p:nvPr/>
        </p:nvSpPr>
        <p:spPr bwMode="auto">
          <a:xfrm>
            <a:off x="1012539" y="3943586"/>
            <a:ext cx="1220818" cy="40336"/>
          </a:xfrm>
          <a:custGeom>
            <a:avLst/>
            <a:gdLst>
              <a:gd name="T0" fmla="*/ 0 w 1311"/>
              <a:gd name="T1" fmla="*/ 0 h 1"/>
              <a:gd name="T2" fmla="*/ 2147483647 w 1311"/>
              <a:gd name="T3" fmla="*/ 0 h 1"/>
              <a:gd name="T4" fmla="*/ 2147483647 w 1311"/>
              <a:gd name="T5" fmla="*/ 2147483647 h 1"/>
              <a:gd name="T6" fmla="*/ 0 60000 65536"/>
              <a:gd name="T7" fmla="*/ 0 60000 65536"/>
              <a:gd name="T8" fmla="*/ 0 60000 65536"/>
              <a:gd name="T9" fmla="*/ 0 w 1311"/>
              <a:gd name="T10" fmla="*/ 0 h 1"/>
              <a:gd name="T11" fmla="*/ 1311 w 1311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1" h="1">
                <a:moveTo>
                  <a:pt x="0" y="0"/>
                </a:moveTo>
                <a:lnTo>
                  <a:pt x="1311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67" name="Text Box 137"/>
          <p:cNvSpPr txBox="1">
            <a:spLocks noChangeAspect="1" noChangeArrowheads="1"/>
          </p:cNvSpPr>
          <p:nvPr/>
        </p:nvSpPr>
        <p:spPr bwMode="auto">
          <a:xfrm>
            <a:off x="1061287" y="3931932"/>
            <a:ext cx="438773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CAN_ L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68" name="직선 연결선 67"/>
          <p:cNvCxnSpPr>
            <a:cxnSpLocks noChangeAspect="1" noChangeShapeType="1"/>
          </p:cNvCxnSpPr>
          <p:nvPr/>
        </p:nvCxnSpPr>
        <p:spPr bwMode="auto">
          <a:xfrm>
            <a:off x="3406152" y="3925812"/>
            <a:ext cx="38936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69" name="직선 연결선 68"/>
          <p:cNvCxnSpPr>
            <a:cxnSpLocks noChangeAspect="1" noChangeShapeType="1"/>
          </p:cNvCxnSpPr>
          <p:nvPr/>
        </p:nvCxnSpPr>
        <p:spPr bwMode="auto">
          <a:xfrm>
            <a:off x="4972844" y="3802205"/>
            <a:ext cx="0" cy="16891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70" name="Line 147"/>
          <p:cNvSpPr>
            <a:spLocks noChangeShapeType="1"/>
          </p:cNvSpPr>
          <p:nvPr/>
        </p:nvSpPr>
        <p:spPr bwMode="auto">
          <a:xfrm>
            <a:off x="4128853" y="2550645"/>
            <a:ext cx="15686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71" name="Rectangle 102"/>
          <p:cNvSpPr>
            <a:spLocks noChangeAspect="1" noChangeArrowheads="1"/>
          </p:cNvSpPr>
          <p:nvPr/>
        </p:nvSpPr>
        <p:spPr bwMode="auto">
          <a:xfrm>
            <a:off x="4028011" y="5006213"/>
            <a:ext cx="749312" cy="164568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Current Sensing1</a:t>
            </a:r>
          </a:p>
        </p:txBody>
      </p:sp>
      <p:sp>
        <p:nvSpPr>
          <p:cNvPr id="72" name="Text Box 116"/>
          <p:cNvSpPr txBox="1">
            <a:spLocks noChangeAspect="1" noChangeArrowheads="1"/>
          </p:cNvSpPr>
          <p:nvPr/>
        </p:nvSpPr>
        <p:spPr bwMode="auto">
          <a:xfrm>
            <a:off x="5301981" y="5203618"/>
            <a:ext cx="404802" cy="1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Shunt2</a:t>
            </a:r>
          </a:p>
        </p:txBody>
      </p:sp>
      <p:sp>
        <p:nvSpPr>
          <p:cNvPr id="73" name="Text Box 116"/>
          <p:cNvSpPr txBox="1">
            <a:spLocks noChangeAspect="1" noChangeArrowheads="1"/>
          </p:cNvSpPr>
          <p:nvPr/>
        </p:nvSpPr>
        <p:spPr bwMode="auto">
          <a:xfrm>
            <a:off x="4945393" y="4999211"/>
            <a:ext cx="404802" cy="1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Shunt</a:t>
            </a:r>
            <a:r>
              <a:rPr lang="en-US" altLang="ko-KR" sz="500" dirty="0">
                <a:solidFill>
                  <a:schemeClr val="tx1"/>
                </a:solidFill>
                <a:latin typeface="HY헤드라인M" pitchFamily="18" charset="-127"/>
              </a:rPr>
              <a:t>1</a:t>
            </a:r>
            <a:endParaRPr lang="en-US" altLang="ja-JP" sz="5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74" name="Text Box 137"/>
          <p:cNvSpPr txBox="1">
            <a:spLocks noChangeAspect="1" noChangeArrowheads="1"/>
          </p:cNvSpPr>
          <p:nvPr/>
        </p:nvSpPr>
        <p:spPr bwMode="auto">
          <a:xfrm>
            <a:off x="1054285" y="3652516"/>
            <a:ext cx="467793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CAN_ H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75" name="그룹 93"/>
          <p:cNvGrpSpPr>
            <a:grpSpLocks/>
          </p:cNvGrpSpPr>
          <p:nvPr/>
        </p:nvGrpSpPr>
        <p:grpSpPr bwMode="auto">
          <a:xfrm>
            <a:off x="1082587" y="3022013"/>
            <a:ext cx="194681" cy="71430"/>
            <a:chOff x="890620" y="3010775"/>
            <a:chExt cx="249238" cy="80963"/>
          </a:xfrm>
        </p:grpSpPr>
        <p:sp>
          <p:nvSpPr>
            <p:cNvPr id="76" name="Line 79"/>
            <p:cNvSpPr>
              <a:spLocks noChangeAspect="1" noChangeShapeType="1"/>
            </p:cNvSpPr>
            <p:nvPr/>
          </p:nvSpPr>
          <p:spPr bwMode="auto">
            <a:xfrm>
              <a:off x="890620" y="3010775"/>
              <a:ext cx="2492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77" name="직선 연결선 76"/>
            <p:cNvCxnSpPr>
              <a:cxnSpLocks noChangeShapeType="1"/>
            </p:cNvCxnSpPr>
            <p:nvPr/>
          </p:nvCxnSpPr>
          <p:spPr bwMode="auto">
            <a:xfrm>
              <a:off x="928720" y="3055225"/>
              <a:ext cx="1555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8" name="직선 연결선 77"/>
            <p:cNvCxnSpPr>
              <a:cxnSpLocks noChangeShapeType="1"/>
            </p:cNvCxnSpPr>
            <p:nvPr/>
          </p:nvCxnSpPr>
          <p:spPr bwMode="auto">
            <a:xfrm>
              <a:off x="966820" y="3091738"/>
              <a:ext cx="793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79" name="직선 연결선 78"/>
          <p:cNvCxnSpPr>
            <a:cxnSpLocks noChangeAspect="1" noChangeShapeType="1"/>
          </p:cNvCxnSpPr>
          <p:nvPr/>
        </p:nvCxnSpPr>
        <p:spPr bwMode="auto">
          <a:xfrm flipH="1">
            <a:off x="3869746" y="5488015"/>
            <a:ext cx="1484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80" name="Rectangle 102"/>
          <p:cNvSpPr>
            <a:spLocks noChangeAspect="1" noChangeArrowheads="1"/>
          </p:cNvSpPr>
          <p:nvPr/>
        </p:nvSpPr>
        <p:spPr bwMode="auto">
          <a:xfrm>
            <a:off x="4016806" y="5419386"/>
            <a:ext cx="763042" cy="11309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PCB Temp </a:t>
            </a:r>
            <a:r>
              <a:rPr lang="en-US" altLang="ja-JP" sz="500" dirty="0" smtClean="0">
                <a:solidFill>
                  <a:schemeClr val="tx1"/>
                </a:solidFill>
                <a:latin typeface="HY헤드라인M" pitchFamily="18" charset="-127"/>
              </a:rPr>
              <a:t>Sensor</a:t>
            </a:r>
            <a:endParaRPr lang="en-US" altLang="ja-JP" sz="500" i="1" dirty="0">
              <a:solidFill>
                <a:srgbClr val="FF0000"/>
              </a:solidFill>
              <a:latin typeface="HY헤드라인M" pitchFamily="18" charset="-127"/>
            </a:endParaRPr>
          </a:p>
        </p:txBody>
      </p:sp>
      <p:sp>
        <p:nvSpPr>
          <p:cNvPr id="81" name="Text Box 116"/>
          <p:cNvSpPr txBox="1">
            <a:spLocks noChangeAspect="1" noChangeArrowheads="1"/>
          </p:cNvSpPr>
          <p:nvPr/>
        </p:nvSpPr>
        <p:spPr bwMode="auto">
          <a:xfrm>
            <a:off x="4981249" y="3877837"/>
            <a:ext cx="395184" cy="19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IGBT2</a:t>
            </a:r>
          </a:p>
        </p:txBody>
      </p:sp>
      <p:cxnSp>
        <p:nvCxnSpPr>
          <p:cNvPr id="82" name="직선 연결선 81"/>
          <p:cNvCxnSpPr>
            <a:cxnSpLocks noChangeAspect="1" noChangeShapeType="1"/>
          </p:cNvCxnSpPr>
          <p:nvPr/>
        </p:nvCxnSpPr>
        <p:spPr bwMode="auto">
          <a:xfrm>
            <a:off x="4952395" y="3015639"/>
            <a:ext cx="0" cy="34937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83" name="직선 연결선 82"/>
          <p:cNvCxnSpPr>
            <a:cxnSpLocks noChangeAspect="1" noChangeShapeType="1"/>
          </p:cNvCxnSpPr>
          <p:nvPr/>
        </p:nvCxnSpPr>
        <p:spPr bwMode="auto">
          <a:xfrm>
            <a:off x="5288535" y="4739756"/>
            <a:ext cx="0" cy="4907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84" name="Line 145"/>
          <p:cNvSpPr>
            <a:spLocks noChangeShapeType="1"/>
          </p:cNvSpPr>
          <p:nvPr/>
        </p:nvSpPr>
        <p:spPr bwMode="auto">
          <a:xfrm>
            <a:off x="4529420" y="3885120"/>
            <a:ext cx="14426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oval" w="med" len="med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85" name="직선 연결선 84"/>
          <p:cNvCxnSpPr>
            <a:cxnSpLocks noChangeAspect="1" noChangeShapeType="1"/>
          </p:cNvCxnSpPr>
          <p:nvPr/>
        </p:nvCxnSpPr>
        <p:spPr bwMode="auto">
          <a:xfrm flipH="1">
            <a:off x="3792714" y="4668046"/>
            <a:ext cx="146893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86" name="직선 연결선 85"/>
          <p:cNvCxnSpPr>
            <a:cxnSpLocks noChangeAspect="1" noChangeShapeType="1"/>
          </p:cNvCxnSpPr>
          <p:nvPr/>
        </p:nvCxnSpPr>
        <p:spPr bwMode="auto">
          <a:xfrm>
            <a:off x="1795483" y="2448403"/>
            <a:ext cx="126892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87" name="Rectangle 247"/>
          <p:cNvSpPr>
            <a:spLocks noChangeAspect="1" noChangeArrowheads="1"/>
          </p:cNvSpPr>
          <p:nvPr/>
        </p:nvSpPr>
        <p:spPr bwMode="auto">
          <a:xfrm rot="5400000">
            <a:off x="1671532" y="2594763"/>
            <a:ext cx="645669" cy="14285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>
                <a:solidFill>
                  <a:schemeClr val="tx1"/>
                </a:solidFill>
                <a:latin typeface="HY헤드라인M" pitchFamily="18" charset="-127"/>
              </a:rPr>
              <a:t>LC Filter</a:t>
            </a:r>
            <a:endParaRPr lang="en-US" altLang="ja-JP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88" name="직선 연결선 87"/>
          <p:cNvCxnSpPr>
            <a:cxnSpLocks noChangeAspect="1" noChangeShapeType="1"/>
          </p:cNvCxnSpPr>
          <p:nvPr/>
        </p:nvCxnSpPr>
        <p:spPr bwMode="auto">
          <a:xfrm flipV="1">
            <a:off x="4294122" y="2369970"/>
            <a:ext cx="0" cy="172271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89" name="직선 연결선 88"/>
          <p:cNvCxnSpPr>
            <a:cxnSpLocks noChangeAspect="1" noChangeShapeType="1"/>
          </p:cNvCxnSpPr>
          <p:nvPr/>
        </p:nvCxnSpPr>
        <p:spPr bwMode="auto">
          <a:xfrm flipH="1">
            <a:off x="3854339" y="5289132"/>
            <a:ext cx="28291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90" name="Rectangle 102"/>
          <p:cNvSpPr>
            <a:spLocks noChangeAspect="1" noChangeArrowheads="1"/>
          </p:cNvSpPr>
          <p:nvPr/>
        </p:nvSpPr>
        <p:spPr bwMode="auto">
          <a:xfrm>
            <a:off x="4028011" y="5214200"/>
            <a:ext cx="749312" cy="164568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Current Sensing2</a:t>
            </a:r>
          </a:p>
        </p:txBody>
      </p:sp>
      <p:cxnSp>
        <p:nvCxnSpPr>
          <p:cNvPr id="91" name="직선 연결선 90"/>
          <p:cNvCxnSpPr>
            <a:cxnSpLocks noChangeAspect="1" noChangeShapeType="1"/>
          </p:cNvCxnSpPr>
          <p:nvPr/>
        </p:nvCxnSpPr>
        <p:spPr bwMode="auto">
          <a:xfrm rot="5400000" flipH="1">
            <a:off x="4603651" y="2601066"/>
            <a:ext cx="380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92" name="직선 연결선 91"/>
          <p:cNvCxnSpPr>
            <a:cxnSpLocks noChangeAspect="1" noChangeShapeType="1"/>
          </p:cNvCxnSpPr>
          <p:nvPr/>
        </p:nvCxnSpPr>
        <p:spPr bwMode="auto">
          <a:xfrm rot="10800000" flipH="1">
            <a:off x="4794130" y="2409186"/>
            <a:ext cx="31793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93" name="Rectangle 247"/>
          <p:cNvSpPr>
            <a:spLocks noChangeAspect="1" noChangeArrowheads="1"/>
          </p:cNvSpPr>
          <p:nvPr/>
        </p:nvSpPr>
        <p:spPr bwMode="auto">
          <a:xfrm>
            <a:off x="4869761" y="2298540"/>
            <a:ext cx="1267527" cy="200284"/>
          </a:xfrm>
          <a:prstGeom prst="rect">
            <a:avLst/>
          </a:prstGeom>
          <a:solidFill>
            <a:srgbClr val="CCFF99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50" dirty="0">
                <a:solidFill>
                  <a:schemeClr val="tx1"/>
                </a:solidFill>
                <a:latin typeface="HY헤드라인M" pitchFamily="18" charset="-127"/>
              </a:rPr>
              <a:t>High Voltage  </a:t>
            </a:r>
            <a:r>
              <a:rPr lang="en-US" altLang="ja-JP" sz="750" dirty="0">
                <a:solidFill>
                  <a:schemeClr val="tx1"/>
                </a:solidFill>
                <a:latin typeface="HY헤드라인M" pitchFamily="18" charset="-127"/>
              </a:rPr>
              <a:t>Sensing</a:t>
            </a:r>
          </a:p>
        </p:txBody>
      </p:sp>
      <p:cxnSp>
        <p:nvCxnSpPr>
          <p:cNvPr id="94" name="직선 연결선 93"/>
          <p:cNvCxnSpPr>
            <a:cxnSpLocks noChangeAspect="1" noChangeShapeType="1"/>
          </p:cNvCxnSpPr>
          <p:nvPr/>
        </p:nvCxnSpPr>
        <p:spPr bwMode="auto">
          <a:xfrm>
            <a:off x="4955196" y="4022658"/>
            <a:ext cx="0" cy="10077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pic>
        <p:nvPicPr>
          <p:cNvPr id="95" name="Picture 147"/>
          <p:cNvPicPr>
            <a:picLocks noChangeAspect="1" noChangeArrowheads="1"/>
          </p:cNvPicPr>
          <p:nvPr/>
        </p:nvPicPr>
        <p:blipFill>
          <a:blip r:embed="rId3" cstate="print"/>
          <a:srcRect l="66992" t="74544" r="26211" b="15544"/>
          <a:stretch>
            <a:fillRect/>
          </a:stretch>
        </p:blipFill>
        <p:spPr bwMode="auto">
          <a:xfrm>
            <a:off x="4856595" y="3885120"/>
            <a:ext cx="156865" cy="162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cxnSp>
        <p:nvCxnSpPr>
          <p:cNvPr id="96" name="직선 연결선 95"/>
          <p:cNvCxnSpPr>
            <a:cxnSpLocks noChangeAspect="1" noChangeShapeType="1"/>
          </p:cNvCxnSpPr>
          <p:nvPr/>
        </p:nvCxnSpPr>
        <p:spPr bwMode="auto">
          <a:xfrm>
            <a:off x="5286434" y="4496054"/>
            <a:ext cx="0" cy="10784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97" name="Line 145"/>
          <p:cNvSpPr>
            <a:spLocks noChangeShapeType="1"/>
          </p:cNvSpPr>
          <p:nvPr/>
        </p:nvSpPr>
        <p:spPr bwMode="auto">
          <a:xfrm>
            <a:off x="4516814" y="4578689"/>
            <a:ext cx="1526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oval" w="med" len="med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pic>
        <p:nvPicPr>
          <p:cNvPr id="98" name="Picture 147"/>
          <p:cNvPicPr>
            <a:picLocks noChangeAspect="1" noChangeArrowheads="1"/>
          </p:cNvPicPr>
          <p:nvPr/>
        </p:nvPicPr>
        <p:blipFill>
          <a:blip r:embed="rId4" cstate="print"/>
          <a:srcRect l="66992" t="74544" r="26211" b="15544"/>
          <a:stretch>
            <a:fillRect/>
          </a:stretch>
        </p:blipFill>
        <p:spPr bwMode="auto">
          <a:xfrm>
            <a:off x="5173687" y="4577007"/>
            <a:ext cx="156865" cy="16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cxnSp>
        <p:nvCxnSpPr>
          <p:cNvPr id="99" name="직선 연결선 98"/>
          <p:cNvCxnSpPr>
            <a:cxnSpLocks noChangeAspect="1" noChangeShapeType="1"/>
          </p:cNvCxnSpPr>
          <p:nvPr/>
        </p:nvCxnSpPr>
        <p:spPr bwMode="auto">
          <a:xfrm>
            <a:off x="5768935" y="4487930"/>
            <a:ext cx="0" cy="222329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100" name="Text Box 116"/>
          <p:cNvSpPr txBox="1">
            <a:spLocks noChangeAspect="1" noChangeArrowheads="1"/>
          </p:cNvSpPr>
          <p:nvPr/>
        </p:nvSpPr>
        <p:spPr bwMode="auto">
          <a:xfrm>
            <a:off x="5274530" y="4549217"/>
            <a:ext cx="395184" cy="19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IGBT3</a:t>
            </a:r>
          </a:p>
        </p:txBody>
      </p:sp>
      <p:sp>
        <p:nvSpPr>
          <p:cNvPr id="101" name="Rectangle 158"/>
          <p:cNvSpPr>
            <a:spLocks noChangeAspect="1" noChangeArrowheads="1"/>
          </p:cNvSpPr>
          <p:nvPr/>
        </p:nvSpPr>
        <p:spPr bwMode="auto">
          <a:xfrm>
            <a:off x="785047" y="1982009"/>
            <a:ext cx="220507" cy="2403399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 dirty="0" smtClean="0">
                <a:solidFill>
                  <a:schemeClr val="tx1"/>
                </a:solidFill>
                <a:latin typeface="HY헤드라인M" pitchFamily="18" charset="-127"/>
              </a:rPr>
              <a:t>A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  <a:p>
            <a:pPr algn="ctr"/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T</a:t>
            </a:r>
          </a:p>
          <a:p>
            <a:pPr algn="ctr"/>
            <a:r>
              <a:rPr lang="en-US" altLang="ja-JP" sz="700" dirty="0" smtClean="0">
                <a:solidFill>
                  <a:schemeClr val="tx1"/>
                </a:solidFill>
                <a:latin typeface="HY헤드라인M" pitchFamily="18" charset="-127"/>
              </a:rPr>
              <a:t>C</a:t>
            </a:r>
          </a:p>
          <a:p>
            <a:pPr algn="ctr"/>
            <a:r>
              <a:rPr lang="en-US" altLang="ko-KR" sz="700" dirty="0">
                <a:latin typeface="HY헤드라인M" pitchFamily="18" charset="-127"/>
              </a:rPr>
              <a:t>U</a:t>
            </a:r>
            <a:endParaRPr lang="en-US" altLang="ko-KR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02" name="직선 연결선 101"/>
          <p:cNvCxnSpPr>
            <a:cxnSpLocks noChangeAspect="1" noChangeShapeType="1"/>
          </p:cNvCxnSpPr>
          <p:nvPr/>
        </p:nvCxnSpPr>
        <p:spPr bwMode="auto">
          <a:xfrm>
            <a:off x="3364621" y="3098914"/>
            <a:ext cx="320234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직선 연결선 102"/>
          <p:cNvCxnSpPr>
            <a:cxnSpLocks noChangeAspect="1" noChangeShapeType="1"/>
          </p:cNvCxnSpPr>
          <p:nvPr/>
        </p:nvCxnSpPr>
        <p:spPr bwMode="auto">
          <a:xfrm>
            <a:off x="2207231" y="3104047"/>
            <a:ext cx="106788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4" name="그룹 135"/>
          <p:cNvGrpSpPr/>
          <p:nvPr/>
        </p:nvGrpSpPr>
        <p:grpSpPr>
          <a:xfrm>
            <a:off x="2175433" y="3449936"/>
            <a:ext cx="171553" cy="161061"/>
            <a:chOff x="2260644" y="2990206"/>
            <a:chExt cx="219076" cy="182555"/>
          </a:xfrm>
        </p:grpSpPr>
        <p:sp>
          <p:nvSpPr>
            <p:cNvPr id="105" name="Line 79"/>
            <p:cNvSpPr>
              <a:spLocks noChangeAspect="1" noChangeShapeType="1"/>
            </p:cNvSpPr>
            <p:nvPr/>
          </p:nvSpPr>
          <p:spPr bwMode="auto">
            <a:xfrm>
              <a:off x="2260644" y="3099729"/>
              <a:ext cx="2190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2000"/>
            </a:p>
          </p:txBody>
        </p:sp>
        <p:cxnSp>
          <p:nvCxnSpPr>
            <p:cNvPr id="106" name="직선 연결선 105"/>
            <p:cNvCxnSpPr>
              <a:cxnSpLocks noChangeAspect="1" noChangeShapeType="1"/>
            </p:cNvCxnSpPr>
            <p:nvPr/>
          </p:nvCxnSpPr>
          <p:spPr bwMode="auto">
            <a:xfrm>
              <a:off x="2355894" y="2990206"/>
              <a:ext cx="1587" cy="10795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" name="직선 연결선 106"/>
            <p:cNvCxnSpPr>
              <a:cxnSpLocks noChangeShapeType="1"/>
            </p:cNvCxnSpPr>
            <p:nvPr/>
          </p:nvCxnSpPr>
          <p:spPr bwMode="auto">
            <a:xfrm>
              <a:off x="2286044" y="3134654"/>
              <a:ext cx="15557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직선 연결선 107"/>
            <p:cNvCxnSpPr>
              <a:cxnSpLocks noChangeShapeType="1"/>
            </p:cNvCxnSpPr>
            <p:nvPr/>
          </p:nvCxnSpPr>
          <p:spPr bwMode="auto">
            <a:xfrm>
              <a:off x="2324145" y="3172761"/>
              <a:ext cx="7937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09" name="직선 연결선 108"/>
          <p:cNvCxnSpPr>
            <a:cxnSpLocks noChangeAspect="1" noChangeShapeType="1"/>
          </p:cNvCxnSpPr>
          <p:nvPr/>
        </p:nvCxnSpPr>
        <p:spPr bwMode="auto">
          <a:xfrm flipV="1">
            <a:off x="2207231" y="2456602"/>
            <a:ext cx="0" cy="82207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0" name="직선 연결선 109"/>
          <p:cNvCxnSpPr>
            <a:cxnSpLocks noChangeAspect="1" noChangeShapeType="1"/>
          </p:cNvCxnSpPr>
          <p:nvPr/>
        </p:nvCxnSpPr>
        <p:spPr bwMode="auto">
          <a:xfrm flipV="1">
            <a:off x="2489611" y="2554772"/>
            <a:ext cx="0" cy="1152525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" name="Rectangle 247"/>
          <p:cNvSpPr>
            <a:spLocks noChangeAspect="1" noChangeArrowheads="1"/>
          </p:cNvSpPr>
          <p:nvPr/>
        </p:nvSpPr>
        <p:spPr bwMode="auto">
          <a:xfrm>
            <a:off x="2326573" y="2338502"/>
            <a:ext cx="537037" cy="21754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500" dirty="0">
                <a:latin typeface="HY헤드라인M" pitchFamily="18" charset="-127"/>
              </a:rPr>
              <a:t>DC/DC</a:t>
            </a:r>
          </a:p>
          <a:p>
            <a:pPr algn="ctr" eaLnBrk="1" hangingPunct="1"/>
            <a:r>
              <a:rPr lang="en-US" altLang="ja-JP" sz="500" dirty="0">
                <a:latin typeface="HY헤드라인M" pitchFamily="18" charset="-127"/>
              </a:rPr>
              <a:t>Switching IC</a:t>
            </a:r>
          </a:p>
        </p:txBody>
      </p:sp>
      <p:sp>
        <p:nvSpPr>
          <p:cNvPr id="112" name="Rectangle 247"/>
          <p:cNvSpPr>
            <a:spLocks noChangeAspect="1" noChangeArrowheads="1"/>
          </p:cNvSpPr>
          <p:nvPr/>
        </p:nvSpPr>
        <p:spPr bwMode="auto">
          <a:xfrm>
            <a:off x="2135626" y="3292109"/>
            <a:ext cx="478608" cy="151663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ja-JP" sz="600" dirty="0">
                <a:latin typeface="HY헤드라인M" pitchFamily="18" charset="-127"/>
              </a:rPr>
              <a:t>Regulator</a:t>
            </a:r>
          </a:p>
        </p:txBody>
      </p:sp>
      <p:sp>
        <p:nvSpPr>
          <p:cNvPr id="113" name="Rectangle 247"/>
          <p:cNvSpPr>
            <a:spLocks noChangeAspect="1" noChangeArrowheads="1"/>
          </p:cNvSpPr>
          <p:nvPr/>
        </p:nvSpPr>
        <p:spPr bwMode="auto">
          <a:xfrm>
            <a:off x="2326573" y="2945737"/>
            <a:ext cx="537037" cy="21754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600" dirty="0">
                <a:latin typeface="HY헤드라인M" pitchFamily="18" charset="-127"/>
              </a:rPr>
              <a:t>LV Sensing</a:t>
            </a:r>
          </a:p>
        </p:txBody>
      </p:sp>
      <p:cxnSp>
        <p:nvCxnSpPr>
          <p:cNvPr id="114" name="직선 연결선 113"/>
          <p:cNvCxnSpPr/>
          <p:nvPr/>
        </p:nvCxnSpPr>
        <p:spPr bwMode="auto">
          <a:xfrm>
            <a:off x="2707196" y="3839869"/>
            <a:ext cx="344551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  <a:effectLst/>
        </p:spPr>
      </p:cxnSp>
      <p:cxnSp>
        <p:nvCxnSpPr>
          <p:cNvPr id="115" name="직선 연결선 114"/>
          <p:cNvCxnSpPr/>
          <p:nvPr/>
        </p:nvCxnSpPr>
        <p:spPr bwMode="auto">
          <a:xfrm>
            <a:off x="2707196" y="3947101"/>
            <a:ext cx="3493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  <a:effectLst/>
        </p:spPr>
      </p:cxnSp>
      <p:pic>
        <p:nvPicPr>
          <p:cNvPr id="116" name="Picture 147"/>
          <p:cNvPicPr>
            <a:picLocks noChangeAspect="1" noChangeArrowheads="1"/>
          </p:cNvPicPr>
          <p:nvPr/>
        </p:nvPicPr>
        <p:blipFill>
          <a:blip r:embed="rId4" cstate="print"/>
          <a:srcRect l="66992" t="74544" r="26211" b="15544"/>
          <a:stretch>
            <a:fillRect/>
          </a:stretch>
        </p:blipFill>
        <p:spPr bwMode="auto">
          <a:xfrm>
            <a:off x="4845951" y="3109617"/>
            <a:ext cx="156865" cy="16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cxnSp>
        <p:nvCxnSpPr>
          <p:cNvPr id="117" name="직선 연결선 116"/>
          <p:cNvCxnSpPr>
            <a:cxnSpLocks noChangeAspect="1" noChangeShapeType="1"/>
          </p:cNvCxnSpPr>
          <p:nvPr/>
        </p:nvCxnSpPr>
        <p:spPr bwMode="auto">
          <a:xfrm>
            <a:off x="4961219" y="3355280"/>
            <a:ext cx="952838" cy="34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18" name="직선 연결선 117"/>
          <p:cNvCxnSpPr>
            <a:cxnSpLocks noChangeAspect="1" noChangeShapeType="1"/>
          </p:cNvCxnSpPr>
          <p:nvPr/>
        </p:nvCxnSpPr>
        <p:spPr bwMode="auto">
          <a:xfrm>
            <a:off x="5907314" y="3069421"/>
            <a:ext cx="0" cy="28585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119" name="직선 연결선 118"/>
          <p:cNvCxnSpPr>
            <a:cxnSpLocks noChangeAspect="1" noChangeShapeType="1"/>
          </p:cNvCxnSpPr>
          <p:nvPr/>
        </p:nvCxnSpPr>
        <p:spPr bwMode="auto">
          <a:xfrm>
            <a:off x="5344279" y="3358385"/>
            <a:ext cx="0" cy="857553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lg" len="lg"/>
            <a:tailEnd type="none" w="sm" len="sm"/>
          </a:ln>
        </p:spPr>
      </p:cxnSp>
      <p:cxnSp>
        <p:nvCxnSpPr>
          <p:cNvPr id="120" name="직선 연결선 119"/>
          <p:cNvCxnSpPr>
            <a:cxnSpLocks noChangeAspect="1" noChangeShapeType="1"/>
          </p:cNvCxnSpPr>
          <p:nvPr/>
        </p:nvCxnSpPr>
        <p:spPr bwMode="auto">
          <a:xfrm>
            <a:off x="5907314" y="3634136"/>
            <a:ext cx="0" cy="16891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121" name="직선 연결선 120"/>
          <p:cNvCxnSpPr>
            <a:cxnSpLocks noChangeAspect="1" noChangeShapeType="1"/>
          </p:cNvCxnSpPr>
          <p:nvPr/>
        </p:nvCxnSpPr>
        <p:spPr bwMode="auto">
          <a:xfrm>
            <a:off x="4967942" y="3792261"/>
            <a:ext cx="952838" cy="34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22" name="직선 연결선 121"/>
          <p:cNvCxnSpPr>
            <a:cxnSpLocks noChangeAspect="1" noChangeShapeType="1"/>
          </p:cNvCxnSpPr>
          <p:nvPr/>
        </p:nvCxnSpPr>
        <p:spPr bwMode="auto">
          <a:xfrm>
            <a:off x="5283913" y="4491433"/>
            <a:ext cx="476419" cy="172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23" name="Freeform 84"/>
          <p:cNvSpPr>
            <a:spLocks noChangeAspect="1"/>
          </p:cNvSpPr>
          <p:nvPr/>
        </p:nvSpPr>
        <p:spPr bwMode="auto">
          <a:xfrm flipH="1">
            <a:off x="4810599" y="1249916"/>
            <a:ext cx="1048238" cy="508560"/>
          </a:xfrm>
          <a:custGeom>
            <a:avLst/>
            <a:gdLst>
              <a:gd name="T0" fmla="*/ 0 w 1872"/>
              <a:gd name="T1" fmla="*/ 0 h 384"/>
              <a:gd name="T2" fmla="*/ 2147483647 w 1872"/>
              <a:gd name="T3" fmla="*/ 0 h 384"/>
              <a:gd name="T4" fmla="*/ 2147483647 w 1872"/>
              <a:gd name="T5" fmla="*/ 2147483647 h 384"/>
              <a:gd name="T6" fmla="*/ 0 60000 65536"/>
              <a:gd name="T7" fmla="*/ 0 60000 65536"/>
              <a:gd name="T8" fmla="*/ 0 60000 65536"/>
              <a:gd name="T9" fmla="*/ 0 w 1872"/>
              <a:gd name="T10" fmla="*/ 0 h 384"/>
              <a:gd name="T11" fmla="*/ 1872 w 187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384">
                <a:moveTo>
                  <a:pt x="0" y="0"/>
                </a:moveTo>
                <a:lnTo>
                  <a:pt x="1872" y="0"/>
                </a:lnTo>
                <a:lnTo>
                  <a:pt x="1872" y="384"/>
                </a:lnTo>
              </a:path>
            </a:pathLst>
          </a:custGeom>
          <a:noFill/>
          <a:ln w="2857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 i="0"/>
          </a:p>
        </p:txBody>
      </p:sp>
      <p:cxnSp>
        <p:nvCxnSpPr>
          <p:cNvPr id="124" name="직선 연결선 123"/>
          <p:cNvCxnSpPr/>
          <p:nvPr/>
        </p:nvCxnSpPr>
        <p:spPr bwMode="auto">
          <a:xfrm>
            <a:off x="5851137" y="1239413"/>
            <a:ext cx="0" cy="12704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Text Box 87"/>
          <p:cNvSpPr txBox="1">
            <a:spLocks noChangeAspect="1" noChangeArrowheads="1"/>
          </p:cNvSpPr>
          <p:nvPr/>
        </p:nvSpPr>
        <p:spPr bwMode="auto">
          <a:xfrm>
            <a:off x="5913042" y="1256736"/>
            <a:ext cx="1016473" cy="1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290" tIns="38290" rIns="38290" bIns="3829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ja-JP" sz="700" i="0" dirty="0">
                <a:latin typeface="HY헤드라인M" pitchFamily="18" charset="-127"/>
              </a:rPr>
              <a:t>Chassis GND</a:t>
            </a:r>
          </a:p>
        </p:txBody>
      </p:sp>
      <p:sp>
        <p:nvSpPr>
          <p:cNvPr id="126" name="이등변 삼각형 125"/>
          <p:cNvSpPr/>
          <p:nvPr/>
        </p:nvSpPr>
        <p:spPr bwMode="auto">
          <a:xfrm rot="10800000">
            <a:off x="5775936" y="1365222"/>
            <a:ext cx="144841" cy="112853"/>
          </a:xfrm>
          <a:prstGeom prst="triangl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329" tIns="46665" rIns="93329" bIns="46665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7" name="타원 126"/>
          <p:cNvSpPr>
            <a:spLocks noChangeArrowheads="1"/>
          </p:cNvSpPr>
          <p:nvPr/>
        </p:nvSpPr>
        <p:spPr bwMode="auto">
          <a:xfrm>
            <a:off x="5301648" y="3309201"/>
            <a:ext cx="84035" cy="98041"/>
          </a:xfrm>
          <a:prstGeom prst="ellipse">
            <a:avLst/>
          </a:prstGeom>
          <a:solidFill>
            <a:srgbClr val="0000FF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28" name="직선 연결선 127"/>
          <p:cNvCxnSpPr>
            <a:cxnSpLocks noChangeShapeType="1"/>
          </p:cNvCxnSpPr>
          <p:nvPr/>
        </p:nvCxnSpPr>
        <p:spPr bwMode="auto">
          <a:xfrm flipV="1">
            <a:off x="5048240" y="1667240"/>
            <a:ext cx="0" cy="481696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29" name="직선 연결선 128"/>
          <p:cNvCxnSpPr>
            <a:cxnSpLocks noChangeShapeType="1"/>
          </p:cNvCxnSpPr>
          <p:nvPr/>
        </p:nvCxnSpPr>
        <p:spPr bwMode="auto">
          <a:xfrm flipV="1">
            <a:off x="5154390" y="1667242"/>
            <a:ext cx="0" cy="545424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30" name="직선 연결선 129"/>
          <p:cNvCxnSpPr>
            <a:cxnSpLocks noChangeShapeType="1"/>
          </p:cNvCxnSpPr>
          <p:nvPr/>
        </p:nvCxnSpPr>
        <p:spPr bwMode="auto">
          <a:xfrm>
            <a:off x="5048240" y="1667240"/>
            <a:ext cx="10376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31" name="직선 연결선 130"/>
          <p:cNvCxnSpPr>
            <a:cxnSpLocks noChangeShapeType="1"/>
          </p:cNvCxnSpPr>
          <p:nvPr/>
        </p:nvCxnSpPr>
        <p:spPr bwMode="auto">
          <a:xfrm flipH="1">
            <a:off x="5047234" y="2148936"/>
            <a:ext cx="1006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132" name="직선 연결선 131"/>
          <p:cNvCxnSpPr/>
          <p:nvPr/>
        </p:nvCxnSpPr>
        <p:spPr bwMode="auto">
          <a:xfrm>
            <a:off x="4347491" y="2148936"/>
            <a:ext cx="720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직선 연결선 132"/>
          <p:cNvCxnSpPr/>
          <p:nvPr/>
        </p:nvCxnSpPr>
        <p:spPr bwMode="auto">
          <a:xfrm>
            <a:off x="4445731" y="2211260"/>
            <a:ext cx="720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Rectangle 247"/>
          <p:cNvSpPr>
            <a:spLocks noChangeAspect="1" noChangeArrowheads="1"/>
          </p:cNvSpPr>
          <p:nvPr/>
        </p:nvSpPr>
        <p:spPr bwMode="auto">
          <a:xfrm>
            <a:off x="2226213" y="3707817"/>
            <a:ext cx="481251" cy="36055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600" dirty="0">
                <a:latin typeface="HY헤드라인M" pitchFamily="18" charset="-127"/>
              </a:rPr>
              <a:t>CAN </a:t>
            </a:r>
          </a:p>
          <a:p>
            <a:pPr algn="ctr" eaLnBrk="1" hangingPunct="1"/>
            <a:r>
              <a:rPr lang="en-US" altLang="ja-JP" sz="600" dirty="0">
                <a:latin typeface="HY헤드라인M" pitchFamily="18" charset="-127"/>
              </a:rPr>
              <a:t>Transceiver</a:t>
            </a:r>
          </a:p>
        </p:txBody>
      </p:sp>
      <p:sp>
        <p:nvSpPr>
          <p:cNvPr id="135" name="Rectangle 102"/>
          <p:cNvSpPr>
            <a:spLocks noChangeAspect="1" noChangeArrowheads="1"/>
          </p:cNvSpPr>
          <p:nvPr/>
        </p:nvSpPr>
        <p:spPr bwMode="auto">
          <a:xfrm>
            <a:off x="4713860" y="1863785"/>
            <a:ext cx="1466850" cy="85578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Connector</a:t>
            </a:r>
          </a:p>
        </p:txBody>
      </p:sp>
      <p:pic>
        <p:nvPicPr>
          <p:cNvPr id="13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50688" y="1852670"/>
            <a:ext cx="149862" cy="4128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7" name="Rectangle 7"/>
          <p:cNvSpPr>
            <a:spLocks noChangeAspect="1" noChangeArrowheads="1"/>
          </p:cNvSpPr>
          <p:nvPr/>
        </p:nvSpPr>
        <p:spPr bwMode="auto">
          <a:xfrm>
            <a:off x="1535683" y="1814997"/>
            <a:ext cx="6364037" cy="420629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  <a:headEnd type="none" w="sm" len="sm"/>
            <a:tailEnd type="none" w="sm" len="sm"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38" name="Rectangle 102"/>
          <p:cNvSpPr>
            <a:spLocks noChangeAspect="1" noChangeArrowheads="1"/>
          </p:cNvSpPr>
          <p:nvPr/>
        </p:nvSpPr>
        <p:spPr bwMode="auto">
          <a:xfrm>
            <a:off x="4713859" y="1755114"/>
            <a:ext cx="1466850" cy="85648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Connector</a:t>
            </a:r>
          </a:p>
        </p:txBody>
      </p:sp>
      <p:sp>
        <p:nvSpPr>
          <p:cNvPr id="139" name="직사각형 138"/>
          <p:cNvSpPr>
            <a:spLocks noChangeArrowheads="1"/>
          </p:cNvSpPr>
          <p:nvPr/>
        </p:nvSpPr>
        <p:spPr bwMode="auto">
          <a:xfrm>
            <a:off x="6355752" y="1917581"/>
            <a:ext cx="1419861" cy="4033678"/>
          </a:xfrm>
          <a:prstGeom prst="rect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40" name="직선 연결선 139"/>
          <p:cNvCxnSpPr>
            <a:cxnSpLocks noChangeAspect="1" noChangeShapeType="1"/>
          </p:cNvCxnSpPr>
          <p:nvPr/>
        </p:nvCxnSpPr>
        <p:spPr bwMode="auto">
          <a:xfrm>
            <a:off x="5913755" y="3073063"/>
            <a:ext cx="1634509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41" name="직선 연결선 140"/>
          <p:cNvCxnSpPr>
            <a:cxnSpLocks noChangeAspect="1" noChangeShapeType="1"/>
          </p:cNvCxnSpPr>
          <p:nvPr/>
        </p:nvCxnSpPr>
        <p:spPr bwMode="auto">
          <a:xfrm>
            <a:off x="5896948" y="3627413"/>
            <a:ext cx="1651316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42" name="직선 연결선 141"/>
          <p:cNvCxnSpPr>
            <a:cxnSpLocks noChangeAspect="1" noChangeShapeType="1"/>
          </p:cNvCxnSpPr>
          <p:nvPr/>
        </p:nvCxnSpPr>
        <p:spPr bwMode="auto">
          <a:xfrm>
            <a:off x="5765014" y="4719447"/>
            <a:ext cx="177849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43" name="직사각형 142"/>
          <p:cNvSpPr>
            <a:spLocks noChangeArrowheads="1"/>
          </p:cNvSpPr>
          <p:nvPr/>
        </p:nvSpPr>
        <p:spPr bwMode="auto">
          <a:xfrm>
            <a:off x="1769820" y="1907166"/>
            <a:ext cx="1439582" cy="4033678"/>
          </a:xfrm>
          <a:prstGeom prst="rect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44" name="Rectangle 247"/>
          <p:cNvSpPr>
            <a:spLocks noChangeAspect="1" noChangeArrowheads="1"/>
          </p:cNvSpPr>
          <p:nvPr/>
        </p:nvSpPr>
        <p:spPr bwMode="auto">
          <a:xfrm>
            <a:off x="2977134" y="2338502"/>
            <a:ext cx="615950" cy="21754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700" dirty="0">
                <a:latin typeface="HY헤드라인M" pitchFamily="18" charset="-127"/>
              </a:rPr>
              <a:t>Transformer</a:t>
            </a:r>
          </a:p>
        </p:txBody>
      </p:sp>
      <p:sp>
        <p:nvSpPr>
          <p:cNvPr id="145" name="Rectangle 102"/>
          <p:cNvSpPr>
            <a:spLocks noChangeAspect="1" noChangeArrowheads="1"/>
          </p:cNvSpPr>
          <p:nvPr/>
        </p:nvSpPr>
        <p:spPr bwMode="auto">
          <a:xfrm rot="5400000">
            <a:off x="665243" y="3068803"/>
            <a:ext cx="2121882" cy="203200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Connector</a:t>
            </a:r>
          </a:p>
        </p:txBody>
      </p:sp>
      <p:cxnSp>
        <p:nvCxnSpPr>
          <p:cNvPr id="146" name="직선 연결선 145"/>
          <p:cNvCxnSpPr>
            <a:cxnSpLocks noChangeAspect="1" noChangeShapeType="1"/>
          </p:cNvCxnSpPr>
          <p:nvPr/>
        </p:nvCxnSpPr>
        <p:spPr bwMode="auto">
          <a:xfrm>
            <a:off x="3307436" y="3842426"/>
            <a:ext cx="377419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" name="Rectangle 247"/>
          <p:cNvSpPr>
            <a:spLocks noChangeAspect="1" noChangeArrowheads="1"/>
          </p:cNvSpPr>
          <p:nvPr/>
        </p:nvSpPr>
        <p:spPr bwMode="auto">
          <a:xfrm>
            <a:off x="3053334" y="2951647"/>
            <a:ext cx="495300" cy="1116729"/>
          </a:xfrm>
          <a:prstGeom prst="rect">
            <a:avLst/>
          </a:prstGeom>
          <a:solidFill>
            <a:srgbClr val="CCFF99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700" dirty="0" smtClean="0">
                <a:latin typeface="HY헤드라인M" pitchFamily="18" charset="-127"/>
              </a:rPr>
              <a:t>Digital</a:t>
            </a:r>
          </a:p>
          <a:p>
            <a:pPr algn="ctr" eaLnBrk="1" hangingPunct="1"/>
            <a:r>
              <a:rPr lang="en-US" altLang="ja-JP" sz="700" dirty="0" smtClean="0">
                <a:latin typeface="HY헤드라인M" pitchFamily="18" charset="-127"/>
              </a:rPr>
              <a:t>Isolator</a:t>
            </a:r>
            <a:endParaRPr lang="en-US" altLang="ja-JP" sz="700" dirty="0">
              <a:latin typeface="HY헤드라인M" pitchFamily="18" charset="-127"/>
            </a:endParaRPr>
          </a:p>
        </p:txBody>
      </p:sp>
      <p:sp>
        <p:nvSpPr>
          <p:cNvPr id="148" name="Text Box 137"/>
          <p:cNvSpPr txBox="1">
            <a:spLocks noChangeAspect="1" noChangeArrowheads="1"/>
          </p:cNvSpPr>
          <p:nvPr/>
        </p:nvSpPr>
        <p:spPr bwMode="auto">
          <a:xfrm>
            <a:off x="3033069" y="3733466"/>
            <a:ext cx="354788" cy="19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HY헤드라인M" pitchFamily="18" charset="-127"/>
              </a:rPr>
              <a:t>TXD</a:t>
            </a:r>
            <a:endParaRPr lang="en-US" altLang="ja-JP" sz="600" dirty="0">
              <a:latin typeface="HY헤드라인M" pitchFamily="18" charset="-127"/>
            </a:endParaRPr>
          </a:p>
        </p:txBody>
      </p:sp>
      <p:sp>
        <p:nvSpPr>
          <p:cNvPr id="149" name="Text Box 137"/>
          <p:cNvSpPr txBox="1">
            <a:spLocks noChangeAspect="1" noChangeArrowheads="1"/>
          </p:cNvSpPr>
          <p:nvPr/>
        </p:nvSpPr>
        <p:spPr bwMode="auto">
          <a:xfrm>
            <a:off x="3033069" y="3835009"/>
            <a:ext cx="354788" cy="19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HY헤드라인M" pitchFamily="18" charset="-127"/>
              </a:rPr>
              <a:t>RXD</a:t>
            </a:r>
            <a:endParaRPr lang="en-US" altLang="ja-JP" sz="600" dirty="0">
              <a:latin typeface="HY헤드라인M" pitchFamily="18" charset="-127"/>
            </a:endParaRPr>
          </a:p>
        </p:txBody>
      </p:sp>
      <p:cxnSp>
        <p:nvCxnSpPr>
          <p:cNvPr id="150" name="직선 연결선 149"/>
          <p:cNvCxnSpPr>
            <a:cxnSpLocks noChangeAspect="1" noChangeShapeType="1"/>
          </p:cNvCxnSpPr>
          <p:nvPr/>
        </p:nvCxnSpPr>
        <p:spPr bwMode="auto">
          <a:xfrm flipH="1">
            <a:off x="3745088" y="2889740"/>
            <a:ext cx="2019640" cy="1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151" name="직선 연결선 150"/>
          <p:cNvCxnSpPr>
            <a:cxnSpLocks noChangeAspect="1" noChangeShapeType="1"/>
          </p:cNvCxnSpPr>
          <p:nvPr/>
        </p:nvCxnSpPr>
        <p:spPr bwMode="auto">
          <a:xfrm flipH="1">
            <a:off x="3733884" y="4375002"/>
            <a:ext cx="191991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152" name="자유형 151"/>
          <p:cNvSpPr/>
          <p:nvPr/>
        </p:nvSpPr>
        <p:spPr bwMode="auto">
          <a:xfrm>
            <a:off x="5647078" y="3903158"/>
            <a:ext cx="976027" cy="473196"/>
          </a:xfrm>
          <a:custGeom>
            <a:avLst/>
            <a:gdLst>
              <a:gd name="connsiteX0" fmla="*/ 0 w 6209607"/>
              <a:gd name="connsiteY0" fmla="*/ 1492135 h 1492135"/>
              <a:gd name="connsiteX1" fmla="*/ 1529542 w 6209607"/>
              <a:gd name="connsiteY1" fmla="*/ 1276004 h 1492135"/>
              <a:gd name="connsiteX2" fmla="*/ 3524596 w 6209607"/>
              <a:gd name="connsiteY2" fmla="*/ 211975 h 1492135"/>
              <a:gd name="connsiteX3" fmla="*/ 6209607 w 6209607"/>
              <a:gd name="connsiteY3" fmla="*/ 4156 h 149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9607" h="1492135">
                <a:moveTo>
                  <a:pt x="0" y="1492135"/>
                </a:moveTo>
                <a:cubicBezTo>
                  <a:pt x="471054" y="1490749"/>
                  <a:pt x="942109" y="1489364"/>
                  <a:pt x="1529542" y="1276004"/>
                </a:cubicBezTo>
                <a:cubicBezTo>
                  <a:pt x="2116975" y="1062644"/>
                  <a:pt x="2744585" y="423950"/>
                  <a:pt x="3524596" y="211975"/>
                </a:cubicBezTo>
                <a:cubicBezTo>
                  <a:pt x="4304607" y="0"/>
                  <a:pt x="5257107" y="2078"/>
                  <a:pt x="6209607" y="4156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/>
          </a:p>
        </p:txBody>
      </p:sp>
      <p:sp>
        <p:nvSpPr>
          <p:cNvPr id="153" name="자유형 152"/>
          <p:cNvSpPr/>
          <p:nvPr/>
        </p:nvSpPr>
        <p:spPr bwMode="auto">
          <a:xfrm>
            <a:off x="5754644" y="2735073"/>
            <a:ext cx="868463" cy="155381"/>
          </a:xfrm>
          <a:custGeom>
            <a:avLst/>
            <a:gdLst>
              <a:gd name="connsiteX0" fmla="*/ 0 w 6209607"/>
              <a:gd name="connsiteY0" fmla="*/ 1492135 h 1492135"/>
              <a:gd name="connsiteX1" fmla="*/ 1529542 w 6209607"/>
              <a:gd name="connsiteY1" fmla="*/ 1276004 h 1492135"/>
              <a:gd name="connsiteX2" fmla="*/ 3524596 w 6209607"/>
              <a:gd name="connsiteY2" fmla="*/ 211975 h 1492135"/>
              <a:gd name="connsiteX3" fmla="*/ 6209607 w 6209607"/>
              <a:gd name="connsiteY3" fmla="*/ 4156 h 149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9607" h="1492135">
                <a:moveTo>
                  <a:pt x="0" y="1492135"/>
                </a:moveTo>
                <a:cubicBezTo>
                  <a:pt x="471054" y="1490749"/>
                  <a:pt x="942109" y="1489364"/>
                  <a:pt x="1529542" y="1276004"/>
                </a:cubicBezTo>
                <a:cubicBezTo>
                  <a:pt x="2116975" y="1062644"/>
                  <a:pt x="2744585" y="423950"/>
                  <a:pt x="3524596" y="211975"/>
                </a:cubicBezTo>
                <a:cubicBezTo>
                  <a:pt x="4304607" y="0"/>
                  <a:pt x="5257107" y="2078"/>
                  <a:pt x="6209607" y="4156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/>
          </a:p>
        </p:txBody>
      </p:sp>
      <p:sp>
        <p:nvSpPr>
          <p:cNvPr id="154" name="Rectangle 102"/>
          <p:cNvSpPr>
            <a:spLocks noChangeAspect="1" noChangeArrowheads="1"/>
          </p:cNvSpPr>
          <p:nvPr/>
        </p:nvSpPr>
        <p:spPr bwMode="auto">
          <a:xfrm>
            <a:off x="6585100" y="2676094"/>
            <a:ext cx="1039232" cy="1534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Sidebar Temp Sensor1 </a:t>
            </a:r>
          </a:p>
        </p:txBody>
      </p:sp>
      <p:sp>
        <p:nvSpPr>
          <p:cNvPr id="155" name="Rectangle 102"/>
          <p:cNvSpPr>
            <a:spLocks noChangeAspect="1" noChangeArrowheads="1"/>
          </p:cNvSpPr>
          <p:nvPr/>
        </p:nvSpPr>
        <p:spPr bwMode="auto">
          <a:xfrm>
            <a:off x="6585100" y="3818383"/>
            <a:ext cx="1039232" cy="1534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Sidebar Temp Sensor2 </a:t>
            </a:r>
          </a:p>
        </p:txBody>
      </p:sp>
      <p:cxnSp>
        <p:nvCxnSpPr>
          <p:cNvPr id="156" name="직선 연결선 155"/>
          <p:cNvCxnSpPr>
            <a:cxnSpLocks noChangeShapeType="1"/>
          </p:cNvCxnSpPr>
          <p:nvPr/>
        </p:nvCxnSpPr>
        <p:spPr bwMode="auto">
          <a:xfrm flipV="1">
            <a:off x="4348051" y="2140929"/>
            <a:ext cx="0" cy="2700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57" name="직선 연결선 156"/>
          <p:cNvCxnSpPr>
            <a:cxnSpLocks noChangeShapeType="1"/>
          </p:cNvCxnSpPr>
          <p:nvPr/>
        </p:nvCxnSpPr>
        <p:spPr bwMode="auto">
          <a:xfrm flipV="1">
            <a:off x="4445731" y="2207140"/>
            <a:ext cx="0" cy="2700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58" name="직선 연결선 157"/>
          <p:cNvCxnSpPr>
            <a:cxnSpLocks noChangeAspect="1" noChangeShapeType="1"/>
          </p:cNvCxnSpPr>
          <p:nvPr/>
        </p:nvCxnSpPr>
        <p:spPr bwMode="auto">
          <a:xfrm flipH="1">
            <a:off x="3886552" y="4905810"/>
            <a:ext cx="28291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159" name="Rectangle 247"/>
          <p:cNvSpPr>
            <a:spLocks noChangeAspect="1" noChangeArrowheads="1"/>
          </p:cNvSpPr>
          <p:nvPr/>
        </p:nvSpPr>
        <p:spPr bwMode="auto">
          <a:xfrm>
            <a:off x="3668062" y="2431596"/>
            <a:ext cx="274514" cy="343702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MCU</a:t>
            </a:r>
          </a:p>
        </p:txBody>
      </p:sp>
      <p:sp>
        <p:nvSpPr>
          <p:cNvPr id="160" name="Rectangle 102"/>
          <p:cNvSpPr>
            <a:spLocks noChangeAspect="1" noChangeArrowheads="1"/>
          </p:cNvSpPr>
          <p:nvPr/>
        </p:nvSpPr>
        <p:spPr bwMode="auto">
          <a:xfrm>
            <a:off x="4028711" y="4847462"/>
            <a:ext cx="748612" cy="11095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 smtClean="0">
                <a:latin typeface="HY헤드라인M" pitchFamily="18" charset="-127"/>
              </a:rPr>
              <a:t>Interlock</a:t>
            </a:r>
            <a:endParaRPr lang="en-US" altLang="ja-JP" sz="500" i="1" dirty="0">
              <a:solidFill>
                <a:srgbClr val="FF0000"/>
              </a:solidFill>
              <a:latin typeface="HY헤드라인M" pitchFamily="18" charset="-127"/>
            </a:endParaRPr>
          </a:p>
        </p:txBody>
      </p:sp>
      <p:sp>
        <p:nvSpPr>
          <p:cNvPr id="161" name="Rectangle 247"/>
          <p:cNvSpPr>
            <a:spLocks noChangeAspect="1" noChangeArrowheads="1"/>
          </p:cNvSpPr>
          <p:nvPr/>
        </p:nvSpPr>
        <p:spPr bwMode="auto">
          <a:xfrm>
            <a:off x="4008403" y="3060621"/>
            <a:ext cx="574240" cy="175073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 Driver</a:t>
            </a:r>
          </a:p>
        </p:txBody>
      </p:sp>
      <p:sp>
        <p:nvSpPr>
          <p:cNvPr id="162" name="Rectangle 247"/>
          <p:cNvSpPr>
            <a:spLocks noChangeAspect="1" noChangeArrowheads="1"/>
          </p:cNvSpPr>
          <p:nvPr/>
        </p:nvSpPr>
        <p:spPr bwMode="auto">
          <a:xfrm>
            <a:off x="4008403" y="3842426"/>
            <a:ext cx="574240" cy="175073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 Driver</a:t>
            </a:r>
          </a:p>
        </p:txBody>
      </p:sp>
      <p:sp>
        <p:nvSpPr>
          <p:cNvPr id="163" name="Rectangle 247"/>
          <p:cNvSpPr>
            <a:spLocks noChangeAspect="1" noChangeArrowheads="1"/>
          </p:cNvSpPr>
          <p:nvPr/>
        </p:nvSpPr>
        <p:spPr bwMode="auto">
          <a:xfrm>
            <a:off x="4008403" y="4523785"/>
            <a:ext cx="574239" cy="175073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 Driver</a:t>
            </a:r>
          </a:p>
        </p:txBody>
      </p:sp>
      <p:sp>
        <p:nvSpPr>
          <p:cNvPr id="164" name="Rectangle 247"/>
          <p:cNvSpPr>
            <a:spLocks noChangeArrowheads="1"/>
          </p:cNvSpPr>
          <p:nvPr/>
        </p:nvSpPr>
        <p:spPr bwMode="auto">
          <a:xfrm>
            <a:off x="4060226" y="2507227"/>
            <a:ext cx="515414" cy="127453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Regulator</a:t>
            </a:r>
          </a:p>
        </p:txBody>
      </p:sp>
      <p:sp>
        <p:nvSpPr>
          <p:cNvPr id="165" name="Line 147"/>
          <p:cNvSpPr>
            <a:spLocks noChangeShapeType="1"/>
          </p:cNvSpPr>
          <p:nvPr/>
        </p:nvSpPr>
        <p:spPr bwMode="auto">
          <a:xfrm>
            <a:off x="3536039" y="2374171"/>
            <a:ext cx="1137641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66" name="Rectangle 102"/>
          <p:cNvSpPr>
            <a:spLocks noChangeAspect="1" noChangeArrowheads="1"/>
          </p:cNvSpPr>
          <p:nvPr/>
        </p:nvSpPr>
        <p:spPr bwMode="auto">
          <a:xfrm>
            <a:off x="4718181" y="1982845"/>
            <a:ext cx="1466850" cy="85578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 smtClean="0">
                <a:solidFill>
                  <a:schemeClr val="tx1"/>
                </a:solidFill>
                <a:latin typeface="HY헤드라인M" pitchFamily="18" charset="-127"/>
              </a:rPr>
              <a:t>ELEC - CAPCITOR</a:t>
            </a:r>
            <a:endParaRPr lang="en-US" altLang="ja-JP" sz="5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67" name="직선 연결선 166"/>
          <p:cNvCxnSpPr/>
          <p:nvPr/>
        </p:nvCxnSpPr>
        <p:spPr bwMode="auto">
          <a:xfrm>
            <a:off x="7402016" y="3069421"/>
            <a:ext cx="914400" cy="9144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8" name="직선 연결선 167"/>
          <p:cNvCxnSpPr>
            <a:cxnSpLocks noChangeAspect="1" noChangeShapeType="1"/>
          </p:cNvCxnSpPr>
          <p:nvPr/>
        </p:nvCxnSpPr>
        <p:spPr bwMode="auto">
          <a:xfrm>
            <a:off x="6710827" y="4223095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69" name="Freeform 90"/>
          <p:cNvSpPr>
            <a:spLocks noChangeAspect="1"/>
          </p:cNvSpPr>
          <p:nvPr/>
        </p:nvSpPr>
        <p:spPr bwMode="auto">
          <a:xfrm rot="5400000" flipH="1">
            <a:off x="6641499" y="441309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0" name="직선 연결선 169"/>
          <p:cNvCxnSpPr>
            <a:cxnSpLocks noChangeAspect="1" noChangeShapeType="1"/>
          </p:cNvCxnSpPr>
          <p:nvPr/>
        </p:nvCxnSpPr>
        <p:spPr bwMode="auto">
          <a:xfrm flipV="1">
            <a:off x="6712151" y="4532433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71" name="직선 연결선 170"/>
          <p:cNvCxnSpPr>
            <a:cxnSpLocks noChangeAspect="1" noChangeShapeType="1"/>
          </p:cNvCxnSpPr>
          <p:nvPr/>
        </p:nvCxnSpPr>
        <p:spPr bwMode="auto">
          <a:xfrm>
            <a:off x="6868809" y="4223095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72" name="Freeform 90"/>
          <p:cNvSpPr>
            <a:spLocks noChangeAspect="1"/>
          </p:cNvSpPr>
          <p:nvPr/>
        </p:nvSpPr>
        <p:spPr bwMode="auto">
          <a:xfrm rot="5400000" flipH="1">
            <a:off x="6799481" y="441309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3" name="직선 연결선 172"/>
          <p:cNvCxnSpPr>
            <a:cxnSpLocks noChangeAspect="1" noChangeShapeType="1"/>
          </p:cNvCxnSpPr>
          <p:nvPr/>
        </p:nvCxnSpPr>
        <p:spPr bwMode="auto">
          <a:xfrm flipV="1">
            <a:off x="6870133" y="4532433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74" name="직선 연결선 173"/>
          <p:cNvCxnSpPr>
            <a:cxnSpLocks noChangeAspect="1" noChangeShapeType="1"/>
          </p:cNvCxnSpPr>
          <p:nvPr/>
        </p:nvCxnSpPr>
        <p:spPr bwMode="auto">
          <a:xfrm>
            <a:off x="7030220" y="4223095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75" name="Freeform 90"/>
          <p:cNvSpPr>
            <a:spLocks noChangeAspect="1"/>
          </p:cNvSpPr>
          <p:nvPr/>
        </p:nvSpPr>
        <p:spPr bwMode="auto">
          <a:xfrm rot="5400000" flipH="1">
            <a:off x="6960892" y="441309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6" name="직선 연결선 175"/>
          <p:cNvCxnSpPr>
            <a:cxnSpLocks noChangeAspect="1" noChangeShapeType="1"/>
          </p:cNvCxnSpPr>
          <p:nvPr/>
        </p:nvCxnSpPr>
        <p:spPr bwMode="auto">
          <a:xfrm flipV="1">
            <a:off x="7031544" y="4532433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77" name="직선 연결선 176"/>
          <p:cNvCxnSpPr>
            <a:cxnSpLocks noChangeAspect="1" noChangeShapeType="1"/>
          </p:cNvCxnSpPr>
          <p:nvPr/>
        </p:nvCxnSpPr>
        <p:spPr bwMode="auto">
          <a:xfrm>
            <a:off x="7192373" y="4231954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78" name="Freeform 90"/>
          <p:cNvSpPr>
            <a:spLocks noChangeAspect="1"/>
          </p:cNvSpPr>
          <p:nvPr/>
        </p:nvSpPr>
        <p:spPr bwMode="auto">
          <a:xfrm rot="5400000" flipH="1">
            <a:off x="7123045" y="4421956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9" name="직선 연결선 178"/>
          <p:cNvCxnSpPr>
            <a:cxnSpLocks noChangeAspect="1" noChangeShapeType="1"/>
          </p:cNvCxnSpPr>
          <p:nvPr/>
        </p:nvCxnSpPr>
        <p:spPr bwMode="auto">
          <a:xfrm flipV="1">
            <a:off x="7193697" y="4541292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0" name="직선 연결선 179"/>
          <p:cNvCxnSpPr>
            <a:cxnSpLocks noChangeAspect="1" noChangeShapeType="1"/>
          </p:cNvCxnSpPr>
          <p:nvPr/>
        </p:nvCxnSpPr>
        <p:spPr bwMode="auto">
          <a:xfrm>
            <a:off x="7371348" y="4226869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81" name="Freeform 90"/>
          <p:cNvSpPr>
            <a:spLocks noChangeAspect="1"/>
          </p:cNvSpPr>
          <p:nvPr/>
        </p:nvSpPr>
        <p:spPr bwMode="auto">
          <a:xfrm rot="5400000" flipH="1">
            <a:off x="7302020" y="4416871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82" name="직선 연결선 181"/>
          <p:cNvCxnSpPr>
            <a:cxnSpLocks noChangeAspect="1" noChangeShapeType="1"/>
          </p:cNvCxnSpPr>
          <p:nvPr/>
        </p:nvCxnSpPr>
        <p:spPr bwMode="auto">
          <a:xfrm flipV="1">
            <a:off x="7372672" y="4536207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3" name="직선 연결선 182"/>
          <p:cNvCxnSpPr>
            <a:cxnSpLocks noChangeAspect="1" noChangeShapeType="1"/>
          </p:cNvCxnSpPr>
          <p:nvPr/>
        </p:nvCxnSpPr>
        <p:spPr bwMode="auto">
          <a:xfrm>
            <a:off x="7542183" y="4221663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84" name="Freeform 90"/>
          <p:cNvSpPr>
            <a:spLocks noChangeAspect="1"/>
          </p:cNvSpPr>
          <p:nvPr/>
        </p:nvSpPr>
        <p:spPr bwMode="auto">
          <a:xfrm rot="5400000" flipH="1">
            <a:off x="7472855" y="4411665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85" name="직선 연결선 184"/>
          <p:cNvCxnSpPr>
            <a:cxnSpLocks noChangeAspect="1" noChangeShapeType="1"/>
          </p:cNvCxnSpPr>
          <p:nvPr/>
        </p:nvCxnSpPr>
        <p:spPr bwMode="auto">
          <a:xfrm flipV="1">
            <a:off x="7543507" y="4531001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6" name="직선 연결선 185"/>
          <p:cNvCxnSpPr>
            <a:cxnSpLocks noChangeAspect="1" noChangeShapeType="1"/>
          </p:cNvCxnSpPr>
          <p:nvPr/>
        </p:nvCxnSpPr>
        <p:spPr bwMode="auto">
          <a:xfrm>
            <a:off x="6715584" y="3075303"/>
            <a:ext cx="0" cy="18314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87" name="Freeform 90"/>
          <p:cNvSpPr>
            <a:spLocks noChangeAspect="1"/>
          </p:cNvSpPr>
          <p:nvPr/>
        </p:nvSpPr>
        <p:spPr bwMode="auto">
          <a:xfrm rot="5400000" flipH="1">
            <a:off x="6646256" y="3293893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88" name="직선 연결선 187"/>
          <p:cNvCxnSpPr>
            <a:cxnSpLocks noChangeAspect="1" noChangeShapeType="1"/>
          </p:cNvCxnSpPr>
          <p:nvPr/>
        </p:nvCxnSpPr>
        <p:spPr bwMode="auto">
          <a:xfrm flipV="1">
            <a:off x="6716908" y="3413230"/>
            <a:ext cx="0" cy="220906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9" name="직선 연결선 188"/>
          <p:cNvCxnSpPr>
            <a:cxnSpLocks noChangeAspect="1" noChangeShapeType="1"/>
          </p:cNvCxnSpPr>
          <p:nvPr/>
        </p:nvCxnSpPr>
        <p:spPr bwMode="auto">
          <a:xfrm>
            <a:off x="6873566" y="3075303"/>
            <a:ext cx="0" cy="18314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0" name="Freeform 90"/>
          <p:cNvSpPr>
            <a:spLocks noChangeAspect="1"/>
          </p:cNvSpPr>
          <p:nvPr/>
        </p:nvSpPr>
        <p:spPr bwMode="auto">
          <a:xfrm rot="5400000" flipH="1">
            <a:off x="6804238" y="3293893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91" name="직선 연결선 190"/>
          <p:cNvCxnSpPr>
            <a:cxnSpLocks noChangeAspect="1" noChangeShapeType="1"/>
          </p:cNvCxnSpPr>
          <p:nvPr/>
        </p:nvCxnSpPr>
        <p:spPr bwMode="auto">
          <a:xfrm flipV="1">
            <a:off x="6874890" y="3413230"/>
            <a:ext cx="0" cy="220906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92" name="직선 연결선 191"/>
          <p:cNvCxnSpPr>
            <a:cxnSpLocks noChangeAspect="1" noChangeShapeType="1"/>
          </p:cNvCxnSpPr>
          <p:nvPr/>
        </p:nvCxnSpPr>
        <p:spPr bwMode="auto">
          <a:xfrm>
            <a:off x="7034977" y="3065183"/>
            <a:ext cx="0" cy="197039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3" name="Freeform 90"/>
          <p:cNvSpPr>
            <a:spLocks noChangeAspect="1"/>
          </p:cNvSpPr>
          <p:nvPr/>
        </p:nvSpPr>
        <p:spPr bwMode="auto">
          <a:xfrm rot="5400000" flipH="1">
            <a:off x="6965649" y="3293893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94" name="직선 연결선 193"/>
          <p:cNvCxnSpPr>
            <a:cxnSpLocks noChangeAspect="1" noChangeShapeType="1"/>
          </p:cNvCxnSpPr>
          <p:nvPr/>
        </p:nvCxnSpPr>
        <p:spPr bwMode="auto">
          <a:xfrm flipV="1">
            <a:off x="7036301" y="3422089"/>
            <a:ext cx="0" cy="202916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95" name="직선 연결선 194"/>
          <p:cNvCxnSpPr>
            <a:cxnSpLocks noChangeAspect="1" noChangeShapeType="1"/>
          </p:cNvCxnSpPr>
          <p:nvPr/>
        </p:nvCxnSpPr>
        <p:spPr bwMode="auto">
          <a:xfrm>
            <a:off x="7197130" y="3075303"/>
            <a:ext cx="0" cy="19200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6" name="Freeform 90"/>
          <p:cNvSpPr>
            <a:spLocks noChangeAspect="1"/>
          </p:cNvSpPr>
          <p:nvPr/>
        </p:nvSpPr>
        <p:spPr bwMode="auto">
          <a:xfrm rot="5400000" flipH="1">
            <a:off x="7127802" y="3302752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97" name="직선 연결선 196"/>
          <p:cNvCxnSpPr>
            <a:cxnSpLocks noChangeAspect="1" noChangeShapeType="1"/>
          </p:cNvCxnSpPr>
          <p:nvPr/>
        </p:nvCxnSpPr>
        <p:spPr bwMode="auto">
          <a:xfrm flipV="1">
            <a:off x="7198454" y="3422089"/>
            <a:ext cx="0" cy="188908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98" name="직선 연결선 197"/>
          <p:cNvCxnSpPr>
            <a:cxnSpLocks noChangeAspect="1" noChangeShapeType="1"/>
          </p:cNvCxnSpPr>
          <p:nvPr/>
        </p:nvCxnSpPr>
        <p:spPr bwMode="auto">
          <a:xfrm>
            <a:off x="7376105" y="3069421"/>
            <a:ext cx="0" cy="19280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9" name="Freeform 90"/>
          <p:cNvSpPr>
            <a:spLocks noChangeAspect="1"/>
          </p:cNvSpPr>
          <p:nvPr/>
        </p:nvSpPr>
        <p:spPr bwMode="auto">
          <a:xfrm rot="5400000" flipH="1">
            <a:off x="7306777" y="329766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200" name="직선 연결선 199"/>
          <p:cNvCxnSpPr>
            <a:cxnSpLocks noChangeAspect="1" noChangeShapeType="1"/>
          </p:cNvCxnSpPr>
          <p:nvPr/>
        </p:nvCxnSpPr>
        <p:spPr bwMode="auto">
          <a:xfrm flipV="1">
            <a:off x="7377429" y="3417005"/>
            <a:ext cx="0" cy="21713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201" name="직선 연결선 200"/>
          <p:cNvCxnSpPr>
            <a:cxnSpLocks noChangeAspect="1" noChangeShapeType="1"/>
          </p:cNvCxnSpPr>
          <p:nvPr/>
        </p:nvCxnSpPr>
        <p:spPr bwMode="auto">
          <a:xfrm>
            <a:off x="7546940" y="3069421"/>
            <a:ext cx="0" cy="18759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202" name="Freeform 90"/>
          <p:cNvSpPr>
            <a:spLocks noChangeAspect="1"/>
          </p:cNvSpPr>
          <p:nvPr/>
        </p:nvSpPr>
        <p:spPr bwMode="auto">
          <a:xfrm rot="5400000" flipH="1">
            <a:off x="7477612" y="3292461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203" name="직선 연결선 202"/>
          <p:cNvCxnSpPr>
            <a:cxnSpLocks noChangeAspect="1" noChangeShapeType="1"/>
          </p:cNvCxnSpPr>
          <p:nvPr/>
        </p:nvCxnSpPr>
        <p:spPr bwMode="auto">
          <a:xfrm flipV="1">
            <a:off x="7548264" y="3411798"/>
            <a:ext cx="0" cy="222338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Protect Functions 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292194"/>
              </p:ext>
            </p:extLst>
          </p:nvPr>
        </p:nvGraphicFramePr>
        <p:xfrm>
          <a:off x="251520" y="764704"/>
          <a:ext cx="8537856" cy="5363028"/>
        </p:xfrm>
        <a:graphic>
          <a:graphicData uri="http://schemas.openxmlformats.org/drawingml/2006/table">
            <a:tbl>
              <a:tblPr/>
              <a:tblGrid>
                <a:gridCol w="50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Specification 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Logic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Functions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8V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 over discharging of the LV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Batt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under voltage condition of LV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17V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Protecting abnormal operating  in the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 over voltage condition of LV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150V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20V)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 rapid discharging of the HV  Battery 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under voltage condition of HV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432V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 20V)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over  voltage condition of HV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8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Current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Over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Current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TBD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Do not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exceed 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14A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by controlling the performance by itself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. (Each Zone)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from over current 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conditions (Each Zone)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9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6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10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circuits from  its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heat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.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7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95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Hysteresis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circuits from  its heat.</a:t>
                      </a: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Reduces performance according to overheating temperature</a:t>
                      </a: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4" name="Group 218"/>
          <p:cNvGrpSpPr>
            <a:grpSpLocks/>
          </p:cNvGrpSpPr>
          <p:nvPr/>
        </p:nvGrpSpPr>
        <p:grpSpPr bwMode="auto">
          <a:xfrm>
            <a:off x="4138952" y="1857760"/>
            <a:ext cx="1777525" cy="548121"/>
            <a:chOff x="0" y="-12"/>
            <a:chExt cx="267" cy="122"/>
          </a:xfrm>
        </p:grpSpPr>
        <p:sp>
          <p:nvSpPr>
            <p:cNvPr id="45" name="Text Box 219"/>
            <p:cNvSpPr txBox="1">
              <a:spLocks noChangeArrowheads="1"/>
            </p:cNvSpPr>
            <p:nvPr/>
          </p:nvSpPr>
          <p:spPr bwMode="auto">
            <a:xfrm>
              <a:off x="22" y="76"/>
              <a:ext cx="90" cy="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17V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4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7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8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Text Box 224"/>
            <p:cNvSpPr txBox="1">
              <a:spLocks noChangeArrowheads="1"/>
            </p:cNvSpPr>
            <p:nvPr/>
          </p:nvSpPr>
          <p:spPr bwMode="auto">
            <a:xfrm>
              <a:off x="151" y="-12"/>
              <a:ext cx="79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18V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0" name="Text Box 225"/>
            <p:cNvSpPr txBox="1">
              <a:spLocks noChangeArrowheads="1"/>
            </p:cNvSpPr>
            <p:nvPr/>
          </p:nvSpPr>
          <p:spPr bwMode="auto">
            <a:xfrm>
              <a:off x="184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1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84" cy="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62" name="Group 199"/>
          <p:cNvGrpSpPr>
            <a:grpSpLocks/>
          </p:cNvGrpSpPr>
          <p:nvPr/>
        </p:nvGrpSpPr>
        <p:grpSpPr bwMode="auto">
          <a:xfrm>
            <a:off x="4105362" y="2588643"/>
            <a:ext cx="1905910" cy="672930"/>
            <a:chOff x="0" y="-10"/>
            <a:chExt cx="285" cy="164"/>
          </a:xfrm>
        </p:grpSpPr>
        <p:sp>
          <p:nvSpPr>
            <p:cNvPr id="63" name="Line 131"/>
            <p:cNvSpPr>
              <a:spLocks noChangeShapeType="1"/>
            </p:cNvSpPr>
            <p:nvPr/>
          </p:nvSpPr>
          <p:spPr bwMode="auto">
            <a:xfrm>
              <a:off x="0" y="112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 flipV="1">
              <a:off x="170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 flipH="1">
              <a:off x="79" y="37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Line 134"/>
            <p:cNvSpPr>
              <a:spLocks noChangeShapeType="1"/>
            </p:cNvSpPr>
            <p:nvPr/>
          </p:nvSpPr>
          <p:spPr bwMode="auto">
            <a:xfrm>
              <a:off x="79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7" name="Text Box 135"/>
            <p:cNvSpPr txBox="1">
              <a:spLocks noChangeArrowheads="1"/>
            </p:cNvSpPr>
            <p:nvPr/>
          </p:nvSpPr>
          <p:spPr bwMode="auto">
            <a:xfrm>
              <a:off x="156" y="92"/>
              <a:ext cx="129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8" name="Text Box 136"/>
            <p:cNvSpPr txBox="1">
              <a:spLocks noChangeArrowheads="1"/>
            </p:cNvSpPr>
            <p:nvPr/>
          </p:nvSpPr>
          <p:spPr bwMode="auto">
            <a:xfrm>
              <a:off x="2" y="-10"/>
              <a:ext cx="106" cy="4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150V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9" name="Text Box 137"/>
            <p:cNvSpPr txBox="1">
              <a:spLocks noChangeArrowheads="1"/>
            </p:cNvSpPr>
            <p:nvPr/>
          </p:nvSpPr>
          <p:spPr bwMode="auto">
            <a:xfrm>
              <a:off x="2" y="109"/>
              <a:ext cx="80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0" name="Text Box 138"/>
            <p:cNvSpPr txBox="1">
              <a:spLocks noChangeArrowheads="1"/>
            </p:cNvSpPr>
            <p:nvPr/>
          </p:nvSpPr>
          <p:spPr bwMode="auto">
            <a:xfrm>
              <a:off x="174" y="-10"/>
              <a:ext cx="72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71" name="Group 218"/>
          <p:cNvGrpSpPr>
            <a:grpSpLocks/>
          </p:cNvGrpSpPr>
          <p:nvPr/>
        </p:nvGrpSpPr>
        <p:grpSpPr bwMode="auto">
          <a:xfrm>
            <a:off x="3940339" y="3356603"/>
            <a:ext cx="1973346" cy="548553"/>
            <a:chOff x="-26" y="-12"/>
            <a:chExt cx="302" cy="128"/>
          </a:xfrm>
        </p:grpSpPr>
        <p:sp>
          <p:nvSpPr>
            <p:cNvPr id="72" name="Text Box 219"/>
            <p:cNvSpPr txBox="1">
              <a:spLocks noChangeArrowheads="1"/>
            </p:cNvSpPr>
            <p:nvPr/>
          </p:nvSpPr>
          <p:spPr bwMode="auto">
            <a:xfrm>
              <a:off x="-26" y="73"/>
              <a:ext cx="161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412V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 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5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6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7" name="Text Box 224"/>
            <p:cNvSpPr txBox="1">
              <a:spLocks noChangeArrowheads="1"/>
            </p:cNvSpPr>
            <p:nvPr/>
          </p:nvSpPr>
          <p:spPr bwMode="auto">
            <a:xfrm>
              <a:off x="157" y="-10"/>
              <a:ext cx="119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432V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8" name="Text Box 225"/>
            <p:cNvSpPr txBox="1">
              <a:spLocks noChangeArrowheads="1"/>
            </p:cNvSpPr>
            <p:nvPr/>
          </p:nvSpPr>
          <p:spPr bwMode="auto">
            <a:xfrm>
              <a:off x="185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9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103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0" name="Group 218"/>
          <p:cNvGrpSpPr>
            <a:grpSpLocks/>
          </p:cNvGrpSpPr>
          <p:nvPr/>
        </p:nvGrpSpPr>
        <p:grpSpPr bwMode="auto">
          <a:xfrm>
            <a:off x="4121876" y="4730993"/>
            <a:ext cx="1892488" cy="1178313"/>
            <a:chOff x="-2" y="-14"/>
            <a:chExt cx="295" cy="296"/>
          </a:xfrm>
        </p:grpSpPr>
        <p:sp>
          <p:nvSpPr>
            <p:cNvPr id="81" name="Text Box 219"/>
            <p:cNvSpPr txBox="1">
              <a:spLocks noChangeArrowheads="1"/>
            </p:cNvSpPr>
            <p:nvPr/>
          </p:nvSpPr>
          <p:spPr bwMode="auto">
            <a:xfrm>
              <a:off x="32" y="104"/>
              <a:ext cx="124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2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3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4" name="Line 222"/>
            <p:cNvSpPr>
              <a:spLocks noChangeShapeType="1"/>
            </p:cNvSpPr>
            <p:nvPr/>
          </p:nvSpPr>
          <p:spPr bwMode="auto">
            <a:xfrm flipH="1">
              <a:off x="1" y="209"/>
              <a:ext cx="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5" name="Line 223"/>
            <p:cNvSpPr>
              <a:spLocks noChangeShapeType="1"/>
            </p:cNvSpPr>
            <p:nvPr/>
          </p:nvSpPr>
          <p:spPr bwMode="auto">
            <a:xfrm>
              <a:off x="81" y="208"/>
              <a:ext cx="89" cy="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6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50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 </a:t>
              </a:r>
              <a:r>
                <a:rPr lang="en-US" altLang="ko-KR" sz="800" smtClean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7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8" name="Text Box 226"/>
            <p:cNvSpPr txBox="1">
              <a:spLocks noChangeArrowheads="1"/>
            </p:cNvSpPr>
            <p:nvPr/>
          </p:nvSpPr>
          <p:spPr bwMode="auto">
            <a:xfrm>
              <a:off x="-2" y="-14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9" name="그룹 77"/>
          <p:cNvGrpSpPr>
            <a:grpSpLocks/>
          </p:cNvGrpSpPr>
          <p:nvPr/>
        </p:nvGrpSpPr>
        <p:grpSpPr bwMode="auto">
          <a:xfrm>
            <a:off x="4072681" y="4067183"/>
            <a:ext cx="1846174" cy="550905"/>
            <a:chOff x="4360965" y="4193869"/>
            <a:chExt cx="1901127" cy="549680"/>
          </a:xfrm>
        </p:grpSpPr>
        <p:grpSp>
          <p:nvGrpSpPr>
            <p:cNvPr id="90" name="그룹 75"/>
            <p:cNvGrpSpPr>
              <a:grpSpLocks/>
            </p:cNvGrpSpPr>
            <p:nvPr/>
          </p:nvGrpSpPr>
          <p:grpSpPr bwMode="auto">
            <a:xfrm>
              <a:off x="4360965" y="4193869"/>
              <a:ext cx="1901127" cy="549680"/>
              <a:chOff x="4360965" y="4173511"/>
              <a:chExt cx="1901127" cy="549680"/>
            </a:xfrm>
          </p:grpSpPr>
          <p:grpSp>
            <p:nvGrpSpPr>
              <p:cNvPr id="92" name="Group 218"/>
              <p:cNvGrpSpPr>
                <a:grpSpLocks/>
              </p:cNvGrpSpPr>
              <p:nvPr/>
            </p:nvGrpSpPr>
            <p:grpSpPr bwMode="auto">
              <a:xfrm>
                <a:off x="4360965" y="4173511"/>
                <a:ext cx="1901127" cy="549680"/>
                <a:chOff x="-7" y="-19"/>
                <a:chExt cx="282" cy="135"/>
              </a:xfrm>
            </p:grpSpPr>
            <p:sp>
              <p:nvSpPr>
                <p:cNvPr id="95" name="Line 220"/>
                <p:cNvSpPr>
                  <a:spLocks noChangeShapeType="1"/>
                </p:cNvSpPr>
                <p:nvPr/>
              </p:nvSpPr>
              <p:spPr bwMode="auto">
                <a:xfrm>
                  <a:off x="85" y="116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6" name="Line 222"/>
                <p:cNvSpPr>
                  <a:spLocks noChangeShapeType="1"/>
                </p:cNvSpPr>
                <p:nvPr/>
              </p:nvSpPr>
              <p:spPr bwMode="auto">
                <a:xfrm flipH="1">
                  <a:off x="0" y="34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7" name="Line 223"/>
                <p:cNvSpPr>
                  <a:spLocks noChangeShapeType="1"/>
                </p:cNvSpPr>
                <p:nvPr/>
              </p:nvSpPr>
              <p:spPr bwMode="auto">
                <a:xfrm>
                  <a:off x="171" y="34"/>
                  <a:ext cx="0" cy="7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8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155" y="-15"/>
                  <a:ext cx="120" cy="5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smtClean="0">
                      <a:solidFill>
                        <a:srgbClr val="0070C0"/>
                      </a:solidFill>
                      <a:latin typeface="돋움" pitchFamily="50" charset="-127"/>
                      <a:ea typeface="돋움" pitchFamily="50" charset="-127"/>
                    </a:rPr>
                    <a:t>14A (</a:t>
                  </a:r>
                  <a:r>
                    <a:rPr lang="en-US" altLang="ko-KR" sz="800" smtClean="0">
                      <a:solidFill>
                        <a:schemeClr val="tx1"/>
                      </a:solidFill>
                      <a:ea typeface="굴림" charset="-127"/>
                      <a:cs typeface="Arial" charset="0"/>
                    </a:rPr>
                    <a:t>TBD)</a:t>
                  </a:r>
                  <a:endParaRPr lang="en-US" altLang="ko-KR" sz="80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99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84" y="60"/>
                  <a:ext cx="83" cy="3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dirty="0">
                      <a:solidFill>
                        <a:srgbClr val="FF0000"/>
                      </a:solidFill>
                      <a:latin typeface="돋움" pitchFamily="50" charset="-127"/>
                      <a:ea typeface="돋움" pitchFamily="50" charset="-127"/>
                    </a:rPr>
                    <a:t>STOP</a:t>
                  </a:r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100" name="Text Box 226"/>
                <p:cNvSpPr txBox="1">
                  <a:spLocks noChangeArrowheads="1"/>
                </p:cNvSpPr>
                <p:nvPr/>
              </p:nvSpPr>
              <p:spPr bwMode="auto">
                <a:xfrm>
                  <a:off x="-7" y="-19"/>
                  <a:ext cx="75" cy="6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>
                      <a:solidFill>
                        <a:srgbClr val="3366FF"/>
                      </a:solidFill>
                      <a:latin typeface="돋움" pitchFamily="50" charset="-127"/>
                      <a:ea typeface="돋움" pitchFamily="50" charset="-127"/>
                    </a:rPr>
                    <a:t>RUN</a:t>
                  </a:r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</p:grpSp>
          <p:sp>
            <p:nvSpPr>
              <p:cNvPr id="93" name="왼쪽 화살표 74"/>
              <p:cNvSpPr>
                <a:spLocks noChangeArrowheads="1"/>
              </p:cNvSpPr>
              <p:nvPr/>
            </p:nvSpPr>
            <p:spPr bwMode="auto">
              <a:xfrm>
                <a:off x="5047993" y="4312019"/>
                <a:ext cx="144016" cy="144016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kumimoji="0" lang="ko-KR" altLang="en-US" b="1" i="0">
                  <a:latin typeface="Times New Roman" pitchFamily="18" charset="0"/>
                </a:endParaRPr>
              </a:p>
            </p:txBody>
          </p:sp>
        </p:grpSp>
        <p:sp>
          <p:nvSpPr>
            <p:cNvPr id="91" name="Line 221"/>
            <p:cNvSpPr>
              <a:spLocks noChangeShapeType="1"/>
            </p:cNvSpPr>
            <p:nvPr/>
          </p:nvSpPr>
          <p:spPr bwMode="auto">
            <a:xfrm flipV="1">
              <a:off x="4991348" y="4449812"/>
              <a:ext cx="0" cy="28803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</p:grpSp>
      <p:grpSp>
        <p:nvGrpSpPr>
          <p:cNvPr id="101" name="Group 227"/>
          <p:cNvGrpSpPr>
            <a:grpSpLocks/>
          </p:cNvGrpSpPr>
          <p:nvPr/>
        </p:nvGrpSpPr>
        <p:grpSpPr bwMode="auto">
          <a:xfrm>
            <a:off x="4089996" y="1077695"/>
            <a:ext cx="1744226" cy="606873"/>
            <a:chOff x="-3" y="-8"/>
            <a:chExt cx="252" cy="120"/>
          </a:xfrm>
        </p:grpSpPr>
        <p:sp>
          <p:nvSpPr>
            <p:cNvPr id="102" name="Line 228"/>
            <p:cNvSpPr>
              <a:spLocks noChangeShapeType="1"/>
            </p:cNvSpPr>
            <p:nvPr/>
          </p:nvSpPr>
          <p:spPr bwMode="auto">
            <a:xfrm>
              <a:off x="0" y="105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3" name="Line 229"/>
            <p:cNvSpPr>
              <a:spLocks noChangeShapeType="1"/>
            </p:cNvSpPr>
            <p:nvPr/>
          </p:nvSpPr>
          <p:spPr bwMode="auto">
            <a:xfrm flipV="1">
              <a:off x="170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4" name="Line 230"/>
            <p:cNvSpPr>
              <a:spLocks noChangeShapeType="1"/>
            </p:cNvSpPr>
            <p:nvPr/>
          </p:nvSpPr>
          <p:spPr bwMode="auto">
            <a:xfrm flipH="1">
              <a:off x="79" y="30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5" name="Line 231"/>
            <p:cNvSpPr>
              <a:spLocks noChangeShapeType="1"/>
            </p:cNvSpPr>
            <p:nvPr/>
          </p:nvSpPr>
          <p:spPr bwMode="auto">
            <a:xfrm>
              <a:off x="79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6" name="Text Box 232"/>
            <p:cNvSpPr txBox="1">
              <a:spLocks noChangeArrowheads="1"/>
            </p:cNvSpPr>
            <p:nvPr/>
          </p:nvSpPr>
          <p:spPr bwMode="auto">
            <a:xfrm>
              <a:off x="162" y="70"/>
              <a:ext cx="87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9V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7" name="Text Box 233"/>
            <p:cNvSpPr txBox="1">
              <a:spLocks noChangeArrowheads="1"/>
            </p:cNvSpPr>
            <p:nvPr/>
          </p:nvSpPr>
          <p:spPr bwMode="auto">
            <a:xfrm>
              <a:off x="19" y="-1"/>
              <a:ext cx="81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algn="ctr"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8V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8" name="Text Box 234"/>
            <p:cNvSpPr txBox="1">
              <a:spLocks noChangeArrowheads="1"/>
            </p:cNvSpPr>
            <p:nvPr/>
          </p:nvSpPr>
          <p:spPr bwMode="auto">
            <a:xfrm>
              <a:off x="-3" y="64"/>
              <a:ext cx="80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9" name="Text Box 235"/>
            <p:cNvSpPr txBox="1">
              <a:spLocks noChangeArrowheads="1"/>
            </p:cNvSpPr>
            <p:nvPr/>
          </p:nvSpPr>
          <p:spPr bwMode="auto">
            <a:xfrm>
              <a:off x="173" y="-8"/>
              <a:ext cx="74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10" name="Text Box 121"/>
          <p:cNvSpPr txBox="1">
            <a:spLocks/>
          </p:cNvSpPr>
          <p:nvPr/>
        </p:nvSpPr>
        <p:spPr>
          <a:xfrm>
            <a:off x="3891109" y="4294858"/>
            <a:ext cx="844062" cy="2170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0000" tIns="46800" rIns="90000" bIns="4680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1" hangingPunct="1">
              <a:buFontTx/>
              <a:buNone/>
            </a:pPr>
            <a:r>
              <a:rPr lang="en-US" altLang="ko-KR" sz="9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after 10sec</a:t>
            </a:r>
            <a:endParaRPr lang="ko-KR" altLang="en-US" sz="900" b="1" dirty="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11" name="Group 218"/>
          <p:cNvGrpSpPr>
            <a:grpSpLocks/>
          </p:cNvGrpSpPr>
          <p:nvPr/>
        </p:nvGrpSpPr>
        <p:grpSpPr bwMode="auto">
          <a:xfrm>
            <a:off x="4124889" y="5419182"/>
            <a:ext cx="1789844" cy="676734"/>
            <a:chOff x="-2" y="-16"/>
            <a:chExt cx="279" cy="170"/>
          </a:xfrm>
        </p:grpSpPr>
        <p:sp>
          <p:nvSpPr>
            <p:cNvPr id="112" name="Text Box 219"/>
            <p:cNvSpPr txBox="1">
              <a:spLocks noChangeArrowheads="1"/>
            </p:cNvSpPr>
            <p:nvPr/>
          </p:nvSpPr>
          <p:spPr bwMode="auto">
            <a:xfrm>
              <a:off x="10" y="104"/>
              <a:ext cx="137" cy="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</a:t>
              </a:r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 </a:t>
              </a:r>
              <a:r>
                <a:rPr lang="en-US" altLang="ko-KR" sz="800" smtClean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7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34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8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9" name="Text Box 226"/>
            <p:cNvSpPr txBox="1">
              <a:spLocks noChangeArrowheads="1"/>
            </p:cNvSpPr>
            <p:nvPr/>
          </p:nvSpPr>
          <p:spPr bwMode="auto">
            <a:xfrm>
              <a:off x="-2" y="-16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22" name="Line 222"/>
          <p:cNvSpPr>
            <a:spLocks noChangeShapeType="1"/>
          </p:cNvSpPr>
          <p:nvPr/>
        </p:nvSpPr>
        <p:spPr bwMode="auto">
          <a:xfrm flipH="1">
            <a:off x="4105362" y="4897319"/>
            <a:ext cx="111735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23" name="Line 223"/>
          <p:cNvSpPr>
            <a:spLocks noChangeShapeType="1"/>
          </p:cNvSpPr>
          <p:nvPr/>
        </p:nvSpPr>
        <p:spPr bwMode="auto">
          <a:xfrm>
            <a:off x="5222720" y="4897319"/>
            <a:ext cx="0" cy="32570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 sz="140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Protect Functions 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292194"/>
              </p:ext>
            </p:extLst>
          </p:nvPr>
        </p:nvGraphicFramePr>
        <p:xfrm>
          <a:off x="251520" y="764704"/>
          <a:ext cx="8537856" cy="5363028"/>
        </p:xfrm>
        <a:graphic>
          <a:graphicData uri="http://schemas.openxmlformats.org/drawingml/2006/table">
            <a:tbl>
              <a:tblPr/>
              <a:tblGrid>
                <a:gridCol w="50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Specification 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Logic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Functions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8V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 over discharging of the LV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Batt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under voltage condition of LV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17V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Protecting abnormal operating  in the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 over voltage condition of LV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150V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20V)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 rapid discharging of the HV  Battery 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under voltage condition of HV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432V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 20V)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over  voltage condition of HV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8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Current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Over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Current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TBD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Do not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exceed 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14A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by controlling the performance by itself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. (Each Zone)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from over current 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conditions (Each Zone)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9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6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10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circuits from  its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heat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.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7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95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Hysteresis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circuits from  its heat.</a:t>
                      </a: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Reduces performance according to overheating temperature</a:t>
                      </a: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4" name="Group 218"/>
          <p:cNvGrpSpPr>
            <a:grpSpLocks/>
          </p:cNvGrpSpPr>
          <p:nvPr/>
        </p:nvGrpSpPr>
        <p:grpSpPr bwMode="auto">
          <a:xfrm>
            <a:off x="4138952" y="1857760"/>
            <a:ext cx="1777525" cy="548121"/>
            <a:chOff x="0" y="-12"/>
            <a:chExt cx="267" cy="122"/>
          </a:xfrm>
        </p:grpSpPr>
        <p:sp>
          <p:nvSpPr>
            <p:cNvPr id="45" name="Text Box 219"/>
            <p:cNvSpPr txBox="1">
              <a:spLocks noChangeArrowheads="1"/>
            </p:cNvSpPr>
            <p:nvPr/>
          </p:nvSpPr>
          <p:spPr bwMode="auto">
            <a:xfrm>
              <a:off x="22" y="76"/>
              <a:ext cx="90" cy="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17V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4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7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8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Text Box 224"/>
            <p:cNvSpPr txBox="1">
              <a:spLocks noChangeArrowheads="1"/>
            </p:cNvSpPr>
            <p:nvPr/>
          </p:nvSpPr>
          <p:spPr bwMode="auto">
            <a:xfrm>
              <a:off x="151" y="-12"/>
              <a:ext cx="79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18V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0" name="Text Box 225"/>
            <p:cNvSpPr txBox="1">
              <a:spLocks noChangeArrowheads="1"/>
            </p:cNvSpPr>
            <p:nvPr/>
          </p:nvSpPr>
          <p:spPr bwMode="auto">
            <a:xfrm>
              <a:off x="184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1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84" cy="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62" name="Group 199"/>
          <p:cNvGrpSpPr>
            <a:grpSpLocks/>
          </p:cNvGrpSpPr>
          <p:nvPr/>
        </p:nvGrpSpPr>
        <p:grpSpPr bwMode="auto">
          <a:xfrm>
            <a:off x="4105362" y="2588643"/>
            <a:ext cx="1905910" cy="672930"/>
            <a:chOff x="0" y="-10"/>
            <a:chExt cx="285" cy="164"/>
          </a:xfrm>
        </p:grpSpPr>
        <p:sp>
          <p:nvSpPr>
            <p:cNvPr id="63" name="Line 131"/>
            <p:cNvSpPr>
              <a:spLocks noChangeShapeType="1"/>
            </p:cNvSpPr>
            <p:nvPr/>
          </p:nvSpPr>
          <p:spPr bwMode="auto">
            <a:xfrm>
              <a:off x="0" y="112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 flipV="1">
              <a:off x="170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 flipH="1">
              <a:off x="79" y="37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Line 134"/>
            <p:cNvSpPr>
              <a:spLocks noChangeShapeType="1"/>
            </p:cNvSpPr>
            <p:nvPr/>
          </p:nvSpPr>
          <p:spPr bwMode="auto">
            <a:xfrm>
              <a:off x="79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7" name="Text Box 135"/>
            <p:cNvSpPr txBox="1">
              <a:spLocks noChangeArrowheads="1"/>
            </p:cNvSpPr>
            <p:nvPr/>
          </p:nvSpPr>
          <p:spPr bwMode="auto">
            <a:xfrm>
              <a:off x="156" y="92"/>
              <a:ext cx="129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8" name="Text Box 136"/>
            <p:cNvSpPr txBox="1">
              <a:spLocks noChangeArrowheads="1"/>
            </p:cNvSpPr>
            <p:nvPr/>
          </p:nvSpPr>
          <p:spPr bwMode="auto">
            <a:xfrm>
              <a:off x="2" y="-10"/>
              <a:ext cx="106" cy="4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150V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9" name="Text Box 137"/>
            <p:cNvSpPr txBox="1">
              <a:spLocks noChangeArrowheads="1"/>
            </p:cNvSpPr>
            <p:nvPr/>
          </p:nvSpPr>
          <p:spPr bwMode="auto">
            <a:xfrm>
              <a:off x="2" y="109"/>
              <a:ext cx="80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0" name="Text Box 138"/>
            <p:cNvSpPr txBox="1">
              <a:spLocks noChangeArrowheads="1"/>
            </p:cNvSpPr>
            <p:nvPr/>
          </p:nvSpPr>
          <p:spPr bwMode="auto">
            <a:xfrm>
              <a:off x="174" y="-10"/>
              <a:ext cx="72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71" name="Group 218"/>
          <p:cNvGrpSpPr>
            <a:grpSpLocks/>
          </p:cNvGrpSpPr>
          <p:nvPr/>
        </p:nvGrpSpPr>
        <p:grpSpPr bwMode="auto">
          <a:xfrm>
            <a:off x="3940339" y="3356603"/>
            <a:ext cx="1973346" cy="548553"/>
            <a:chOff x="-26" y="-12"/>
            <a:chExt cx="302" cy="128"/>
          </a:xfrm>
        </p:grpSpPr>
        <p:sp>
          <p:nvSpPr>
            <p:cNvPr id="72" name="Text Box 219"/>
            <p:cNvSpPr txBox="1">
              <a:spLocks noChangeArrowheads="1"/>
            </p:cNvSpPr>
            <p:nvPr/>
          </p:nvSpPr>
          <p:spPr bwMode="auto">
            <a:xfrm>
              <a:off x="-26" y="73"/>
              <a:ext cx="161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412V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 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5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6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7" name="Text Box 224"/>
            <p:cNvSpPr txBox="1">
              <a:spLocks noChangeArrowheads="1"/>
            </p:cNvSpPr>
            <p:nvPr/>
          </p:nvSpPr>
          <p:spPr bwMode="auto">
            <a:xfrm>
              <a:off x="157" y="-10"/>
              <a:ext cx="119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432V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8" name="Text Box 225"/>
            <p:cNvSpPr txBox="1">
              <a:spLocks noChangeArrowheads="1"/>
            </p:cNvSpPr>
            <p:nvPr/>
          </p:nvSpPr>
          <p:spPr bwMode="auto">
            <a:xfrm>
              <a:off x="185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9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103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0" name="Group 218"/>
          <p:cNvGrpSpPr>
            <a:grpSpLocks/>
          </p:cNvGrpSpPr>
          <p:nvPr/>
        </p:nvGrpSpPr>
        <p:grpSpPr bwMode="auto">
          <a:xfrm>
            <a:off x="4121876" y="4730993"/>
            <a:ext cx="1892488" cy="1178313"/>
            <a:chOff x="-2" y="-14"/>
            <a:chExt cx="295" cy="296"/>
          </a:xfrm>
        </p:grpSpPr>
        <p:sp>
          <p:nvSpPr>
            <p:cNvPr id="81" name="Text Box 219"/>
            <p:cNvSpPr txBox="1">
              <a:spLocks noChangeArrowheads="1"/>
            </p:cNvSpPr>
            <p:nvPr/>
          </p:nvSpPr>
          <p:spPr bwMode="auto">
            <a:xfrm>
              <a:off x="32" y="104"/>
              <a:ext cx="124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2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3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4" name="Line 222"/>
            <p:cNvSpPr>
              <a:spLocks noChangeShapeType="1"/>
            </p:cNvSpPr>
            <p:nvPr/>
          </p:nvSpPr>
          <p:spPr bwMode="auto">
            <a:xfrm flipH="1">
              <a:off x="1" y="209"/>
              <a:ext cx="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5" name="Line 223"/>
            <p:cNvSpPr>
              <a:spLocks noChangeShapeType="1"/>
            </p:cNvSpPr>
            <p:nvPr/>
          </p:nvSpPr>
          <p:spPr bwMode="auto">
            <a:xfrm>
              <a:off x="81" y="208"/>
              <a:ext cx="89" cy="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6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50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 </a:t>
              </a:r>
              <a:r>
                <a:rPr lang="en-US" altLang="ko-KR" sz="800" smtClean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7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8" name="Text Box 226"/>
            <p:cNvSpPr txBox="1">
              <a:spLocks noChangeArrowheads="1"/>
            </p:cNvSpPr>
            <p:nvPr/>
          </p:nvSpPr>
          <p:spPr bwMode="auto">
            <a:xfrm>
              <a:off x="-2" y="-14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9" name="그룹 77"/>
          <p:cNvGrpSpPr>
            <a:grpSpLocks/>
          </p:cNvGrpSpPr>
          <p:nvPr/>
        </p:nvGrpSpPr>
        <p:grpSpPr bwMode="auto">
          <a:xfrm>
            <a:off x="4072681" y="4067183"/>
            <a:ext cx="1846174" cy="550905"/>
            <a:chOff x="4360965" y="4193869"/>
            <a:chExt cx="1901127" cy="549680"/>
          </a:xfrm>
        </p:grpSpPr>
        <p:grpSp>
          <p:nvGrpSpPr>
            <p:cNvPr id="90" name="그룹 75"/>
            <p:cNvGrpSpPr>
              <a:grpSpLocks/>
            </p:cNvGrpSpPr>
            <p:nvPr/>
          </p:nvGrpSpPr>
          <p:grpSpPr bwMode="auto">
            <a:xfrm>
              <a:off x="4360965" y="4193869"/>
              <a:ext cx="1901127" cy="549680"/>
              <a:chOff x="4360965" y="4173511"/>
              <a:chExt cx="1901127" cy="549680"/>
            </a:xfrm>
          </p:grpSpPr>
          <p:grpSp>
            <p:nvGrpSpPr>
              <p:cNvPr id="92" name="Group 218"/>
              <p:cNvGrpSpPr>
                <a:grpSpLocks/>
              </p:cNvGrpSpPr>
              <p:nvPr/>
            </p:nvGrpSpPr>
            <p:grpSpPr bwMode="auto">
              <a:xfrm>
                <a:off x="4360965" y="4173511"/>
                <a:ext cx="1901127" cy="549680"/>
                <a:chOff x="-7" y="-19"/>
                <a:chExt cx="282" cy="135"/>
              </a:xfrm>
            </p:grpSpPr>
            <p:sp>
              <p:nvSpPr>
                <p:cNvPr id="95" name="Line 220"/>
                <p:cNvSpPr>
                  <a:spLocks noChangeShapeType="1"/>
                </p:cNvSpPr>
                <p:nvPr/>
              </p:nvSpPr>
              <p:spPr bwMode="auto">
                <a:xfrm>
                  <a:off x="85" y="116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6" name="Line 222"/>
                <p:cNvSpPr>
                  <a:spLocks noChangeShapeType="1"/>
                </p:cNvSpPr>
                <p:nvPr/>
              </p:nvSpPr>
              <p:spPr bwMode="auto">
                <a:xfrm flipH="1">
                  <a:off x="0" y="34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7" name="Line 223"/>
                <p:cNvSpPr>
                  <a:spLocks noChangeShapeType="1"/>
                </p:cNvSpPr>
                <p:nvPr/>
              </p:nvSpPr>
              <p:spPr bwMode="auto">
                <a:xfrm>
                  <a:off x="171" y="34"/>
                  <a:ext cx="0" cy="7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8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155" y="-15"/>
                  <a:ext cx="120" cy="5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smtClean="0">
                      <a:solidFill>
                        <a:srgbClr val="0070C0"/>
                      </a:solidFill>
                      <a:latin typeface="돋움" pitchFamily="50" charset="-127"/>
                      <a:ea typeface="돋움" pitchFamily="50" charset="-127"/>
                    </a:rPr>
                    <a:t>14A (</a:t>
                  </a:r>
                  <a:r>
                    <a:rPr lang="en-US" altLang="ko-KR" sz="800" smtClean="0">
                      <a:solidFill>
                        <a:schemeClr val="tx1"/>
                      </a:solidFill>
                      <a:ea typeface="굴림" charset="-127"/>
                      <a:cs typeface="Arial" charset="0"/>
                    </a:rPr>
                    <a:t>TBD)</a:t>
                  </a:r>
                  <a:endParaRPr lang="en-US" altLang="ko-KR" sz="80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99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84" y="60"/>
                  <a:ext cx="83" cy="3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dirty="0">
                      <a:solidFill>
                        <a:srgbClr val="FF0000"/>
                      </a:solidFill>
                      <a:latin typeface="돋움" pitchFamily="50" charset="-127"/>
                      <a:ea typeface="돋움" pitchFamily="50" charset="-127"/>
                    </a:rPr>
                    <a:t>STOP</a:t>
                  </a:r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100" name="Text Box 226"/>
                <p:cNvSpPr txBox="1">
                  <a:spLocks noChangeArrowheads="1"/>
                </p:cNvSpPr>
                <p:nvPr/>
              </p:nvSpPr>
              <p:spPr bwMode="auto">
                <a:xfrm>
                  <a:off x="-7" y="-19"/>
                  <a:ext cx="75" cy="6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>
                      <a:solidFill>
                        <a:srgbClr val="3366FF"/>
                      </a:solidFill>
                      <a:latin typeface="돋움" pitchFamily="50" charset="-127"/>
                      <a:ea typeface="돋움" pitchFamily="50" charset="-127"/>
                    </a:rPr>
                    <a:t>RUN</a:t>
                  </a:r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</p:grpSp>
          <p:sp>
            <p:nvSpPr>
              <p:cNvPr id="93" name="왼쪽 화살표 74"/>
              <p:cNvSpPr>
                <a:spLocks noChangeArrowheads="1"/>
              </p:cNvSpPr>
              <p:nvPr/>
            </p:nvSpPr>
            <p:spPr bwMode="auto">
              <a:xfrm>
                <a:off x="5047993" y="4312019"/>
                <a:ext cx="144016" cy="144016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kumimoji="0" lang="ko-KR" altLang="en-US" b="1" i="0">
                  <a:latin typeface="Times New Roman" pitchFamily="18" charset="0"/>
                </a:endParaRPr>
              </a:p>
            </p:txBody>
          </p:sp>
        </p:grpSp>
        <p:sp>
          <p:nvSpPr>
            <p:cNvPr id="91" name="Line 221"/>
            <p:cNvSpPr>
              <a:spLocks noChangeShapeType="1"/>
            </p:cNvSpPr>
            <p:nvPr/>
          </p:nvSpPr>
          <p:spPr bwMode="auto">
            <a:xfrm flipV="1">
              <a:off x="4991348" y="4449812"/>
              <a:ext cx="0" cy="28803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</p:grpSp>
      <p:grpSp>
        <p:nvGrpSpPr>
          <p:cNvPr id="101" name="Group 227"/>
          <p:cNvGrpSpPr>
            <a:grpSpLocks/>
          </p:cNvGrpSpPr>
          <p:nvPr/>
        </p:nvGrpSpPr>
        <p:grpSpPr bwMode="auto">
          <a:xfrm>
            <a:off x="4089996" y="1077695"/>
            <a:ext cx="1744226" cy="606873"/>
            <a:chOff x="-3" y="-8"/>
            <a:chExt cx="252" cy="120"/>
          </a:xfrm>
        </p:grpSpPr>
        <p:sp>
          <p:nvSpPr>
            <p:cNvPr id="102" name="Line 228"/>
            <p:cNvSpPr>
              <a:spLocks noChangeShapeType="1"/>
            </p:cNvSpPr>
            <p:nvPr/>
          </p:nvSpPr>
          <p:spPr bwMode="auto">
            <a:xfrm>
              <a:off x="0" y="105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3" name="Line 229"/>
            <p:cNvSpPr>
              <a:spLocks noChangeShapeType="1"/>
            </p:cNvSpPr>
            <p:nvPr/>
          </p:nvSpPr>
          <p:spPr bwMode="auto">
            <a:xfrm flipV="1">
              <a:off x="170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4" name="Line 230"/>
            <p:cNvSpPr>
              <a:spLocks noChangeShapeType="1"/>
            </p:cNvSpPr>
            <p:nvPr/>
          </p:nvSpPr>
          <p:spPr bwMode="auto">
            <a:xfrm flipH="1">
              <a:off x="79" y="30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5" name="Line 231"/>
            <p:cNvSpPr>
              <a:spLocks noChangeShapeType="1"/>
            </p:cNvSpPr>
            <p:nvPr/>
          </p:nvSpPr>
          <p:spPr bwMode="auto">
            <a:xfrm>
              <a:off x="79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6" name="Text Box 232"/>
            <p:cNvSpPr txBox="1">
              <a:spLocks noChangeArrowheads="1"/>
            </p:cNvSpPr>
            <p:nvPr/>
          </p:nvSpPr>
          <p:spPr bwMode="auto">
            <a:xfrm>
              <a:off x="162" y="70"/>
              <a:ext cx="87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9V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7" name="Text Box 233"/>
            <p:cNvSpPr txBox="1">
              <a:spLocks noChangeArrowheads="1"/>
            </p:cNvSpPr>
            <p:nvPr/>
          </p:nvSpPr>
          <p:spPr bwMode="auto">
            <a:xfrm>
              <a:off x="19" y="-1"/>
              <a:ext cx="81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algn="ctr"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8V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8" name="Text Box 234"/>
            <p:cNvSpPr txBox="1">
              <a:spLocks noChangeArrowheads="1"/>
            </p:cNvSpPr>
            <p:nvPr/>
          </p:nvSpPr>
          <p:spPr bwMode="auto">
            <a:xfrm>
              <a:off x="-3" y="64"/>
              <a:ext cx="80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9" name="Text Box 235"/>
            <p:cNvSpPr txBox="1">
              <a:spLocks noChangeArrowheads="1"/>
            </p:cNvSpPr>
            <p:nvPr/>
          </p:nvSpPr>
          <p:spPr bwMode="auto">
            <a:xfrm>
              <a:off x="173" y="-8"/>
              <a:ext cx="74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10" name="Text Box 121"/>
          <p:cNvSpPr txBox="1">
            <a:spLocks/>
          </p:cNvSpPr>
          <p:nvPr/>
        </p:nvSpPr>
        <p:spPr>
          <a:xfrm>
            <a:off x="3891109" y="4294858"/>
            <a:ext cx="844062" cy="2170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0000" tIns="46800" rIns="90000" bIns="4680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1" hangingPunct="1">
              <a:buFontTx/>
              <a:buNone/>
            </a:pPr>
            <a:r>
              <a:rPr lang="en-US" altLang="ko-KR" sz="9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after 10sec</a:t>
            </a:r>
            <a:endParaRPr lang="ko-KR" altLang="en-US" sz="900" b="1" dirty="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11" name="Group 218"/>
          <p:cNvGrpSpPr>
            <a:grpSpLocks/>
          </p:cNvGrpSpPr>
          <p:nvPr/>
        </p:nvGrpSpPr>
        <p:grpSpPr bwMode="auto">
          <a:xfrm>
            <a:off x="4124889" y="5419182"/>
            <a:ext cx="1789844" cy="676734"/>
            <a:chOff x="-2" y="-16"/>
            <a:chExt cx="279" cy="170"/>
          </a:xfrm>
        </p:grpSpPr>
        <p:sp>
          <p:nvSpPr>
            <p:cNvPr id="112" name="Text Box 219"/>
            <p:cNvSpPr txBox="1">
              <a:spLocks noChangeArrowheads="1"/>
            </p:cNvSpPr>
            <p:nvPr/>
          </p:nvSpPr>
          <p:spPr bwMode="auto">
            <a:xfrm>
              <a:off x="10" y="104"/>
              <a:ext cx="137" cy="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</a:t>
              </a:r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 </a:t>
              </a:r>
              <a:r>
                <a:rPr lang="en-US" altLang="ko-KR" sz="800" smtClean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7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34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8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9" name="Text Box 226"/>
            <p:cNvSpPr txBox="1">
              <a:spLocks noChangeArrowheads="1"/>
            </p:cNvSpPr>
            <p:nvPr/>
          </p:nvSpPr>
          <p:spPr bwMode="auto">
            <a:xfrm>
              <a:off x="-2" y="-16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22" name="Line 222"/>
          <p:cNvSpPr>
            <a:spLocks noChangeShapeType="1"/>
          </p:cNvSpPr>
          <p:nvPr/>
        </p:nvSpPr>
        <p:spPr bwMode="auto">
          <a:xfrm flipH="1">
            <a:off x="4105362" y="4897319"/>
            <a:ext cx="111735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23" name="Line 223"/>
          <p:cNvSpPr>
            <a:spLocks noChangeShapeType="1"/>
          </p:cNvSpPr>
          <p:nvPr/>
        </p:nvSpPr>
        <p:spPr bwMode="auto">
          <a:xfrm>
            <a:off x="5222720" y="4897319"/>
            <a:ext cx="0" cy="32570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3424815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15AA159CC1C344EADF7389267D7D29E" ma:contentTypeVersion="10" ma:contentTypeDescription="새 문서를 만듭니다." ma:contentTypeScope="" ma:versionID="3f1b2834aa93152c4a8f539392146c93">
  <xsd:schema xmlns:xsd="http://www.w3.org/2001/XMLSchema" xmlns:xs="http://www.w3.org/2001/XMLSchema" xmlns:p="http://schemas.microsoft.com/office/2006/metadata/properties" xmlns:ns2="e96725e2-83fe-4ac5-80d3-97d0078319b0" targetNamespace="http://schemas.microsoft.com/office/2006/metadata/properties" ma:root="true" ma:fieldsID="02a9e22d4a5823363a3d12e4db760e32" ns2:_="">
    <xsd:import namespace="e96725e2-83fe-4ac5-80d3-97d007831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725e2-83fe-4ac5-80d3-97d0078319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9262A9-4E72-4C02-951D-EFFC86D157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823F51-1E8B-41B0-B12E-E186174997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6725e2-83fe-4ac5-80d3-97d007831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5D4C76-0AFE-44BD-A36C-4AE64ACB4F2C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e96725e2-83fe-4ac5-80d3-97d0078319b0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19256</TotalTime>
  <Words>1225</Words>
  <Application>Microsoft Office PowerPoint</Application>
  <PresentationFormat>화면 슬라이드 쇼(4:3)</PresentationFormat>
  <Paragraphs>506</Paragraphs>
  <Slides>10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2</vt:i4>
      </vt:variant>
      <vt:variant>
        <vt:lpstr>연결</vt:lpstr>
      </vt:variant>
      <vt:variant>
        <vt:i4>14</vt:i4>
      </vt:variant>
      <vt:variant>
        <vt:lpstr>슬라이드 제목</vt:lpstr>
      </vt:variant>
      <vt:variant>
        <vt:i4>10</vt:i4>
      </vt:variant>
    </vt:vector>
  </HeadingPairs>
  <TitlesOfParts>
    <vt:vector size="41" baseType="lpstr">
      <vt:lpstr>HY헤드라인M</vt:lpstr>
      <vt:lpstr>SimSun</vt:lpstr>
      <vt:lpstr>굴림</vt:lpstr>
      <vt:lpstr>돋움</vt:lpstr>
      <vt:lpstr>맑은 고딕</vt:lpstr>
      <vt:lpstr>현대산스 Head</vt:lpstr>
      <vt:lpstr>현대하모니 B</vt:lpstr>
      <vt:lpstr>현대하모니 L</vt:lpstr>
      <vt:lpstr>현대하모니 M</vt:lpstr>
      <vt:lpstr>Arial</vt:lpstr>
      <vt:lpstr>Lucida Sans Unicode</vt:lpstr>
      <vt:lpstr>Tahoma</vt:lpstr>
      <vt:lpstr>Times New Roman</vt:lpstr>
      <vt:lpstr>Verdana</vt:lpstr>
      <vt:lpstr>Wingdings</vt:lpstr>
      <vt:lpstr>默认设计模板</vt:lpstr>
      <vt:lpstr>디자인 사용자 지정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file:///C:\Users\user\Desktop\QV3D_241202\00_QV_PTC_HEATER_ASSY_241202_LEE.CATProduct</vt:lpstr>
      <vt:lpstr>file:///\\192.168.19.10\airptc\100___AIR_PTC_HEATER\10___고전압_PTC\QV1\550______설계DATA(2D3D)\3D\REV_2_LUMP__3\ROD_ASSY.CATProduct</vt:lpstr>
      <vt:lpstr>file:///C:\Users\user\Desktop\QV3D_241202\00_QV_PTC_HEATER_ASSY_241202_LEE.CATProduct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file:///\\192.168.19.10\airptc\100___AIR_PTC_HEATER\10___고전압_PTC\QV1\550______설계DATA(2D3D)\3D\REV_15_1_SEPARATE_ROD_DIRECT\LOWER_HOUSING_2.CATPart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Windows 사용자</cp:lastModifiedBy>
  <cp:revision>756</cp:revision>
  <cp:lastPrinted>2012-09-11T04:14:38Z</cp:lastPrinted>
  <dcterms:created xsi:type="dcterms:W3CDTF">2005-05-16T04:40:22Z</dcterms:created>
  <dcterms:modified xsi:type="dcterms:W3CDTF">2026-03-05T09:29:26Z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0x010100515AA159CC1C344EADF7389267D7D29E</vt:lpwstr>
  </property>
</Properties>
</file>