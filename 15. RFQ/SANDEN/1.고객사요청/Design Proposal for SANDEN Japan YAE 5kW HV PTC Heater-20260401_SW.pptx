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"/>
    <p:sldMasterId id="2147483758" r:id="rId5"/>
  </p:sldMasterIdLst>
  <p:notesMasterIdLst>
    <p:notesMasterId r:id="rId26"/>
  </p:notesMasterIdLst>
  <p:handoutMasterIdLst>
    <p:handoutMasterId r:id="rId27"/>
  </p:handoutMasterIdLst>
  <p:sldIdLst>
    <p:sldId id="477" r:id="rId6"/>
    <p:sldId id="478" r:id="rId7"/>
    <p:sldId id="435" r:id="rId8"/>
    <p:sldId id="475" r:id="rId9"/>
    <p:sldId id="487" r:id="rId10"/>
    <p:sldId id="488" r:id="rId11"/>
    <p:sldId id="489" r:id="rId12"/>
    <p:sldId id="438" r:id="rId13"/>
    <p:sldId id="441" r:id="rId14"/>
    <p:sldId id="479" r:id="rId15"/>
    <p:sldId id="486" r:id="rId16"/>
    <p:sldId id="484" r:id="rId17"/>
    <p:sldId id="485" r:id="rId18"/>
    <p:sldId id="419" r:id="rId19"/>
    <p:sldId id="493" r:id="rId20"/>
    <p:sldId id="490" r:id="rId21"/>
    <p:sldId id="491" r:id="rId22"/>
    <p:sldId id="481" r:id="rId23"/>
    <p:sldId id="482" r:id="rId24"/>
    <p:sldId id="480" r:id="rId25"/>
  </p:sldIdLst>
  <p:sldSz cx="9144000" cy="6858000" type="screen4x3"/>
  <p:notesSz cx="6797675" cy="98742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9900"/>
    <a:srgbClr val="FF66FF"/>
    <a:srgbClr val="FF3300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86" autoAdjust="0"/>
    <p:restoredTop sz="92950" autoAdjust="0"/>
  </p:normalViewPr>
  <p:slideViewPr>
    <p:cSldViewPr>
      <p:cViewPr varScale="1">
        <p:scale>
          <a:sx n="114" d="100"/>
          <a:sy n="114" d="100"/>
        </p:scale>
        <p:origin x="20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B94B7DE8-B63B-41C2-A6D8-8A0F8965C9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4EDE1657-4A80-4AE2-A356-1B1A163B14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6890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2CCB06-2CBB-4505-8C94-586CDDF32700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566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091571-CF16-4E94-A0E5-1E8377B23E1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9766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37297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145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79AD5B-9378-484B-84BD-B4B17892418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42184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0E6095-F3C6-47D6-BA6B-3D1C80401123}" type="slidenum">
              <a:rPr lang="ko-KR" altLang="en-US" smtClean="0">
                <a:ea typeface="굴림" charset="-127"/>
              </a:rPr>
              <a:pPr/>
              <a:t>12</a:t>
            </a:fld>
            <a:endParaRPr lang="en-US" altLang="ko-KR">
              <a:ea typeface="굴림" charset="-127"/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3910" y="9440229"/>
            <a:ext cx="2947106" cy="497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869" tIns="46435" rIns="92869" bIns="46435" anchor="b"/>
          <a:lstStyle/>
          <a:p>
            <a:pPr algn="r" defTabSz="928662"/>
            <a:fld id="{B786506F-D511-40C2-937E-1355926A5752}" type="slidenum">
              <a:rPr lang="ko-KR" altLang="en-US" sz="1200">
                <a:latin typeface="Arial" charset="0"/>
              </a:rPr>
              <a:pPr algn="r" defTabSz="928662"/>
              <a:t>12</a:t>
            </a:fld>
            <a:endParaRPr lang="en-US" altLang="ko-KR" sz="1200">
              <a:latin typeface="Arial" charset="0"/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6125"/>
            <a:ext cx="4968875" cy="3727450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157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0E6095-F3C6-47D6-BA6B-3D1C80401123}" type="slidenum">
              <a:rPr lang="ko-KR" altLang="en-US" smtClean="0">
                <a:ea typeface="굴림" charset="-127"/>
              </a:rPr>
              <a:pPr/>
              <a:t>13</a:t>
            </a:fld>
            <a:endParaRPr lang="en-US" altLang="ko-KR">
              <a:ea typeface="굴림" charset="-127"/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3910" y="9440229"/>
            <a:ext cx="2947106" cy="497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869" tIns="46435" rIns="92869" bIns="46435" anchor="b"/>
          <a:lstStyle/>
          <a:p>
            <a:pPr algn="r" defTabSz="928662"/>
            <a:fld id="{B786506F-D511-40C2-937E-1355926A5752}" type="slidenum">
              <a:rPr lang="ko-KR" altLang="en-US" sz="1200">
                <a:latin typeface="Arial" charset="0"/>
              </a:rPr>
              <a:pPr algn="r" defTabSz="928662"/>
              <a:t>13</a:t>
            </a:fld>
            <a:endParaRPr lang="en-US" altLang="ko-KR" sz="1200">
              <a:latin typeface="Arial" charset="0"/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6125"/>
            <a:ext cx="4968875" cy="3727450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926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73252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3328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41113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2852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7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659921"/>
            <a:ext cx="1894561" cy="32620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850180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EE86795-58DA-4FEB-91AB-30C3C4213D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0A1A36B-D157-44F6-92BA-B3A14FC4FAD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BC56B06-C305-4998-B575-0C2F1702FB3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B78797B-0958-4819-AA82-48056DA41C3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AC28C72-7EB3-42CD-9625-C444D288AA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65B83D3-4BD9-4863-8491-FCFBB2F58D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AC5E665-A400-498D-8246-6B15A3529F2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1B67E7A-6BD6-4BB3-9955-0FF99B0ED04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DEB31C30-C239-4887-B093-0EAD4FE86B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algn="ctr" eaLnBrk="0" hangingPunct="0">
              <a:lnSpc>
                <a:spcPct val="110000"/>
              </a:lnSpc>
              <a:defRPr>
                <a:ea typeface="HY헤드라인M" pitchFamily="18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92">
              <a:solidFill>
                <a:srgbClr val="000000"/>
              </a:solidFill>
              <a:latin typeface="HY헤드라인M" pitchFamily="18" charset="-127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algn="ctr" eaLnBrk="0" hangingPunct="0">
              <a:lnSpc>
                <a:spcPct val="110000"/>
              </a:lnSpc>
              <a:defRPr>
                <a:ea typeface="HY헤드라인M" pitchFamily="18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92">
              <a:solidFill>
                <a:srgbClr val="000000"/>
              </a:solidFill>
              <a:latin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284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215"/>
            </a:lvl1pPr>
            <a:lvl2pPr marL="422041" indent="0" algn="ctr">
              <a:buNone/>
              <a:defRPr sz="1846"/>
            </a:lvl2pPr>
            <a:lvl3pPr marL="844083" indent="0" algn="ctr">
              <a:buNone/>
              <a:defRPr sz="1662"/>
            </a:lvl3pPr>
            <a:lvl4pPr marL="1266124" indent="0" algn="ctr">
              <a:buNone/>
              <a:defRPr sz="1477"/>
            </a:lvl4pPr>
            <a:lvl5pPr marL="1688165" indent="0" algn="ctr">
              <a:buNone/>
              <a:defRPr sz="1477"/>
            </a:lvl5pPr>
            <a:lvl6pPr marL="2110207" indent="0" algn="ctr">
              <a:buNone/>
              <a:defRPr sz="1477"/>
            </a:lvl6pPr>
            <a:lvl7pPr marL="2532248" indent="0" algn="ctr">
              <a:buNone/>
              <a:defRPr sz="1477"/>
            </a:lvl7pPr>
            <a:lvl8pPr marL="2954289" indent="0" algn="ctr">
              <a:buNone/>
              <a:defRPr sz="1477"/>
            </a:lvl8pPr>
            <a:lvl9pPr marL="3376331" indent="0" algn="ctr">
              <a:buNone/>
              <a:defRPr sz="1477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619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863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4254" y="1709739"/>
            <a:ext cx="7886700" cy="2852737"/>
          </a:xfrm>
        </p:spPr>
        <p:txBody>
          <a:bodyPr anchor="b"/>
          <a:lstStyle>
            <a:lvl1pPr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4254" y="4589464"/>
            <a:ext cx="7886700" cy="1500187"/>
          </a:xfrm>
        </p:spPr>
        <p:txBody>
          <a:bodyPr/>
          <a:lstStyle>
            <a:lvl1pPr marL="0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1pPr>
            <a:lvl2pPr marL="42204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83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73011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9" y="1825625"/>
            <a:ext cx="387301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11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6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116" y="1681163"/>
            <a:ext cx="386861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116" y="2505075"/>
            <a:ext cx="386861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66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66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725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436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855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549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09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38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4408" y="365125"/>
            <a:ext cx="1970943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7508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5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868423" y="6572442"/>
            <a:ext cx="1262910" cy="266957"/>
          </a:xfrm>
          <a:prstGeom prst="rect">
            <a:avLst/>
          </a:prstGeom>
        </p:spPr>
      </p:pic>
      <p:sp>
        <p:nvSpPr>
          <p:cNvPr id="11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01659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sz="1846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12" name="Rectangle 36"/>
          <p:cNvSpPr>
            <a:spLocks noChangeArrowheads="1"/>
          </p:cNvSpPr>
          <p:nvPr userDrawn="1"/>
        </p:nvSpPr>
        <p:spPr bwMode="white">
          <a:xfrm>
            <a:off x="580292" y="480314"/>
            <a:ext cx="8563708" cy="65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015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9100" y="6516799"/>
            <a:ext cx="6248079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015"/>
              </a:lnSpc>
            </a:pPr>
            <a:r>
              <a:rPr lang="ko-KR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15"/>
              </a:lnSpc>
            </a:pPr>
            <a:r>
              <a:rPr lang="en-US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70" r:id="rId13"/>
  </p:sldLayoutIdLst>
  <p:transition>
    <p:blinds dir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5pPr>
      <a:lvl6pPr marL="422041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6pPr>
      <a:lvl7pPr marL="844083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7pPr>
      <a:lvl8pPr marL="1266124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8pPr>
      <a:lvl9pPr marL="1688165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1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DD624-8302-479C-8EC8-7D704AF3E6B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1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05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l" defTabSz="844083" rtl="0" eaLnBrk="1" latinLnBrk="1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1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Relationship Id="rId5" Type="http://schemas.openxmlformats.org/officeDocument/2006/relationships/image" Target="../media/image4.wmf"/><Relationship Id="rId4" Type="http://schemas.openxmlformats.org/officeDocument/2006/relationships/oleObject" Target="file:///C:\Users\user\Desktop\QV3D_241202\00_QV_PTC_HEATER_ASSY_241202_LEE.CATProduct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file:///\\192.168.19.10\airptc\100___AIR_PTC_HEATER\10___&#44256;&#51204;&#50517;_PTC\QV1\550______&#49444;&#44228;DATA(2D3D)\3D\REV_2_LUMP__3\ROD_ASSY.CATProduct" TargetMode="External"/><Relationship Id="rId5" Type="http://schemas.openxmlformats.org/officeDocument/2006/relationships/image" Target="../media/image8.wmf"/><Relationship Id="rId4" Type="http://schemas.openxmlformats.org/officeDocument/2006/relationships/oleObject" Target="file:///C:\Users\user\Desktop\QV3D_241202\00_QV_PTC_HEATER_ASSY_241202_LEE.CATProduct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file:///\\192.168.19.10\airptc\100___AIR_PTC_HEATER\10___&#44256;&#51204;&#50517;_PTC\QV1\550______&#49444;&#44228;DATA(2D3D)\3D\REV_15_1_SEPARATE_ROD_DIRECT\ROD_ASSY.CATProduct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png"/><Relationship Id="rId5" Type="http://schemas.openxmlformats.org/officeDocument/2006/relationships/image" Target="../media/image5.wmf"/><Relationship Id="rId4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3.wmf"/><Relationship Id="rId3" Type="http://schemas.openxmlformats.org/officeDocument/2006/relationships/oleObject" Target="file:///C:\Users\user\Desktop\QV3D_241202\00_QV_PTC_HEATER_ASSY_241202_LEE.CATProduct" TargetMode="External"/><Relationship Id="rId7" Type="http://schemas.openxmlformats.org/officeDocument/2006/relationships/image" Target="../media/image19.wmf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6.vml"/><Relationship Id="rId6" Type="http://schemas.openxmlformats.org/officeDocument/2006/relationships/oleObject" Target="file:///\\192.168.19.10\airptc\100___AIR_PTC_HEATER\10___&#44256;&#51204;&#50517;_PTC\QV1\550______&#49444;&#44228;DATA(2D3D)\3D\REV_15_1_SEPARATE_ROD_DIRECT\BODY_ASSY.CATProduct" TargetMode="External"/><Relationship Id="rId11" Type="http://schemas.openxmlformats.org/officeDocument/2006/relationships/oleObject" Target="file:///\\192.168.19.10\airptc\100___AIR_PTC_HEATER\10___&#44256;&#51204;&#50517;_PTC\QV1\550______&#49444;&#44228;DATA(2D3D)\3D\REV_15_1_SEPARATE_ROD_DIRECT\00_QV_PTC_HEATER_ASSY_240401_SEPARATE_ROD_DIRECT.CATProduct" TargetMode="External"/><Relationship Id="rId5" Type="http://schemas.openxmlformats.org/officeDocument/2006/relationships/image" Target="../media/image26.png"/><Relationship Id="rId15" Type="http://schemas.openxmlformats.org/officeDocument/2006/relationships/image" Target="../media/image25.wmf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file:///\\192.168.19.10\airptc\100___AIR_PTC_HEATER\10___&#44256;&#51204;&#50517;_PTC\QV1\550______&#49444;&#44228;DATA(2D3D)\3D\REV_15_1_SEPARATE_ROD_DIRECT\LOWER_HOUSING_2.CATPart" TargetMode="External"/><Relationship Id="rId1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wmf"/><Relationship Id="rId5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Relationship Id="rId4" Type="http://schemas.openxmlformats.org/officeDocument/2006/relationships/image" Target="../media/image2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400" dirty="0" smtClean="0">
                <a:solidFill>
                  <a:schemeClr val="bg1"/>
                </a:solidFill>
              </a:rPr>
              <a:t>Design Proposal for YAE HV PTC Heater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491880" y="6232046"/>
            <a:ext cx="288032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WOORY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12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</a:t>
            </a:r>
            <a:r>
              <a:rPr lang="ja-JP" altLang="en-US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ー仕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様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19" name="개체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982964"/>
              </p:ext>
            </p:extLst>
          </p:nvPr>
        </p:nvGraphicFramePr>
        <p:xfrm>
          <a:off x="94646" y="1412776"/>
          <a:ext cx="4045305" cy="444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00" name="프로덕트" r:id="rId4" imgW="2499120" imgH="2388600" progId="CATIA.Product">
                  <p:link updateAutomatic="1"/>
                </p:oleObj>
              </mc:Choice>
              <mc:Fallback>
                <p:oleObj name="프로덕트" r:id="rId4" imgW="2499120" imgH="2388600" progId="CATIA.Product">
                  <p:link updateAutomatic="1"/>
                  <p:pic>
                    <p:nvPicPr>
                      <p:cNvPr id="8" name="개체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646" y="1412776"/>
                        <a:ext cx="4045305" cy="4441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90"/>
          <p:cNvSpPr>
            <a:spLocks noChangeArrowheads="1"/>
          </p:cNvSpPr>
          <p:nvPr/>
        </p:nvSpPr>
        <p:spPr bwMode="auto">
          <a:xfrm rot="21024005">
            <a:off x="2040736" y="2966526"/>
            <a:ext cx="669681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1</a:t>
            </a:r>
          </a:p>
        </p:txBody>
      </p:sp>
      <p:sp>
        <p:nvSpPr>
          <p:cNvPr id="21" name="Rectangle 90"/>
          <p:cNvSpPr>
            <a:spLocks noChangeArrowheads="1"/>
          </p:cNvSpPr>
          <p:nvPr/>
        </p:nvSpPr>
        <p:spPr bwMode="auto">
          <a:xfrm rot="20950199">
            <a:off x="2187003" y="4137557"/>
            <a:ext cx="668215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2</a:t>
            </a:r>
          </a:p>
        </p:txBody>
      </p:sp>
      <p:sp>
        <p:nvSpPr>
          <p:cNvPr id="24" name="AutoShape 60"/>
          <p:cNvSpPr>
            <a:spLocks noChangeArrowheads="1"/>
          </p:cNvSpPr>
          <p:nvPr/>
        </p:nvSpPr>
        <p:spPr bwMode="auto">
          <a:xfrm>
            <a:off x="3804295" y="1340768"/>
            <a:ext cx="5260898" cy="4572032"/>
          </a:xfrm>
          <a:prstGeom prst="roundRect">
            <a:avLst>
              <a:gd name="adj" fmla="val 1903"/>
            </a:avLst>
          </a:prstGeom>
          <a:noFill/>
          <a:ln w="15875" algn="ctr">
            <a:noFill/>
            <a:round/>
            <a:headEnd/>
            <a:tailEnd/>
          </a:ln>
        </p:spPr>
        <p:txBody>
          <a:bodyPr wrap="none" lIns="3600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デュアルゾーン構成</a:t>
            </a: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: </a:t>
            </a:r>
            <a:endParaRPr lang="en-US" altLang="ko-KR" sz="1400" dirty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 - 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PTC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ヒーター性能：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5.5 kW ±5</a:t>
            </a:r>
            <a:r>
              <a:rPr lang="en-US" altLang="ja-JP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%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 - 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HV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および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LV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回路は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1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枚の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PCB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基板上に構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成</a:t>
            </a:r>
            <a:endParaRPr lang="en-US" altLang="ja-JP" sz="1400" dirty="0" smtClean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  <a:sym typeface="Wingdings" pitchFamily="2" charset="2"/>
            </a:endParaRPr>
          </a:p>
          <a:p>
            <a:pPr>
              <a:spcBef>
                <a:spcPct val="50000"/>
              </a:spcBef>
              <a:defRPr/>
            </a:pP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防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水・防塵性能：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IP67</a:t>
            </a:r>
          </a:p>
          <a:p>
            <a:pPr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ヒーティングロッド種類：アルミニウムチューブタイ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プ</a:t>
            </a:r>
            <a:endParaRPr lang="en-US" altLang="ja-JP" sz="1400" dirty="0" smtClean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</a:endParaRPr>
          </a:p>
          <a:p>
            <a:pPr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フィン種類：ブレージングフィン（分離型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）</a:t>
            </a:r>
            <a:endParaRPr lang="en-US" altLang="ja-JP" sz="1400" dirty="0" smtClean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  <a:sym typeface="Wingdings" pitchFamily="2" charset="2"/>
            </a:endParaRPr>
          </a:p>
          <a:p>
            <a:pPr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コネクタ種類：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HV / LV 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ネクタ（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IP67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）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 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- HV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コネクタ：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APTIV 35664921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</a:t>
            </a: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- 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LV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コネクタ：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YURA 210050</a:t>
            </a:r>
          </a:p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EMC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規格を満たすためにシャシー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GND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が必要</a:t>
            </a:r>
            <a:endParaRPr lang="ko-KR" altLang="en-US" sz="1400" dirty="0">
              <a:latin typeface="Meiryo UI" panose="020B0604030504040204" pitchFamily="34" charset="-128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892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デュアルゾーン方式のコンセプト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50" name="개체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47236"/>
              </p:ext>
            </p:extLst>
          </p:nvPr>
        </p:nvGraphicFramePr>
        <p:xfrm>
          <a:off x="3083807" y="2686719"/>
          <a:ext cx="1199178" cy="3536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88" name="프로덕트" r:id="rId4" imgW="997920" imgH="2944800" progId="CATIA.Product">
                  <p:link updateAutomatic="1"/>
                </p:oleObj>
              </mc:Choice>
              <mc:Fallback>
                <p:oleObj name="프로덕트" r:id="rId4" imgW="997920" imgH="2944800" progId="CATIA.Product">
                  <p:link updateAutomatic="1"/>
                  <p:pic>
                    <p:nvPicPr>
                      <p:cNvPr id="17" name="개체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3807" y="2686719"/>
                        <a:ext cx="1199178" cy="3536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직선 연결선 50"/>
          <p:cNvCxnSpPr/>
          <p:nvPr/>
        </p:nvCxnSpPr>
        <p:spPr bwMode="auto">
          <a:xfrm>
            <a:off x="2356378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직선 연결선 51"/>
          <p:cNvCxnSpPr/>
          <p:nvPr/>
        </p:nvCxnSpPr>
        <p:spPr bwMode="auto">
          <a:xfrm>
            <a:off x="348467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직선 연결선 53"/>
          <p:cNvCxnSpPr/>
          <p:nvPr/>
        </p:nvCxnSpPr>
        <p:spPr bwMode="auto">
          <a:xfrm flipH="1" flipV="1">
            <a:off x="372456" y="1162385"/>
            <a:ext cx="1919660" cy="167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1174821" y="87014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175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56" name="직선 연결선 55"/>
          <p:cNvCxnSpPr/>
          <p:nvPr/>
        </p:nvCxnSpPr>
        <p:spPr bwMode="auto">
          <a:xfrm flipH="1">
            <a:off x="1523427" y="1415200"/>
            <a:ext cx="165618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직선 연결선 57"/>
          <p:cNvCxnSpPr/>
          <p:nvPr/>
        </p:nvCxnSpPr>
        <p:spPr bwMode="auto">
          <a:xfrm flipH="1">
            <a:off x="1862508" y="2274958"/>
            <a:ext cx="1333972" cy="972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직선 연결선 58"/>
          <p:cNvCxnSpPr/>
          <p:nvPr/>
        </p:nvCxnSpPr>
        <p:spPr bwMode="auto">
          <a:xfrm>
            <a:off x="3012353" y="1431826"/>
            <a:ext cx="0" cy="85975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 rot="16200000">
            <a:off x="2640085" y="1710673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78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 rot="16200000">
            <a:off x="2308208" y="2964877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40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 flipH="1">
            <a:off x="607057" y="3320802"/>
            <a:ext cx="215670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/>
          <p:cNvCxnSpPr/>
          <p:nvPr/>
        </p:nvCxnSpPr>
        <p:spPr bwMode="auto">
          <a:xfrm flipH="1">
            <a:off x="2407719" y="2876302"/>
            <a:ext cx="35604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2677036" y="2876302"/>
            <a:ext cx="0" cy="4445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1" name="직선 연결선 80"/>
          <p:cNvCxnSpPr/>
          <p:nvPr/>
        </p:nvCxnSpPr>
        <p:spPr bwMode="auto">
          <a:xfrm flipH="1">
            <a:off x="639759" y="6013166"/>
            <a:ext cx="2124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직선 연결선 83"/>
          <p:cNvCxnSpPr/>
          <p:nvPr/>
        </p:nvCxnSpPr>
        <p:spPr bwMode="auto">
          <a:xfrm>
            <a:off x="2653875" y="3348091"/>
            <a:ext cx="0" cy="263978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 rot="16200000">
            <a:off x="2270798" y="448995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255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91" name="직선 연결선 90"/>
          <p:cNvCxnSpPr/>
          <p:nvPr/>
        </p:nvCxnSpPr>
        <p:spPr bwMode="auto">
          <a:xfrm>
            <a:off x="2116082" y="5513988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직선 연결선 94"/>
          <p:cNvCxnSpPr/>
          <p:nvPr/>
        </p:nvCxnSpPr>
        <p:spPr bwMode="auto">
          <a:xfrm>
            <a:off x="708507" y="5481127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직선 연결선 95"/>
          <p:cNvCxnSpPr/>
          <p:nvPr/>
        </p:nvCxnSpPr>
        <p:spPr bwMode="auto">
          <a:xfrm flipH="1">
            <a:off x="729814" y="6305887"/>
            <a:ext cx="134879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8" name="TextBox 97"/>
          <p:cNvSpPr txBox="1"/>
          <p:nvPr/>
        </p:nvSpPr>
        <p:spPr>
          <a:xfrm>
            <a:off x="1137992" y="6084747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101.7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01" name="직선 연결선 100"/>
          <p:cNvCxnSpPr/>
          <p:nvPr/>
        </p:nvCxnSpPr>
        <p:spPr bwMode="auto">
          <a:xfrm>
            <a:off x="3602861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직선 연결선 109"/>
          <p:cNvCxnSpPr/>
          <p:nvPr/>
        </p:nvCxnSpPr>
        <p:spPr bwMode="auto">
          <a:xfrm>
            <a:off x="3932804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직선 연결선 115"/>
          <p:cNvCxnSpPr/>
          <p:nvPr/>
        </p:nvCxnSpPr>
        <p:spPr bwMode="auto">
          <a:xfrm flipH="1">
            <a:off x="3612890" y="6262712"/>
            <a:ext cx="319914" cy="99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7" name="TextBox 116"/>
          <p:cNvSpPr txBox="1"/>
          <p:nvPr/>
        </p:nvSpPr>
        <p:spPr>
          <a:xfrm>
            <a:off x="3196480" y="5987871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32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18" name="직선 연결선 117"/>
          <p:cNvCxnSpPr/>
          <p:nvPr/>
        </p:nvCxnSpPr>
        <p:spPr bwMode="auto">
          <a:xfrm flipH="1">
            <a:off x="3173377" y="6262712"/>
            <a:ext cx="500598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19" name="개체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503751"/>
              </p:ext>
            </p:extLst>
          </p:nvPr>
        </p:nvGraphicFramePr>
        <p:xfrm>
          <a:off x="249607" y="2731676"/>
          <a:ext cx="2097487" cy="343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89" name="프로덕트" r:id="rId6" imgW="895320" imgH="1466640" progId="CATIA.Product">
                  <p:link updateAutomatic="1"/>
                </p:oleObj>
              </mc:Choice>
              <mc:Fallback>
                <p:oleObj name="프로덕트" r:id="rId6" imgW="895320" imgH="1466640" progId="CATIA.Product">
                  <p:link updateAutomatic="1"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607" y="2731676"/>
                        <a:ext cx="2097487" cy="343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940146"/>
              </p:ext>
            </p:extLst>
          </p:nvPr>
        </p:nvGraphicFramePr>
        <p:xfrm>
          <a:off x="4355165" y="977580"/>
          <a:ext cx="4608289" cy="3819571"/>
        </p:xfrm>
        <a:graphic>
          <a:graphicData uri="http://schemas.openxmlformats.org/drawingml/2006/table">
            <a:tbl>
              <a:tblPr/>
              <a:tblGrid>
                <a:gridCol w="432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6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Item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Unit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Spec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Remark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92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Size(L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H x T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)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255 x 101.7 x 32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Core part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175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78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40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Control part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(0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,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300kg/h, 357V)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kW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5.0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Steady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15.4A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@Nominal condition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Inrush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. 20A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Pressure Drop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 115Pa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Normal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Voltage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358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HV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150~432V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LV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 ~ 18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9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Communication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LIN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Operating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Storage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105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13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IP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Rate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IP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67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4289445" y="634046"/>
            <a:ext cx="2725226" cy="284057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>
              <a:defRPr/>
            </a:pPr>
            <a:r>
              <a:rPr lang="en-US" altLang="ko-KR" sz="1292" u="sng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General Specification</a:t>
            </a:r>
            <a:endParaRPr lang="ko-KR" altLang="en-US" sz="1292" u="sng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31933" y="1243444"/>
            <a:ext cx="2369230" cy="1192423"/>
            <a:chOff x="131933" y="1243444"/>
            <a:chExt cx="2369230" cy="1192423"/>
          </a:xfrm>
        </p:grpSpPr>
        <p:graphicFrame>
          <p:nvGraphicFramePr>
            <p:cNvPr id="120" name="개체 1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4728785"/>
                </p:ext>
              </p:extLst>
            </p:nvPr>
          </p:nvGraphicFramePr>
          <p:xfrm>
            <a:off x="131933" y="1243444"/>
            <a:ext cx="2369230" cy="1192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490" name="프로덕트" r:id="rId4" imgW="1139040" imgH="597960" progId="CATIA.Product">
                    <p:link updateAutomatic="1"/>
                  </p:oleObj>
                </mc:Choice>
                <mc:Fallback>
                  <p:oleObj name="프로덕트" r:id="rId4" imgW="1139040" imgH="597960" progId="CATIA.Product">
                    <p:link updateAutomatic="1"/>
                    <p:pic>
                      <p:nvPicPr>
                        <p:cNvPr id="16" name="개체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933" y="1243444"/>
                          <a:ext cx="2369230" cy="11924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99" t="16836" r="40619" b="34954"/>
            <a:stretch/>
          </p:blipFill>
          <p:spPr>
            <a:xfrm rot="5400000">
              <a:off x="1706377" y="1238968"/>
              <a:ext cx="288032" cy="686480"/>
            </a:xfrm>
            <a:prstGeom prst="rect">
              <a:avLst/>
            </a:prstGeom>
          </p:spPr>
        </p:pic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05016"/>
              </p:ext>
            </p:extLst>
          </p:nvPr>
        </p:nvGraphicFramePr>
        <p:xfrm>
          <a:off x="4355165" y="4915211"/>
          <a:ext cx="4608289" cy="1470652"/>
        </p:xfrm>
        <a:graphic>
          <a:graphicData uri="http://schemas.openxmlformats.org/drawingml/2006/table">
            <a:tbl>
              <a:tblPr/>
              <a:tblGrid>
                <a:gridCol w="1174767">
                  <a:extLst>
                    <a:ext uri="{9D8B030D-6E8A-4147-A177-3AD203B41FA5}">
                      <a16:colId xmlns:a16="http://schemas.microsoft.com/office/drawing/2014/main" val="1886029077"/>
                    </a:ext>
                  </a:extLst>
                </a:gridCol>
                <a:gridCol w="864924">
                  <a:extLst>
                    <a:ext uri="{9D8B030D-6E8A-4147-A177-3AD203B41FA5}">
                      <a16:colId xmlns:a16="http://schemas.microsoft.com/office/drawing/2014/main" val="127483068"/>
                    </a:ext>
                  </a:extLst>
                </a:gridCol>
                <a:gridCol w="1359846">
                  <a:extLst>
                    <a:ext uri="{9D8B030D-6E8A-4147-A177-3AD203B41FA5}">
                      <a16:colId xmlns:a16="http://schemas.microsoft.com/office/drawing/2014/main" val="2905772512"/>
                    </a:ext>
                  </a:extLst>
                </a:gridCol>
                <a:gridCol w="1208752">
                  <a:extLst>
                    <a:ext uri="{9D8B030D-6E8A-4147-A177-3AD203B41FA5}">
                      <a16:colId xmlns:a16="http://schemas.microsoft.com/office/drawing/2014/main" val="1672504195"/>
                    </a:ext>
                  </a:extLst>
                </a:gridCol>
              </a:tblGrid>
              <a:tr h="3051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仕様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重量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ハーネス長さ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060994"/>
                  </a:ext>
                </a:extLst>
              </a:tr>
              <a:tr h="368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 </a:t>
                      </a: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2,000g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なし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662001"/>
                  </a:ext>
                </a:extLst>
              </a:tr>
              <a:tr h="265541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 </a:t>
                      </a: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2,200g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HV</a:t>
                      </a: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310mm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827638"/>
                  </a:ext>
                </a:extLst>
              </a:tr>
              <a:tr h="265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LV</a:t>
                      </a: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120mm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060618"/>
                  </a:ext>
                </a:extLst>
              </a:tr>
              <a:tr h="265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アース線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300mm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48177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06" name="개체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769838"/>
              </p:ext>
            </p:extLst>
          </p:nvPr>
        </p:nvGraphicFramePr>
        <p:xfrm>
          <a:off x="441341" y="2318483"/>
          <a:ext cx="3397621" cy="334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48" name="프로덕트" r:id="rId4" imgW="3322080" imgH="3272760" progId="CATIA.Product">
                  <p:link updateAutomatic="1"/>
                </p:oleObj>
              </mc:Choice>
              <mc:Fallback>
                <p:oleObj name="프로덕트" r:id="rId4" imgW="3322080" imgH="3272760" progId="CATIA.Product">
                  <p:link updateAutomatic="1"/>
                  <p:pic>
                    <p:nvPicPr>
                      <p:cNvPr id="2" name="개체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41" y="2318483"/>
                        <a:ext cx="3397621" cy="3347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" name="그룹 106"/>
          <p:cNvGrpSpPr/>
          <p:nvPr/>
        </p:nvGrpSpPr>
        <p:grpSpPr>
          <a:xfrm>
            <a:off x="117953" y="2060848"/>
            <a:ext cx="3863068" cy="4219359"/>
            <a:chOff x="239395" y="929640"/>
            <a:chExt cx="4542704" cy="5213649"/>
          </a:xfrm>
        </p:grpSpPr>
        <p:cxnSp>
          <p:nvCxnSpPr>
            <p:cNvPr id="118" name="직선 연결선 117"/>
            <p:cNvCxnSpPr>
              <a:endCxn id="124" idx="2"/>
            </p:cNvCxnSpPr>
            <p:nvPr/>
          </p:nvCxnSpPr>
          <p:spPr bwMode="auto">
            <a:xfrm flipV="1">
              <a:off x="2710223" y="1231377"/>
              <a:ext cx="59013" cy="6215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Box 118"/>
            <p:cNvSpPr txBox="1"/>
            <p:nvPr/>
          </p:nvSpPr>
          <p:spPr>
            <a:xfrm>
              <a:off x="2314928" y="92964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</a:t>
              </a:r>
              <a:endParaRPr lang="ko-KR" altLang="en-US" sz="9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2651760" y="9461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2</a:t>
              </a:r>
              <a:endParaRPr lang="ko-KR" altLang="en-US" sz="900" dirty="0"/>
            </a:p>
          </p:txBody>
        </p:sp>
        <p:cxnSp>
          <p:nvCxnSpPr>
            <p:cNvPr id="125" name="직선 연결선 124"/>
            <p:cNvCxnSpPr>
              <a:endCxn id="119" idx="2"/>
            </p:cNvCxnSpPr>
            <p:nvPr/>
          </p:nvCxnSpPr>
          <p:spPr bwMode="auto">
            <a:xfrm flipV="1">
              <a:off x="2339128" y="1214867"/>
              <a:ext cx="93276" cy="33272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Box 125"/>
            <p:cNvSpPr txBox="1"/>
            <p:nvPr/>
          </p:nvSpPr>
          <p:spPr>
            <a:xfrm>
              <a:off x="3250283" y="11594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3</a:t>
              </a:r>
              <a:endParaRPr lang="ko-KR" altLang="en-US" sz="900" dirty="0"/>
            </a:p>
          </p:txBody>
        </p:sp>
        <p:cxnSp>
          <p:nvCxnSpPr>
            <p:cNvPr id="127" name="직선 연결선 126"/>
            <p:cNvCxnSpPr>
              <a:endCxn id="126" idx="2"/>
            </p:cNvCxnSpPr>
            <p:nvPr/>
          </p:nvCxnSpPr>
          <p:spPr bwMode="auto">
            <a:xfrm flipV="1">
              <a:off x="2980606" y="1444677"/>
              <a:ext cx="387153" cy="37532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직선 연결선 127"/>
            <p:cNvCxnSpPr/>
            <p:nvPr/>
          </p:nvCxnSpPr>
          <p:spPr bwMode="auto">
            <a:xfrm flipH="1" flipV="1">
              <a:off x="2769234" y="1686242"/>
              <a:ext cx="893953" cy="1571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TextBox 128"/>
            <p:cNvSpPr txBox="1"/>
            <p:nvPr/>
          </p:nvSpPr>
          <p:spPr>
            <a:xfrm>
              <a:off x="3670358" y="1574376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4</a:t>
              </a:r>
              <a:endParaRPr lang="ko-KR" altLang="en-US" sz="900" dirty="0"/>
            </a:p>
          </p:txBody>
        </p:sp>
        <p:cxnSp>
          <p:nvCxnSpPr>
            <p:cNvPr id="130" name="직선 연결선 129"/>
            <p:cNvCxnSpPr>
              <a:stCxn id="131" idx="3"/>
            </p:cNvCxnSpPr>
            <p:nvPr/>
          </p:nvCxnSpPr>
          <p:spPr bwMode="auto">
            <a:xfrm>
              <a:off x="1416685" y="1569458"/>
              <a:ext cx="812490" cy="3318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" name="TextBox 130"/>
            <p:cNvSpPr txBox="1"/>
            <p:nvPr/>
          </p:nvSpPr>
          <p:spPr>
            <a:xfrm>
              <a:off x="1181735" y="142684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5</a:t>
              </a:r>
              <a:endParaRPr lang="ko-KR" altLang="en-US" sz="900" dirty="0"/>
            </a:p>
          </p:txBody>
        </p:sp>
        <p:cxnSp>
          <p:nvCxnSpPr>
            <p:cNvPr id="132" name="직선 연결선 131"/>
            <p:cNvCxnSpPr>
              <a:stCxn id="135" idx="0"/>
            </p:cNvCxnSpPr>
            <p:nvPr/>
          </p:nvCxnSpPr>
          <p:spPr bwMode="auto">
            <a:xfrm flipV="1">
              <a:off x="671767" y="2456961"/>
              <a:ext cx="365580" cy="385691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554292" y="284265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6</a:t>
              </a:r>
              <a:endParaRPr lang="ko-KR" altLang="en-US" sz="900" dirty="0"/>
            </a:p>
          </p:txBody>
        </p:sp>
        <p:cxnSp>
          <p:nvCxnSpPr>
            <p:cNvPr id="136" name="직선 연결선 135"/>
            <p:cNvCxnSpPr>
              <a:stCxn id="137" idx="3"/>
            </p:cNvCxnSpPr>
            <p:nvPr/>
          </p:nvCxnSpPr>
          <p:spPr bwMode="auto">
            <a:xfrm flipV="1">
              <a:off x="474345" y="3927297"/>
              <a:ext cx="646698" cy="1593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239395" y="394398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7</a:t>
              </a:r>
              <a:endParaRPr lang="ko-KR" altLang="en-US" sz="900" dirty="0"/>
            </a:p>
          </p:txBody>
        </p:sp>
        <p:cxnSp>
          <p:nvCxnSpPr>
            <p:cNvPr id="138" name="직선 연결선 137"/>
            <p:cNvCxnSpPr>
              <a:endCxn id="140" idx="0"/>
            </p:cNvCxnSpPr>
            <p:nvPr/>
          </p:nvCxnSpPr>
          <p:spPr bwMode="auto">
            <a:xfrm flipH="1" flipV="1">
              <a:off x="436881" y="2112212"/>
              <a:ext cx="903598" cy="2124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0" name="TextBox 139"/>
            <p:cNvSpPr txBox="1"/>
            <p:nvPr/>
          </p:nvSpPr>
          <p:spPr>
            <a:xfrm>
              <a:off x="319405" y="211221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8</a:t>
              </a:r>
              <a:endParaRPr lang="ko-KR" altLang="en-US" sz="9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40480" y="1790745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9</a:t>
              </a:r>
              <a:endParaRPr lang="ko-KR" altLang="en-US" sz="900" dirty="0"/>
            </a:p>
          </p:txBody>
        </p:sp>
        <p:cxnSp>
          <p:nvCxnSpPr>
            <p:cNvPr id="142" name="직선 연결선 141"/>
            <p:cNvCxnSpPr>
              <a:stCxn id="141" idx="3"/>
            </p:cNvCxnSpPr>
            <p:nvPr/>
          </p:nvCxnSpPr>
          <p:spPr bwMode="auto">
            <a:xfrm>
              <a:off x="1575430" y="1933358"/>
              <a:ext cx="695057" cy="18550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직선 연결선 142"/>
            <p:cNvCxnSpPr>
              <a:stCxn id="144" idx="3"/>
            </p:cNvCxnSpPr>
            <p:nvPr/>
          </p:nvCxnSpPr>
          <p:spPr bwMode="auto">
            <a:xfrm flipV="1">
              <a:off x="1510418" y="2415378"/>
              <a:ext cx="820565" cy="31309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4" name="TextBox 143"/>
            <p:cNvSpPr txBox="1"/>
            <p:nvPr/>
          </p:nvSpPr>
          <p:spPr>
            <a:xfrm>
              <a:off x="1109576" y="2585860"/>
              <a:ext cx="4008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10</a:t>
              </a:r>
              <a:endParaRPr lang="ko-KR" altLang="en-US" sz="900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441700" y="2301873"/>
              <a:ext cx="388527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11</a:t>
              </a:r>
              <a:endParaRPr lang="ko-KR" altLang="en-US" sz="900" dirty="0"/>
            </a:p>
          </p:txBody>
        </p:sp>
        <p:cxnSp>
          <p:nvCxnSpPr>
            <p:cNvPr id="146" name="직선 연결선 145"/>
            <p:cNvCxnSpPr>
              <a:endCxn id="145" idx="1"/>
            </p:cNvCxnSpPr>
            <p:nvPr/>
          </p:nvCxnSpPr>
          <p:spPr bwMode="auto">
            <a:xfrm flipV="1">
              <a:off x="2583179" y="2444487"/>
              <a:ext cx="858521" cy="343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직선 연결선 146"/>
            <p:cNvCxnSpPr>
              <a:endCxn id="148" idx="1"/>
            </p:cNvCxnSpPr>
            <p:nvPr/>
          </p:nvCxnSpPr>
          <p:spPr bwMode="auto">
            <a:xfrm flipV="1">
              <a:off x="2541908" y="2101169"/>
              <a:ext cx="844807" cy="235269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8" name="TextBox 147"/>
            <p:cNvSpPr txBox="1"/>
            <p:nvPr/>
          </p:nvSpPr>
          <p:spPr>
            <a:xfrm>
              <a:off x="3386715" y="1958556"/>
              <a:ext cx="518593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12</a:t>
              </a:r>
              <a:endParaRPr lang="ko-KR" altLang="en-US" sz="900" dirty="0"/>
            </a:p>
          </p:txBody>
        </p:sp>
        <p:cxnSp>
          <p:nvCxnSpPr>
            <p:cNvPr id="149" name="직선 연결선 148"/>
            <p:cNvCxnSpPr>
              <a:endCxn id="150" idx="3"/>
            </p:cNvCxnSpPr>
            <p:nvPr/>
          </p:nvCxnSpPr>
          <p:spPr bwMode="auto">
            <a:xfrm flipH="1">
              <a:off x="1556143" y="2585387"/>
              <a:ext cx="697553" cy="54013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TextBox 149"/>
            <p:cNvSpPr txBox="1"/>
            <p:nvPr/>
          </p:nvSpPr>
          <p:spPr>
            <a:xfrm>
              <a:off x="1137549" y="2982910"/>
              <a:ext cx="41859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13</a:t>
              </a:r>
              <a:endParaRPr lang="ko-KR" altLang="en-US" sz="900" dirty="0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250283" y="5334074"/>
              <a:ext cx="4716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14</a:t>
              </a:r>
              <a:endParaRPr lang="ko-KR" altLang="en-US" sz="900" dirty="0"/>
            </a:p>
          </p:txBody>
        </p:sp>
        <p:cxnSp>
          <p:nvCxnSpPr>
            <p:cNvPr id="152" name="직선 연결선 151"/>
            <p:cNvCxnSpPr>
              <a:endCxn id="151" idx="0"/>
            </p:cNvCxnSpPr>
            <p:nvPr/>
          </p:nvCxnSpPr>
          <p:spPr bwMode="auto">
            <a:xfrm flipH="1">
              <a:off x="3486104" y="4478058"/>
              <a:ext cx="11502" cy="8560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직선 연결선 152"/>
            <p:cNvCxnSpPr>
              <a:endCxn id="154" idx="0"/>
            </p:cNvCxnSpPr>
            <p:nvPr/>
          </p:nvCxnSpPr>
          <p:spPr bwMode="auto">
            <a:xfrm>
              <a:off x="2695214" y="4818915"/>
              <a:ext cx="89898" cy="78909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4" name="TextBox 153"/>
            <p:cNvSpPr txBox="1"/>
            <p:nvPr/>
          </p:nvSpPr>
          <p:spPr>
            <a:xfrm>
              <a:off x="2583181" y="5608004"/>
              <a:ext cx="40386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15</a:t>
              </a:r>
              <a:endParaRPr lang="ko-KR" altLang="en-US" sz="900" dirty="0"/>
            </a:p>
          </p:txBody>
        </p:sp>
        <p:cxnSp>
          <p:nvCxnSpPr>
            <p:cNvPr id="155" name="직선 연결선 154"/>
            <p:cNvCxnSpPr>
              <a:stCxn id="156" idx="3"/>
            </p:cNvCxnSpPr>
            <p:nvPr/>
          </p:nvCxnSpPr>
          <p:spPr bwMode="auto">
            <a:xfrm flipV="1">
              <a:off x="1488441" y="3887793"/>
              <a:ext cx="929567" cy="86618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" name="TextBox 155"/>
            <p:cNvSpPr txBox="1"/>
            <p:nvPr/>
          </p:nvSpPr>
          <p:spPr>
            <a:xfrm>
              <a:off x="1094107" y="4611367"/>
              <a:ext cx="394335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16</a:t>
              </a:r>
              <a:endParaRPr lang="ko-KR" altLang="en-US" sz="900" dirty="0"/>
            </a:p>
          </p:txBody>
        </p:sp>
        <p:cxnSp>
          <p:nvCxnSpPr>
            <p:cNvPr id="157" name="직선 연결선 156"/>
            <p:cNvCxnSpPr>
              <a:endCxn id="158" idx="1"/>
            </p:cNvCxnSpPr>
            <p:nvPr/>
          </p:nvCxnSpPr>
          <p:spPr bwMode="auto">
            <a:xfrm flipV="1">
              <a:off x="2901623" y="3114081"/>
              <a:ext cx="1167444" cy="1912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TextBox 157"/>
            <p:cNvSpPr txBox="1"/>
            <p:nvPr/>
          </p:nvSpPr>
          <p:spPr>
            <a:xfrm>
              <a:off x="4069067" y="2971467"/>
              <a:ext cx="46703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17</a:t>
              </a:r>
              <a:endParaRPr lang="ko-KR" altLang="en-US" sz="900" dirty="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999866" y="2368529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18</a:t>
              </a:r>
              <a:endParaRPr lang="ko-KR" altLang="en-US" sz="900" dirty="0"/>
            </a:p>
          </p:txBody>
        </p:sp>
        <p:cxnSp>
          <p:nvCxnSpPr>
            <p:cNvPr id="160" name="직선 연결선 159"/>
            <p:cNvCxnSpPr>
              <a:endCxn id="159" idx="1"/>
            </p:cNvCxnSpPr>
            <p:nvPr/>
          </p:nvCxnSpPr>
          <p:spPr bwMode="auto">
            <a:xfrm flipV="1">
              <a:off x="2758539" y="2511143"/>
              <a:ext cx="1241326" cy="60041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976631" y="3323294"/>
              <a:ext cx="41977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20</a:t>
              </a:r>
              <a:endParaRPr lang="ko-KR" altLang="en-US" sz="900" dirty="0"/>
            </a:p>
          </p:txBody>
        </p:sp>
        <p:cxnSp>
          <p:nvCxnSpPr>
            <p:cNvPr id="162" name="직선 연결선 161"/>
            <p:cNvCxnSpPr>
              <a:stCxn id="161" idx="3"/>
            </p:cNvCxnSpPr>
            <p:nvPr/>
          </p:nvCxnSpPr>
          <p:spPr bwMode="auto">
            <a:xfrm flipV="1">
              <a:off x="1396405" y="2843746"/>
              <a:ext cx="1048273" cy="62216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Box 162"/>
            <p:cNvSpPr txBox="1"/>
            <p:nvPr/>
          </p:nvSpPr>
          <p:spPr>
            <a:xfrm>
              <a:off x="3830228" y="5858062"/>
              <a:ext cx="39759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21</a:t>
              </a:r>
              <a:endParaRPr lang="ko-KR" altLang="en-US" sz="900" dirty="0"/>
            </a:p>
          </p:txBody>
        </p:sp>
        <p:cxnSp>
          <p:nvCxnSpPr>
            <p:cNvPr id="164" name="직선 연결선 163"/>
            <p:cNvCxnSpPr>
              <a:endCxn id="163" idx="0"/>
            </p:cNvCxnSpPr>
            <p:nvPr/>
          </p:nvCxnSpPr>
          <p:spPr bwMode="auto">
            <a:xfrm flipH="1">
              <a:off x="4029023" y="5235106"/>
              <a:ext cx="88985" cy="62295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5" name="TextBox 164"/>
            <p:cNvSpPr txBox="1"/>
            <p:nvPr/>
          </p:nvSpPr>
          <p:spPr>
            <a:xfrm>
              <a:off x="1728486" y="5160327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22</a:t>
              </a:r>
              <a:endParaRPr lang="ko-KR" altLang="en-US" sz="900" dirty="0"/>
            </a:p>
          </p:txBody>
        </p:sp>
        <p:cxnSp>
          <p:nvCxnSpPr>
            <p:cNvPr id="166" name="직선 연결선 165"/>
            <p:cNvCxnSpPr>
              <a:endCxn id="165" idx="0"/>
            </p:cNvCxnSpPr>
            <p:nvPr/>
          </p:nvCxnSpPr>
          <p:spPr bwMode="auto">
            <a:xfrm flipH="1">
              <a:off x="1991090" y="4510242"/>
              <a:ext cx="704124" cy="65008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직선 연결선 166"/>
            <p:cNvCxnSpPr>
              <a:stCxn id="168" idx="1"/>
            </p:cNvCxnSpPr>
            <p:nvPr/>
          </p:nvCxnSpPr>
          <p:spPr bwMode="auto">
            <a:xfrm flipH="1">
              <a:off x="3261724" y="3526897"/>
              <a:ext cx="995166" cy="5597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8" name="TextBox 167"/>
            <p:cNvSpPr txBox="1"/>
            <p:nvPr/>
          </p:nvSpPr>
          <p:spPr>
            <a:xfrm>
              <a:off x="4256890" y="3384284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23</a:t>
              </a:r>
              <a:endParaRPr lang="ko-KR" altLang="en-US" sz="900" dirty="0"/>
            </a:p>
          </p:txBody>
        </p:sp>
        <p:cxnSp>
          <p:nvCxnSpPr>
            <p:cNvPr id="169" name="직선 연결선 168"/>
            <p:cNvCxnSpPr>
              <a:stCxn id="170" idx="3"/>
            </p:cNvCxnSpPr>
            <p:nvPr/>
          </p:nvCxnSpPr>
          <p:spPr bwMode="auto">
            <a:xfrm flipV="1">
              <a:off x="1219665" y="4393851"/>
              <a:ext cx="1579199" cy="85012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Box 169"/>
            <p:cNvSpPr txBox="1"/>
            <p:nvPr/>
          </p:nvSpPr>
          <p:spPr>
            <a:xfrm>
              <a:off x="785516" y="5101366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19</a:t>
              </a:r>
              <a:endParaRPr lang="ko-KR" altLang="en-US" sz="900" dirty="0"/>
            </a:p>
          </p:txBody>
        </p:sp>
      </p:grpSp>
      <p:graphicFrame>
        <p:nvGraphicFramePr>
          <p:cNvPr id="171" name="개체 1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326853"/>
              </p:ext>
            </p:extLst>
          </p:nvPr>
        </p:nvGraphicFramePr>
        <p:xfrm>
          <a:off x="3685013" y="897010"/>
          <a:ext cx="1492545" cy="1518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49" name="프로덕트" r:id="rId6" imgW="2171520" imgH="2209680" progId="CATIA.Product">
                  <p:link updateAutomatic="1"/>
                </p:oleObj>
              </mc:Choice>
              <mc:Fallback>
                <p:oleObj name="프로덕트" r:id="rId6" imgW="2171520" imgH="2209680" progId="CATIA.Product">
                  <p:link updateAutomatic="1"/>
                  <p:pic>
                    <p:nvPicPr>
                      <p:cNvPr id="94" name="개체 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85013" y="897010"/>
                        <a:ext cx="1492545" cy="1518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2" name="직선 연결선 171"/>
          <p:cNvCxnSpPr>
            <a:endCxn id="173" idx="3"/>
          </p:cNvCxnSpPr>
          <p:nvPr/>
        </p:nvCxnSpPr>
        <p:spPr bwMode="auto">
          <a:xfrm flipH="1" flipV="1">
            <a:off x="3374667" y="1173315"/>
            <a:ext cx="513442" cy="22830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2878181" y="1057899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19-1</a:t>
            </a:r>
            <a:endParaRPr lang="ko-KR" altLang="en-US" sz="900" dirty="0"/>
          </a:p>
        </p:txBody>
      </p:sp>
      <p:cxnSp>
        <p:nvCxnSpPr>
          <p:cNvPr id="174" name="직선 연결선 173"/>
          <p:cNvCxnSpPr>
            <a:endCxn id="175" idx="3"/>
          </p:cNvCxnSpPr>
          <p:nvPr/>
        </p:nvCxnSpPr>
        <p:spPr bwMode="auto">
          <a:xfrm flipH="1" flipV="1">
            <a:off x="3337646" y="1496947"/>
            <a:ext cx="434177" cy="581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5" name="TextBox 174"/>
          <p:cNvSpPr txBox="1"/>
          <p:nvPr/>
        </p:nvSpPr>
        <p:spPr>
          <a:xfrm>
            <a:off x="2841160" y="13815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19-2</a:t>
            </a:r>
            <a:endParaRPr lang="ko-KR" altLang="en-US" sz="900" dirty="0"/>
          </a:p>
        </p:txBody>
      </p:sp>
      <p:cxnSp>
        <p:nvCxnSpPr>
          <p:cNvPr id="176" name="직선 연결선 175"/>
          <p:cNvCxnSpPr>
            <a:endCxn id="177" idx="3"/>
          </p:cNvCxnSpPr>
          <p:nvPr/>
        </p:nvCxnSpPr>
        <p:spPr bwMode="auto">
          <a:xfrm flipH="1">
            <a:off x="3370763" y="1745523"/>
            <a:ext cx="419570" cy="1777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7" name="TextBox 176"/>
          <p:cNvSpPr txBox="1"/>
          <p:nvPr/>
        </p:nvSpPr>
        <p:spPr>
          <a:xfrm>
            <a:off x="2874277" y="164788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19-3</a:t>
            </a:r>
            <a:endParaRPr lang="ko-KR" altLang="en-US" sz="900" dirty="0"/>
          </a:p>
        </p:txBody>
      </p:sp>
      <p:cxnSp>
        <p:nvCxnSpPr>
          <p:cNvPr id="178" name="직선 연결선 177"/>
          <p:cNvCxnSpPr>
            <a:endCxn id="179" idx="3"/>
          </p:cNvCxnSpPr>
          <p:nvPr/>
        </p:nvCxnSpPr>
        <p:spPr bwMode="auto">
          <a:xfrm flipH="1">
            <a:off x="3419802" y="1818456"/>
            <a:ext cx="456359" cy="22102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2923316" y="1924066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19-4</a:t>
            </a:r>
            <a:endParaRPr lang="ko-KR" altLang="en-US" sz="900" dirty="0"/>
          </a:p>
        </p:txBody>
      </p:sp>
      <p:cxnSp>
        <p:nvCxnSpPr>
          <p:cNvPr id="180" name="직선 연결선 179"/>
          <p:cNvCxnSpPr>
            <a:endCxn id="181" idx="3"/>
          </p:cNvCxnSpPr>
          <p:nvPr/>
        </p:nvCxnSpPr>
        <p:spPr bwMode="auto">
          <a:xfrm flipH="1">
            <a:off x="3464526" y="2020417"/>
            <a:ext cx="310346" cy="26745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TextBox 180"/>
          <p:cNvSpPr txBox="1"/>
          <p:nvPr/>
        </p:nvSpPr>
        <p:spPr>
          <a:xfrm>
            <a:off x="2968040" y="2172455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19-5</a:t>
            </a:r>
            <a:endParaRPr lang="ko-KR" altLang="en-US" sz="900" dirty="0"/>
          </a:p>
        </p:txBody>
      </p:sp>
      <p:sp>
        <p:nvSpPr>
          <p:cNvPr id="182" name="TextBox 181"/>
          <p:cNvSpPr txBox="1"/>
          <p:nvPr/>
        </p:nvSpPr>
        <p:spPr>
          <a:xfrm>
            <a:off x="3424781" y="24632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19-6</a:t>
            </a:r>
            <a:endParaRPr lang="ko-KR" altLang="en-US" sz="900" dirty="0"/>
          </a:p>
        </p:txBody>
      </p:sp>
      <p:cxnSp>
        <p:nvCxnSpPr>
          <p:cNvPr id="183" name="직선 연결선 182"/>
          <p:cNvCxnSpPr>
            <a:endCxn id="182" idx="3"/>
          </p:cNvCxnSpPr>
          <p:nvPr/>
        </p:nvCxnSpPr>
        <p:spPr bwMode="auto">
          <a:xfrm flipH="1">
            <a:off x="3921267" y="1878713"/>
            <a:ext cx="715252" cy="6999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84" name="표 1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493687"/>
              </p:ext>
            </p:extLst>
          </p:nvPr>
        </p:nvGraphicFramePr>
        <p:xfrm>
          <a:off x="5667934" y="1006814"/>
          <a:ext cx="3121384" cy="553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88">
                  <a:extLst>
                    <a:ext uri="{9D8B030D-6E8A-4147-A177-3AD203B41FA5}">
                      <a16:colId xmlns:a16="http://schemas.microsoft.com/office/drawing/2014/main" val="307593584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7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Item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err="1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Q’ty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Remark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NAME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WARNING LABEL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COVER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VENT FILTER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2879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MAIN PCB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CHASSIS GROUND WIRE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 CONNECTOR ASSY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SIGNAL CONNECTOR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042106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JOIN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BOARD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20449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SEALANT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PAD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HOUSING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SIDE BAR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LOWER HOUSING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CORE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- 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ROD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9816"/>
                  </a:ext>
                </a:extLst>
              </a:tr>
              <a:tr h="155136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AL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TUBE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99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INSULATION PAD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505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UPPER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87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STONE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Tc : </a:t>
                      </a:r>
                      <a:r>
                        <a:rPr lang="ko-KR" altLang="en-US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＜ </a:t>
                      </a:r>
                      <a:r>
                        <a:rPr lang="en-US" altLang="ko-KR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180</a:t>
                      </a:r>
                      <a:r>
                        <a:rPr lang="ko-KR" altLang="en-US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endParaRPr lang="ko-KR" altLang="en-US" sz="700" b="1" dirty="0"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37451"/>
                  </a:ext>
                </a:extLst>
              </a:tr>
              <a:tr h="12928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STONE HOLDER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50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LOWER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52699"/>
                  </a:ext>
                </a:extLst>
              </a:tr>
              <a:tr h="12000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GROMMET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434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SPONGE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46620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CORE JOIN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5846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TEMPSENSOR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52947"/>
                  </a:ext>
                </a:extLst>
              </a:tr>
              <a:tr h="10677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비고</a:t>
                      </a:r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185" name="부제목 2"/>
          <p:cNvSpPr txBox="1">
            <a:spLocks/>
          </p:cNvSpPr>
          <p:nvPr/>
        </p:nvSpPr>
        <p:spPr>
          <a:xfrm>
            <a:off x="127313" y="561165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Exploded View</a:t>
            </a:r>
          </a:p>
        </p:txBody>
      </p:sp>
      <p:sp>
        <p:nvSpPr>
          <p:cNvPr id="186" name="부제목 2"/>
          <p:cNvSpPr txBox="1">
            <a:spLocks/>
          </p:cNvSpPr>
          <p:nvPr/>
        </p:nvSpPr>
        <p:spPr>
          <a:xfrm>
            <a:off x="5541242" y="533209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Part List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68" name="직선 연결선 67"/>
          <p:cNvCxnSpPr>
            <a:endCxn id="69" idx="3"/>
          </p:cNvCxnSpPr>
          <p:nvPr/>
        </p:nvCxnSpPr>
        <p:spPr bwMode="auto">
          <a:xfrm flipH="1">
            <a:off x="4666060" y="1988840"/>
            <a:ext cx="110118" cy="655252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4169574" y="2528676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19-2</a:t>
            </a:r>
            <a:endParaRPr lang="ko-KR" altLang="en-US" sz="900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sp>
        <p:nvSpPr>
          <p:cNvPr id="185" name="부제목 2"/>
          <p:cNvSpPr txBox="1">
            <a:spLocks/>
          </p:cNvSpPr>
          <p:nvPr/>
        </p:nvSpPr>
        <p:spPr>
          <a:xfrm>
            <a:off x="127312" y="561165"/>
            <a:ext cx="7541299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Heat rod </a:t>
            </a:r>
            <a:r>
              <a:rPr lang="en-US" altLang="ko-KR" sz="1600" dirty="0" err="1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ass’y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6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- Insulation distance (Minimum)</a:t>
            </a:r>
          </a:p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2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    1) HEAT ROD TERMINAL &lt;--------&gt; AL TUBE : 3.6mm</a:t>
            </a:r>
          </a:p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ko-KR" sz="12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926951" y="3356992"/>
            <a:ext cx="6952736" cy="3142306"/>
            <a:chOff x="519673" y="1975278"/>
            <a:chExt cx="8102679" cy="3662025"/>
          </a:xfrm>
        </p:grpSpPr>
        <p:pic>
          <p:nvPicPr>
            <p:cNvPr id="70" name="그림 6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1403648" y="2636912"/>
              <a:ext cx="336932" cy="2237676"/>
            </a:xfrm>
            <a:prstGeom prst="rect">
              <a:avLst/>
            </a:prstGeom>
          </p:spPr>
        </p:pic>
        <p:grpSp>
          <p:nvGrpSpPr>
            <p:cNvPr id="72" name="그룹 13"/>
            <p:cNvGrpSpPr/>
            <p:nvPr/>
          </p:nvGrpSpPr>
          <p:grpSpPr>
            <a:xfrm>
              <a:off x="519673" y="3307594"/>
              <a:ext cx="2125853" cy="806250"/>
              <a:chOff x="577749" y="4912593"/>
              <a:chExt cx="1261757" cy="469129"/>
            </a:xfrm>
          </p:grpSpPr>
          <p:cxnSp>
            <p:nvCxnSpPr>
              <p:cNvPr id="73" name="직선 연결선 72"/>
              <p:cNvCxnSpPr/>
              <p:nvPr/>
            </p:nvCxnSpPr>
            <p:spPr>
              <a:xfrm>
                <a:off x="611560" y="5229200"/>
                <a:ext cx="1184646" cy="0"/>
              </a:xfrm>
              <a:prstGeom prst="line">
                <a:avLst/>
              </a:prstGeom>
              <a:ln w="158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/>
              <p:cNvCxnSpPr/>
              <p:nvPr/>
            </p:nvCxnSpPr>
            <p:spPr>
              <a:xfrm>
                <a:off x="1701205" y="4912593"/>
                <a:ext cx="0" cy="28803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화살표 연결선 74"/>
              <p:cNvCxnSpPr/>
              <p:nvPr/>
            </p:nvCxnSpPr>
            <p:spPr>
              <a:xfrm>
                <a:off x="701080" y="4941168"/>
                <a:ext cx="0" cy="28803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45"/>
              <p:cNvSpPr txBox="1"/>
              <p:nvPr/>
            </p:nvSpPr>
            <p:spPr>
              <a:xfrm>
                <a:off x="1577874" y="5215189"/>
                <a:ext cx="261632" cy="156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900" dirty="0" smtClean="0">
                    <a:solidFill>
                      <a:srgbClr val="FF0000"/>
                    </a:solidFill>
                    <a:latin typeface="현대하모니 L" pitchFamily="18" charset="-127"/>
                    <a:ea typeface="현대하모니 L" pitchFamily="18" charset="-127"/>
                  </a:rPr>
                  <a:t>A</a:t>
                </a:r>
                <a:endParaRPr lang="ko-KR" altLang="en-US" sz="900" dirty="0">
                  <a:solidFill>
                    <a:srgbClr val="FF0000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77" name="TextBox 47"/>
              <p:cNvSpPr txBox="1"/>
              <p:nvPr/>
            </p:nvSpPr>
            <p:spPr>
              <a:xfrm>
                <a:off x="577749" y="5225194"/>
                <a:ext cx="179847" cy="156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900" dirty="0" smtClean="0">
                    <a:solidFill>
                      <a:srgbClr val="FF0000"/>
                    </a:solidFill>
                    <a:latin typeface="현대하모니 L" pitchFamily="18" charset="-127"/>
                    <a:ea typeface="현대하모니 L" pitchFamily="18" charset="-127"/>
                  </a:rPr>
                  <a:t>A</a:t>
                </a:r>
                <a:endParaRPr lang="ko-KR" altLang="en-US" sz="900" dirty="0">
                  <a:solidFill>
                    <a:srgbClr val="FF0000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</p:grpSp>
        <p:grpSp>
          <p:nvGrpSpPr>
            <p:cNvPr id="78" name="그룹 77"/>
            <p:cNvGrpSpPr/>
            <p:nvPr/>
          </p:nvGrpSpPr>
          <p:grpSpPr>
            <a:xfrm>
              <a:off x="3246200" y="1975278"/>
              <a:ext cx="5345159" cy="1631256"/>
              <a:chOff x="4191165" y="3148852"/>
              <a:chExt cx="6262375" cy="1896524"/>
            </a:xfrm>
          </p:grpSpPr>
          <p:graphicFrame>
            <p:nvGraphicFramePr>
              <p:cNvPr id="79" name="개체 7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0822259"/>
                  </p:ext>
                </p:extLst>
              </p:nvPr>
            </p:nvGraphicFramePr>
            <p:xfrm>
              <a:off x="4304149" y="3474109"/>
              <a:ext cx="5540375" cy="11015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9230" name="프로덕트" r:id="rId5" imgW="4830840" imgH="959760" progId="CATIA.Product">
                      <p:link updateAutomatic="1"/>
                    </p:oleObj>
                  </mc:Choice>
                  <mc:Fallback>
                    <p:oleObj name="프로덕트" r:id="rId5" imgW="4830840" imgH="959760" progId="CATIA.Product">
                      <p:link updateAutomatic="1"/>
                      <p:pic>
                        <p:nvPicPr>
                          <p:cNvPr id="75" name="개체 7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304149" y="3474109"/>
                            <a:ext cx="5540375" cy="110151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0" name="그룹 79"/>
              <p:cNvGrpSpPr/>
              <p:nvPr/>
            </p:nvGrpSpPr>
            <p:grpSpPr>
              <a:xfrm>
                <a:off x="4191165" y="3148852"/>
                <a:ext cx="6262375" cy="1896524"/>
                <a:chOff x="3329425" y="3250582"/>
                <a:chExt cx="6262375" cy="1896524"/>
              </a:xfrm>
            </p:grpSpPr>
            <p:grpSp>
              <p:nvGrpSpPr>
                <p:cNvPr id="81" name="그룹 80"/>
                <p:cNvGrpSpPr/>
                <p:nvPr/>
              </p:nvGrpSpPr>
              <p:grpSpPr>
                <a:xfrm>
                  <a:off x="3779912" y="3861875"/>
                  <a:ext cx="4928431" cy="562338"/>
                  <a:chOff x="3582272" y="5144694"/>
                  <a:chExt cx="4928431" cy="562338"/>
                </a:xfrm>
              </p:grpSpPr>
              <p:cxnSp>
                <p:nvCxnSpPr>
                  <p:cNvPr id="98" name="직선 화살표 연결선 97"/>
                  <p:cNvCxnSpPr/>
                  <p:nvPr/>
                </p:nvCxnSpPr>
                <p:spPr>
                  <a:xfrm flipH="1">
                    <a:off x="3582272" y="5144694"/>
                    <a:ext cx="174789" cy="260379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직선 화살표 연결선 98"/>
                  <p:cNvCxnSpPr/>
                  <p:nvPr/>
                </p:nvCxnSpPr>
                <p:spPr>
                  <a:xfrm>
                    <a:off x="3582272" y="5393416"/>
                    <a:ext cx="106998" cy="213753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0" name="그룹 99"/>
                  <p:cNvGrpSpPr/>
                  <p:nvPr/>
                </p:nvGrpSpPr>
                <p:grpSpPr>
                  <a:xfrm rot="10800000">
                    <a:off x="8167027" y="5296905"/>
                    <a:ext cx="343676" cy="410127"/>
                    <a:chOff x="6751699" y="5974488"/>
                    <a:chExt cx="343676" cy="410127"/>
                  </a:xfrm>
                </p:grpSpPr>
                <p:cxnSp>
                  <p:nvCxnSpPr>
                    <p:cNvPr id="102" name="직선 화살표 연결선 101"/>
                    <p:cNvCxnSpPr/>
                    <p:nvPr/>
                  </p:nvCxnSpPr>
                  <p:spPr>
                    <a:xfrm rot="10800000" flipV="1">
                      <a:off x="6938034" y="5997906"/>
                      <a:ext cx="157341" cy="2943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직선 화살표 연결선 102"/>
                    <p:cNvCxnSpPr/>
                    <p:nvPr/>
                  </p:nvCxnSpPr>
                  <p:spPr>
                    <a:xfrm rot="10800000" flipV="1">
                      <a:off x="6751699" y="5974488"/>
                      <a:ext cx="178021" cy="231347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직선 화살표 연결선 103"/>
                    <p:cNvCxnSpPr/>
                    <p:nvPr/>
                  </p:nvCxnSpPr>
                  <p:spPr>
                    <a:xfrm rot="10800000" flipH="1" flipV="1">
                      <a:off x="6751699" y="6205835"/>
                      <a:ext cx="89010" cy="178780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1" name="직선 화살표 연결선 100"/>
                  <p:cNvCxnSpPr/>
                  <p:nvPr/>
                </p:nvCxnSpPr>
                <p:spPr>
                  <a:xfrm flipH="1">
                    <a:off x="3752788" y="5144694"/>
                    <a:ext cx="16902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2" name="직선 화살표 연결선 81"/>
                <p:cNvCxnSpPr/>
                <p:nvPr/>
              </p:nvCxnSpPr>
              <p:spPr>
                <a:xfrm>
                  <a:off x="4354102" y="3482790"/>
                  <a:ext cx="216024" cy="43204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화살표 연결선 82"/>
                <p:cNvCxnSpPr>
                  <a:stCxn id="84" idx="2"/>
                </p:cNvCxnSpPr>
                <p:nvPr/>
              </p:nvCxnSpPr>
              <p:spPr>
                <a:xfrm flipH="1">
                  <a:off x="4930181" y="3521638"/>
                  <a:ext cx="265610" cy="498902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TextBox 27"/>
                <p:cNvSpPr txBox="1"/>
                <p:nvPr/>
              </p:nvSpPr>
              <p:spPr>
                <a:xfrm>
                  <a:off x="4680134" y="3250582"/>
                  <a:ext cx="1031314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Insulation pad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85" name="직선 화살표 연결선 84"/>
                <p:cNvCxnSpPr>
                  <a:stCxn id="86" idx="2"/>
                </p:cNvCxnSpPr>
                <p:nvPr/>
              </p:nvCxnSpPr>
              <p:spPr>
                <a:xfrm flipH="1">
                  <a:off x="6012162" y="3657562"/>
                  <a:ext cx="285434" cy="25727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TextBox 27"/>
                <p:cNvSpPr txBox="1"/>
                <p:nvPr/>
              </p:nvSpPr>
              <p:spPr>
                <a:xfrm>
                  <a:off x="5739258" y="3386506"/>
                  <a:ext cx="1116674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Terminal-Upper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87" name="직선 화살표 연결선 86"/>
                <p:cNvCxnSpPr/>
                <p:nvPr/>
              </p:nvCxnSpPr>
              <p:spPr>
                <a:xfrm flipH="1" flipV="1">
                  <a:off x="6165850" y="4324350"/>
                  <a:ext cx="7716" cy="52424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" name="TextBox 27"/>
                <p:cNvSpPr txBox="1"/>
                <p:nvPr/>
              </p:nvSpPr>
              <p:spPr>
                <a:xfrm>
                  <a:off x="5813526" y="4848597"/>
                  <a:ext cx="801501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PTC stone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89" name="직선 화살표 연결선 88"/>
                <p:cNvCxnSpPr>
                  <a:stCxn id="90" idx="0"/>
                </p:cNvCxnSpPr>
                <p:nvPr/>
              </p:nvCxnSpPr>
              <p:spPr>
                <a:xfrm flipV="1">
                  <a:off x="7263306" y="4359503"/>
                  <a:ext cx="20337" cy="49663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TextBox 27"/>
                <p:cNvSpPr txBox="1"/>
                <p:nvPr/>
              </p:nvSpPr>
              <p:spPr>
                <a:xfrm>
                  <a:off x="6800177" y="4856141"/>
                  <a:ext cx="926257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Stone holder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91" name="직선 화살표 연결선 90"/>
                <p:cNvCxnSpPr>
                  <a:stCxn id="133" idx="0"/>
                </p:cNvCxnSpPr>
                <p:nvPr/>
              </p:nvCxnSpPr>
              <p:spPr>
                <a:xfrm flipH="1" flipV="1">
                  <a:off x="8510714" y="4397855"/>
                  <a:ext cx="206483" cy="478195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TextBox 27"/>
                <p:cNvSpPr txBox="1"/>
                <p:nvPr/>
              </p:nvSpPr>
              <p:spPr>
                <a:xfrm>
                  <a:off x="3850044" y="3250582"/>
                  <a:ext cx="768671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AL TUBE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94" name="직선 화살표 연결선 93"/>
                <p:cNvCxnSpPr>
                  <a:stCxn id="95" idx="2"/>
                </p:cNvCxnSpPr>
                <p:nvPr/>
              </p:nvCxnSpPr>
              <p:spPr>
                <a:xfrm>
                  <a:off x="7793957" y="3676193"/>
                  <a:ext cx="522460" cy="449995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TextBox 27"/>
                <p:cNvSpPr txBox="1"/>
                <p:nvPr/>
              </p:nvSpPr>
              <p:spPr>
                <a:xfrm>
                  <a:off x="7238903" y="3405137"/>
                  <a:ext cx="1110107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Terminal-Lower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96" name="직선 화살표 연결선 95"/>
                <p:cNvCxnSpPr>
                  <a:stCxn id="97" idx="0"/>
                </p:cNvCxnSpPr>
                <p:nvPr/>
              </p:nvCxnSpPr>
              <p:spPr>
                <a:xfrm flipH="1" flipV="1">
                  <a:off x="3874785" y="4308540"/>
                  <a:ext cx="329243" cy="56751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TextBox 96"/>
                <p:cNvSpPr txBox="1"/>
                <p:nvPr/>
              </p:nvSpPr>
              <p:spPr>
                <a:xfrm>
                  <a:off x="3329425" y="4876050"/>
                  <a:ext cx="1749207" cy="27105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>
                      <a:latin typeface="현대하모니 L" pitchFamily="18" charset="-127"/>
                      <a:ea typeface="현대하모니 L" pitchFamily="18" charset="-127"/>
                    </a:rPr>
                    <a:t>Insulation distance (3.6mm</a:t>
                  </a:r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)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7842593" y="4876050"/>
                  <a:ext cx="1749207" cy="27105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>
                      <a:latin typeface="현대하모니 L" pitchFamily="18" charset="-127"/>
                      <a:ea typeface="현대하모니 L" pitchFamily="18" charset="-127"/>
                    </a:rPr>
                    <a:t>Insulation distance (3.6mm</a:t>
                  </a:r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)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</p:grpSp>
        </p:grpSp>
        <p:grpSp>
          <p:nvGrpSpPr>
            <p:cNvPr id="108" name="그룹 107"/>
            <p:cNvGrpSpPr/>
            <p:nvPr/>
          </p:nvGrpSpPr>
          <p:grpSpPr>
            <a:xfrm>
              <a:off x="3378262" y="4246278"/>
              <a:ext cx="2468474" cy="1341945"/>
              <a:chOff x="203622" y="2156952"/>
              <a:chExt cx="2911826" cy="1412721"/>
            </a:xfrm>
          </p:grpSpPr>
          <p:graphicFrame>
            <p:nvGraphicFramePr>
              <p:cNvPr id="109" name="개체 10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3300596"/>
                  </p:ext>
                </p:extLst>
              </p:nvPr>
            </p:nvGraphicFramePr>
            <p:xfrm>
              <a:off x="203622" y="2360471"/>
              <a:ext cx="2911826" cy="1209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9231" name="프로덕트" r:id="rId5" imgW="4366080" imgH="1813320" progId="CATIA.Product">
                      <p:link updateAutomatic="1"/>
                    </p:oleObj>
                  </mc:Choice>
                  <mc:Fallback>
                    <p:oleObj name="프로덕트" r:id="rId5" imgW="4366080" imgH="1813320" progId="CATIA.Product">
                      <p:link updateAutomatic="1"/>
                      <p:pic>
                        <p:nvPicPr>
                          <p:cNvPr id="65" name="개체 64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03622" y="2360471"/>
                            <a:ext cx="2911826" cy="120920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10" name="직선 화살표 연결선 109"/>
              <p:cNvCxnSpPr/>
              <p:nvPr/>
            </p:nvCxnSpPr>
            <p:spPr bwMode="auto">
              <a:xfrm>
                <a:off x="1409600" y="2442457"/>
                <a:ext cx="48885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arrow"/>
                <a:tailEnd type="arrow"/>
              </a:ln>
              <a:effectLst/>
            </p:spPr>
          </p:cxnSp>
          <p:grpSp>
            <p:nvGrpSpPr>
              <p:cNvPr id="111" name="그룹 110"/>
              <p:cNvGrpSpPr/>
              <p:nvPr/>
            </p:nvGrpSpPr>
            <p:grpSpPr>
              <a:xfrm>
                <a:off x="1393885" y="2156952"/>
                <a:ext cx="518300" cy="1184320"/>
                <a:chOff x="4819938" y="5157083"/>
                <a:chExt cx="518300" cy="1184320"/>
              </a:xfrm>
            </p:grpSpPr>
            <p:sp>
              <p:nvSpPr>
                <p:cNvPr id="112" name="TextBox 27"/>
                <p:cNvSpPr txBox="1"/>
                <p:nvPr/>
              </p:nvSpPr>
              <p:spPr>
                <a:xfrm>
                  <a:off x="4819938" y="5157083"/>
                  <a:ext cx="518300" cy="245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4mm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113" name="직선 연결선 112"/>
                <p:cNvCxnSpPr/>
                <p:nvPr/>
              </p:nvCxnSpPr>
              <p:spPr bwMode="auto">
                <a:xfrm flipH="1">
                  <a:off x="4847165" y="5321300"/>
                  <a:ext cx="6383" cy="102010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4" name="직선 연결선 113"/>
                <p:cNvCxnSpPr/>
                <p:nvPr/>
              </p:nvCxnSpPr>
              <p:spPr bwMode="auto">
                <a:xfrm>
                  <a:off x="5324512" y="5348272"/>
                  <a:ext cx="0" cy="99313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grpSp>
          <p:nvGrpSpPr>
            <p:cNvPr id="115" name="그룹 114"/>
            <p:cNvGrpSpPr/>
            <p:nvPr/>
          </p:nvGrpSpPr>
          <p:grpSpPr>
            <a:xfrm>
              <a:off x="6310885" y="4147430"/>
              <a:ext cx="2311467" cy="1345415"/>
              <a:chOff x="1111678" y="4163767"/>
              <a:chExt cx="3437462" cy="2000813"/>
            </a:xfrm>
          </p:grpSpPr>
          <p:pic>
            <p:nvPicPr>
              <p:cNvPr id="116" name="그림 115"/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333366"/>
                  </a:clrFrom>
                  <a:clrTo>
                    <a:srgbClr val="333366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111678" y="4327823"/>
                <a:ext cx="3437462" cy="1836757"/>
              </a:xfrm>
              <a:prstGeom prst="rect">
                <a:avLst/>
              </a:prstGeom>
            </p:spPr>
          </p:pic>
          <p:grpSp>
            <p:nvGrpSpPr>
              <p:cNvPr id="117" name="그룹 116"/>
              <p:cNvGrpSpPr/>
              <p:nvPr/>
            </p:nvGrpSpPr>
            <p:grpSpPr>
              <a:xfrm>
                <a:off x="2153739" y="4163767"/>
                <a:ext cx="1028984" cy="1117285"/>
                <a:chOff x="7742601" y="5225343"/>
                <a:chExt cx="723842" cy="830049"/>
              </a:xfrm>
            </p:grpSpPr>
            <p:cxnSp>
              <p:nvCxnSpPr>
                <p:cNvPr id="120" name="직선 연결선 119"/>
                <p:cNvCxnSpPr/>
                <p:nvPr/>
              </p:nvCxnSpPr>
              <p:spPr bwMode="auto">
                <a:xfrm>
                  <a:off x="7742601" y="5412707"/>
                  <a:ext cx="0" cy="64268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1" name="직선 연결선 120"/>
                <p:cNvCxnSpPr/>
                <p:nvPr/>
              </p:nvCxnSpPr>
              <p:spPr bwMode="auto">
                <a:xfrm>
                  <a:off x="8466443" y="5412707"/>
                  <a:ext cx="0" cy="626562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2" name="직선 화살표 연결선 121"/>
                <p:cNvCxnSpPr/>
                <p:nvPr/>
              </p:nvCxnSpPr>
              <p:spPr bwMode="auto">
                <a:xfrm>
                  <a:off x="7742601" y="5471564"/>
                  <a:ext cx="697069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arrow"/>
                  <a:tailEnd type="arrow"/>
                </a:ln>
                <a:effectLst/>
              </p:spPr>
            </p:cxnSp>
            <p:sp>
              <p:nvSpPr>
                <p:cNvPr id="123" name="TextBox 27"/>
                <p:cNvSpPr txBox="1"/>
                <p:nvPr/>
              </p:nvSpPr>
              <p:spPr>
                <a:xfrm>
                  <a:off x="7820231" y="5225343"/>
                  <a:ext cx="541733" cy="2575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smtClean="0">
                      <a:latin typeface="현대하모니 L" pitchFamily="18" charset="-127"/>
                      <a:ea typeface="현대하모니 L" pitchFamily="18" charset="-127"/>
                    </a:rPr>
                    <a:t>3.4mm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</p:grpSp>
        </p:grpSp>
        <p:sp>
          <p:nvSpPr>
            <p:cNvPr id="134" name="TextBox 27"/>
            <p:cNvSpPr txBox="1"/>
            <p:nvPr/>
          </p:nvSpPr>
          <p:spPr>
            <a:xfrm>
              <a:off x="4442386" y="5404160"/>
              <a:ext cx="385209" cy="233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 smtClean="0">
                  <a:latin typeface="현대하모니 L" pitchFamily="18" charset="-127"/>
                  <a:ea typeface="현대하모니 L" pitchFamily="18" charset="-127"/>
                </a:rPr>
                <a:t>“B”</a:t>
              </a:r>
              <a:endParaRPr lang="ko-KR" altLang="en-US" sz="7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139" name="TextBox 27"/>
            <p:cNvSpPr txBox="1"/>
            <p:nvPr/>
          </p:nvSpPr>
          <p:spPr>
            <a:xfrm>
              <a:off x="7142807" y="5404160"/>
              <a:ext cx="388946" cy="233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 smtClean="0">
                  <a:latin typeface="현대하모니 L" pitchFamily="18" charset="-127"/>
                  <a:ea typeface="현대하모니 L" pitchFamily="18" charset="-127"/>
                </a:rPr>
                <a:t>“C”</a:t>
              </a:r>
              <a:endParaRPr lang="ko-KR" altLang="en-US" sz="7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4" name="직사각형 3"/>
            <p:cNvSpPr/>
            <p:nvPr/>
          </p:nvSpPr>
          <p:spPr bwMode="auto">
            <a:xfrm>
              <a:off x="1239877" y="2522985"/>
              <a:ext cx="648072" cy="358682"/>
            </a:xfrm>
            <a:prstGeom prst="rect">
              <a:avLst/>
            </a:prstGeom>
            <a:noFill/>
            <a:ln w="9525" cap="flat" cmpd="sng" algn="ctr">
              <a:solidFill>
                <a:srgbClr val="FF3300"/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14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7" name="직사각형 186"/>
            <p:cNvSpPr/>
            <p:nvPr/>
          </p:nvSpPr>
          <p:spPr bwMode="auto">
            <a:xfrm>
              <a:off x="1239877" y="4674622"/>
              <a:ext cx="648072" cy="358682"/>
            </a:xfrm>
            <a:prstGeom prst="rect">
              <a:avLst/>
            </a:prstGeom>
            <a:noFill/>
            <a:ln w="9525" cap="flat" cmpd="sng" algn="ctr">
              <a:solidFill>
                <a:srgbClr val="FF3300"/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14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1695242" y="1902821"/>
            <a:ext cx="5419863" cy="1155842"/>
            <a:chOff x="1695242" y="1902821"/>
            <a:chExt cx="5419863" cy="1155842"/>
          </a:xfrm>
        </p:grpSpPr>
        <p:sp>
          <p:nvSpPr>
            <p:cNvPr id="68" name="직사각형 67"/>
            <p:cNvSpPr/>
            <p:nvPr/>
          </p:nvSpPr>
          <p:spPr bwMode="auto">
            <a:xfrm>
              <a:off x="2765869" y="2230046"/>
              <a:ext cx="2604565" cy="622889"/>
            </a:xfrm>
            <a:prstGeom prst="rect">
              <a:avLst/>
            </a:prstGeom>
            <a:solidFill>
              <a:schemeClr val="accent4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914400"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5" name="직사각형 4"/>
            <p:cNvSpPr/>
            <p:nvPr/>
          </p:nvSpPr>
          <p:spPr bwMode="auto">
            <a:xfrm>
              <a:off x="2765869" y="2128519"/>
              <a:ext cx="2574685" cy="110622"/>
            </a:xfrm>
            <a:prstGeom prst="rect">
              <a:avLst/>
            </a:prstGeom>
            <a:solidFill>
              <a:srgbClr val="FF66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9" name="직사각형 58"/>
            <p:cNvSpPr/>
            <p:nvPr/>
          </p:nvSpPr>
          <p:spPr bwMode="auto">
            <a:xfrm>
              <a:off x="2765869" y="2815921"/>
              <a:ext cx="2574685" cy="110622"/>
            </a:xfrm>
            <a:prstGeom prst="rect">
              <a:avLst/>
            </a:prstGeom>
            <a:solidFill>
              <a:srgbClr val="FF66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0" name="직사각형 59"/>
            <p:cNvSpPr/>
            <p:nvPr/>
          </p:nvSpPr>
          <p:spPr bwMode="auto">
            <a:xfrm>
              <a:off x="2892035" y="2236422"/>
              <a:ext cx="2340000" cy="110622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" name="직사각형 60"/>
            <p:cNvSpPr/>
            <p:nvPr/>
          </p:nvSpPr>
          <p:spPr bwMode="auto">
            <a:xfrm>
              <a:off x="2892035" y="2703480"/>
              <a:ext cx="2340000" cy="110622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2" name="직사각형 61"/>
            <p:cNvSpPr/>
            <p:nvPr/>
          </p:nvSpPr>
          <p:spPr bwMode="auto">
            <a:xfrm>
              <a:off x="2892035" y="2330656"/>
              <a:ext cx="2340000" cy="396000"/>
            </a:xfrm>
            <a:prstGeom prst="rect">
              <a:avLst/>
            </a:prstGeom>
            <a:solidFill>
              <a:srgbClr val="CC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914400"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3" name="모서리가 둥근 직사각형 2"/>
            <p:cNvSpPr/>
            <p:nvPr/>
          </p:nvSpPr>
          <p:spPr bwMode="auto">
            <a:xfrm>
              <a:off x="2733149" y="2094242"/>
              <a:ext cx="2637285" cy="864096"/>
            </a:xfrm>
            <a:prstGeom prst="roundRect">
              <a:avLst/>
            </a:prstGeom>
            <a:noFill/>
            <a:ln w="76200" cap="flat" cmpd="sng" algn="ctr">
              <a:solidFill>
                <a:schemeClr val="accent3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63" name="직선 화살표 연결선 62"/>
            <p:cNvCxnSpPr>
              <a:stCxn id="64" idx="1"/>
            </p:cNvCxnSpPr>
            <p:nvPr/>
          </p:nvCxnSpPr>
          <p:spPr>
            <a:xfrm flipH="1">
              <a:off x="5220072" y="1995255"/>
              <a:ext cx="448209" cy="18354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27"/>
            <p:cNvSpPr txBox="1"/>
            <p:nvPr/>
          </p:nvSpPr>
          <p:spPr>
            <a:xfrm>
              <a:off x="5668281" y="1902821"/>
              <a:ext cx="714161" cy="1848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Insulation pad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71" name="직선 화살표 연결선 70"/>
            <p:cNvCxnSpPr>
              <a:stCxn id="92" idx="1"/>
            </p:cNvCxnSpPr>
            <p:nvPr/>
          </p:nvCxnSpPr>
          <p:spPr>
            <a:xfrm flipH="1">
              <a:off x="5278375" y="2332406"/>
              <a:ext cx="448208" cy="16825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27"/>
            <p:cNvSpPr txBox="1"/>
            <p:nvPr/>
          </p:nvSpPr>
          <p:spPr>
            <a:xfrm>
              <a:off x="5726583" y="2224684"/>
              <a:ext cx="13885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Stone Holder (Plastic part)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106" name="직선 화살표 연결선 105"/>
            <p:cNvCxnSpPr>
              <a:stCxn id="107" idx="1"/>
            </p:cNvCxnSpPr>
            <p:nvPr/>
          </p:nvCxnSpPr>
          <p:spPr>
            <a:xfrm flipH="1">
              <a:off x="5220072" y="2701360"/>
              <a:ext cx="448209" cy="18354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27"/>
            <p:cNvSpPr txBox="1"/>
            <p:nvPr/>
          </p:nvSpPr>
          <p:spPr>
            <a:xfrm>
              <a:off x="5668281" y="2608926"/>
              <a:ext cx="714161" cy="1848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Insulation pad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118" name="직선 화살표 연결선 117"/>
            <p:cNvCxnSpPr>
              <a:stCxn id="119" idx="3"/>
              <a:endCxn id="60" idx="1"/>
            </p:cNvCxnSpPr>
            <p:nvPr/>
          </p:nvCxnSpPr>
          <p:spPr>
            <a:xfrm>
              <a:off x="2455386" y="2138570"/>
              <a:ext cx="436649" cy="15316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27"/>
            <p:cNvSpPr txBox="1"/>
            <p:nvPr/>
          </p:nvSpPr>
          <p:spPr>
            <a:xfrm>
              <a:off x="1695242" y="2030848"/>
              <a:ext cx="76014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Terminal(+)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124" name="직선 화살표 연결선 123"/>
            <p:cNvCxnSpPr>
              <a:stCxn id="125" idx="3"/>
              <a:endCxn id="61" idx="1"/>
            </p:cNvCxnSpPr>
            <p:nvPr/>
          </p:nvCxnSpPr>
          <p:spPr>
            <a:xfrm flipV="1">
              <a:off x="2404090" y="2758791"/>
              <a:ext cx="487945" cy="1921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27"/>
            <p:cNvSpPr txBox="1"/>
            <p:nvPr/>
          </p:nvSpPr>
          <p:spPr>
            <a:xfrm>
              <a:off x="1695242" y="2843219"/>
              <a:ext cx="7088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Terminal(-)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126" name="TextBox 27"/>
            <p:cNvSpPr txBox="1"/>
            <p:nvPr/>
          </p:nvSpPr>
          <p:spPr>
            <a:xfrm>
              <a:off x="3742561" y="2425042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PTC Stone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</p:grpSp>
      <p:cxnSp>
        <p:nvCxnSpPr>
          <p:cNvPr id="17" name="직선 연결선 16"/>
          <p:cNvCxnSpPr/>
          <p:nvPr/>
        </p:nvCxnSpPr>
        <p:spPr bwMode="auto">
          <a:xfrm>
            <a:off x="395536" y="3284984"/>
            <a:ext cx="8136904" cy="0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3940995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sp>
        <p:nvSpPr>
          <p:cNvPr id="185" name="부제목 2"/>
          <p:cNvSpPr txBox="1">
            <a:spLocks/>
          </p:cNvSpPr>
          <p:nvPr/>
        </p:nvSpPr>
        <p:spPr>
          <a:xfrm>
            <a:off x="127312" y="561165"/>
            <a:ext cx="7541299" cy="459806"/>
          </a:xfrm>
          <a:prstGeom prst="rect">
            <a:avLst/>
          </a:prstGeom>
        </p:spPr>
        <p:txBody>
          <a:bodyPr anchor="t"/>
          <a:lstStyle/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en-US" altLang="ko-KR" sz="16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temperature </a:t>
            </a: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measurement (W/O air flow)</a:t>
            </a:r>
            <a:endParaRPr lang="en-US" altLang="ko-KR" sz="12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56" name="개체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7909"/>
              </p:ext>
            </p:extLst>
          </p:nvPr>
        </p:nvGraphicFramePr>
        <p:xfrm>
          <a:off x="323528" y="1841300"/>
          <a:ext cx="1670212" cy="273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223" name="프로덕트" r:id="rId4" imgW="895320" imgH="1466640" progId="CATIA.Product">
                  <p:link updateAutomatic="1"/>
                </p:oleObj>
              </mc:Choice>
              <mc:Fallback>
                <p:oleObj name="프로덕트" r:id="rId4" imgW="895320" imgH="1466640" progId="CATIA.Product">
                  <p:link updateAutomatic="1"/>
                  <p:pic>
                    <p:nvPicPr>
                      <p:cNvPr id="119" name="개체 1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528" y="1841300"/>
                        <a:ext cx="1670212" cy="2736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200961"/>
              </p:ext>
            </p:extLst>
          </p:nvPr>
        </p:nvGraphicFramePr>
        <p:xfrm>
          <a:off x="1367142" y="5112977"/>
          <a:ext cx="5804426" cy="950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276">
                  <a:extLst>
                    <a:ext uri="{9D8B030D-6E8A-4147-A177-3AD203B41FA5}">
                      <a16:colId xmlns:a16="http://schemas.microsoft.com/office/drawing/2014/main" val="2960853944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3531022753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77709022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934214308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3709762741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1586293895"/>
                    </a:ext>
                  </a:extLst>
                </a:gridCol>
              </a:tblGrid>
              <a:tr h="429698">
                <a:tc>
                  <a:txBody>
                    <a:bodyPr/>
                    <a:lstStyle/>
                    <a:p>
                      <a:pPr marL="228600" indent="-228600" algn="ctr" latinLnBrk="1">
                        <a:buNone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Test No.</a:t>
                      </a:r>
                    </a:p>
                  </a:txBody>
                  <a:tcPr marT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Tair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Tfin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Tside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bar</a:t>
                      </a: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Trod</a:t>
                      </a: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 fix Point</a:t>
                      </a:r>
                      <a:endParaRPr lang="ko-KR" altLang="en-US" sz="10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810065"/>
                  </a:ext>
                </a:extLst>
              </a:tr>
              <a:tr h="2602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N1</a:t>
                      </a:r>
                    </a:p>
                  </a:txBody>
                  <a:tcPr marT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112.9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℃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143.5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36.3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145.2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53.8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7525"/>
                  </a:ext>
                </a:extLst>
              </a:tr>
              <a:tr h="2602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TEST Condition</a:t>
                      </a:r>
                    </a:p>
                  </a:txBody>
                  <a:tcPr marT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℃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/ 10kgh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0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 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 0kgh</a:t>
                      </a: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707569"/>
                  </a:ext>
                </a:extLst>
              </a:tr>
            </a:tbl>
          </a:graphicData>
        </a:graphic>
      </p:graphicFrame>
      <p:cxnSp>
        <p:nvCxnSpPr>
          <p:cNvPr id="58" name="직선 화살표 연결선 57"/>
          <p:cNvCxnSpPr>
            <a:stCxn id="59" idx="1"/>
          </p:cNvCxnSpPr>
          <p:nvPr/>
        </p:nvCxnSpPr>
        <p:spPr>
          <a:xfrm flipH="1">
            <a:off x="1661864" y="2540475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27"/>
          <p:cNvSpPr txBox="1"/>
          <p:nvPr/>
        </p:nvSpPr>
        <p:spPr>
          <a:xfrm>
            <a:off x="2107940" y="2417364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T-fin</a:t>
            </a:r>
            <a:endParaRPr lang="en-US" altLang="ko-KR" sz="1000" dirty="0"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62" name="직선 화살표 연결선 61"/>
          <p:cNvCxnSpPr>
            <a:stCxn id="63" idx="1"/>
          </p:cNvCxnSpPr>
          <p:nvPr/>
        </p:nvCxnSpPr>
        <p:spPr>
          <a:xfrm flipH="1">
            <a:off x="1835696" y="2843327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27"/>
          <p:cNvSpPr txBox="1"/>
          <p:nvPr/>
        </p:nvSpPr>
        <p:spPr>
          <a:xfrm>
            <a:off x="2281772" y="2720216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T-side </a:t>
            </a:r>
            <a:r>
              <a:rPr lang="en-US" altLang="ko-KR" sz="1000" dirty="0">
                <a:latin typeface="현대하모니 L" pitchFamily="18" charset="-127"/>
                <a:ea typeface="현대하모니 L" pitchFamily="18" charset="-127"/>
              </a:rPr>
              <a:t>bar</a:t>
            </a:r>
          </a:p>
        </p:txBody>
      </p:sp>
      <p:cxnSp>
        <p:nvCxnSpPr>
          <p:cNvPr id="64" name="직선 화살표 연결선 63"/>
          <p:cNvCxnSpPr>
            <a:stCxn id="65" idx="1"/>
          </p:cNvCxnSpPr>
          <p:nvPr/>
        </p:nvCxnSpPr>
        <p:spPr>
          <a:xfrm flipH="1">
            <a:off x="1547664" y="3408663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27"/>
          <p:cNvSpPr txBox="1"/>
          <p:nvPr/>
        </p:nvSpPr>
        <p:spPr>
          <a:xfrm>
            <a:off x="1993740" y="3285552"/>
            <a:ext cx="5309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T-Rod</a:t>
            </a:r>
            <a:endParaRPr lang="en-US" altLang="ko-KR" sz="1000" dirty="0"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66" name="직선 화살표 연결선 65"/>
          <p:cNvCxnSpPr>
            <a:stCxn id="67" idx="1"/>
          </p:cNvCxnSpPr>
          <p:nvPr/>
        </p:nvCxnSpPr>
        <p:spPr>
          <a:xfrm flipH="1">
            <a:off x="1661864" y="1909781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27"/>
          <p:cNvSpPr txBox="1"/>
          <p:nvPr/>
        </p:nvSpPr>
        <p:spPr>
          <a:xfrm>
            <a:off x="2107940" y="1786670"/>
            <a:ext cx="1689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T-Fix point(contact HVAC)</a:t>
            </a:r>
            <a:endParaRPr lang="en-US" altLang="ko-KR" sz="1000" dirty="0">
              <a:latin typeface="현대하모니 L" pitchFamily="18" charset="-127"/>
              <a:ea typeface="현대하모니 L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858" y="1909781"/>
            <a:ext cx="4412091" cy="27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8528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の電圧</a:t>
            </a: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出力特性グラフ</a:t>
            </a:r>
          </a:p>
        </p:txBody>
      </p:sp>
      <p:sp>
        <p:nvSpPr>
          <p:cNvPr id="185" name="부제목 2"/>
          <p:cNvSpPr txBox="1">
            <a:spLocks/>
          </p:cNvSpPr>
          <p:nvPr/>
        </p:nvSpPr>
        <p:spPr>
          <a:xfrm>
            <a:off x="127312" y="561165"/>
            <a:ext cx="7541299" cy="459806"/>
          </a:xfrm>
          <a:prstGeom prst="rect">
            <a:avLst/>
          </a:prstGeom>
        </p:spPr>
        <p:txBody>
          <a:bodyPr anchor="t"/>
          <a:lstStyle/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ja-JP" altLang="en-US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類似車種の電圧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電流特性グラフ </a:t>
            </a:r>
            <a:r>
              <a:rPr lang="en-US" altLang="ko-KR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(5500W @360V, 0</a:t>
            </a:r>
            <a:r>
              <a:rPr lang="ko-KR" altLang="en-US" sz="1600" dirty="0" smtClean="0">
                <a:solidFill>
                  <a:schemeClr val="tx1"/>
                </a:solidFill>
                <a:latin typeface="Meiryo" panose="020B0604030504040204" pitchFamily="34" charset="-128"/>
                <a:ea typeface="현대하모니 M" pitchFamily="18" charset="-127"/>
              </a:rPr>
              <a:t>℃</a:t>
            </a:r>
            <a:r>
              <a:rPr lang="en-US" altLang="ko-KR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300kg/h</a:t>
            </a:r>
            <a:r>
              <a:rPr lang="ko-KR" altLang="en-US" sz="1600" dirty="0" smtClean="0">
                <a:solidFill>
                  <a:schemeClr val="tx1"/>
                </a:solidFill>
                <a:latin typeface="Meiryo" panose="020B0604030504040204" pitchFamily="34" charset="-128"/>
                <a:ea typeface="현대하모니 M" pitchFamily="18" charset="-127"/>
              </a:rPr>
              <a:t> </a:t>
            </a:r>
            <a:r>
              <a:rPr lang="ja-JP" altLang="en-US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基準</a:t>
            </a:r>
            <a:r>
              <a:rPr lang="en-US" altLang="ko-KR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endParaRPr lang="en-US" altLang="ko-KR" sz="1200" dirty="0" smtClean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196752"/>
            <a:ext cx="7198470" cy="48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6112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HV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および </a:t>
            </a: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LV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コネクタ情報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91737"/>
              </p:ext>
            </p:extLst>
          </p:nvPr>
        </p:nvGraphicFramePr>
        <p:xfrm>
          <a:off x="179512" y="944690"/>
          <a:ext cx="8842109" cy="4928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733">
                  <a:extLst>
                    <a:ext uri="{9D8B030D-6E8A-4147-A177-3AD203B41FA5}">
                      <a16:colId xmlns:a16="http://schemas.microsoft.com/office/drawing/2014/main" val="4046072373"/>
                    </a:ext>
                  </a:extLst>
                </a:gridCol>
                <a:gridCol w="2326653">
                  <a:extLst>
                    <a:ext uri="{9D8B030D-6E8A-4147-A177-3AD203B41FA5}">
                      <a16:colId xmlns:a16="http://schemas.microsoft.com/office/drawing/2014/main" val="420963282"/>
                    </a:ext>
                  </a:extLst>
                </a:gridCol>
                <a:gridCol w="763798">
                  <a:extLst>
                    <a:ext uri="{9D8B030D-6E8A-4147-A177-3AD203B41FA5}">
                      <a16:colId xmlns:a16="http://schemas.microsoft.com/office/drawing/2014/main" val="1083988765"/>
                    </a:ext>
                  </a:extLst>
                </a:gridCol>
                <a:gridCol w="2035757">
                  <a:extLst>
                    <a:ext uri="{9D8B030D-6E8A-4147-A177-3AD203B41FA5}">
                      <a16:colId xmlns:a16="http://schemas.microsoft.com/office/drawing/2014/main" val="1386754379"/>
                    </a:ext>
                  </a:extLst>
                </a:gridCol>
                <a:gridCol w="2612168">
                  <a:extLst>
                    <a:ext uri="{9D8B030D-6E8A-4147-A177-3AD203B41FA5}">
                      <a16:colId xmlns:a16="http://schemas.microsoft.com/office/drawing/2014/main" val="557843687"/>
                    </a:ext>
                  </a:extLst>
                </a:gridCol>
              </a:tblGrid>
              <a:tr h="3736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Part number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</a:t>
                      </a:r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name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Remark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66174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 </a:t>
                      </a:r>
                      <a:endParaRPr lang="en-US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APTIV </a:t>
                      </a:r>
                      <a:r>
                        <a:rPr lang="en-US" altLang="ko-KR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35664921</a:t>
                      </a:r>
                      <a:endParaRPr lang="sv-SE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HV(+)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Map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3548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HV(-)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895172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(+) – HV</a:t>
                      </a:r>
                      <a:r>
                        <a:rPr lang="en-US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996425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(-) – HV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522579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LV </a:t>
                      </a:r>
                      <a:endParaRPr lang="en-US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YURA 210050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IGN3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Map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425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LIN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072437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137624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GND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029919"/>
                  </a:ext>
                </a:extLst>
              </a:tr>
            </a:tbl>
          </a:graphicData>
        </a:graphic>
      </p:graphicFrame>
      <p:sp>
        <p:nvSpPr>
          <p:cNvPr id="16" name="Text Box 2">
            <a:extLst>
              <a:ext uri="{FF2B5EF4-FFF2-40B4-BE49-F238E27FC236}">
                <a16:creationId xmlns:a16="http://schemas.microsoft.com/office/drawing/2014/main" id="{53D199B3-443A-43BA-AE5F-2F514731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3539"/>
            <a:ext cx="2627784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 dirty="0">
                <a:latin typeface="현대하모니 M" pitchFamily="18" charset="-127"/>
                <a:ea typeface="현대하모니 M"/>
              </a:rPr>
              <a:t>■</a:t>
            </a:r>
            <a:r>
              <a:rPr lang="en-US" altLang="ko-KR" dirty="0" smtClean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Connectors &amp; Pin map</a:t>
            </a:r>
          </a:p>
        </p:txBody>
      </p:sp>
      <p:sp>
        <p:nvSpPr>
          <p:cNvPr id="2" name="TextBox 1"/>
          <p:cNvSpPr txBox="1"/>
          <p:nvPr/>
        </p:nvSpPr>
        <p:spPr>
          <a:xfrm rot="20567427">
            <a:off x="6487884" y="2778260"/>
            <a:ext cx="250482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Will be update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27" y="1775602"/>
            <a:ext cx="1684861" cy="172540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221088"/>
            <a:ext cx="2080435" cy="1296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rot="20567427">
            <a:off x="6487884" y="5088114"/>
            <a:ext cx="250482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Will be update</a:t>
            </a:r>
            <a:endParaRPr lang="ko-KR" altLang="en-US" sz="1600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9" y="14234"/>
            <a:ext cx="49687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IP </a:t>
            </a: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等級に基づく防水構造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40" name="개체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26343"/>
              </p:ext>
            </p:extLst>
          </p:nvPr>
        </p:nvGraphicFramePr>
        <p:xfrm>
          <a:off x="-8133" y="1980975"/>
          <a:ext cx="3126713" cy="297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2" name="프로덕트" r:id="rId3" imgW="1630440" imgH="1550520" progId="CATIA.Product">
                  <p:link updateAutomatic="1"/>
                </p:oleObj>
              </mc:Choice>
              <mc:Fallback>
                <p:oleObj name="프로덕트" r:id="rId3" imgW="1630440" imgH="1550520" progId="CATIA.Product">
                  <p:link updateAutomatic="1"/>
                  <p:pic>
                    <p:nvPicPr>
                      <p:cNvPr id="4" name="개체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8133" y="1980975"/>
                        <a:ext cx="3126713" cy="2974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72560" y="1527944"/>
            <a:ext cx="1405805" cy="2154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SIGNAL CONNECTOR</a:t>
            </a:r>
            <a:endParaRPr lang="ko-KR" altLang="en-US" sz="800" b="1" dirty="0"/>
          </a:p>
        </p:txBody>
      </p:sp>
      <p:cxnSp>
        <p:nvCxnSpPr>
          <p:cNvPr id="43" name="직선 화살표 연결선 42"/>
          <p:cNvCxnSpPr>
            <a:stCxn id="42" idx="2"/>
          </p:cNvCxnSpPr>
          <p:nvPr/>
        </p:nvCxnSpPr>
        <p:spPr bwMode="auto">
          <a:xfrm flipH="1">
            <a:off x="911489" y="1743388"/>
            <a:ext cx="263974" cy="456969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96726" y="3082540"/>
            <a:ext cx="846020" cy="3385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smtClean="0"/>
              <a:t>HV </a:t>
            </a:r>
          </a:p>
          <a:p>
            <a:pPr algn="ctr"/>
            <a:r>
              <a:rPr lang="en-US" altLang="ko-KR" sz="800" b="1" dirty="0" smtClean="0"/>
              <a:t>CONNECTOR</a:t>
            </a:r>
            <a:endParaRPr lang="ko-KR" altLang="en-US" sz="800" b="1" dirty="0"/>
          </a:p>
        </p:txBody>
      </p:sp>
      <p:cxnSp>
        <p:nvCxnSpPr>
          <p:cNvPr id="50" name="직선 화살표 연결선 49"/>
          <p:cNvCxnSpPr>
            <a:stCxn id="45" idx="2"/>
          </p:cNvCxnSpPr>
          <p:nvPr/>
        </p:nvCxnSpPr>
        <p:spPr bwMode="auto">
          <a:xfrm>
            <a:off x="619736" y="3421094"/>
            <a:ext cx="339661" cy="878642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직선 화살표 연결선 50"/>
          <p:cNvCxnSpPr>
            <a:stCxn id="52" idx="2"/>
          </p:cNvCxnSpPr>
          <p:nvPr/>
        </p:nvCxnSpPr>
        <p:spPr bwMode="auto">
          <a:xfrm flipH="1">
            <a:off x="2650982" y="2200357"/>
            <a:ext cx="122464" cy="555355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2400587" y="1861803"/>
            <a:ext cx="745717" cy="33855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MEMBRANE</a:t>
            </a:r>
          </a:p>
          <a:p>
            <a:r>
              <a:rPr lang="en-US" altLang="ko-KR" sz="800" b="1" dirty="0" smtClean="0"/>
              <a:t>FILTER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>
            <a:stCxn id="54" idx="0"/>
          </p:cNvCxnSpPr>
          <p:nvPr/>
        </p:nvCxnSpPr>
        <p:spPr bwMode="auto">
          <a:xfrm flipH="1" flipV="1">
            <a:off x="2462937" y="4492568"/>
            <a:ext cx="171301" cy="506950"/>
          </a:xfrm>
          <a:prstGeom prst="straightConnector1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2286226" y="4999518"/>
            <a:ext cx="696024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HEAT ROD</a:t>
            </a:r>
            <a:endParaRPr lang="ko-KR" altLang="en-US" sz="800" b="1" dirty="0"/>
          </a:p>
        </p:txBody>
      </p:sp>
      <p:cxnSp>
        <p:nvCxnSpPr>
          <p:cNvPr id="55" name="직선 화살표 연결선 54"/>
          <p:cNvCxnSpPr/>
          <p:nvPr/>
        </p:nvCxnSpPr>
        <p:spPr bwMode="auto">
          <a:xfrm>
            <a:off x="2034729" y="2021626"/>
            <a:ext cx="37855" cy="4161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797120" y="1806182"/>
            <a:ext cx="524503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COVER</a:t>
            </a:r>
            <a:endParaRPr lang="ko-KR" altLang="en-US" sz="800" b="1" dirty="0"/>
          </a:p>
        </p:txBody>
      </p:sp>
      <p:sp>
        <p:nvSpPr>
          <p:cNvPr id="58" name="타원 57"/>
          <p:cNvSpPr/>
          <p:nvPr/>
        </p:nvSpPr>
        <p:spPr bwMode="auto">
          <a:xfrm>
            <a:off x="1571866" y="2732745"/>
            <a:ext cx="504056" cy="266328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62966"/>
              </p:ext>
            </p:extLst>
          </p:nvPr>
        </p:nvGraphicFramePr>
        <p:xfrm>
          <a:off x="3273272" y="581394"/>
          <a:ext cx="5817448" cy="601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7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52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HEAT ROD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4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HV CONNECTOR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smtClean="0">
                          <a:solidFill>
                            <a:schemeClr val="tx1"/>
                          </a:solidFill>
                        </a:rPr>
                        <a:t>LV 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</a:rPr>
                        <a:t>CONNECTOR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</a:rPr>
                        <a:t>COVER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773591"/>
                  </a:ext>
                </a:extLst>
              </a:tr>
            </a:tbl>
          </a:graphicData>
        </a:graphic>
      </p:graphicFrame>
      <p:pic>
        <p:nvPicPr>
          <p:cNvPr id="60" name="그림 5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71" y="2397475"/>
            <a:ext cx="2288906" cy="637971"/>
          </a:xfrm>
          <a:prstGeom prst="rect">
            <a:avLst/>
          </a:prstGeom>
        </p:spPr>
      </p:pic>
      <p:sp>
        <p:nvSpPr>
          <p:cNvPr id="61" name="TextBox 22"/>
          <p:cNvSpPr txBox="1"/>
          <p:nvPr/>
        </p:nvSpPr>
        <p:spPr>
          <a:xfrm>
            <a:off x="5382498" y="1851847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2" name="TextBox 22"/>
          <p:cNvSpPr txBox="1"/>
          <p:nvPr/>
        </p:nvSpPr>
        <p:spPr>
          <a:xfrm>
            <a:off x="5058272" y="65124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3" name="TextBox 31"/>
          <p:cNvSpPr txBox="1"/>
          <p:nvPr/>
        </p:nvSpPr>
        <p:spPr>
          <a:xfrm>
            <a:off x="6354195" y="1798962"/>
            <a:ext cx="1724920" cy="226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A-A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562328" y="544311"/>
            <a:ext cx="1055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실리콘 충진 부</a:t>
            </a:r>
            <a:endParaRPr lang="ko-KR" altLang="en-US" sz="10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6038774" y="2031894"/>
            <a:ext cx="1331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Silicon Filling Area </a:t>
            </a:r>
            <a:r>
              <a:rPr lang="en-US" altLang="ko-KR" sz="1000" b="1" smtClean="0"/>
              <a:t> </a:t>
            </a:r>
            <a:endParaRPr lang="ko-KR" altLang="en-US" sz="1000" b="1" dirty="0"/>
          </a:p>
        </p:txBody>
      </p:sp>
      <p:sp>
        <p:nvSpPr>
          <p:cNvPr id="67" name="TextBox 31"/>
          <p:cNvSpPr txBox="1"/>
          <p:nvPr/>
        </p:nvSpPr>
        <p:spPr>
          <a:xfrm>
            <a:off x="6992954" y="2937529"/>
            <a:ext cx="1724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B-B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7062213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 bwMode="auto">
          <a:xfrm>
            <a:off x="7370227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 bwMode="auto">
          <a:xfrm>
            <a:off x="7663121" y="2726281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 bwMode="auto">
          <a:xfrm>
            <a:off x="7968674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 bwMode="auto">
          <a:xfrm>
            <a:off x="8276688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5" name="개체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75504"/>
              </p:ext>
            </p:extLst>
          </p:nvPr>
        </p:nvGraphicFramePr>
        <p:xfrm>
          <a:off x="3858472" y="590559"/>
          <a:ext cx="2645081" cy="1374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3" name="프로덕트" r:id="rId6" imgW="4480560" imgH="2327760" progId="CATIA.Product">
                  <p:link updateAutomatic="1"/>
                </p:oleObj>
              </mc:Choice>
              <mc:Fallback>
                <p:oleObj name="프로덕트" r:id="rId6" imgW="4480560" imgH="2327760" progId="CATIA.Product">
                  <p:link updateAutomatic="1"/>
                  <p:pic>
                    <p:nvPicPr>
                      <p:cNvPr id="54" name="개체 5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8472" y="590559"/>
                        <a:ext cx="2645081" cy="1374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직사각형 78"/>
          <p:cNvSpPr/>
          <p:nvPr/>
        </p:nvSpPr>
        <p:spPr bwMode="auto">
          <a:xfrm>
            <a:off x="8569582" y="2724742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/>
          <p:cNvCxnSpPr>
            <a:stCxn id="66" idx="2"/>
            <a:endCxn id="68" idx="1"/>
          </p:cNvCxnSpPr>
          <p:nvPr/>
        </p:nvCxnSpPr>
        <p:spPr bwMode="auto">
          <a:xfrm>
            <a:off x="6704501" y="2278115"/>
            <a:ext cx="357712" cy="52793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5910022" y="2988322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LOWER HOUSING</a:t>
            </a:r>
            <a:endParaRPr lang="ko-KR" altLang="en-US" sz="800" b="1" dirty="0"/>
          </a:p>
        </p:txBody>
      </p:sp>
      <p:cxnSp>
        <p:nvCxnSpPr>
          <p:cNvPr id="85" name="직선 화살표 연결선 84"/>
          <p:cNvCxnSpPr>
            <a:stCxn id="84" idx="0"/>
          </p:cNvCxnSpPr>
          <p:nvPr/>
        </p:nvCxnSpPr>
        <p:spPr bwMode="auto">
          <a:xfrm flipV="1">
            <a:off x="6563339" y="2886667"/>
            <a:ext cx="251077" cy="1016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7372522" y="2049965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ROD ASS’Y</a:t>
            </a:r>
            <a:endParaRPr lang="ko-KR" altLang="en-US" sz="800" b="1" dirty="0"/>
          </a:p>
        </p:txBody>
      </p:sp>
      <p:cxnSp>
        <p:nvCxnSpPr>
          <p:cNvPr id="88" name="직선 화살표 연결선 87"/>
          <p:cNvCxnSpPr/>
          <p:nvPr/>
        </p:nvCxnSpPr>
        <p:spPr bwMode="auto">
          <a:xfrm flipH="1">
            <a:off x="7705312" y="2237791"/>
            <a:ext cx="1156" cy="1445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직사각형 89"/>
          <p:cNvSpPr/>
          <p:nvPr/>
        </p:nvSpPr>
        <p:spPr bwMode="auto">
          <a:xfrm>
            <a:off x="4331620" y="939699"/>
            <a:ext cx="143909" cy="44432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 bwMode="auto">
          <a:xfrm>
            <a:off x="5730235" y="1098305"/>
            <a:ext cx="108000" cy="12826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연결선 91"/>
          <p:cNvCxnSpPr/>
          <p:nvPr/>
        </p:nvCxnSpPr>
        <p:spPr bwMode="auto">
          <a:xfrm>
            <a:off x="5609712" y="736490"/>
            <a:ext cx="8210" cy="117549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직선 화살표 연결선 92"/>
          <p:cNvCxnSpPr>
            <a:stCxn id="64" idx="2"/>
            <a:endCxn id="98" idx="0"/>
          </p:cNvCxnSpPr>
          <p:nvPr/>
        </p:nvCxnSpPr>
        <p:spPr bwMode="auto">
          <a:xfrm flipH="1">
            <a:off x="5617922" y="790532"/>
            <a:ext cx="472252" cy="16011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4" name="직사각형 93"/>
          <p:cNvSpPr/>
          <p:nvPr/>
        </p:nvSpPr>
        <p:spPr bwMode="auto">
          <a:xfrm>
            <a:off x="4568949" y="942231"/>
            <a:ext cx="153691" cy="426551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 bwMode="auto">
          <a:xfrm>
            <a:off x="4800317" y="933377"/>
            <a:ext cx="159872" cy="458114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 bwMode="auto">
          <a:xfrm>
            <a:off x="5053156" y="932487"/>
            <a:ext cx="137201" cy="443663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 bwMode="auto">
          <a:xfrm>
            <a:off x="5289463" y="949730"/>
            <a:ext cx="150410" cy="43429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/>
          <p:cNvSpPr/>
          <p:nvPr/>
        </p:nvSpPr>
        <p:spPr bwMode="auto">
          <a:xfrm>
            <a:off x="5545583" y="950649"/>
            <a:ext cx="144678" cy="440842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22"/>
          <p:cNvSpPr txBox="1"/>
          <p:nvPr/>
        </p:nvSpPr>
        <p:spPr>
          <a:xfrm>
            <a:off x="5364668" y="528522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00" name="개체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855839"/>
              </p:ext>
            </p:extLst>
          </p:nvPr>
        </p:nvGraphicFramePr>
        <p:xfrm>
          <a:off x="6583833" y="625870"/>
          <a:ext cx="1296248" cy="118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4" name="프로덕트" r:id="rId6" imgW="2685960" imgH="2449800" progId="CATIA.Product">
                  <p:link updateAutomatic="1"/>
                </p:oleObj>
              </mc:Choice>
              <mc:Fallback>
                <p:oleObj name="프로덕트" r:id="rId6" imgW="2685960" imgH="2449800" progId="CATIA.Product">
                  <p:link updateAutomatic="1"/>
                  <p:pic>
                    <p:nvPicPr>
                      <p:cNvPr id="56" name="개체 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83833" y="625870"/>
                        <a:ext cx="1296248" cy="1182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8032969" y="739644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UPPER HOUSING</a:t>
            </a:r>
            <a:endParaRPr lang="ko-KR" altLang="en-US" sz="1000" b="1" dirty="0"/>
          </a:p>
        </p:txBody>
      </p:sp>
      <p:cxnSp>
        <p:nvCxnSpPr>
          <p:cNvPr id="102" name="직선 화살표 연결선 101"/>
          <p:cNvCxnSpPr/>
          <p:nvPr/>
        </p:nvCxnSpPr>
        <p:spPr bwMode="auto">
          <a:xfrm flipH="1">
            <a:off x="7788654" y="1477415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8079115" y="1311350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HEAT ROD</a:t>
            </a:r>
          </a:p>
          <a:p>
            <a:r>
              <a:rPr lang="en-US" altLang="ko-KR" sz="1000" b="1" dirty="0" smtClean="0"/>
              <a:t>GROMMET</a:t>
            </a:r>
            <a:endParaRPr lang="ko-KR" altLang="en-US" sz="1000" b="1" dirty="0"/>
          </a:p>
        </p:txBody>
      </p:sp>
      <p:cxnSp>
        <p:nvCxnSpPr>
          <p:cNvPr id="104" name="직선 화살표 연결선 103"/>
          <p:cNvCxnSpPr/>
          <p:nvPr/>
        </p:nvCxnSpPr>
        <p:spPr bwMode="auto">
          <a:xfrm flipH="1">
            <a:off x="7700061" y="949730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직선 화살표 연결선 104"/>
          <p:cNvCxnSpPr>
            <a:stCxn id="64" idx="2"/>
            <a:endCxn id="107" idx="1"/>
          </p:cNvCxnSpPr>
          <p:nvPr/>
        </p:nvCxnSpPr>
        <p:spPr bwMode="auto">
          <a:xfrm>
            <a:off x="6090174" y="790532"/>
            <a:ext cx="89077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6" name="직선 화살표 연결선 105"/>
          <p:cNvCxnSpPr>
            <a:stCxn id="64" idx="2"/>
            <a:endCxn id="108" idx="1"/>
          </p:cNvCxnSpPr>
          <p:nvPr/>
        </p:nvCxnSpPr>
        <p:spPr bwMode="auto">
          <a:xfrm>
            <a:off x="6090174" y="790532"/>
            <a:ext cx="122225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7" name="직사각형 106"/>
          <p:cNvSpPr/>
          <p:nvPr/>
        </p:nvSpPr>
        <p:spPr bwMode="auto">
          <a:xfrm>
            <a:off x="698094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/>
          <p:cNvSpPr/>
          <p:nvPr/>
        </p:nvSpPr>
        <p:spPr bwMode="auto">
          <a:xfrm>
            <a:off x="731242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9" name="개체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590339"/>
              </p:ext>
            </p:extLst>
          </p:nvPr>
        </p:nvGraphicFramePr>
        <p:xfrm>
          <a:off x="3821053" y="2228919"/>
          <a:ext cx="2458802" cy="6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5" name="파트" r:id="rId9" imgW="4827240" imgH="1371240" progId="CATIA.Part">
                  <p:link updateAutomatic="1"/>
                </p:oleObj>
              </mc:Choice>
              <mc:Fallback>
                <p:oleObj name="파트" r:id="rId9" imgW="4827240" imgH="1371240" progId="CATIA.Part">
                  <p:link updateAutomatic="1"/>
                  <p:pic>
                    <p:nvPicPr>
                      <p:cNvPr id="67" name="개체 6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21053" y="2228919"/>
                        <a:ext cx="2458802" cy="698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그룹 109"/>
          <p:cNvGrpSpPr/>
          <p:nvPr/>
        </p:nvGrpSpPr>
        <p:grpSpPr>
          <a:xfrm>
            <a:off x="4133385" y="2277348"/>
            <a:ext cx="1815878" cy="555907"/>
            <a:chOff x="7010103" y="4427322"/>
            <a:chExt cx="1334389" cy="375659"/>
          </a:xfrm>
        </p:grpSpPr>
        <p:sp>
          <p:nvSpPr>
            <p:cNvPr id="111" name="직사각형 110"/>
            <p:cNvSpPr/>
            <p:nvPr/>
          </p:nvSpPr>
          <p:spPr>
            <a:xfrm>
              <a:off x="7010103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244782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479461" y="442732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764679" y="4429920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8009566" y="4431839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8239420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17" name="직선 연결선 116"/>
          <p:cNvCxnSpPr/>
          <p:nvPr/>
        </p:nvCxnSpPr>
        <p:spPr bwMode="auto">
          <a:xfrm>
            <a:off x="3874824" y="2560535"/>
            <a:ext cx="2412867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18" name="TextBox 22"/>
          <p:cNvSpPr txBox="1"/>
          <p:nvPr/>
        </p:nvSpPr>
        <p:spPr>
          <a:xfrm>
            <a:off x="3508188" y="2456308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19" name="TextBox 22"/>
          <p:cNvSpPr txBox="1"/>
          <p:nvPr/>
        </p:nvSpPr>
        <p:spPr>
          <a:xfrm>
            <a:off x="6144842" y="241428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20" name="직선 화살표 연결선 119"/>
          <p:cNvCxnSpPr>
            <a:stCxn id="66" idx="2"/>
          </p:cNvCxnSpPr>
          <p:nvPr/>
        </p:nvCxnSpPr>
        <p:spPr bwMode="auto">
          <a:xfrm flipH="1">
            <a:off x="6090175" y="2278115"/>
            <a:ext cx="614326" cy="21418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1" name="개체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930233"/>
              </p:ext>
            </p:extLst>
          </p:nvPr>
        </p:nvGraphicFramePr>
        <p:xfrm>
          <a:off x="5025488" y="3419290"/>
          <a:ext cx="1254496" cy="123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6" name="프로덕트" r:id="rId11" imgW="2739240" imgH="2693520" progId="CATIA.Product">
                  <p:link updateAutomatic="1"/>
                </p:oleObj>
              </mc:Choice>
              <mc:Fallback>
                <p:oleObj name="프로덕트" r:id="rId11" imgW="2739240" imgH="2693520" progId="CATIA.Product">
                  <p:link updateAutomatic="1"/>
                  <p:pic>
                    <p:nvPicPr>
                      <p:cNvPr id="69" name="개체 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5488" y="3419290"/>
                        <a:ext cx="1254496" cy="1233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TextBox 31"/>
          <p:cNvSpPr txBox="1"/>
          <p:nvPr/>
        </p:nvSpPr>
        <p:spPr>
          <a:xfrm>
            <a:off x="4856376" y="4677859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C-C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349302" y="3324994"/>
            <a:ext cx="751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HV GROMMET</a:t>
            </a:r>
            <a:endParaRPr lang="ko-KR" altLang="en-US" sz="800" b="1" dirty="0"/>
          </a:p>
        </p:txBody>
      </p:sp>
      <p:cxnSp>
        <p:nvCxnSpPr>
          <p:cNvPr id="124" name="직선 화살표 연결선 123"/>
          <p:cNvCxnSpPr/>
          <p:nvPr/>
        </p:nvCxnSpPr>
        <p:spPr bwMode="auto">
          <a:xfrm>
            <a:off x="4996091" y="3499351"/>
            <a:ext cx="534814" cy="21846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4522282" y="4587646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26" name="직선 화살표 연결선 125"/>
          <p:cNvCxnSpPr>
            <a:stCxn id="125" idx="0"/>
          </p:cNvCxnSpPr>
          <p:nvPr/>
        </p:nvCxnSpPr>
        <p:spPr bwMode="auto">
          <a:xfrm flipV="1">
            <a:off x="4870108" y="3679350"/>
            <a:ext cx="1246159" cy="90829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7" name="개체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064956"/>
              </p:ext>
            </p:extLst>
          </p:nvPr>
        </p:nvGraphicFramePr>
        <p:xfrm>
          <a:off x="3787734" y="3812065"/>
          <a:ext cx="1188030" cy="774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7" name="프로덕트" r:id="rId11" imgW="2400120" imgH="1565640" progId="CATIA.Product">
                  <p:link updateAutomatic="1"/>
                </p:oleObj>
              </mc:Choice>
              <mc:Fallback>
                <p:oleObj name="프로덕트" r:id="rId11" imgW="2400120" imgH="1565640" progId="CATIA.Product">
                  <p:link updateAutomatic="1"/>
                  <p:pic>
                    <p:nvPicPr>
                      <p:cNvPr id="70" name="개체 6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87734" y="3812065"/>
                        <a:ext cx="1188030" cy="774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TextBox 22"/>
          <p:cNvSpPr txBox="1"/>
          <p:nvPr/>
        </p:nvSpPr>
        <p:spPr>
          <a:xfrm>
            <a:off x="4125009" y="471221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9" name="TextBox 22"/>
          <p:cNvSpPr txBox="1"/>
          <p:nvPr/>
        </p:nvSpPr>
        <p:spPr>
          <a:xfrm>
            <a:off x="4138429" y="3500311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30" name="직선 연결선 129"/>
          <p:cNvCxnSpPr/>
          <p:nvPr/>
        </p:nvCxnSpPr>
        <p:spPr bwMode="auto">
          <a:xfrm>
            <a:off x="4349302" y="3734720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1" name="TextBox 31"/>
          <p:cNvSpPr txBox="1"/>
          <p:nvPr/>
        </p:nvSpPr>
        <p:spPr>
          <a:xfrm>
            <a:off x="7204078" y="4723782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D-D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32" name="개체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469533"/>
              </p:ext>
            </p:extLst>
          </p:nvPr>
        </p:nvGraphicFramePr>
        <p:xfrm>
          <a:off x="8012550" y="3570141"/>
          <a:ext cx="890899" cy="10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8" name="프로덕트" r:id="rId11" imgW="2000160" imgH="2361960" progId="CATIA.Product">
                  <p:link updateAutomatic="1"/>
                </p:oleObj>
              </mc:Choice>
              <mc:Fallback>
                <p:oleObj name="프로덕트" r:id="rId11" imgW="2000160" imgH="2361960" progId="CATIA.Product">
                  <p:link updateAutomatic="1"/>
                  <p:pic>
                    <p:nvPicPr>
                      <p:cNvPr id="82" name="개체 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12550" y="3570141"/>
                        <a:ext cx="890899" cy="1052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7391852" y="3318066"/>
            <a:ext cx="856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L</a:t>
            </a:r>
            <a:r>
              <a:rPr lang="en-US" altLang="ko-KR" sz="800" b="1" dirty="0" smtClean="0"/>
              <a:t>V GROMMET</a:t>
            </a:r>
            <a:endParaRPr lang="ko-KR" altLang="en-US" sz="800" b="1" dirty="0"/>
          </a:p>
        </p:txBody>
      </p:sp>
      <p:cxnSp>
        <p:nvCxnSpPr>
          <p:cNvPr id="134" name="직선 화살표 연결선 133"/>
          <p:cNvCxnSpPr>
            <a:stCxn id="133" idx="2"/>
          </p:cNvCxnSpPr>
          <p:nvPr/>
        </p:nvCxnSpPr>
        <p:spPr bwMode="auto">
          <a:xfrm>
            <a:off x="7819983" y="3656620"/>
            <a:ext cx="541334" cy="17914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8553123" y="3279437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36" name="직선 화살표 연결선 135"/>
          <p:cNvCxnSpPr/>
          <p:nvPr/>
        </p:nvCxnSpPr>
        <p:spPr bwMode="auto">
          <a:xfrm flipH="1">
            <a:off x="8561545" y="3494121"/>
            <a:ext cx="37828" cy="29904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37" name="개체 1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35356"/>
              </p:ext>
            </p:extLst>
          </p:nvPr>
        </p:nvGraphicFramePr>
        <p:xfrm>
          <a:off x="6653584" y="3868699"/>
          <a:ext cx="1181183" cy="65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9" name="프로덕트" r:id="rId11" imgW="2255400" imgH="1249560" progId="CATIA.Product">
                  <p:link updateAutomatic="1"/>
                </p:oleObj>
              </mc:Choice>
              <mc:Fallback>
                <p:oleObj name="프로덕트" r:id="rId11" imgW="2255400" imgH="1249560" progId="CATIA.Product">
                  <p:link updateAutomatic="1"/>
                  <p:pic>
                    <p:nvPicPr>
                      <p:cNvPr id="83" name="개체 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3584" y="3868699"/>
                        <a:ext cx="1181183" cy="654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8" name="직선 연결선 137"/>
          <p:cNvCxnSpPr/>
          <p:nvPr/>
        </p:nvCxnSpPr>
        <p:spPr bwMode="auto">
          <a:xfrm>
            <a:off x="7252353" y="3691984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9" name="TextBox 22"/>
          <p:cNvSpPr txBox="1"/>
          <p:nvPr/>
        </p:nvSpPr>
        <p:spPr>
          <a:xfrm>
            <a:off x="7022992" y="342307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40" name="TextBox 22"/>
          <p:cNvSpPr txBox="1"/>
          <p:nvPr/>
        </p:nvSpPr>
        <p:spPr>
          <a:xfrm>
            <a:off x="7033638" y="4655300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6339" y="4976920"/>
            <a:ext cx="3924679" cy="1573988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8" y="14234"/>
            <a:ext cx="7882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取付方向および空気流方向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743370"/>
            <a:ext cx="1138136" cy="2722418"/>
          </a:xfrm>
          <a:prstGeom prst="rect">
            <a:avLst/>
          </a:prstGeom>
        </p:spPr>
      </p:pic>
      <p:pic>
        <p:nvPicPr>
          <p:cNvPr id="141" name="그림 1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340768"/>
            <a:ext cx="2188723" cy="2524991"/>
          </a:xfrm>
          <a:prstGeom prst="rect">
            <a:avLst/>
          </a:prstGeom>
        </p:spPr>
      </p:pic>
      <p:cxnSp>
        <p:nvCxnSpPr>
          <p:cNvPr id="142" name="직선 화살표 연결선 141"/>
          <p:cNvCxnSpPr/>
          <p:nvPr/>
        </p:nvCxnSpPr>
        <p:spPr bwMode="auto">
          <a:xfrm flipH="1" flipV="1">
            <a:off x="2157900" y="706983"/>
            <a:ext cx="1477996" cy="856482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3" name="직선 화살표 연결선 142"/>
          <p:cNvCxnSpPr/>
          <p:nvPr/>
        </p:nvCxnSpPr>
        <p:spPr bwMode="auto">
          <a:xfrm flipH="1" flipV="1">
            <a:off x="1619672" y="2067521"/>
            <a:ext cx="1148357" cy="684361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4" name="직사각형 143"/>
          <p:cNvSpPr/>
          <p:nvPr/>
        </p:nvSpPr>
        <p:spPr>
          <a:xfrm>
            <a:off x="362134" y="1146240"/>
            <a:ext cx="2117554" cy="68379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HVAC MT’G Direction</a:t>
            </a:r>
            <a:endParaRPr lang="ko-KR" altLang="en-US" dirty="0"/>
          </a:p>
        </p:txBody>
      </p:sp>
      <p:sp>
        <p:nvSpPr>
          <p:cNvPr id="147" name="오른쪽 화살표 146"/>
          <p:cNvSpPr/>
          <p:nvPr/>
        </p:nvSpPr>
        <p:spPr>
          <a:xfrm rot="18245334">
            <a:off x="1747133" y="2857417"/>
            <a:ext cx="2315202" cy="900385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  <p:cxnSp>
        <p:nvCxnSpPr>
          <p:cNvPr id="3" name="직선 화살표 연결선 2"/>
          <p:cNvCxnSpPr/>
          <p:nvPr/>
        </p:nvCxnSpPr>
        <p:spPr bwMode="auto">
          <a:xfrm flipH="1">
            <a:off x="8086400" y="874395"/>
            <a:ext cx="158007" cy="2886993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triangle"/>
            <a:tailEnd type="triangle"/>
          </a:ln>
          <a:effectLst/>
        </p:spPr>
      </p:cxnSp>
      <p:graphicFrame>
        <p:nvGraphicFramePr>
          <p:cNvPr id="14" name="개체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45652"/>
              </p:ext>
            </p:extLst>
          </p:nvPr>
        </p:nvGraphicFramePr>
        <p:xfrm>
          <a:off x="5459641" y="3533276"/>
          <a:ext cx="1539989" cy="25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41" name="프로덕트" r:id="rId5" imgW="895320" imgH="1466640" progId="CATIA.Product">
                  <p:link updateAutomatic="1"/>
                </p:oleObj>
              </mc:Choice>
              <mc:Fallback>
                <p:oleObj name="프로덕트" r:id="rId5" imgW="895320" imgH="1466640" progId="CATIA.Product">
                  <p:link updateAutomatic="1"/>
                  <p:pic>
                    <p:nvPicPr>
                      <p:cNvPr id="119" name="개체 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59641" y="3533276"/>
                        <a:ext cx="1539989" cy="2522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/>
          <p:cNvSpPr/>
          <p:nvPr/>
        </p:nvSpPr>
        <p:spPr bwMode="auto">
          <a:xfrm>
            <a:off x="5882927" y="3932262"/>
            <a:ext cx="864096" cy="1929770"/>
          </a:xfrm>
          <a:prstGeom prst="rect">
            <a:avLst/>
          </a:prstGeom>
          <a:solidFill>
            <a:srgbClr val="00B0F0">
              <a:alpha val="80000"/>
            </a:srgbClr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85875" marR="0" indent="-3714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en-US" sz="2000" b="1" i="0" u="none" strike="noStrike" cap="none" normalizeH="0" baseline="0" smtClean="0">
              <a:ln>
                <a:noFill/>
              </a:ln>
              <a:solidFill>
                <a:srgbClr val="FF3300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" name="직선 화살표 연결선 15"/>
          <p:cNvCxnSpPr/>
          <p:nvPr/>
        </p:nvCxnSpPr>
        <p:spPr bwMode="auto">
          <a:xfrm>
            <a:off x="6603321" y="3932262"/>
            <a:ext cx="1152128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 bwMode="auto">
          <a:xfrm>
            <a:off x="6603321" y="5862032"/>
            <a:ext cx="1152128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 bwMode="auto">
          <a:xfrm flipV="1">
            <a:off x="7423231" y="3918943"/>
            <a:ext cx="1" cy="1943089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직선 화살표 연결선 19"/>
          <p:cNvCxnSpPr/>
          <p:nvPr/>
        </p:nvCxnSpPr>
        <p:spPr bwMode="auto">
          <a:xfrm flipH="1">
            <a:off x="5882642" y="6261017"/>
            <a:ext cx="864000" cy="1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2" name="직선 화살표 연결선 21"/>
          <p:cNvCxnSpPr/>
          <p:nvPr/>
        </p:nvCxnSpPr>
        <p:spPr bwMode="auto">
          <a:xfrm>
            <a:off x="5872938" y="5804208"/>
            <a:ext cx="0" cy="504056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 bwMode="auto">
          <a:xfrm>
            <a:off x="6737636" y="5804208"/>
            <a:ext cx="0" cy="504056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오른쪽 화살표 20"/>
          <p:cNvSpPr/>
          <p:nvPr/>
        </p:nvSpPr>
        <p:spPr>
          <a:xfrm>
            <a:off x="5516488" y="1897564"/>
            <a:ext cx="1714201" cy="793863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489089" y="4113317"/>
            <a:ext cx="597311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 smtClean="0">
                <a:solidFill>
                  <a:srgbClr val="0000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冷却必要部</a:t>
            </a:r>
            <a:endParaRPr lang="ko-KR" altLang="en-US" b="1" dirty="0">
              <a:solidFill>
                <a:srgbClr val="0000FF"/>
              </a:solidFill>
              <a:latin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201018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그룹 217"/>
          <p:cNvGrpSpPr/>
          <p:nvPr/>
        </p:nvGrpSpPr>
        <p:grpSpPr>
          <a:xfrm>
            <a:off x="611560" y="836711"/>
            <a:ext cx="8136904" cy="4085303"/>
            <a:chOff x="611560" y="836712"/>
            <a:chExt cx="8136904" cy="5328592"/>
          </a:xfrm>
        </p:grpSpPr>
        <p:sp>
          <p:nvSpPr>
            <p:cNvPr id="219" name="Text Box 87"/>
            <p:cNvSpPr txBox="1">
              <a:spLocks noChangeAspect="1" noChangeArrowheads="1"/>
            </p:cNvSpPr>
            <p:nvPr/>
          </p:nvSpPr>
          <p:spPr bwMode="auto">
            <a:xfrm>
              <a:off x="6637754" y="1053527"/>
              <a:ext cx="624948" cy="185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290" tIns="38290" rIns="38290" bIns="3829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700">
                  <a:solidFill>
                    <a:schemeClr val="tx1"/>
                  </a:solidFill>
                </a:rPr>
                <a:t>HV</a:t>
              </a:r>
              <a:r>
                <a:rPr lang="en-US" altLang="ko-KR" sz="700">
                  <a:solidFill>
                    <a:schemeClr val="tx1"/>
                  </a:solidFill>
                </a:rPr>
                <a:t>(+)</a:t>
              </a:r>
              <a:endParaRPr lang="en-US" altLang="ja-JP" sz="700">
                <a:solidFill>
                  <a:schemeClr val="tx1"/>
                </a:solidFill>
              </a:endParaRPr>
            </a:p>
          </p:txBody>
        </p:sp>
        <p:sp>
          <p:nvSpPr>
            <p:cNvPr id="220" name="Rectangle 111"/>
            <p:cNvSpPr>
              <a:spLocks noChangeAspect="1" noChangeArrowheads="1"/>
            </p:cNvSpPr>
            <p:nvPr/>
          </p:nvSpPr>
          <p:spPr bwMode="auto">
            <a:xfrm>
              <a:off x="3553114" y="1679816"/>
              <a:ext cx="2940132" cy="4363752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21" name="Rectangle 111"/>
            <p:cNvSpPr>
              <a:spLocks noChangeAspect="1" noChangeArrowheads="1"/>
            </p:cNvSpPr>
            <p:nvPr/>
          </p:nvSpPr>
          <p:spPr bwMode="auto">
            <a:xfrm>
              <a:off x="6690317" y="2168320"/>
              <a:ext cx="1443585" cy="3197900"/>
            </a:xfrm>
            <a:prstGeom prst="rect">
              <a:avLst/>
            </a:prstGeom>
            <a:solidFill>
              <a:srgbClr val="FF0000">
                <a:alpha val="21176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22" name="Rectangle 111"/>
            <p:cNvSpPr>
              <a:spLocks noChangeAspect="1" noChangeArrowheads="1"/>
            </p:cNvSpPr>
            <p:nvPr/>
          </p:nvSpPr>
          <p:spPr bwMode="auto">
            <a:xfrm>
              <a:off x="6764464" y="2791044"/>
              <a:ext cx="1280153" cy="778796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23" name="Freeform 84"/>
            <p:cNvSpPr>
              <a:spLocks noChangeAspect="1"/>
            </p:cNvSpPr>
            <p:nvPr/>
          </p:nvSpPr>
          <p:spPr bwMode="auto">
            <a:xfrm>
              <a:off x="867954" y="2355605"/>
              <a:ext cx="985089" cy="0"/>
            </a:xfrm>
            <a:custGeom>
              <a:avLst/>
              <a:gdLst>
                <a:gd name="T0" fmla="*/ 0 w 1311"/>
                <a:gd name="T1" fmla="*/ 0 h 1"/>
                <a:gd name="T2" fmla="*/ 2147483647 w 1311"/>
                <a:gd name="T3" fmla="*/ 0 h 1"/>
                <a:gd name="T4" fmla="*/ 2147483647 w 1311"/>
                <a:gd name="T5" fmla="*/ 0 h 1"/>
                <a:gd name="T6" fmla="*/ 0 60000 65536"/>
                <a:gd name="T7" fmla="*/ 0 60000 65536"/>
                <a:gd name="T8" fmla="*/ 0 60000 65536"/>
                <a:gd name="T9" fmla="*/ 0 w 1311"/>
                <a:gd name="T10" fmla="*/ 0 h 1"/>
                <a:gd name="T11" fmla="*/ 1311 w 1311"/>
                <a:gd name="T12" fmla="*/ 0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1" h="1">
                  <a:moveTo>
                    <a:pt x="0" y="0"/>
                  </a:moveTo>
                  <a:lnTo>
                    <a:pt x="131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4" name="Text Box 137"/>
            <p:cNvSpPr txBox="1">
              <a:spLocks noChangeAspect="1" noChangeArrowheads="1"/>
            </p:cNvSpPr>
            <p:nvPr/>
          </p:nvSpPr>
          <p:spPr bwMode="auto">
            <a:xfrm>
              <a:off x="887673" y="2187366"/>
              <a:ext cx="440190" cy="180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IGN(+)</a:t>
              </a:r>
              <a:endParaRPr lang="en-US" altLang="ja-JP" sz="700" dirty="0">
                <a:solidFill>
                  <a:schemeClr val="tx1"/>
                </a:solidFill>
              </a:endParaRPr>
            </a:p>
          </p:txBody>
        </p:sp>
        <p:sp>
          <p:nvSpPr>
            <p:cNvPr id="225" name="Freeform 84"/>
            <p:cNvSpPr>
              <a:spLocks noChangeAspect="1"/>
            </p:cNvSpPr>
            <p:nvPr/>
          </p:nvSpPr>
          <p:spPr bwMode="auto">
            <a:xfrm>
              <a:off x="1037432" y="2639041"/>
              <a:ext cx="823176" cy="149829"/>
            </a:xfrm>
            <a:custGeom>
              <a:avLst/>
              <a:gdLst>
                <a:gd name="T0" fmla="*/ 0 w 753"/>
                <a:gd name="T1" fmla="*/ 0 h 184"/>
                <a:gd name="T2" fmla="*/ 2147483647 w 753"/>
                <a:gd name="T3" fmla="*/ 0 h 184"/>
                <a:gd name="T4" fmla="*/ 2147483647 w 753"/>
                <a:gd name="T5" fmla="*/ 2147483647 h 184"/>
                <a:gd name="T6" fmla="*/ 0 60000 65536"/>
                <a:gd name="T7" fmla="*/ 0 60000 65536"/>
                <a:gd name="T8" fmla="*/ 0 60000 65536"/>
                <a:gd name="T9" fmla="*/ 0 w 753"/>
                <a:gd name="T10" fmla="*/ 0 h 184"/>
                <a:gd name="T11" fmla="*/ 753 w 753"/>
                <a:gd name="T12" fmla="*/ 184 h 1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3" h="184">
                  <a:moveTo>
                    <a:pt x="4" y="184"/>
                  </a:moveTo>
                  <a:lnTo>
                    <a:pt x="0" y="0"/>
                  </a:lnTo>
                  <a:lnTo>
                    <a:pt x="75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6" name="Freeform 84"/>
            <p:cNvSpPr>
              <a:spLocks noChangeAspect="1"/>
            </p:cNvSpPr>
            <p:nvPr/>
          </p:nvSpPr>
          <p:spPr bwMode="auto">
            <a:xfrm flipH="1">
              <a:off x="5101865" y="1163221"/>
              <a:ext cx="1523785" cy="227864"/>
            </a:xfrm>
            <a:custGeom>
              <a:avLst/>
              <a:gdLst>
                <a:gd name="T0" fmla="*/ 0 w 1872"/>
                <a:gd name="T1" fmla="*/ 0 h 384"/>
                <a:gd name="T2" fmla="*/ 2147483647 w 1872"/>
                <a:gd name="T3" fmla="*/ 0 h 384"/>
                <a:gd name="T4" fmla="*/ 2147483647 w 1872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872"/>
                <a:gd name="T10" fmla="*/ 0 h 384"/>
                <a:gd name="T11" fmla="*/ 1872 w 187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4">
                  <a:moveTo>
                    <a:pt x="0" y="0"/>
                  </a:moveTo>
                  <a:lnTo>
                    <a:pt x="1872" y="0"/>
                  </a:lnTo>
                  <a:lnTo>
                    <a:pt x="1872" y="38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7" name="Text Box 87"/>
            <p:cNvSpPr txBox="1">
              <a:spLocks noChangeAspect="1" noChangeArrowheads="1"/>
            </p:cNvSpPr>
            <p:nvPr/>
          </p:nvSpPr>
          <p:spPr bwMode="auto">
            <a:xfrm>
              <a:off x="6583280" y="1187749"/>
              <a:ext cx="449418" cy="185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290" tIns="38290" rIns="38290" bIns="3829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700">
                  <a:solidFill>
                    <a:schemeClr val="tx1"/>
                  </a:solidFill>
                </a:rPr>
                <a:t>HV</a:t>
              </a:r>
              <a:r>
                <a:rPr lang="en-US" altLang="ko-KR" sz="700">
                  <a:solidFill>
                    <a:schemeClr val="tx1"/>
                  </a:solidFill>
                </a:rPr>
                <a:t>(-)</a:t>
              </a:r>
              <a:endParaRPr lang="en-US" altLang="ja-JP" sz="700">
                <a:solidFill>
                  <a:schemeClr val="tx1"/>
                </a:solidFill>
              </a:endParaRPr>
            </a:p>
          </p:txBody>
        </p:sp>
        <p:sp>
          <p:nvSpPr>
            <p:cNvPr id="228" name="Freeform 84"/>
            <p:cNvSpPr>
              <a:spLocks noChangeAspect="1"/>
            </p:cNvSpPr>
            <p:nvPr/>
          </p:nvSpPr>
          <p:spPr bwMode="auto">
            <a:xfrm flipH="1">
              <a:off x="6309391" y="1300563"/>
              <a:ext cx="278427" cy="337114"/>
            </a:xfrm>
            <a:custGeom>
              <a:avLst/>
              <a:gdLst>
                <a:gd name="T0" fmla="*/ 0 w 1872"/>
                <a:gd name="T1" fmla="*/ 0 h 384"/>
                <a:gd name="T2" fmla="*/ 2147483647 w 1872"/>
                <a:gd name="T3" fmla="*/ 0 h 384"/>
                <a:gd name="T4" fmla="*/ 2147483647 w 1872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872"/>
                <a:gd name="T10" fmla="*/ 0 h 384"/>
                <a:gd name="T11" fmla="*/ 1872 w 187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4">
                  <a:moveTo>
                    <a:pt x="0" y="0"/>
                  </a:moveTo>
                  <a:lnTo>
                    <a:pt x="1872" y="0"/>
                  </a:lnTo>
                  <a:lnTo>
                    <a:pt x="1872" y="38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9" name="Rectangle 77"/>
            <p:cNvSpPr>
              <a:spLocks noChangeAspect="1" noChangeArrowheads="1"/>
            </p:cNvSpPr>
            <p:nvPr/>
          </p:nvSpPr>
          <p:spPr bwMode="auto">
            <a:xfrm>
              <a:off x="1909031" y="1664210"/>
              <a:ext cx="1228712" cy="43425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30" name="Text Box 112"/>
            <p:cNvSpPr txBox="1">
              <a:spLocks noChangeAspect="1" noChangeArrowheads="1"/>
            </p:cNvSpPr>
            <p:nvPr/>
          </p:nvSpPr>
          <p:spPr bwMode="auto">
            <a:xfrm>
              <a:off x="3638609" y="1687433"/>
              <a:ext cx="821663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 dirty="0">
                  <a:solidFill>
                    <a:schemeClr val="tx1"/>
                  </a:solidFill>
                </a:rPr>
                <a:t>HV circuit</a:t>
              </a:r>
            </a:p>
          </p:txBody>
        </p:sp>
        <p:cxnSp>
          <p:nvCxnSpPr>
            <p:cNvPr id="231" name="직선 연결선 230"/>
            <p:cNvCxnSpPr>
              <a:cxnSpLocks noChangeAspect="1" noChangeShapeType="1"/>
            </p:cNvCxnSpPr>
            <p:nvPr/>
          </p:nvCxnSpPr>
          <p:spPr bwMode="auto">
            <a:xfrm>
              <a:off x="3877693" y="2308783"/>
              <a:ext cx="298098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32" name="Text Box 112"/>
            <p:cNvSpPr txBox="1">
              <a:spLocks noChangeAspect="1" noChangeArrowheads="1"/>
            </p:cNvSpPr>
            <p:nvPr/>
          </p:nvSpPr>
          <p:spPr bwMode="auto">
            <a:xfrm>
              <a:off x="1925030" y="1700837"/>
              <a:ext cx="811071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 dirty="0">
                  <a:solidFill>
                    <a:schemeClr val="tx1"/>
                  </a:solidFill>
                </a:rPr>
                <a:t>LV circuit</a:t>
              </a:r>
            </a:p>
          </p:txBody>
        </p:sp>
        <p:cxnSp>
          <p:nvCxnSpPr>
            <p:cNvPr id="234" name="직선 연결선 233"/>
            <p:cNvCxnSpPr>
              <a:cxnSpLocks noChangeAspect="1" noChangeShapeType="1"/>
            </p:cNvCxnSpPr>
            <p:nvPr/>
          </p:nvCxnSpPr>
          <p:spPr bwMode="auto">
            <a:xfrm>
              <a:off x="5130616" y="5687867"/>
              <a:ext cx="1218118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35" name="Text Box 137"/>
            <p:cNvSpPr txBox="1">
              <a:spLocks noChangeAspect="1" noChangeArrowheads="1"/>
            </p:cNvSpPr>
            <p:nvPr/>
          </p:nvSpPr>
          <p:spPr bwMode="auto">
            <a:xfrm>
              <a:off x="890180" y="2476394"/>
              <a:ext cx="437683" cy="180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GND(-)</a:t>
              </a:r>
              <a:endParaRPr lang="en-US" altLang="ja-JP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236" name="직선 연결선 235"/>
            <p:cNvCxnSpPr>
              <a:cxnSpLocks noChangeAspect="1" noChangeShapeType="1"/>
            </p:cNvCxnSpPr>
            <p:nvPr/>
          </p:nvCxnSpPr>
          <p:spPr bwMode="auto">
            <a:xfrm>
              <a:off x="4812846" y="2104330"/>
              <a:ext cx="0" cy="247747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37" name="Rectangle 102"/>
            <p:cNvSpPr>
              <a:spLocks noChangeAspect="1" noChangeArrowheads="1"/>
            </p:cNvSpPr>
            <p:nvPr/>
          </p:nvSpPr>
          <p:spPr bwMode="auto">
            <a:xfrm>
              <a:off x="6764464" y="2647458"/>
              <a:ext cx="1271081" cy="11705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sp>
          <p:nvSpPr>
            <p:cNvPr id="238" name="Rectangle 102"/>
            <p:cNvSpPr>
              <a:spLocks noChangeAspect="1" noChangeArrowheads="1"/>
            </p:cNvSpPr>
            <p:nvPr/>
          </p:nvSpPr>
          <p:spPr bwMode="auto">
            <a:xfrm>
              <a:off x="6779596" y="3587007"/>
              <a:ext cx="1252922" cy="104568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sp>
          <p:nvSpPr>
            <p:cNvPr id="239" name="Line 145"/>
            <p:cNvSpPr>
              <a:spLocks noChangeShapeType="1"/>
            </p:cNvSpPr>
            <p:nvPr/>
          </p:nvSpPr>
          <p:spPr bwMode="auto">
            <a:xfrm>
              <a:off x="4656986" y="2943369"/>
              <a:ext cx="15585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oval" w="med" len="med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40" name="직선 연결선 239"/>
            <p:cNvCxnSpPr>
              <a:cxnSpLocks noChangeAspect="1" noChangeShapeType="1"/>
            </p:cNvCxnSpPr>
            <p:nvPr/>
          </p:nvCxnSpPr>
          <p:spPr bwMode="auto">
            <a:xfrm>
              <a:off x="6332090" y="1773459"/>
              <a:ext cx="0" cy="3921903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lg" len="lg"/>
              <a:tailEnd type="oval" w="lg" len="lg"/>
            </a:ln>
          </p:spPr>
        </p:cxnSp>
        <p:cxnSp>
          <p:nvCxnSpPr>
            <p:cNvPr id="241" name="직선 연결선 240"/>
            <p:cNvCxnSpPr>
              <a:cxnSpLocks noChangeAspect="1" noChangeShapeType="1"/>
            </p:cNvCxnSpPr>
            <p:nvPr/>
          </p:nvCxnSpPr>
          <p:spPr bwMode="auto">
            <a:xfrm flipH="1">
              <a:off x="4010854" y="2567862"/>
              <a:ext cx="92758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42" name="Text Box 112"/>
            <p:cNvSpPr txBox="1">
              <a:spLocks noChangeAspect="1" noChangeArrowheads="1"/>
            </p:cNvSpPr>
            <p:nvPr/>
          </p:nvSpPr>
          <p:spPr bwMode="auto">
            <a:xfrm>
              <a:off x="6890059" y="1992554"/>
              <a:ext cx="956337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>
                  <a:solidFill>
                    <a:schemeClr val="tx1"/>
                  </a:solidFill>
                </a:rPr>
                <a:t>Core  Ass’y</a:t>
              </a:r>
            </a:p>
          </p:txBody>
        </p:sp>
        <p:grpSp>
          <p:nvGrpSpPr>
            <p:cNvPr id="243" name="그룹 33"/>
            <p:cNvGrpSpPr>
              <a:grpSpLocks/>
            </p:cNvGrpSpPr>
            <p:nvPr/>
          </p:nvGrpSpPr>
          <p:grpSpPr bwMode="auto">
            <a:xfrm>
              <a:off x="4235203" y="2394623"/>
              <a:ext cx="186071" cy="118614"/>
              <a:chOff x="4751420" y="2591675"/>
              <a:chExt cx="219075" cy="134938"/>
            </a:xfrm>
          </p:grpSpPr>
          <p:cxnSp>
            <p:nvCxnSpPr>
              <p:cNvPr id="402" name="직선 연결선 401"/>
              <p:cNvCxnSpPr>
                <a:cxnSpLocks noChangeAspect="1" noChangeShapeType="1"/>
              </p:cNvCxnSpPr>
              <p:nvPr/>
            </p:nvCxnSpPr>
            <p:spPr bwMode="auto">
              <a:xfrm>
                <a:off x="4849845" y="2591675"/>
                <a:ext cx="1588" cy="50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403" name="Line 79"/>
              <p:cNvSpPr>
                <a:spLocks noChangeAspect="1" noChangeShapeType="1"/>
              </p:cNvSpPr>
              <p:nvPr/>
            </p:nvSpPr>
            <p:spPr bwMode="auto">
              <a:xfrm>
                <a:off x="4751420" y="2642475"/>
                <a:ext cx="2190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4" name="Line 80"/>
              <p:cNvSpPr>
                <a:spLocks noChangeAspect="1" noChangeShapeType="1"/>
              </p:cNvSpPr>
              <p:nvPr/>
            </p:nvSpPr>
            <p:spPr bwMode="auto">
              <a:xfrm flipH="1">
                <a:off x="4753008" y="2642475"/>
                <a:ext cx="44450" cy="841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5" name="Line 81"/>
              <p:cNvSpPr>
                <a:spLocks noChangeAspect="1" noChangeShapeType="1"/>
              </p:cNvSpPr>
              <p:nvPr/>
            </p:nvSpPr>
            <p:spPr bwMode="auto">
              <a:xfrm flipH="1">
                <a:off x="4819683" y="2642475"/>
                <a:ext cx="44450" cy="841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6" name="Line 82"/>
              <p:cNvSpPr>
                <a:spLocks noChangeAspect="1" noChangeShapeType="1"/>
              </p:cNvSpPr>
              <p:nvPr/>
            </p:nvSpPr>
            <p:spPr bwMode="auto">
              <a:xfrm flipH="1">
                <a:off x="4884770" y="2642475"/>
                <a:ext cx="44450" cy="841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</p:grpSp>
        <p:cxnSp>
          <p:nvCxnSpPr>
            <p:cNvPr id="245" name="직선 연결선 244"/>
            <p:cNvCxnSpPr>
              <a:cxnSpLocks noChangeAspect="1" noChangeShapeType="1"/>
            </p:cNvCxnSpPr>
            <p:nvPr/>
          </p:nvCxnSpPr>
          <p:spPr bwMode="auto">
            <a:xfrm>
              <a:off x="3349589" y="1139810"/>
              <a:ext cx="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46" name="Text Box 112"/>
            <p:cNvSpPr txBox="1">
              <a:spLocks noChangeAspect="1" noChangeArrowheads="1"/>
            </p:cNvSpPr>
            <p:nvPr/>
          </p:nvSpPr>
          <p:spPr bwMode="auto">
            <a:xfrm>
              <a:off x="3039900" y="1278631"/>
              <a:ext cx="655212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 dirty="0">
                  <a:solidFill>
                    <a:schemeClr val="tx1"/>
                  </a:solidFill>
                </a:rPr>
                <a:t>Isolation</a:t>
              </a:r>
            </a:p>
          </p:txBody>
        </p:sp>
        <p:cxnSp>
          <p:nvCxnSpPr>
            <p:cNvPr id="247" name="직선 연결선 246"/>
            <p:cNvCxnSpPr>
              <a:cxnSpLocks noChangeAspect="1" noChangeShapeType="1"/>
            </p:cNvCxnSpPr>
            <p:nvPr/>
          </p:nvCxnSpPr>
          <p:spPr bwMode="auto">
            <a:xfrm flipH="1">
              <a:off x="3944274" y="3027647"/>
              <a:ext cx="120147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8" name="직선 연결선 247"/>
            <p:cNvCxnSpPr>
              <a:cxnSpLocks noChangeAspect="1" noChangeShapeType="1"/>
            </p:cNvCxnSpPr>
            <p:nvPr/>
          </p:nvCxnSpPr>
          <p:spPr bwMode="auto">
            <a:xfrm>
              <a:off x="5120023" y="5177929"/>
              <a:ext cx="0" cy="51478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lg" len="lg"/>
              <a:tailEnd type="oval" w="lg" len="lg"/>
            </a:ln>
          </p:spPr>
        </p:cxnSp>
        <p:sp>
          <p:nvSpPr>
            <p:cNvPr id="249" name="Text Box 116"/>
            <p:cNvSpPr txBox="1">
              <a:spLocks noChangeAspect="1" noChangeArrowheads="1"/>
            </p:cNvSpPr>
            <p:nvPr/>
          </p:nvSpPr>
          <p:spPr bwMode="auto">
            <a:xfrm>
              <a:off x="5100049" y="2882501"/>
              <a:ext cx="422435" cy="190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600" dirty="0">
                  <a:solidFill>
                    <a:schemeClr val="tx1"/>
                  </a:solidFill>
                </a:rPr>
                <a:t>IGBT1</a:t>
              </a:r>
            </a:p>
          </p:txBody>
        </p:sp>
        <p:sp>
          <p:nvSpPr>
            <p:cNvPr id="250" name="Rectangle 111"/>
            <p:cNvSpPr>
              <a:spLocks noChangeAspect="1" noChangeArrowheads="1"/>
            </p:cNvSpPr>
            <p:nvPr/>
          </p:nvSpPr>
          <p:spPr bwMode="auto">
            <a:xfrm>
              <a:off x="6733994" y="4056782"/>
              <a:ext cx="1352674" cy="777235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51" name="Rectangle 102"/>
            <p:cNvSpPr>
              <a:spLocks noChangeAspect="1" noChangeArrowheads="1"/>
            </p:cNvSpPr>
            <p:nvPr/>
          </p:nvSpPr>
          <p:spPr bwMode="auto">
            <a:xfrm>
              <a:off x="6764465" y="3927242"/>
              <a:ext cx="1271081" cy="11861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sp>
          <p:nvSpPr>
            <p:cNvPr id="252" name="Rectangle 102"/>
            <p:cNvSpPr>
              <a:spLocks noChangeAspect="1" noChangeArrowheads="1"/>
            </p:cNvSpPr>
            <p:nvPr/>
          </p:nvSpPr>
          <p:spPr bwMode="auto">
            <a:xfrm>
              <a:off x="6796241" y="4865231"/>
              <a:ext cx="1254436" cy="106129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cxnSp>
          <p:nvCxnSpPr>
            <p:cNvPr id="253" name="직선 연결선 252"/>
            <p:cNvCxnSpPr>
              <a:cxnSpLocks noChangeAspect="1" noChangeShapeType="1"/>
            </p:cNvCxnSpPr>
            <p:nvPr/>
          </p:nvCxnSpPr>
          <p:spPr bwMode="auto">
            <a:xfrm>
              <a:off x="5483946" y="5419398"/>
              <a:ext cx="0" cy="270657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lg" len="lg"/>
              <a:tailEnd type="oval" w="lg" len="lg"/>
            </a:ln>
          </p:spPr>
        </p:cxnSp>
        <p:cxnSp>
          <p:nvCxnSpPr>
            <p:cNvPr id="254" name="직선 연결선 253"/>
            <p:cNvCxnSpPr>
              <a:cxnSpLocks noChangeAspect="1" noChangeShapeType="1"/>
            </p:cNvCxnSpPr>
            <p:nvPr/>
          </p:nvCxnSpPr>
          <p:spPr bwMode="auto">
            <a:xfrm>
              <a:off x="5534337" y="4153546"/>
              <a:ext cx="2379075" cy="0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55" name="직선 연결선 254"/>
            <p:cNvCxnSpPr>
              <a:cxnSpLocks noChangeAspect="1" noChangeShapeType="1"/>
            </p:cNvCxnSpPr>
            <p:nvPr/>
          </p:nvCxnSpPr>
          <p:spPr bwMode="auto">
            <a:xfrm flipH="1">
              <a:off x="3945787" y="3876988"/>
              <a:ext cx="120102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56" name="직사각형 255"/>
            <p:cNvSpPr>
              <a:spLocks noChangeArrowheads="1"/>
            </p:cNvSpPr>
            <p:nvPr/>
          </p:nvSpPr>
          <p:spPr bwMode="auto">
            <a:xfrm>
              <a:off x="3493343" y="1589294"/>
              <a:ext cx="3043028" cy="449485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cxnSp>
          <p:nvCxnSpPr>
            <p:cNvPr id="257" name="직선 연결선 256"/>
            <p:cNvCxnSpPr>
              <a:cxnSpLocks noChangeAspect="1" noChangeShapeType="1"/>
            </p:cNvCxnSpPr>
            <p:nvPr/>
          </p:nvCxnSpPr>
          <p:spPr bwMode="auto">
            <a:xfrm>
              <a:off x="5005020" y="1528427"/>
              <a:ext cx="0" cy="639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258" name="Freeform 90"/>
            <p:cNvSpPr>
              <a:spLocks noChangeAspect="1"/>
            </p:cNvSpPr>
            <p:nvPr/>
          </p:nvSpPr>
          <p:spPr bwMode="auto">
            <a:xfrm rot="5400000" flipH="1">
              <a:off x="5057570" y="5064591"/>
              <a:ext cx="126419" cy="98358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59" name="Freeform 90"/>
            <p:cNvSpPr>
              <a:spLocks noChangeAspect="1"/>
            </p:cNvSpPr>
            <p:nvPr/>
          </p:nvSpPr>
          <p:spPr bwMode="auto">
            <a:xfrm rot="5400000" flipH="1">
              <a:off x="5416953" y="5306282"/>
              <a:ext cx="126418" cy="96844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60" name="직선 연결선 259"/>
            <p:cNvCxnSpPr>
              <a:cxnSpLocks noChangeAspect="1" noChangeShapeType="1"/>
            </p:cNvCxnSpPr>
            <p:nvPr/>
          </p:nvCxnSpPr>
          <p:spPr bwMode="auto">
            <a:xfrm flipH="1">
              <a:off x="4815873" y="5056805"/>
              <a:ext cx="30415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1" name="직선 연결선 260"/>
            <p:cNvCxnSpPr>
              <a:cxnSpLocks noChangeAspect="1" noChangeShapeType="1"/>
            </p:cNvCxnSpPr>
            <p:nvPr/>
          </p:nvCxnSpPr>
          <p:spPr bwMode="auto">
            <a:xfrm flipH="1">
              <a:off x="4835544" y="5180881"/>
              <a:ext cx="28296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2" name="직선 연결선 261"/>
            <p:cNvCxnSpPr>
              <a:cxnSpLocks noChangeAspect="1" noChangeShapeType="1"/>
            </p:cNvCxnSpPr>
            <p:nvPr/>
          </p:nvCxnSpPr>
          <p:spPr bwMode="auto">
            <a:xfrm flipH="1">
              <a:off x="4840084" y="5285449"/>
              <a:ext cx="65157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3" name="직선 연결선 262"/>
            <p:cNvCxnSpPr>
              <a:cxnSpLocks noChangeAspect="1" noChangeShapeType="1"/>
            </p:cNvCxnSpPr>
            <p:nvPr/>
          </p:nvCxnSpPr>
          <p:spPr bwMode="auto">
            <a:xfrm flipH="1">
              <a:off x="4868079" y="5416548"/>
              <a:ext cx="62358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4" name="직선 연결선 263"/>
            <p:cNvCxnSpPr>
              <a:cxnSpLocks noChangeAspect="1" noChangeShapeType="1"/>
            </p:cNvCxnSpPr>
            <p:nvPr/>
          </p:nvCxnSpPr>
          <p:spPr bwMode="auto">
            <a:xfrm flipH="1">
              <a:off x="3925358" y="5127818"/>
              <a:ext cx="30566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grpSp>
          <p:nvGrpSpPr>
            <p:cNvPr id="265" name="그룹 75"/>
            <p:cNvGrpSpPr>
              <a:grpSpLocks/>
            </p:cNvGrpSpPr>
            <p:nvPr/>
          </p:nvGrpSpPr>
          <p:grpSpPr bwMode="auto">
            <a:xfrm>
              <a:off x="6262483" y="5764363"/>
              <a:ext cx="186122" cy="217485"/>
              <a:chOff x="6761195" y="5935190"/>
              <a:chExt cx="219075" cy="221216"/>
            </a:xfrm>
          </p:grpSpPr>
          <p:sp>
            <p:nvSpPr>
              <p:cNvPr id="397" name="Line 79"/>
              <p:cNvSpPr>
                <a:spLocks noChangeAspect="1" noChangeShapeType="1"/>
              </p:cNvSpPr>
              <p:nvPr/>
            </p:nvSpPr>
            <p:spPr bwMode="auto">
              <a:xfrm>
                <a:off x="6761195" y="6069888"/>
                <a:ext cx="2190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398" name="Line 80"/>
              <p:cNvSpPr>
                <a:spLocks noChangeAspect="1" noChangeShapeType="1"/>
              </p:cNvSpPr>
              <p:nvPr/>
            </p:nvSpPr>
            <p:spPr bwMode="auto">
              <a:xfrm flipH="1">
                <a:off x="6762783" y="6072269"/>
                <a:ext cx="44450" cy="84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399" name="Line 81"/>
              <p:cNvSpPr>
                <a:spLocks noChangeAspect="1" noChangeShapeType="1"/>
              </p:cNvSpPr>
              <p:nvPr/>
            </p:nvSpPr>
            <p:spPr bwMode="auto">
              <a:xfrm flipH="1">
                <a:off x="6829458" y="6072269"/>
                <a:ext cx="44450" cy="84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0" name="Line 82"/>
              <p:cNvSpPr>
                <a:spLocks noChangeAspect="1" noChangeShapeType="1"/>
              </p:cNvSpPr>
              <p:nvPr/>
            </p:nvSpPr>
            <p:spPr bwMode="auto">
              <a:xfrm flipH="1">
                <a:off x="6894545" y="6072269"/>
                <a:ext cx="44450" cy="84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cxnSp>
            <p:nvCxnSpPr>
              <p:cNvPr id="401" name="직선 연결선 400"/>
              <p:cNvCxnSpPr>
                <a:cxnSpLocks noChangeAspect="1" noChangeShapeType="1"/>
              </p:cNvCxnSpPr>
              <p:nvPr/>
            </p:nvCxnSpPr>
            <p:spPr bwMode="auto">
              <a:xfrm>
                <a:off x="6845334" y="5935190"/>
                <a:ext cx="0" cy="133111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66" name="Freeform 84"/>
            <p:cNvSpPr>
              <a:spLocks noChangeAspect="1"/>
            </p:cNvSpPr>
            <p:nvPr/>
          </p:nvSpPr>
          <p:spPr bwMode="auto">
            <a:xfrm flipV="1">
              <a:off x="857343" y="3740004"/>
              <a:ext cx="1318974" cy="44948"/>
            </a:xfrm>
            <a:custGeom>
              <a:avLst/>
              <a:gdLst>
                <a:gd name="T0" fmla="*/ 0 w 1311"/>
                <a:gd name="T1" fmla="*/ 0 h 1"/>
                <a:gd name="T2" fmla="*/ 2147483647 w 1311"/>
                <a:gd name="T3" fmla="*/ 0 h 1"/>
                <a:gd name="T4" fmla="*/ 2147483647 w 1311"/>
                <a:gd name="T5" fmla="*/ 2147483647 h 1"/>
                <a:gd name="T6" fmla="*/ 0 60000 65536"/>
                <a:gd name="T7" fmla="*/ 0 60000 65536"/>
                <a:gd name="T8" fmla="*/ 0 60000 65536"/>
                <a:gd name="T9" fmla="*/ 0 w 1311"/>
                <a:gd name="T10" fmla="*/ 0 h 1"/>
                <a:gd name="T11" fmla="*/ 1311 w 131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1" h="1">
                  <a:moveTo>
                    <a:pt x="0" y="0"/>
                  </a:moveTo>
                  <a:lnTo>
                    <a:pt x="131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arrow" w="sm" len="sm"/>
              <a:tailEnd type="arrow" w="sm" len="sm"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67" name="직선 연결선 266"/>
            <p:cNvCxnSpPr>
              <a:cxnSpLocks noChangeAspect="1" noChangeShapeType="1"/>
            </p:cNvCxnSpPr>
            <p:nvPr/>
          </p:nvCxnSpPr>
          <p:spPr bwMode="auto">
            <a:xfrm>
              <a:off x="3443406" y="3830250"/>
              <a:ext cx="420667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8" name="직선 연결선 267"/>
            <p:cNvCxnSpPr>
              <a:cxnSpLocks noChangeAspect="1" noChangeShapeType="1"/>
            </p:cNvCxnSpPr>
            <p:nvPr/>
          </p:nvCxnSpPr>
          <p:spPr bwMode="auto">
            <a:xfrm>
              <a:off x="5136063" y="3692511"/>
              <a:ext cx="0" cy="188223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sp>
          <p:nvSpPr>
            <p:cNvPr id="269" name="Line 147"/>
            <p:cNvSpPr>
              <a:spLocks noChangeShapeType="1"/>
            </p:cNvSpPr>
            <p:nvPr/>
          </p:nvSpPr>
          <p:spPr bwMode="auto">
            <a:xfrm>
              <a:off x="4224214" y="2297859"/>
              <a:ext cx="16947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70" name="Rectangle 102"/>
            <p:cNvSpPr>
              <a:spLocks noChangeAspect="1" noChangeArrowheads="1"/>
            </p:cNvSpPr>
            <p:nvPr/>
          </p:nvSpPr>
          <p:spPr bwMode="auto">
            <a:xfrm>
              <a:off x="4115264" y="5034174"/>
              <a:ext cx="809558" cy="18338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500" dirty="0">
                  <a:solidFill>
                    <a:schemeClr val="tx1"/>
                  </a:solidFill>
                </a:rPr>
                <a:t>Current Sensing1</a:t>
              </a:r>
            </a:p>
          </p:txBody>
        </p:sp>
        <p:sp>
          <p:nvSpPr>
            <p:cNvPr id="271" name="Text Box 116"/>
            <p:cNvSpPr txBox="1">
              <a:spLocks noChangeAspect="1" noChangeArrowheads="1"/>
            </p:cNvSpPr>
            <p:nvPr/>
          </p:nvSpPr>
          <p:spPr bwMode="auto">
            <a:xfrm>
              <a:off x="5491663" y="5254149"/>
              <a:ext cx="411214" cy="175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500" dirty="0">
                  <a:solidFill>
                    <a:schemeClr val="tx1"/>
                  </a:solidFill>
                </a:rPr>
                <a:t>Shunt2</a:t>
              </a:r>
            </a:p>
          </p:txBody>
        </p:sp>
        <p:sp>
          <p:nvSpPr>
            <p:cNvPr id="272" name="Text Box 116"/>
            <p:cNvSpPr txBox="1">
              <a:spLocks noChangeAspect="1" noChangeArrowheads="1"/>
            </p:cNvSpPr>
            <p:nvPr/>
          </p:nvSpPr>
          <p:spPr bwMode="auto">
            <a:xfrm>
              <a:off x="5106405" y="5026372"/>
              <a:ext cx="411214" cy="175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500" dirty="0">
                  <a:solidFill>
                    <a:schemeClr val="tx1"/>
                  </a:solidFill>
                </a:rPr>
                <a:t>Shunt</a:t>
              </a:r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endParaRPr lang="en-US" altLang="ja-JP" sz="500" dirty="0">
                <a:solidFill>
                  <a:schemeClr val="tx1"/>
                </a:solidFill>
              </a:endParaRPr>
            </a:p>
          </p:txBody>
        </p:sp>
        <p:sp>
          <p:nvSpPr>
            <p:cNvPr id="273" name="Text Box 137"/>
            <p:cNvSpPr txBox="1">
              <a:spLocks noChangeAspect="1" noChangeArrowheads="1"/>
            </p:cNvSpPr>
            <p:nvPr/>
          </p:nvSpPr>
          <p:spPr bwMode="auto">
            <a:xfrm>
              <a:off x="902445" y="3594213"/>
              <a:ext cx="505404" cy="180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 smtClean="0">
                  <a:solidFill>
                    <a:schemeClr val="tx1"/>
                  </a:solidFill>
                  <a:ea typeface="HY헤드라인M" pitchFamily="18" charset="-127"/>
                </a:rPr>
                <a:t>LIN</a:t>
              </a:r>
              <a:endParaRPr lang="en-US" altLang="ja-JP" sz="700" dirty="0">
                <a:solidFill>
                  <a:schemeClr val="tx1"/>
                </a:solidFill>
                <a:ea typeface="HY헤드라인M" pitchFamily="18" charset="-127"/>
              </a:endParaRPr>
            </a:p>
          </p:txBody>
        </p:sp>
        <p:grpSp>
          <p:nvGrpSpPr>
            <p:cNvPr id="274" name="그룹 93"/>
            <p:cNvGrpSpPr>
              <a:grpSpLocks/>
            </p:cNvGrpSpPr>
            <p:nvPr/>
          </p:nvGrpSpPr>
          <p:grpSpPr bwMode="auto">
            <a:xfrm>
              <a:off x="933023" y="2823119"/>
              <a:ext cx="210334" cy="79597"/>
              <a:chOff x="890620" y="3010775"/>
              <a:chExt cx="249238" cy="80963"/>
            </a:xfrm>
          </p:grpSpPr>
          <p:sp>
            <p:nvSpPr>
              <p:cNvPr id="394" name="Line 79"/>
              <p:cNvSpPr>
                <a:spLocks noChangeAspect="1" noChangeShapeType="1"/>
              </p:cNvSpPr>
              <p:nvPr/>
            </p:nvSpPr>
            <p:spPr bwMode="auto">
              <a:xfrm>
                <a:off x="890620" y="3010775"/>
                <a:ext cx="2492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cxnSp>
            <p:nvCxnSpPr>
              <p:cNvPr id="395" name="직선 연결선 394"/>
              <p:cNvCxnSpPr>
                <a:cxnSpLocks noChangeShapeType="1"/>
              </p:cNvCxnSpPr>
              <p:nvPr/>
            </p:nvCxnSpPr>
            <p:spPr bwMode="auto">
              <a:xfrm>
                <a:off x="928720" y="3055225"/>
                <a:ext cx="15557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96" name="직선 연결선 395"/>
              <p:cNvCxnSpPr>
                <a:cxnSpLocks noChangeShapeType="1"/>
              </p:cNvCxnSpPr>
              <p:nvPr/>
            </p:nvCxnSpPr>
            <p:spPr bwMode="auto">
              <a:xfrm>
                <a:off x="966820" y="3091738"/>
                <a:ext cx="7937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75" name="직선 연결선 274"/>
            <p:cNvCxnSpPr>
              <a:cxnSpLocks noChangeAspect="1" noChangeShapeType="1"/>
            </p:cNvCxnSpPr>
            <p:nvPr/>
          </p:nvCxnSpPr>
          <p:spPr bwMode="auto">
            <a:xfrm flipH="1">
              <a:off x="3944274" y="5571061"/>
              <a:ext cx="160399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76" name="Rectangle 102"/>
            <p:cNvSpPr>
              <a:spLocks noChangeAspect="1" noChangeArrowheads="1"/>
            </p:cNvSpPr>
            <p:nvPr/>
          </p:nvSpPr>
          <p:spPr bwMode="auto">
            <a:xfrm>
              <a:off x="4103158" y="5494586"/>
              <a:ext cx="824392" cy="12602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500" dirty="0">
                  <a:solidFill>
                    <a:schemeClr val="tx1"/>
                  </a:solidFill>
                </a:rPr>
                <a:t>PCB Temp </a:t>
              </a:r>
              <a:r>
                <a:rPr lang="en-US" altLang="ja-JP" sz="500" dirty="0" smtClean="0">
                  <a:solidFill>
                    <a:schemeClr val="tx1"/>
                  </a:solidFill>
                </a:rPr>
                <a:t>Sensor</a:t>
              </a:r>
              <a:endParaRPr lang="en-US" altLang="ja-JP" sz="500" i="1" dirty="0">
                <a:solidFill>
                  <a:srgbClr val="FF0000"/>
                </a:solidFill>
              </a:endParaRPr>
            </a:p>
          </p:txBody>
        </p:sp>
        <p:sp>
          <p:nvSpPr>
            <p:cNvPr id="277" name="Text Box 116"/>
            <p:cNvSpPr txBox="1">
              <a:spLocks noChangeAspect="1" noChangeArrowheads="1"/>
            </p:cNvSpPr>
            <p:nvPr/>
          </p:nvSpPr>
          <p:spPr bwMode="auto">
            <a:xfrm>
              <a:off x="5145144" y="3776790"/>
              <a:ext cx="422435" cy="190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600" dirty="0">
                  <a:solidFill>
                    <a:schemeClr val="tx1"/>
                  </a:solidFill>
                </a:rPr>
                <a:t>IGBT2</a:t>
              </a:r>
            </a:p>
          </p:txBody>
        </p:sp>
        <p:cxnSp>
          <p:nvCxnSpPr>
            <p:cNvPr id="278" name="직선 연결선 277"/>
            <p:cNvCxnSpPr>
              <a:cxnSpLocks noChangeAspect="1" noChangeShapeType="1"/>
            </p:cNvCxnSpPr>
            <p:nvPr/>
          </p:nvCxnSpPr>
          <p:spPr bwMode="auto">
            <a:xfrm>
              <a:off x="5113970" y="2816016"/>
              <a:ext cx="0" cy="38931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279" name="직선 연결선 278"/>
            <p:cNvCxnSpPr>
              <a:cxnSpLocks noChangeAspect="1" noChangeShapeType="1"/>
            </p:cNvCxnSpPr>
            <p:nvPr/>
          </p:nvCxnSpPr>
          <p:spPr bwMode="auto">
            <a:xfrm>
              <a:off x="5477136" y="4737253"/>
              <a:ext cx="0" cy="54681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80" name="Line 145"/>
            <p:cNvSpPr>
              <a:spLocks noChangeShapeType="1"/>
            </p:cNvSpPr>
            <p:nvPr/>
          </p:nvSpPr>
          <p:spPr bwMode="auto">
            <a:xfrm>
              <a:off x="4656987" y="3784906"/>
              <a:ext cx="15585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oval" w="med" len="med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81" name="직선 연결선 280"/>
            <p:cNvCxnSpPr>
              <a:cxnSpLocks noChangeAspect="1" noChangeShapeType="1"/>
            </p:cNvCxnSpPr>
            <p:nvPr/>
          </p:nvCxnSpPr>
          <p:spPr bwMode="auto">
            <a:xfrm flipH="1">
              <a:off x="3861049" y="4657344"/>
              <a:ext cx="158703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82" name="직선 연결선 281"/>
            <p:cNvCxnSpPr>
              <a:cxnSpLocks noChangeAspect="1" noChangeShapeType="1"/>
            </p:cNvCxnSpPr>
            <p:nvPr/>
          </p:nvCxnSpPr>
          <p:spPr bwMode="auto">
            <a:xfrm>
              <a:off x="1703237" y="2183927"/>
              <a:ext cx="1370952" cy="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83" name="Rectangle 247"/>
            <p:cNvSpPr>
              <a:spLocks noChangeAspect="1" noChangeArrowheads="1"/>
            </p:cNvSpPr>
            <p:nvPr/>
          </p:nvSpPr>
          <p:spPr bwMode="auto">
            <a:xfrm rot="5400000">
              <a:off x="1558366" y="2349444"/>
              <a:ext cx="719489" cy="154345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/>
                  </a:solidFill>
                </a:rPr>
                <a:t>LC Filter</a:t>
              </a:r>
              <a:endParaRPr lang="en-US" altLang="ja-JP" sz="700">
                <a:solidFill>
                  <a:schemeClr val="tx1"/>
                </a:solidFill>
              </a:endParaRPr>
            </a:p>
          </p:txBody>
        </p:sp>
        <p:cxnSp>
          <p:nvCxnSpPr>
            <p:cNvPr id="284" name="직선 연결선 283"/>
            <p:cNvCxnSpPr>
              <a:cxnSpLocks noChangeAspect="1" noChangeShapeType="1"/>
            </p:cNvCxnSpPr>
            <p:nvPr/>
          </p:nvCxnSpPr>
          <p:spPr bwMode="auto">
            <a:xfrm flipV="1">
              <a:off x="4402771" y="2096527"/>
              <a:ext cx="0" cy="191967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sm" len="sm"/>
              <a:tailEnd type="oval" w="med" len="med"/>
            </a:ln>
          </p:spPr>
        </p:cxnSp>
        <p:cxnSp>
          <p:nvCxnSpPr>
            <p:cNvPr id="285" name="직선 연결선 284"/>
            <p:cNvCxnSpPr>
              <a:cxnSpLocks noChangeAspect="1" noChangeShapeType="1"/>
            </p:cNvCxnSpPr>
            <p:nvPr/>
          </p:nvCxnSpPr>
          <p:spPr bwMode="auto">
            <a:xfrm flipH="1">
              <a:off x="3927628" y="5349440"/>
              <a:ext cx="30566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86" name="Rectangle 102"/>
            <p:cNvSpPr>
              <a:spLocks noChangeAspect="1" noChangeArrowheads="1"/>
            </p:cNvSpPr>
            <p:nvPr/>
          </p:nvSpPr>
          <p:spPr bwMode="auto">
            <a:xfrm>
              <a:off x="4115264" y="5265941"/>
              <a:ext cx="809558" cy="18338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500" dirty="0">
                  <a:solidFill>
                    <a:schemeClr val="tx1"/>
                  </a:solidFill>
                </a:rPr>
                <a:t>Current Sensing2</a:t>
              </a:r>
            </a:p>
          </p:txBody>
        </p:sp>
        <p:cxnSp>
          <p:nvCxnSpPr>
            <p:cNvPr id="287" name="직선 연결선 286"/>
            <p:cNvCxnSpPr>
              <a:cxnSpLocks noChangeAspect="1" noChangeShapeType="1"/>
            </p:cNvCxnSpPr>
            <p:nvPr/>
          </p:nvCxnSpPr>
          <p:spPr bwMode="auto">
            <a:xfrm rot="5400000" flipH="1">
              <a:off x="4730723" y="2354044"/>
              <a:ext cx="42451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88" name="직선 연결선 287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4942980" y="2140226"/>
              <a:ext cx="34349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90" name="직선 연결선 289"/>
            <p:cNvCxnSpPr>
              <a:cxnSpLocks noChangeAspect="1" noChangeShapeType="1"/>
            </p:cNvCxnSpPr>
            <p:nvPr/>
          </p:nvCxnSpPr>
          <p:spPr bwMode="auto">
            <a:xfrm>
              <a:off x="5116996" y="3938168"/>
              <a:ext cx="0" cy="112300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291" name="Picture 147"/>
            <p:cNvPicPr>
              <a:picLocks noChangeAspect="1" noChangeArrowheads="1"/>
            </p:cNvPicPr>
            <p:nvPr/>
          </p:nvPicPr>
          <p:blipFill>
            <a:blip r:embed="rId3" cstate="print"/>
            <a:srcRect l="66992" t="74544" r="26211" b="15544"/>
            <a:stretch>
              <a:fillRect/>
            </a:stretch>
          </p:blipFill>
          <p:spPr bwMode="auto">
            <a:xfrm>
              <a:off x="5010467" y="3784906"/>
              <a:ext cx="169477" cy="181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cxnSp>
          <p:nvCxnSpPr>
            <p:cNvPr id="292" name="직선 연결선 291"/>
            <p:cNvCxnSpPr>
              <a:cxnSpLocks noChangeAspect="1" noChangeShapeType="1"/>
            </p:cNvCxnSpPr>
            <p:nvPr/>
          </p:nvCxnSpPr>
          <p:spPr bwMode="auto">
            <a:xfrm>
              <a:off x="5474866" y="4465688"/>
              <a:ext cx="0" cy="120174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sp>
          <p:nvSpPr>
            <p:cNvPr id="293" name="Line 145"/>
            <p:cNvSpPr>
              <a:spLocks noChangeShapeType="1"/>
            </p:cNvSpPr>
            <p:nvPr/>
          </p:nvSpPr>
          <p:spPr bwMode="auto">
            <a:xfrm>
              <a:off x="4643367" y="4557771"/>
              <a:ext cx="16493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oval" w="med" len="med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pic>
          <p:nvPicPr>
            <p:cNvPr id="294" name="Picture 147"/>
            <p:cNvPicPr>
              <a:picLocks noChangeAspect="1" noChangeArrowheads="1"/>
            </p:cNvPicPr>
            <p:nvPr/>
          </p:nvPicPr>
          <p:blipFill>
            <a:blip r:embed="rId4" cstate="print"/>
            <a:srcRect l="66992" t="74544" r="26211" b="15544"/>
            <a:stretch>
              <a:fillRect/>
            </a:stretch>
          </p:blipFill>
          <p:spPr bwMode="auto">
            <a:xfrm>
              <a:off x="5353054" y="4555897"/>
              <a:ext cx="169477" cy="182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cxnSp>
          <p:nvCxnSpPr>
            <p:cNvPr id="295" name="직선 연결선 294"/>
            <p:cNvCxnSpPr>
              <a:cxnSpLocks noChangeAspect="1" noChangeShapeType="1"/>
            </p:cNvCxnSpPr>
            <p:nvPr/>
          </p:nvCxnSpPr>
          <p:spPr bwMode="auto">
            <a:xfrm>
              <a:off x="5996161" y="4456636"/>
              <a:ext cx="0" cy="247748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sp>
          <p:nvSpPr>
            <p:cNvPr id="296" name="Text Box 116"/>
            <p:cNvSpPr txBox="1">
              <a:spLocks noChangeAspect="1" noChangeArrowheads="1"/>
            </p:cNvSpPr>
            <p:nvPr/>
          </p:nvSpPr>
          <p:spPr bwMode="auto">
            <a:xfrm>
              <a:off x="5462005" y="4524930"/>
              <a:ext cx="422435" cy="190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600" dirty="0">
                  <a:solidFill>
                    <a:schemeClr val="tx1"/>
                  </a:solidFill>
                </a:rPr>
                <a:t>IGBT3</a:t>
              </a:r>
            </a:p>
          </p:txBody>
        </p:sp>
        <p:sp>
          <p:nvSpPr>
            <p:cNvPr id="297" name="Rectangle 158"/>
            <p:cNvSpPr>
              <a:spLocks noChangeAspect="1" noChangeArrowheads="1"/>
            </p:cNvSpPr>
            <p:nvPr/>
          </p:nvSpPr>
          <p:spPr bwMode="auto">
            <a:xfrm>
              <a:off x="611560" y="1664210"/>
              <a:ext cx="238236" cy="2678182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 dirty="0" smtClean="0">
                  <a:solidFill>
                    <a:schemeClr val="tx1"/>
                  </a:solidFill>
                </a:rPr>
                <a:t>A</a:t>
              </a:r>
              <a:endParaRPr lang="en-US" altLang="ja-JP" sz="7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ja-JP" sz="700" dirty="0">
                  <a:solidFill>
                    <a:schemeClr val="tx1"/>
                  </a:solidFill>
                </a:rPr>
                <a:t>T</a:t>
              </a:r>
            </a:p>
            <a:p>
              <a:pPr algn="ctr"/>
              <a:r>
                <a:rPr lang="en-US" altLang="ja-JP" sz="700" dirty="0" smtClean="0">
                  <a:solidFill>
                    <a:schemeClr val="tx1"/>
                  </a:solidFill>
                </a:rPr>
                <a:t>C</a:t>
              </a:r>
            </a:p>
            <a:p>
              <a:pPr algn="ctr"/>
              <a:r>
                <a:rPr lang="en-US" altLang="ko-KR" sz="700" dirty="0"/>
                <a:t>U</a:t>
              </a:r>
              <a:endParaRPr lang="en-US" altLang="ko-KR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298" name="직선 연결선 297"/>
            <p:cNvCxnSpPr>
              <a:cxnSpLocks noChangeAspect="1" noChangeShapeType="1"/>
            </p:cNvCxnSpPr>
            <p:nvPr/>
          </p:nvCxnSpPr>
          <p:spPr bwMode="auto">
            <a:xfrm>
              <a:off x="3398536" y="2908812"/>
              <a:ext cx="345981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" name="직선 연결선 298"/>
            <p:cNvCxnSpPr>
              <a:cxnSpLocks noChangeAspect="1" noChangeShapeType="1"/>
            </p:cNvCxnSpPr>
            <p:nvPr/>
          </p:nvCxnSpPr>
          <p:spPr bwMode="auto">
            <a:xfrm>
              <a:off x="2148090" y="2914532"/>
              <a:ext cx="1153743" cy="0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00" name="그룹 135"/>
            <p:cNvGrpSpPr/>
            <p:nvPr/>
          </p:nvGrpSpPr>
          <p:grpSpPr>
            <a:xfrm>
              <a:off x="2113735" y="3299967"/>
              <a:ext cx="185346" cy="179475"/>
              <a:chOff x="2260644" y="2990206"/>
              <a:chExt cx="219076" cy="182555"/>
            </a:xfrm>
          </p:grpSpPr>
          <p:sp>
            <p:nvSpPr>
              <p:cNvPr id="390" name="Line 79"/>
              <p:cNvSpPr>
                <a:spLocks noChangeAspect="1" noChangeShapeType="1"/>
              </p:cNvSpPr>
              <p:nvPr/>
            </p:nvSpPr>
            <p:spPr bwMode="auto">
              <a:xfrm>
                <a:off x="2260644" y="3099729"/>
                <a:ext cx="2190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2000"/>
              </a:p>
            </p:txBody>
          </p:sp>
          <p:cxnSp>
            <p:nvCxnSpPr>
              <p:cNvPr id="391" name="직선 연결선 390"/>
              <p:cNvCxnSpPr>
                <a:cxnSpLocks noChangeAspect="1" noChangeShapeType="1"/>
              </p:cNvCxnSpPr>
              <p:nvPr/>
            </p:nvCxnSpPr>
            <p:spPr bwMode="auto">
              <a:xfrm>
                <a:off x="2355894" y="2990206"/>
                <a:ext cx="1587" cy="10795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2" name="직선 연결선 391"/>
              <p:cNvCxnSpPr>
                <a:cxnSpLocks noChangeShapeType="1"/>
              </p:cNvCxnSpPr>
              <p:nvPr/>
            </p:nvCxnSpPr>
            <p:spPr bwMode="auto">
              <a:xfrm>
                <a:off x="2286044" y="3134654"/>
                <a:ext cx="155575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3" name="직선 연결선 392"/>
              <p:cNvCxnSpPr>
                <a:cxnSpLocks noChangeShapeType="1"/>
              </p:cNvCxnSpPr>
              <p:nvPr/>
            </p:nvCxnSpPr>
            <p:spPr bwMode="auto">
              <a:xfrm>
                <a:off x="2324145" y="3172761"/>
                <a:ext cx="7937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301" name="직선 연결선 300"/>
            <p:cNvCxnSpPr>
              <a:cxnSpLocks noChangeAspect="1" noChangeShapeType="1"/>
            </p:cNvCxnSpPr>
            <p:nvPr/>
          </p:nvCxnSpPr>
          <p:spPr bwMode="auto">
            <a:xfrm flipV="1">
              <a:off x="2148090" y="2193064"/>
              <a:ext cx="0" cy="916058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sm" len="sm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2" name="직선 연결선 301"/>
            <p:cNvCxnSpPr>
              <a:cxnSpLocks noChangeAspect="1" noChangeShapeType="1"/>
            </p:cNvCxnSpPr>
            <p:nvPr/>
          </p:nvCxnSpPr>
          <p:spPr bwMode="auto">
            <a:xfrm flipV="1">
              <a:off x="2453174" y="2302457"/>
              <a:ext cx="0" cy="1284294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3" name="Rectangle 247"/>
            <p:cNvSpPr>
              <a:spLocks noChangeAspect="1" noChangeArrowheads="1"/>
            </p:cNvSpPr>
            <p:nvPr/>
          </p:nvSpPr>
          <p:spPr bwMode="auto">
            <a:xfrm>
              <a:off x="2277027" y="2061461"/>
              <a:ext cx="580216" cy="24242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500" dirty="0"/>
                <a:t>DC/DC</a:t>
              </a:r>
            </a:p>
            <a:p>
              <a:pPr algn="ctr" eaLnBrk="1" hangingPunct="1"/>
              <a:r>
                <a:rPr lang="en-US" altLang="ja-JP" sz="500" dirty="0"/>
                <a:t>Switching IC</a:t>
              </a:r>
            </a:p>
          </p:txBody>
        </p:sp>
        <p:sp>
          <p:nvSpPr>
            <p:cNvPr id="304" name="Rectangle 247"/>
            <p:cNvSpPr>
              <a:spLocks noChangeAspect="1" noChangeArrowheads="1"/>
            </p:cNvSpPr>
            <p:nvPr/>
          </p:nvSpPr>
          <p:spPr bwMode="auto">
            <a:xfrm>
              <a:off x="2070728" y="3124095"/>
              <a:ext cx="517089" cy="169003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ja-JP" sz="600" dirty="0"/>
                <a:t>Regulator</a:t>
              </a:r>
            </a:p>
          </p:txBody>
        </p:sp>
        <p:sp>
          <p:nvSpPr>
            <p:cNvPr id="305" name="Rectangle 247"/>
            <p:cNvSpPr>
              <a:spLocks noChangeAspect="1" noChangeArrowheads="1"/>
            </p:cNvSpPr>
            <p:nvPr/>
          </p:nvSpPr>
          <p:spPr bwMode="auto">
            <a:xfrm>
              <a:off x="2277027" y="2738122"/>
              <a:ext cx="580216" cy="24242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600" dirty="0"/>
                <a:t>LV Sensing</a:t>
              </a:r>
            </a:p>
          </p:txBody>
        </p:sp>
        <p:cxnSp>
          <p:nvCxnSpPr>
            <p:cNvPr id="306" name="직선 연결선 305"/>
            <p:cNvCxnSpPr/>
            <p:nvPr/>
          </p:nvCxnSpPr>
          <p:spPr bwMode="auto">
            <a:xfrm>
              <a:off x="2688253" y="3734481"/>
              <a:ext cx="37225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arrow" w="sm" len="sm"/>
              <a:tailEnd type="arrow" w="sm" len="sm"/>
            </a:ln>
            <a:effectLst/>
          </p:spPr>
        </p:cxnSp>
        <p:cxnSp>
          <p:nvCxnSpPr>
            <p:cNvPr id="307" name="직선 연결선 306"/>
            <p:cNvCxnSpPr/>
            <p:nvPr/>
          </p:nvCxnSpPr>
          <p:spPr bwMode="auto">
            <a:xfrm>
              <a:off x="2688253" y="3853973"/>
              <a:ext cx="37739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arrow" w="sm" len="sm"/>
              <a:tailEnd type="arrow" w="sm" len="sm"/>
            </a:ln>
            <a:effectLst/>
          </p:spPr>
        </p:cxnSp>
        <p:pic>
          <p:nvPicPr>
            <p:cNvPr id="308" name="Picture 147"/>
            <p:cNvPicPr>
              <a:picLocks noChangeAspect="1" noChangeArrowheads="1"/>
            </p:cNvPicPr>
            <p:nvPr/>
          </p:nvPicPr>
          <p:blipFill>
            <a:blip r:embed="rId4" cstate="print"/>
            <a:srcRect l="66992" t="74544" r="26211" b="15544"/>
            <a:stretch>
              <a:fillRect/>
            </a:stretch>
          </p:blipFill>
          <p:spPr bwMode="auto">
            <a:xfrm>
              <a:off x="4998968" y="2920738"/>
              <a:ext cx="169477" cy="182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cxnSp>
          <p:nvCxnSpPr>
            <p:cNvPr id="309" name="직선 연결선 308"/>
            <p:cNvCxnSpPr>
              <a:cxnSpLocks noChangeAspect="1" noChangeShapeType="1"/>
            </p:cNvCxnSpPr>
            <p:nvPr/>
          </p:nvCxnSpPr>
          <p:spPr bwMode="auto">
            <a:xfrm>
              <a:off x="5123503" y="3194488"/>
              <a:ext cx="1029448" cy="383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0" name="직선 연결선 309"/>
            <p:cNvCxnSpPr>
              <a:cxnSpLocks noChangeAspect="1" noChangeShapeType="1"/>
            </p:cNvCxnSpPr>
            <p:nvPr/>
          </p:nvCxnSpPr>
          <p:spPr bwMode="auto">
            <a:xfrm>
              <a:off x="6145666" y="2875947"/>
              <a:ext cx="0" cy="318533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311" name="직선 연결선 310"/>
            <p:cNvCxnSpPr>
              <a:cxnSpLocks noChangeAspect="1" noChangeShapeType="1"/>
            </p:cNvCxnSpPr>
            <p:nvPr/>
          </p:nvCxnSpPr>
          <p:spPr bwMode="auto">
            <a:xfrm>
              <a:off x="5537362" y="3197948"/>
              <a:ext cx="0" cy="95559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312" name="직선 연결선 311"/>
            <p:cNvCxnSpPr>
              <a:cxnSpLocks noChangeAspect="1" noChangeShapeType="1"/>
            </p:cNvCxnSpPr>
            <p:nvPr/>
          </p:nvCxnSpPr>
          <p:spPr bwMode="auto">
            <a:xfrm>
              <a:off x="6145666" y="3505226"/>
              <a:ext cx="0" cy="188223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313" name="직선 연결선 312"/>
            <p:cNvCxnSpPr>
              <a:cxnSpLocks noChangeAspect="1" noChangeShapeType="1"/>
            </p:cNvCxnSpPr>
            <p:nvPr/>
          </p:nvCxnSpPr>
          <p:spPr bwMode="auto">
            <a:xfrm>
              <a:off x="5130767" y="3681430"/>
              <a:ext cx="1029448" cy="383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4" name="직선 연결선 313"/>
            <p:cNvCxnSpPr>
              <a:cxnSpLocks noChangeAspect="1" noChangeShapeType="1"/>
            </p:cNvCxnSpPr>
            <p:nvPr/>
          </p:nvCxnSpPr>
          <p:spPr bwMode="auto">
            <a:xfrm>
              <a:off x="5472143" y="4460539"/>
              <a:ext cx="514724" cy="19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15" name="Freeform 84"/>
            <p:cNvSpPr>
              <a:spLocks noChangeAspect="1"/>
            </p:cNvSpPr>
            <p:nvPr/>
          </p:nvSpPr>
          <p:spPr bwMode="auto">
            <a:xfrm flipH="1">
              <a:off x="4960773" y="848416"/>
              <a:ext cx="1132518" cy="566704"/>
            </a:xfrm>
            <a:custGeom>
              <a:avLst/>
              <a:gdLst>
                <a:gd name="T0" fmla="*/ 0 w 1872"/>
                <a:gd name="T1" fmla="*/ 0 h 384"/>
                <a:gd name="T2" fmla="*/ 2147483647 w 1872"/>
                <a:gd name="T3" fmla="*/ 0 h 384"/>
                <a:gd name="T4" fmla="*/ 2147483647 w 1872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872"/>
                <a:gd name="T10" fmla="*/ 0 h 384"/>
                <a:gd name="T11" fmla="*/ 1872 w 187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4">
                  <a:moveTo>
                    <a:pt x="0" y="0"/>
                  </a:moveTo>
                  <a:lnTo>
                    <a:pt x="1872" y="0"/>
                  </a:lnTo>
                  <a:lnTo>
                    <a:pt x="1872" y="38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2000" i="0"/>
            </a:p>
          </p:txBody>
        </p:sp>
        <p:cxnSp>
          <p:nvCxnSpPr>
            <p:cNvPr id="316" name="직선 연결선 315"/>
            <p:cNvCxnSpPr/>
            <p:nvPr/>
          </p:nvCxnSpPr>
          <p:spPr bwMode="auto">
            <a:xfrm>
              <a:off x="6084972" y="836712"/>
              <a:ext cx="0" cy="14157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7" name="Text Box 87"/>
            <p:cNvSpPr txBox="1">
              <a:spLocks noChangeAspect="1" noChangeArrowheads="1"/>
            </p:cNvSpPr>
            <p:nvPr/>
          </p:nvSpPr>
          <p:spPr bwMode="auto">
            <a:xfrm>
              <a:off x="6151855" y="866594"/>
              <a:ext cx="1098199" cy="185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8290" tIns="38290" rIns="38290" bIns="3829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ja-JP" sz="700" i="0" dirty="0"/>
                <a:t>Chassis GND</a:t>
              </a:r>
            </a:p>
          </p:txBody>
        </p:sp>
        <p:sp>
          <p:nvSpPr>
            <p:cNvPr id="318" name="이등변 삼각형 317"/>
            <p:cNvSpPr/>
            <p:nvPr/>
          </p:nvSpPr>
          <p:spPr bwMode="auto">
            <a:xfrm rot="10800000">
              <a:off x="6003725" y="976905"/>
              <a:ext cx="156486" cy="125756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3329" tIns="46665" rIns="93329" bIns="46665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HY헤드라인M" pitchFamily="18" charset="-127"/>
              </a:endParaRPr>
            </a:p>
          </p:txBody>
        </p:sp>
        <p:sp>
          <p:nvSpPr>
            <p:cNvPr id="319" name="타원 318"/>
            <p:cNvSpPr>
              <a:spLocks noChangeArrowheads="1"/>
            </p:cNvSpPr>
            <p:nvPr/>
          </p:nvSpPr>
          <p:spPr bwMode="auto">
            <a:xfrm>
              <a:off x="5491303" y="3143141"/>
              <a:ext cx="90792" cy="10925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cxnSp>
          <p:nvCxnSpPr>
            <p:cNvPr id="323" name="직선 연결선 322"/>
            <p:cNvCxnSpPr>
              <a:cxnSpLocks noChangeShapeType="1"/>
            </p:cNvCxnSpPr>
            <p:nvPr/>
          </p:nvCxnSpPr>
          <p:spPr bwMode="auto">
            <a:xfrm flipH="1">
              <a:off x="5216434" y="1850222"/>
              <a:ext cx="1087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324" name="Rectangle 247"/>
            <p:cNvSpPr>
              <a:spLocks noChangeAspect="1" noChangeArrowheads="1"/>
            </p:cNvSpPr>
            <p:nvPr/>
          </p:nvSpPr>
          <p:spPr bwMode="auto">
            <a:xfrm>
              <a:off x="2168598" y="3587331"/>
              <a:ext cx="519944" cy="40178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600" dirty="0" smtClean="0"/>
                <a:t>LIN </a:t>
              </a:r>
              <a:endParaRPr lang="en-US" altLang="ja-JP" sz="600" dirty="0"/>
            </a:p>
            <a:p>
              <a:pPr algn="ctr" eaLnBrk="1" hangingPunct="1"/>
              <a:r>
                <a:rPr lang="en-US" altLang="ja-JP" sz="600" dirty="0"/>
                <a:t>Transceiver</a:t>
              </a:r>
            </a:p>
          </p:txBody>
        </p:sp>
        <p:pic>
          <p:nvPicPr>
            <p:cNvPr id="3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75443" y="1520083"/>
              <a:ext cx="161911" cy="4600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" name="Rectangle 7"/>
            <p:cNvSpPr>
              <a:spLocks noChangeAspect="1" noChangeArrowheads="1"/>
            </p:cNvSpPr>
            <p:nvPr/>
          </p:nvSpPr>
          <p:spPr bwMode="auto">
            <a:xfrm>
              <a:off x="1422548" y="1478103"/>
              <a:ext cx="6875717" cy="4687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329" name="직사각형 328"/>
            <p:cNvSpPr>
              <a:spLocks noChangeArrowheads="1"/>
            </p:cNvSpPr>
            <p:nvPr/>
          </p:nvSpPr>
          <p:spPr bwMode="auto">
            <a:xfrm>
              <a:off x="6630159" y="1592416"/>
              <a:ext cx="1534020" cy="449485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cxnSp>
          <p:nvCxnSpPr>
            <p:cNvPr id="330" name="직선 연결선 329"/>
            <p:cNvCxnSpPr>
              <a:cxnSpLocks noChangeAspect="1" noChangeShapeType="1"/>
            </p:cNvCxnSpPr>
            <p:nvPr/>
          </p:nvCxnSpPr>
          <p:spPr bwMode="auto">
            <a:xfrm>
              <a:off x="6152625" y="2880005"/>
              <a:ext cx="1765926" cy="0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1" name="직선 연결선 330"/>
            <p:cNvCxnSpPr>
              <a:cxnSpLocks noChangeAspect="1" noChangeShapeType="1"/>
            </p:cNvCxnSpPr>
            <p:nvPr/>
          </p:nvCxnSpPr>
          <p:spPr bwMode="auto">
            <a:xfrm>
              <a:off x="6134467" y="3497735"/>
              <a:ext cx="1784085" cy="0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2" name="직선 연결선 331"/>
            <p:cNvCxnSpPr>
              <a:cxnSpLocks noChangeAspect="1" noChangeShapeType="1"/>
            </p:cNvCxnSpPr>
            <p:nvPr/>
          </p:nvCxnSpPr>
          <p:spPr bwMode="auto">
            <a:xfrm>
              <a:off x="5991925" y="4714622"/>
              <a:ext cx="1921487" cy="0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33" name="직사각형 332"/>
            <p:cNvSpPr>
              <a:spLocks noChangeArrowheads="1"/>
            </p:cNvSpPr>
            <p:nvPr/>
          </p:nvSpPr>
          <p:spPr bwMode="auto">
            <a:xfrm>
              <a:off x="1675510" y="1580810"/>
              <a:ext cx="1555327" cy="449485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sp>
          <p:nvSpPr>
            <p:cNvPr id="335" name="Rectangle 102"/>
            <p:cNvSpPr>
              <a:spLocks noChangeAspect="1" noChangeArrowheads="1"/>
            </p:cNvSpPr>
            <p:nvPr/>
          </p:nvSpPr>
          <p:spPr bwMode="auto">
            <a:xfrm rot="5400000">
              <a:off x="446126" y="2878705"/>
              <a:ext cx="2364479" cy="219538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Connector</a:t>
              </a:r>
            </a:p>
          </p:txBody>
        </p:sp>
        <p:cxnSp>
          <p:nvCxnSpPr>
            <p:cNvPr id="336" name="직선 연결선 335"/>
            <p:cNvCxnSpPr>
              <a:cxnSpLocks noChangeAspect="1" noChangeShapeType="1"/>
            </p:cNvCxnSpPr>
            <p:nvPr/>
          </p:nvCxnSpPr>
          <p:spPr bwMode="auto">
            <a:xfrm>
              <a:off x="3336753" y="3737330"/>
              <a:ext cx="407764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7" name="Rectangle 247"/>
            <p:cNvSpPr>
              <a:spLocks noChangeAspect="1" noChangeArrowheads="1"/>
            </p:cNvSpPr>
            <p:nvPr/>
          </p:nvSpPr>
          <p:spPr bwMode="auto">
            <a:xfrm>
              <a:off x="3062221" y="2744708"/>
              <a:ext cx="535123" cy="1244406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700" dirty="0" smtClean="0"/>
                <a:t>Digital</a:t>
              </a:r>
            </a:p>
            <a:p>
              <a:pPr algn="ctr" eaLnBrk="1" hangingPunct="1"/>
              <a:r>
                <a:rPr lang="en-US" altLang="ja-JP" sz="700" dirty="0" smtClean="0"/>
                <a:t>Isolator</a:t>
              </a:r>
              <a:endParaRPr lang="en-US" altLang="ja-JP" sz="700" dirty="0"/>
            </a:p>
          </p:txBody>
        </p:sp>
        <p:sp>
          <p:nvSpPr>
            <p:cNvPr id="338" name="Text Box 137"/>
            <p:cNvSpPr txBox="1">
              <a:spLocks noChangeAspect="1" noChangeArrowheads="1"/>
            </p:cNvSpPr>
            <p:nvPr/>
          </p:nvSpPr>
          <p:spPr bwMode="auto">
            <a:xfrm>
              <a:off x="2699792" y="3593553"/>
              <a:ext cx="383314" cy="190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ko-KR" sz="600" dirty="0"/>
                <a:t>TXD</a:t>
              </a:r>
              <a:endParaRPr lang="en-US" altLang="ja-JP" sz="600" dirty="0"/>
            </a:p>
          </p:txBody>
        </p:sp>
        <p:sp>
          <p:nvSpPr>
            <p:cNvPr id="339" name="Text Box 137"/>
            <p:cNvSpPr txBox="1">
              <a:spLocks noChangeAspect="1" noChangeArrowheads="1"/>
            </p:cNvSpPr>
            <p:nvPr/>
          </p:nvSpPr>
          <p:spPr bwMode="auto">
            <a:xfrm>
              <a:off x="2699792" y="3715018"/>
              <a:ext cx="383314" cy="190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ko-KR" sz="600" dirty="0"/>
                <a:t>RXD</a:t>
              </a:r>
              <a:endParaRPr lang="en-US" altLang="ja-JP" sz="600" dirty="0"/>
            </a:p>
          </p:txBody>
        </p:sp>
        <p:cxnSp>
          <p:nvCxnSpPr>
            <p:cNvPr id="340" name="직선 연결선 339"/>
            <p:cNvCxnSpPr>
              <a:cxnSpLocks noChangeAspect="1" noChangeShapeType="1"/>
            </p:cNvCxnSpPr>
            <p:nvPr/>
          </p:nvCxnSpPr>
          <p:spPr bwMode="auto">
            <a:xfrm flipH="1">
              <a:off x="3809593" y="2675723"/>
              <a:ext cx="2182023" cy="156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41" name="직선 연결선 340"/>
            <p:cNvCxnSpPr>
              <a:cxnSpLocks noChangeAspect="1" noChangeShapeType="1"/>
            </p:cNvCxnSpPr>
            <p:nvPr/>
          </p:nvCxnSpPr>
          <p:spPr bwMode="auto">
            <a:xfrm flipH="1">
              <a:off x="3797489" y="4330796"/>
              <a:ext cx="207428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42" name="자유형 341"/>
            <p:cNvSpPr/>
            <p:nvPr/>
          </p:nvSpPr>
          <p:spPr bwMode="auto">
            <a:xfrm>
              <a:off x="5864507" y="3805006"/>
              <a:ext cx="1054501" cy="527297"/>
            </a:xfrm>
            <a:custGeom>
              <a:avLst/>
              <a:gdLst>
                <a:gd name="connsiteX0" fmla="*/ 0 w 6209607"/>
                <a:gd name="connsiteY0" fmla="*/ 1492135 h 1492135"/>
                <a:gd name="connsiteX1" fmla="*/ 1529542 w 6209607"/>
                <a:gd name="connsiteY1" fmla="*/ 1276004 h 1492135"/>
                <a:gd name="connsiteX2" fmla="*/ 3524596 w 6209607"/>
                <a:gd name="connsiteY2" fmla="*/ 211975 h 1492135"/>
                <a:gd name="connsiteX3" fmla="*/ 6209607 w 6209607"/>
                <a:gd name="connsiteY3" fmla="*/ 4156 h 1492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9607" h="1492135">
                  <a:moveTo>
                    <a:pt x="0" y="1492135"/>
                  </a:moveTo>
                  <a:cubicBezTo>
                    <a:pt x="471054" y="1490749"/>
                    <a:pt x="942109" y="1489364"/>
                    <a:pt x="1529542" y="1276004"/>
                  </a:cubicBezTo>
                  <a:cubicBezTo>
                    <a:pt x="2116975" y="1062644"/>
                    <a:pt x="2744585" y="423950"/>
                    <a:pt x="3524596" y="211975"/>
                  </a:cubicBezTo>
                  <a:cubicBezTo>
                    <a:pt x="4304607" y="0"/>
                    <a:pt x="5257107" y="2078"/>
                    <a:pt x="6209607" y="4156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600"/>
            </a:p>
          </p:txBody>
        </p:sp>
        <p:sp>
          <p:nvSpPr>
            <p:cNvPr id="343" name="자유형 342"/>
            <p:cNvSpPr/>
            <p:nvPr/>
          </p:nvSpPr>
          <p:spPr bwMode="auto">
            <a:xfrm>
              <a:off x="5980721" y="2503372"/>
              <a:ext cx="938289" cy="173146"/>
            </a:xfrm>
            <a:custGeom>
              <a:avLst/>
              <a:gdLst>
                <a:gd name="connsiteX0" fmla="*/ 0 w 6209607"/>
                <a:gd name="connsiteY0" fmla="*/ 1492135 h 1492135"/>
                <a:gd name="connsiteX1" fmla="*/ 1529542 w 6209607"/>
                <a:gd name="connsiteY1" fmla="*/ 1276004 h 1492135"/>
                <a:gd name="connsiteX2" fmla="*/ 3524596 w 6209607"/>
                <a:gd name="connsiteY2" fmla="*/ 211975 h 1492135"/>
                <a:gd name="connsiteX3" fmla="*/ 6209607 w 6209607"/>
                <a:gd name="connsiteY3" fmla="*/ 4156 h 1492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9607" h="1492135">
                  <a:moveTo>
                    <a:pt x="0" y="1492135"/>
                  </a:moveTo>
                  <a:cubicBezTo>
                    <a:pt x="471054" y="1490749"/>
                    <a:pt x="942109" y="1489364"/>
                    <a:pt x="1529542" y="1276004"/>
                  </a:cubicBezTo>
                  <a:cubicBezTo>
                    <a:pt x="2116975" y="1062644"/>
                    <a:pt x="2744585" y="423950"/>
                    <a:pt x="3524596" y="211975"/>
                  </a:cubicBezTo>
                  <a:cubicBezTo>
                    <a:pt x="4304607" y="0"/>
                    <a:pt x="5257107" y="2078"/>
                    <a:pt x="6209607" y="4156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600"/>
            </a:p>
          </p:txBody>
        </p:sp>
        <p:sp>
          <p:nvSpPr>
            <p:cNvPr id="344" name="Rectangle 102"/>
            <p:cNvSpPr>
              <a:spLocks noChangeAspect="1" noChangeArrowheads="1"/>
            </p:cNvSpPr>
            <p:nvPr/>
          </p:nvSpPr>
          <p:spPr bwMode="auto">
            <a:xfrm>
              <a:off x="6877947" y="2437650"/>
              <a:ext cx="1122788" cy="17095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 dirty="0">
                  <a:solidFill>
                    <a:schemeClr val="tx1"/>
                  </a:solidFill>
                </a:rPr>
                <a:t>Sidebar Temp Sensor1 </a:t>
              </a:r>
            </a:p>
          </p:txBody>
        </p:sp>
        <p:sp>
          <p:nvSpPr>
            <p:cNvPr id="345" name="Rectangle 102"/>
            <p:cNvSpPr>
              <a:spLocks noChangeAspect="1" noChangeArrowheads="1"/>
            </p:cNvSpPr>
            <p:nvPr/>
          </p:nvSpPr>
          <p:spPr bwMode="auto">
            <a:xfrm>
              <a:off x="6877947" y="3710538"/>
              <a:ext cx="1122788" cy="17095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 dirty="0">
                  <a:solidFill>
                    <a:schemeClr val="tx1"/>
                  </a:solidFill>
                </a:rPr>
                <a:t>Sidebar Temp Sensor2 </a:t>
              </a:r>
            </a:p>
          </p:txBody>
        </p:sp>
        <p:cxnSp>
          <p:nvCxnSpPr>
            <p:cNvPr id="353" name="직선 연결선 352"/>
            <p:cNvCxnSpPr/>
            <p:nvPr/>
          </p:nvCxnSpPr>
          <p:spPr bwMode="auto">
            <a:xfrm>
              <a:off x="7760545" y="2875947"/>
              <a:ext cx="987919" cy="1018944"/>
            </a:xfrm>
            <a:prstGeom prst="line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4" name="직선 연결선 353"/>
            <p:cNvCxnSpPr>
              <a:cxnSpLocks noChangeAspect="1" noChangeShapeType="1"/>
            </p:cNvCxnSpPr>
            <p:nvPr/>
          </p:nvCxnSpPr>
          <p:spPr bwMode="auto">
            <a:xfrm>
              <a:off x="7013783" y="4161522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55" name="Freeform 90"/>
            <p:cNvSpPr>
              <a:spLocks noChangeAspect="1"/>
            </p:cNvSpPr>
            <p:nvPr/>
          </p:nvSpPr>
          <p:spPr bwMode="auto">
            <a:xfrm rot="5400000" flipH="1">
              <a:off x="6936457" y="4374791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56" name="직선 연결선 355"/>
            <p:cNvCxnSpPr>
              <a:cxnSpLocks noChangeAspect="1" noChangeShapeType="1"/>
            </p:cNvCxnSpPr>
            <p:nvPr/>
          </p:nvCxnSpPr>
          <p:spPr bwMode="auto">
            <a:xfrm flipV="1">
              <a:off x="7015213" y="4506227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7" name="직선 연결선 356"/>
            <p:cNvCxnSpPr>
              <a:cxnSpLocks noChangeAspect="1" noChangeShapeType="1"/>
            </p:cNvCxnSpPr>
            <p:nvPr/>
          </p:nvCxnSpPr>
          <p:spPr bwMode="auto">
            <a:xfrm>
              <a:off x="7184467" y="4161522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58" name="Freeform 90"/>
            <p:cNvSpPr>
              <a:spLocks noChangeAspect="1"/>
            </p:cNvSpPr>
            <p:nvPr/>
          </p:nvSpPr>
          <p:spPr bwMode="auto">
            <a:xfrm rot="5400000" flipH="1">
              <a:off x="7107141" y="4374791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59" name="직선 연결선 358"/>
            <p:cNvCxnSpPr>
              <a:cxnSpLocks noChangeAspect="1" noChangeShapeType="1"/>
            </p:cNvCxnSpPr>
            <p:nvPr/>
          </p:nvCxnSpPr>
          <p:spPr bwMode="auto">
            <a:xfrm flipV="1">
              <a:off x="7185897" y="4506227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0" name="직선 연결선 359"/>
            <p:cNvCxnSpPr>
              <a:cxnSpLocks noChangeAspect="1" noChangeShapeType="1"/>
            </p:cNvCxnSpPr>
            <p:nvPr/>
          </p:nvCxnSpPr>
          <p:spPr bwMode="auto">
            <a:xfrm>
              <a:off x="7358856" y="4161522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61" name="Freeform 90"/>
            <p:cNvSpPr>
              <a:spLocks noChangeAspect="1"/>
            </p:cNvSpPr>
            <p:nvPr/>
          </p:nvSpPr>
          <p:spPr bwMode="auto">
            <a:xfrm rot="5400000" flipH="1">
              <a:off x="7281530" y="4374791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62" name="직선 연결선 361"/>
            <p:cNvCxnSpPr>
              <a:cxnSpLocks noChangeAspect="1" noChangeShapeType="1"/>
            </p:cNvCxnSpPr>
            <p:nvPr/>
          </p:nvCxnSpPr>
          <p:spPr bwMode="auto">
            <a:xfrm flipV="1">
              <a:off x="7360286" y="4506227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3" name="직선 연결선 362"/>
            <p:cNvCxnSpPr>
              <a:cxnSpLocks noChangeAspect="1" noChangeShapeType="1"/>
            </p:cNvCxnSpPr>
            <p:nvPr/>
          </p:nvCxnSpPr>
          <p:spPr bwMode="auto">
            <a:xfrm>
              <a:off x="7534046" y="4171393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64" name="Freeform 90"/>
            <p:cNvSpPr>
              <a:spLocks noChangeAspect="1"/>
            </p:cNvSpPr>
            <p:nvPr/>
          </p:nvSpPr>
          <p:spPr bwMode="auto">
            <a:xfrm rot="5400000" flipH="1">
              <a:off x="7456720" y="4384663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65" name="직선 연결선 364"/>
            <p:cNvCxnSpPr>
              <a:cxnSpLocks noChangeAspect="1" noChangeShapeType="1"/>
            </p:cNvCxnSpPr>
            <p:nvPr/>
          </p:nvCxnSpPr>
          <p:spPr bwMode="auto">
            <a:xfrm flipV="1">
              <a:off x="7535476" y="4516098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6" name="직선 연결선 365"/>
            <p:cNvCxnSpPr>
              <a:cxnSpLocks noChangeAspect="1" noChangeShapeType="1"/>
            </p:cNvCxnSpPr>
            <p:nvPr/>
          </p:nvCxnSpPr>
          <p:spPr bwMode="auto">
            <a:xfrm>
              <a:off x="7727411" y="4165727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67" name="Freeform 90"/>
            <p:cNvSpPr>
              <a:spLocks noChangeAspect="1"/>
            </p:cNvSpPr>
            <p:nvPr/>
          </p:nvSpPr>
          <p:spPr bwMode="auto">
            <a:xfrm rot="5400000" flipH="1">
              <a:off x="7650085" y="437899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68" name="직선 연결선 367"/>
            <p:cNvCxnSpPr>
              <a:cxnSpLocks noChangeAspect="1" noChangeShapeType="1"/>
            </p:cNvCxnSpPr>
            <p:nvPr/>
          </p:nvCxnSpPr>
          <p:spPr bwMode="auto">
            <a:xfrm flipV="1">
              <a:off x="7728841" y="4510432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9" name="직선 연결선 368"/>
            <p:cNvCxnSpPr>
              <a:cxnSpLocks noChangeAspect="1" noChangeShapeType="1"/>
            </p:cNvCxnSpPr>
            <p:nvPr/>
          </p:nvCxnSpPr>
          <p:spPr bwMode="auto">
            <a:xfrm>
              <a:off x="7911981" y="4159926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0" name="Freeform 90"/>
            <p:cNvSpPr>
              <a:spLocks noChangeAspect="1"/>
            </p:cNvSpPr>
            <p:nvPr/>
          </p:nvSpPr>
          <p:spPr bwMode="auto">
            <a:xfrm rot="5400000" flipH="1">
              <a:off x="7834656" y="4373195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71" name="직선 연결선 370"/>
            <p:cNvCxnSpPr>
              <a:cxnSpLocks noChangeAspect="1" noChangeShapeType="1"/>
            </p:cNvCxnSpPr>
            <p:nvPr/>
          </p:nvCxnSpPr>
          <p:spPr bwMode="auto">
            <a:xfrm flipV="1">
              <a:off x="7913412" y="4504631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2" name="직선 연결선 371"/>
            <p:cNvCxnSpPr>
              <a:cxnSpLocks noChangeAspect="1" noChangeShapeType="1"/>
            </p:cNvCxnSpPr>
            <p:nvPr/>
          </p:nvCxnSpPr>
          <p:spPr bwMode="auto">
            <a:xfrm>
              <a:off x="7018922" y="2882501"/>
              <a:ext cx="0" cy="204084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3" name="Freeform 90"/>
            <p:cNvSpPr>
              <a:spLocks noChangeAspect="1"/>
            </p:cNvSpPr>
            <p:nvPr/>
          </p:nvSpPr>
          <p:spPr bwMode="auto">
            <a:xfrm rot="5400000" flipH="1">
              <a:off x="6941597" y="312762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74" name="직선 연결선 373"/>
            <p:cNvCxnSpPr>
              <a:cxnSpLocks noChangeAspect="1" noChangeShapeType="1"/>
            </p:cNvCxnSpPr>
            <p:nvPr/>
          </p:nvCxnSpPr>
          <p:spPr bwMode="auto">
            <a:xfrm flipV="1">
              <a:off x="7020353" y="3259064"/>
              <a:ext cx="0" cy="24616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5" name="직선 연결선 374"/>
            <p:cNvCxnSpPr>
              <a:cxnSpLocks noChangeAspect="1" noChangeShapeType="1"/>
            </p:cNvCxnSpPr>
            <p:nvPr/>
          </p:nvCxnSpPr>
          <p:spPr bwMode="auto">
            <a:xfrm>
              <a:off x="7189606" y="2882501"/>
              <a:ext cx="0" cy="204084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6" name="Freeform 90"/>
            <p:cNvSpPr>
              <a:spLocks noChangeAspect="1"/>
            </p:cNvSpPr>
            <p:nvPr/>
          </p:nvSpPr>
          <p:spPr bwMode="auto">
            <a:xfrm rot="5400000" flipH="1">
              <a:off x="7112281" y="312762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77" name="직선 연결선 376"/>
            <p:cNvCxnSpPr>
              <a:cxnSpLocks noChangeAspect="1" noChangeShapeType="1"/>
            </p:cNvCxnSpPr>
            <p:nvPr/>
          </p:nvCxnSpPr>
          <p:spPr bwMode="auto">
            <a:xfrm flipV="1">
              <a:off x="7191037" y="3259064"/>
              <a:ext cx="0" cy="24616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8" name="직선 연결선 377"/>
            <p:cNvCxnSpPr>
              <a:cxnSpLocks noChangeAspect="1" noChangeShapeType="1"/>
            </p:cNvCxnSpPr>
            <p:nvPr/>
          </p:nvCxnSpPr>
          <p:spPr bwMode="auto">
            <a:xfrm>
              <a:off x="7363995" y="2871224"/>
              <a:ext cx="0" cy="219567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9" name="Freeform 90"/>
            <p:cNvSpPr>
              <a:spLocks noChangeAspect="1"/>
            </p:cNvSpPr>
            <p:nvPr/>
          </p:nvSpPr>
          <p:spPr bwMode="auto">
            <a:xfrm rot="5400000" flipH="1">
              <a:off x="7286669" y="312762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0" name="직선 연결선 379"/>
            <p:cNvCxnSpPr>
              <a:cxnSpLocks noChangeAspect="1" noChangeShapeType="1"/>
            </p:cNvCxnSpPr>
            <p:nvPr/>
          </p:nvCxnSpPr>
          <p:spPr bwMode="auto">
            <a:xfrm flipV="1">
              <a:off x="7365426" y="3268936"/>
              <a:ext cx="0" cy="226116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1" name="직선 연결선 380"/>
            <p:cNvCxnSpPr>
              <a:cxnSpLocks noChangeAspect="1" noChangeShapeType="1"/>
            </p:cNvCxnSpPr>
            <p:nvPr/>
          </p:nvCxnSpPr>
          <p:spPr bwMode="auto">
            <a:xfrm>
              <a:off x="7539185" y="2882501"/>
              <a:ext cx="0" cy="21395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82" name="Freeform 90"/>
            <p:cNvSpPr>
              <a:spLocks noChangeAspect="1"/>
            </p:cNvSpPr>
            <p:nvPr/>
          </p:nvSpPr>
          <p:spPr bwMode="auto">
            <a:xfrm rot="5400000" flipH="1">
              <a:off x="7461860" y="3137499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3" name="직선 연결선 382"/>
            <p:cNvCxnSpPr>
              <a:cxnSpLocks noChangeAspect="1" noChangeShapeType="1"/>
            </p:cNvCxnSpPr>
            <p:nvPr/>
          </p:nvCxnSpPr>
          <p:spPr bwMode="auto">
            <a:xfrm flipV="1">
              <a:off x="7540616" y="3268936"/>
              <a:ext cx="0" cy="210506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4" name="직선 연결선 383"/>
            <p:cNvCxnSpPr>
              <a:cxnSpLocks noChangeAspect="1" noChangeShapeType="1"/>
            </p:cNvCxnSpPr>
            <p:nvPr/>
          </p:nvCxnSpPr>
          <p:spPr bwMode="auto">
            <a:xfrm>
              <a:off x="7732550" y="2875947"/>
              <a:ext cx="0" cy="214844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85" name="Freeform 90"/>
            <p:cNvSpPr>
              <a:spLocks noChangeAspect="1"/>
            </p:cNvSpPr>
            <p:nvPr/>
          </p:nvSpPr>
          <p:spPr bwMode="auto">
            <a:xfrm rot="5400000" flipH="1">
              <a:off x="7655225" y="3131833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6" name="직선 연결선 385"/>
            <p:cNvCxnSpPr>
              <a:cxnSpLocks noChangeAspect="1" noChangeShapeType="1"/>
            </p:cNvCxnSpPr>
            <p:nvPr/>
          </p:nvCxnSpPr>
          <p:spPr bwMode="auto">
            <a:xfrm flipV="1">
              <a:off x="7733981" y="3263270"/>
              <a:ext cx="0" cy="241956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7" name="직선 연결선 386"/>
            <p:cNvCxnSpPr>
              <a:cxnSpLocks noChangeAspect="1" noChangeShapeType="1"/>
            </p:cNvCxnSpPr>
            <p:nvPr/>
          </p:nvCxnSpPr>
          <p:spPr bwMode="auto">
            <a:xfrm>
              <a:off x="7917121" y="2875947"/>
              <a:ext cx="0" cy="209043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88" name="Freeform 90"/>
            <p:cNvSpPr>
              <a:spLocks noChangeAspect="1"/>
            </p:cNvSpPr>
            <p:nvPr/>
          </p:nvSpPr>
          <p:spPr bwMode="auto">
            <a:xfrm rot="5400000" flipH="1">
              <a:off x="7839795" y="3126032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9" name="직선 연결선 388"/>
            <p:cNvCxnSpPr>
              <a:cxnSpLocks noChangeAspect="1" noChangeShapeType="1"/>
            </p:cNvCxnSpPr>
            <p:nvPr/>
          </p:nvCxnSpPr>
          <p:spPr bwMode="auto">
            <a:xfrm flipV="1">
              <a:off x="7918551" y="3257468"/>
              <a:ext cx="0" cy="247758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</p:grpSp>
      <p:cxnSp>
        <p:nvCxnSpPr>
          <p:cNvPr id="407" name="직선 화살표 연결선 406"/>
          <p:cNvCxnSpPr/>
          <p:nvPr/>
        </p:nvCxnSpPr>
        <p:spPr>
          <a:xfrm>
            <a:off x="1403648" y="5148362"/>
            <a:ext cx="1908000" cy="4942"/>
          </a:xfrm>
          <a:prstGeom prst="straightConnector1">
            <a:avLst/>
          </a:prstGeom>
          <a:noFill/>
          <a:ln w="25400" cap="flat" cmpd="sng" algn="ctr">
            <a:solidFill>
              <a:srgbClr val="0000FF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408" name="직사각형 407"/>
          <p:cNvSpPr/>
          <p:nvPr/>
        </p:nvSpPr>
        <p:spPr>
          <a:xfrm>
            <a:off x="1925030" y="5013176"/>
            <a:ext cx="899150" cy="291170"/>
          </a:xfrm>
          <a:prstGeom prst="rect">
            <a:avLst/>
          </a:prstGeom>
          <a:solidFill>
            <a:sysClr val="window" lastClr="FFFFFF"/>
          </a:solidFill>
          <a:ln w="12700">
            <a:noFill/>
            <a:prstDash val="sysDash"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LV Area</a:t>
            </a:r>
            <a:endParaRPr kumimoji="0" lang="ko-KR" altLang="en-US" sz="1292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9" name="직선 화살표 연결선 408"/>
          <p:cNvCxnSpPr/>
          <p:nvPr/>
        </p:nvCxnSpPr>
        <p:spPr>
          <a:xfrm flipV="1">
            <a:off x="3347864" y="5153495"/>
            <a:ext cx="4824000" cy="3"/>
          </a:xfrm>
          <a:prstGeom prst="straightConnector1">
            <a:avLst/>
          </a:prstGeom>
          <a:noFill/>
          <a:ln w="25400" cap="flat" cmpd="sng" algn="ctr">
            <a:solidFill>
              <a:srgbClr val="0000FF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410" name="직사각형 409"/>
          <p:cNvSpPr/>
          <p:nvPr/>
        </p:nvSpPr>
        <p:spPr>
          <a:xfrm>
            <a:off x="5145144" y="5014667"/>
            <a:ext cx="1186667" cy="291170"/>
          </a:xfrm>
          <a:prstGeom prst="rect">
            <a:avLst/>
          </a:prstGeom>
          <a:solidFill>
            <a:sysClr val="window" lastClr="FFFFFF"/>
          </a:solidFill>
          <a:ln w="12700">
            <a:noFill/>
            <a:prstDash val="sysDash"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HV Area</a:t>
            </a:r>
            <a:endParaRPr kumimoji="0" lang="ko-KR" altLang="en-US" sz="1292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" name="직사각형 410"/>
          <p:cNvSpPr/>
          <p:nvPr/>
        </p:nvSpPr>
        <p:spPr>
          <a:xfrm>
            <a:off x="1026666" y="5379651"/>
            <a:ext cx="2829196" cy="646331"/>
          </a:xfrm>
          <a:prstGeom prst="rect">
            <a:avLst/>
          </a:prstGeom>
          <a:solidFill>
            <a:srgbClr val="F79646">
              <a:lumMod val="40000"/>
              <a:lumOff val="60000"/>
              <a:alpha val="80000"/>
            </a:srgbClr>
          </a:solidFill>
          <a:ln w="12700">
            <a:solidFill>
              <a:srgbClr val="0066FF"/>
            </a:solidFill>
            <a:prstDash val="sysDash"/>
          </a:ln>
        </p:spPr>
        <p:txBody>
          <a:bodyPr wrap="square">
            <a:spAutoFit/>
          </a:bodyPr>
          <a:lstStyle/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LV Sensing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LIN Communication 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DCDC PWM Switching IC   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직사각형 411"/>
          <p:cNvSpPr/>
          <p:nvPr/>
        </p:nvSpPr>
        <p:spPr>
          <a:xfrm>
            <a:off x="4348464" y="5363092"/>
            <a:ext cx="3061842" cy="1015663"/>
          </a:xfrm>
          <a:prstGeom prst="rect">
            <a:avLst/>
          </a:prstGeom>
          <a:solidFill>
            <a:srgbClr val="F79646">
              <a:lumMod val="40000"/>
              <a:lumOff val="60000"/>
              <a:alpha val="80000"/>
            </a:srgbClr>
          </a:solidFill>
          <a:ln w="12700">
            <a:solidFill>
              <a:srgbClr val="0066FF"/>
            </a:solidFill>
            <a:prstDash val="sysDash"/>
          </a:ln>
        </p:spPr>
        <p:txBody>
          <a:bodyPr wrap="square">
            <a:spAutoFit/>
          </a:bodyPr>
          <a:lstStyle/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HV Sensing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MCU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IGBT Control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Current Sensing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Sidebar Temp</a:t>
            </a:r>
            <a:r>
              <a:rPr kumimoji="0" lang="en-US" altLang="ko-KR" sz="12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Sensor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03" name="Rectangle 247"/>
          <p:cNvSpPr>
            <a:spLocks noChangeAspect="1" noChangeArrowheads="1"/>
          </p:cNvSpPr>
          <p:nvPr/>
        </p:nvSpPr>
        <p:spPr bwMode="auto">
          <a:xfrm>
            <a:off x="2979895" y="1775697"/>
            <a:ext cx="665473" cy="18585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700" dirty="0"/>
              <a:t>Transformer</a:t>
            </a:r>
          </a:p>
        </p:txBody>
      </p:sp>
      <p:sp>
        <p:nvSpPr>
          <p:cNvPr id="194" name="Text Box 192"/>
          <p:cNvSpPr txBox="1">
            <a:spLocks noChangeArrowheads="1"/>
          </p:cNvSpPr>
          <p:nvPr/>
        </p:nvSpPr>
        <p:spPr bwMode="auto">
          <a:xfrm>
            <a:off x="0" y="21752"/>
            <a:ext cx="3855861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zh-CN" altLang="en-US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ブロック</a:t>
            </a:r>
            <a:r>
              <a:rPr lang="ko-KR" altLang="en-US" sz="2585" dirty="0">
                <a:solidFill>
                  <a:schemeClr val="tx1"/>
                </a:solidFill>
                <a:latin typeface="Meiryo UI" panose="020B0604030504040204" pitchFamily="34" charset="-128"/>
              </a:rPr>
              <a:t>図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5" name="Text Box 137"/>
          <p:cNvSpPr txBox="1">
            <a:spLocks noChangeAspect="1" noChangeArrowheads="1"/>
          </p:cNvSpPr>
          <p:nvPr/>
        </p:nvSpPr>
        <p:spPr bwMode="auto">
          <a:xfrm>
            <a:off x="5114573" y="1070929"/>
            <a:ext cx="526451" cy="165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600" dirty="0">
                <a:solidFill>
                  <a:schemeClr val="tx1"/>
                </a:solidFill>
              </a:rPr>
              <a:t>Interlock</a:t>
            </a:r>
            <a:endParaRPr lang="en-US" altLang="ja-JP" sz="600" dirty="0">
              <a:solidFill>
                <a:schemeClr val="tx1"/>
              </a:solidFill>
            </a:endParaRPr>
          </a:p>
        </p:txBody>
      </p:sp>
      <p:cxnSp>
        <p:nvCxnSpPr>
          <p:cNvPr id="196" name="직선 연결선 195"/>
          <p:cNvCxnSpPr>
            <a:cxnSpLocks noChangeShapeType="1"/>
          </p:cNvCxnSpPr>
          <p:nvPr/>
        </p:nvCxnSpPr>
        <p:spPr bwMode="auto">
          <a:xfrm flipV="1">
            <a:off x="5217521" y="1202217"/>
            <a:ext cx="0" cy="396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97" name="직선 연결선 196"/>
          <p:cNvCxnSpPr>
            <a:cxnSpLocks noChangeShapeType="1"/>
          </p:cNvCxnSpPr>
          <p:nvPr/>
        </p:nvCxnSpPr>
        <p:spPr bwMode="auto">
          <a:xfrm flipV="1">
            <a:off x="5332206" y="1202218"/>
            <a:ext cx="0" cy="468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98" name="직선 연결선 197"/>
          <p:cNvCxnSpPr>
            <a:cxnSpLocks noChangeShapeType="1"/>
          </p:cNvCxnSpPr>
          <p:nvPr/>
        </p:nvCxnSpPr>
        <p:spPr bwMode="auto">
          <a:xfrm>
            <a:off x="5217521" y="1202217"/>
            <a:ext cx="11211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99" name="직선 연결선 198"/>
          <p:cNvCxnSpPr/>
          <p:nvPr/>
        </p:nvCxnSpPr>
        <p:spPr bwMode="auto">
          <a:xfrm>
            <a:off x="4448901" y="1605143"/>
            <a:ext cx="756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0" name="직선 연결선 199"/>
          <p:cNvCxnSpPr/>
          <p:nvPr/>
        </p:nvCxnSpPr>
        <p:spPr bwMode="auto">
          <a:xfrm>
            <a:off x="4547141" y="1667467"/>
            <a:ext cx="792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1" name="직선 연결선 200"/>
          <p:cNvCxnSpPr>
            <a:cxnSpLocks noChangeShapeType="1"/>
          </p:cNvCxnSpPr>
          <p:nvPr/>
        </p:nvCxnSpPr>
        <p:spPr bwMode="auto">
          <a:xfrm flipV="1">
            <a:off x="4449461" y="1598422"/>
            <a:ext cx="0" cy="2304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202" name="직선 연결선 201"/>
          <p:cNvCxnSpPr>
            <a:cxnSpLocks noChangeAspect="1" noChangeShapeType="1"/>
          </p:cNvCxnSpPr>
          <p:nvPr/>
        </p:nvCxnSpPr>
        <p:spPr bwMode="auto">
          <a:xfrm flipH="1">
            <a:off x="3925358" y="3925279"/>
            <a:ext cx="30566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03" name="직선 연결선 202"/>
          <p:cNvCxnSpPr>
            <a:cxnSpLocks noChangeShapeType="1"/>
          </p:cNvCxnSpPr>
          <p:nvPr/>
        </p:nvCxnSpPr>
        <p:spPr bwMode="auto">
          <a:xfrm flipV="1">
            <a:off x="4547141" y="1667467"/>
            <a:ext cx="0" cy="2232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sp>
        <p:nvSpPr>
          <p:cNvPr id="204" name="Rectangle 102"/>
          <p:cNvSpPr>
            <a:spLocks noChangeAspect="1" noChangeArrowheads="1"/>
          </p:cNvSpPr>
          <p:nvPr/>
        </p:nvSpPr>
        <p:spPr bwMode="auto">
          <a:xfrm>
            <a:off x="4130121" y="3877483"/>
            <a:ext cx="748612" cy="11095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/>
          <a:p>
            <a:pPr algn="ctr" eaLnBrk="1" latinLnBrk="1" hangingPunct="1"/>
            <a:r>
              <a:rPr lang="en-US" altLang="ja-JP" sz="500" dirty="0">
                <a:solidFill>
                  <a:schemeClr val="tx1"/>
                </a:solidFill>
                <a:latin typeface="+mn-lt"/>
                <a:ea typeface="+mn-ea"/>
              </a:rPr>
              <a:t>Interlock</a:t>
            </a:r>
          </a:p>
        </p:txBody>
      </p:sp>
      <p:sp>
        <p:nvSpPr>
          <p:cNvPr id="205" name="Rectangle 247"/>
          <p:cNvSpPr>
            <a:spLocks noChangeAspect="1" noChangeArrowheads="1"/>
          </p:cNvSpPr>
          <p:nvPr/>
        </p:nvSpPr>
        <p:spPr bwMode="auto">
          <a:xfrm>
            <a:off x="3726374" y="1855230"/>
            <a:ext cx="296585" cy="293635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</a:rPr>
              <a:t>MCU</a:t>
            </a:r>
          </a:p>
        </p:txBody>
      </p:sp>
      <p:sp>
        <p:nvSpPr>
          <p:cNvPr id="206" name="Rectangle 247"/>
          <p:cNvSpPr>
            <a:spLocks noChangeAspect="1" noChangeArrowheads="1"/>
          </p:cNvSpPr>
          <p:nvPr/>
        </p:nvSpPr>
        <p:spPr bwMode="auto">
          <a:xfrm>
            <a:off x="4094079" y="3060545"/>
            <a:ext cx="620410" cy="149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207" name="Rectangle 247"/>
          <p:cNvSpPr>
            <a:spLocks noChangeAspect="1" noChangeArrowheads="1"/>
          </p:cNvSpPr>
          <p:nvPr/>
        </p:nvSpPr>
        <p:spPr bwMode="auto">
          <a:xfrm>
            <a:off x="4094079" y="3642651"/>
            <a:ext cx="620409" cy="149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208" name="Rectangle 247"/>
          <p:cNvSpPr>
            <a:spLocks noChangeAspect="1" noChangeArrowheads="1"/>
          </p:cNvSpPr>
          <p:nvPr/>
        </p:nvSpPr>
        <p:spPr bwMode="auto">
          <a:xfrm>
            <a:off x="4094079" y="2392625"/>
            <a:ext cx="620410" cy="149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209" name="Rectangle 247"/>
          <p:cNvSpPr>
            <a:spLocks noChangeArrowheads="1"/>
          </p:cNvSpPr>
          <p:nvPr/>
        </p:nvSpPr>
        <p:spPr bwMode="auto">
          <a:xfrm>
            <a:off x="4150069" y="1919844"/>
            <a:ext cx="556854" cy="108887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600" dirty="0">
                <a:solidFill>
                  <a:schemeClr val="tx1"/>
                </a:solidFill>
              </a:rPr>
              <a:t>Regulator</a:t>
            </a:r>
          </a:p>
        </p:txBody>
      </p:sp>
      <p:sp>
        <p:nvSpPr>
          <p:cNvPr id="210" name="Line 147"/>
          <p:cNvSpPr>
            <a:spLocks noChangeShapeType="1"/>
          </p:cNvSpPr>
          <p:nvPr/>
        </p:nvSpPr>
        <p:spPr bwMode="auto">
          <a:xfrm>
            <a:off x="3583736" y="1806170"/>
            <a:ext cx="122910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211" name="직선 연결선 210"/>
          <p:cNvCxnSpPr>
            <a:cxnSpLocks noChangeAspect="1" noChangeShapeType="1"/>
          </p:cNvCxnSpPr>
          <p:nvPr/>
        </p:nvCxnSpPr>
        <p:spPr bwMode="auto">
          <a:xfrm>
            <a:off x="5113970" y="1541730"/>
            <a:ext cx="0" cy="852669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212" name="Rectangle 247"/>
          <p:cNvSpPr>
            <a:spLocks noChangeAspect="1" noChangeArrowheads="1"/>
          </p:cNvSpPr>
          <p:nvPr/>
        </p:nvSpPr>
        <p:spPr bwMode="auto">
          <a:xfrm>
            <a:off x="5024692" y="1741556"/>
            <a:ext cx="1369438" cy="171109"/>
          </a:xfrm>
          <a:prstGeom prst="rect">
            <a:avLst/>
          </a:prstGeom>
          <a:solidFill>
            <a:srgbClr val="CCFF99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50" dirty="0">
                <a:solidFill>
                  <a:schemeClr val="tx1"/>
                </a:solidFill>
              </a:rPr>
              <a:t>High Voltage  </a:t>
            </a:r>
            <a:r>
              <a:rPr lang="en-US" altLang="ja-JP" sz="750" dirty="0">
                <a:solidFill>
                  <a:schemeClr val="tx1"/>
                </a:solidFill>
              </a:rPr>
              <a:t>Sensing</a:t>
            </a:r>
          </a:p>
        </p:txBody>
      </p:sp>
      <p:sp>
        <p:nvSpPr>
          <p:cNvPr id="213" name="Rectangle 102"/>
          <p:cNvSpPr>
            <a:spLocks noChangeAspect="1" noChangeArrowheads="1"/>
          </p:cNvSpPr>
          <p:nvPr/>
        </p:nvSpPr>
        <p:spPr bwMode="auto">
          <a:xfrm>
            <a:off x="4856256" y="1370131"/>
            <a:ext cx="1584787" cy="73112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</a:rPr>
              <a:t>Connector</a:t>
            </a:r>
          </a:p>
        </p:txBody>
      </p:sp>
      <p:sp>
        <p:nvSpPr>
          <p:cNvPr id="214" name="Rectangle 102"/>
          <p:cNvSpPr>
            <a:spLocks noChangeAspect="1" noChangeArrowheads="1"/>
          </p:cNvSpPr>
          <p:nvPr/>
        </p:nvSpPr>
        <p:spPr bwMode="auto">
          <a:xfrm>
            <a:off x="4856255" y="1277290"/>
            <a:ext cx="1584787" cy="73172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</a:rPr>
              <a:t>Connector</a:t>
            </a:r>
          </a:p>
        </p:txBody>
      </p:sp>
      <p:sp>
        <p:nvSpPr>
          <p:cNvPr id="215" name="Rectangle 102"/>
          <p:cNvSpPr>
            <a:spLocks noChangeAspect="1" noChangeArrowheads="1"/>
          </p:cNvSpPr>
          <p:nvPr/>
        </p:nvSpPr>
        <p:spPr bwMode="auto">
          <a:xfrm>
            <a:off x="4860925" y="1471848"/>
            <a:ext cx="1584787" cy="73112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 smtClean="0">
                <a:solidFill>
                  <a:schemeClr val="tx1"/>
                </a:solidFill>
              </a:rPr>
              <a:t>ELEC - CAPCITOR</a:t>
            </a:r>
            <a:endParaRPr lang="en-US" altLang="ja-JP" sz="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75233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900779"/>
              </p:ext>
            </p:extLst>
          </p:nvPr>
        </p:nvGraphicFramePr>
        <p:xfrm>
          <a:off x="521068" y="4056304"/>
          <a:ext cx="8039068" cy="184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532">
                  <a:extLst>
                    <a:ext uri="{9D8B030D-6E8A-4147-A177-3AD203B41FA5}">
                      <a16:colId xmlns:a16="http://schemas.microsoft.com/office/drawing/2014/main" val="361156524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624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Division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理論値</a:t>
                      </a: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 smtClean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Design value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i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Creepage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Clearances </a:t>
                      </a:r>
                      <a:endParaRPr lang="ko-KR" altLang="en-US" sz="1000" b="1" i="0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199"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HV to LV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  <a:endParaRPr lang="en-US" altLang="ko-KR" sz="800" b="0" i="0" u="none" strike="noStrike" dirty="0" smtClean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5.0mm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2.88mm</a:t>
                      </a:r>
                      <a:endParaRPr lang="ko-KR" altLang="en-US" sz="13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i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</a:p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※ </a:t>
                      </a:r>
                      <a:r>
                        <a:rPr lang="en-US" altLang="ja-JP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PCB </a:t>
                      </a:r>
                      <a:r>
                        <a:rPr lang="ja-JP" altLang="en-US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コーティングおよびケースシーリング</a:t>
                      </a:r>
                      <a:endParaRPr lang="en-US" altLang="ko-KR" sz="700" b="0" i="0" u="none" strike="noStrike" dirty="0" smtClean="0">
                        <a:solidFill>
                          <a:srgbClr val="333333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1.3mm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8.0mm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99"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HV to Earth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  <a:endParaRPr lang="en-US" altLang="ko-KR" sz="800" b="0" i="0" u="none" strike="noStrike" dirty="0" smtClean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5.0mm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2.88mm</a:t>
                      </a:r>
                      <a:endParaRPr lang="ko-KR" altLang="en-US" sz="13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i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</a:p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※ </a:t>
                      </a:r>
                      <a:r>
                        <a:rPr lang="en-US" altLang="ja-JP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PCB </a:t>
                      </a:r>
                      <a:r>
                        <a:rPr lang="ja-JP" altLang="en-US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コーティングおよびケースシーリング</a:t>
                      </a:r>
                      <a:endParaRPr lang="en-US" altLang="ko-KR" sz="700" b="0" i="0" u="none" strike="noStrike" dirty="0" smtClean="0">
                        <a:solidFill>
                          <a:srgbClr val="333333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1.3mm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5.0mm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Rectangle 21"/>
          <p:cNvSpPr>
            <a:spLocks noChangeArrowheads="1"/>
          </p:cNvSpPr>
          <p:nvPr/>
        </p:nvSpPr>
        <p:spPr bwMode="auto">
          <a:xfrm>
            <a:off x="558931" y="3735379"/>
            <a:ext cx="7831928" cy="284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  <a:spAutoFit/>
          </a:bodyPr>
          <a:lstStyle/>
          <a:p>
            <a:pPr latinLnBrk="1">
              <a:buFontTx/>
              <a:buChar char="•"/>
            </a:pPr>
            <a:r>
              <a:rPr lang="en-US" altLang="ko-KR" sz="1292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ko-KR" altLang="ko-KR" sz="1292" dirty="0" err="1"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lang="ko-KR" altLang="ko-KR" sz="129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292" dirty="0" err="1">
                <a:latin typeface="Arial" panose="020B0604020202020204" pitchFamily="34" charset="0"/>
                <a:cs typeface="Arial" panose="020B0604020202020204" pitchFamily="34" charset="0"/>
              </a:rPr>
              <a:t>Regulations</a:t>
            </a:r>
            <a:r>
              <a:rPr lang="ko-KR" altLang="ko-KR" sz="1292" dirty="0">
                <a:latin typeface="Arial" panose="020B0604020202020204" pitchFamily="34" charset="0"/>
                <a:cs typeface="Arial" panose="020B0604020202020204" pitchFamily="34" charset="0"/>
              </a:rPr>
              <a:t>: IEC 60664-1, UL840</a:t>
            </a:r>
          </a:p>
        </p:txBody>
      </p:sp>
      <p:sp>
        <p:nvSpPr>
          <p:cNvPr id="15" name="Text Box 192"/>
          <p:cNvSpPr txBox="1">
            <a:spLocks noChangeArrowheads="1"/>
          </p:cNvSpPr>
          <p:nvPr/>
        </p:nvSpPr>
        <p:spPr bwMode="auto">
          <a:xfrm>
            <a:off x="0" y="21752"/>
            <a:ext cx="64442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2800" dirty="0" smtClean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  </a:t>
            </a:r>
            <a:r>
              <a:rPr lang="en-US" altLang="ko-KR" sz="2800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PCB </a:t>
            </a:r>
            <a:r>
              <a:rPr lang="ko-KR" altLang="en-US" sz="2800" dirty="0"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  <a:cs typeface="Tahoma" panose="020B0604030504040204" pitchFamily="34" charset="0"/>
              </a:rPr>
              <a:t>絶縁距離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164734" y="908720"/>
            <a:ext cx="6215577" cy="2565799"/>
            <a:chOff x="1164734" y="908720"/>
            <a:chExt cx="6215577" cy="256579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64734" y="1162844"/>
              <a:ext cx="6215577" cy="2311675"/>
            </a:xfrm>
            <a:prstGeom prst="rect">
              <a:avLst/>
            </a:prstGeom>
          </p:spPr>
        </p:pic>
        <p:grpSp>
          <p:nvGrpSpPr>
            <p:cNvPr id="5" name="그룹 4"/>
            <p:cNvGrpSpPr/>
            <p:nvPr/>
          </p:nvGrpSpPr>
          <p:grpSpPr>
            <a:xfrm>
              <a:off x="1276459" y="908720"/>
              <a:ext cx="5956259" cy="2498450"/>
              <a:chOff x="1979712" y="1437832"/>
              <a:chExt cx="5059210" cy="2061998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1979712" y="2169566"/>
                <a:ext cx="753416" cy="1023327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ko-KR" sz="923" dirty="0">
                    <a:solidFill>
                      <a:schemeClr val="tx1"/>
                    </a:solidFill>
                  </a:rPr>
                  <a:t>LV </a:t>
                </a:r>
              </a:p>
              <a:p>
                <a:pPr algn="ctr"/>
                <a:r>
                  <a:rPr lang="en-US" altLang="ko-KR" sz="923" dirty="0" smtClean="0">
                    <a:solidFill>
                      <a:schemeClr val="tx1"/>
                    </a:solidFill>
                  </a:rPr>
                  <a:t>Area</a:t>
                </a:r>
                <a:endParaRPr lang="ko-KR" altLang="en-US" sz="923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3375439" y="2165228"/>
                <a:ext cx="3605359" cy="1261506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ko-KR" sz="923" dirty="0">
                    <a:solidFill>
                      <a:schemeClr val="tx1"/>
                    </a:solidFill>
                  </a:rPr>
                  <a:t>HV </a:t>
                </a:r>
              </a:p>
              <a:p>
                <a:pPr algn="ctr"/>
                <a:r>
                  <a:rPr lang="en-US" altLang="ko-KR" sz="923" dirty="0" smtClean="0">
                    <a:solidFill>
                      <a:schemeClr val="tx1"/>
                    </a:solidFill>
                  </a:rPr>
                  <a:t>Area</a:t>
                </a:r>
                <a:endParaRPr lang="ko-KR" altLang="en-US" sz="923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4092404" y="1437832"/>
                <a:ext cx="693317" cy="228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200" dirty="0" smtClean="0"/>
                  <a:t>Example</a:t>
                </a:r>
                <a:endParaRPr lang="ko-KR" altLang="en-US" sz="1200" dirty="0"/>
              </a:p>
            </p:txBody>
          </p:sp>
          <p:cxnSp>
            <p:nvCxnSpPr>
              <p:cNvPr id="48" name="직선 화살표 연결선 47"/>
              <p:cNvCxnSpPr>
                <a:cxnSpLocks noChangeShapeType="1"/>
              </p:cNvCxnSpPr>
              <p:nvPr/>
            </p:nvCxnSpPr>
            <p:spPr bwMode="auto">
              <a:xfrm rot="5400000">
                <a:off x="6499303" y="1888380"/>
                <a:ext cx="0" cy="199385"/>
              </a:xfrm>
              <a:prstGeom prst="straightConnector1">
                <a:avLst/>
              </a:prstGeom>
              <a:noFill/>
              <a:ln w="15875" algn="ctr">
                <a:solidFill>
                  <a:srgbClr val="FFFF00"/>
                </a:solidFill>
                <a:round/>
                <a:headEnd type="arrow" w="med" len="med"/>
                <a:tailEnd type="arrow" w="med" len="med"/>
              </a:ln>
            </p:spPr>
          </p:cxnSp>
          <p:sp>
            <p:nvSpPr>
              <p:cNvPr id="50" name="TextBox 48"/>
              <p:cNvSpPr txBox="1">
                <a:spLocks noChangeArrowheads="1"/>
              </p:cNvSpPr>
              <p:nvPr/>
            </p:nvSpPr>
            <p:spPr bwMode="auto">
              <a:xfrm>
                <a:off x="2539310" y="3334722"/>
                <a:ext cx="760035" cy="16510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HV to LV 8.0mm </a:t>
                </a:r>
              </a:p>
            </p:txBody>
          </p:sp>
          <p:sp>
            <p:nvSpPr>
              <p:cNvPr id="51" name="TextBox 48"/>
              <p:cNvSpPr txBox="1">
                <a:spLocks noChangeArrowheads="1"/>
              </p:cNvSpPr>
              <p:nvPr/>
            </p:nvSpPr>
            <p:spPr bwMode="auto">
              <a:xfrm>
                <a:off x="6159068" y="1702227"/>
                <a:ext cx="879854" cy="16510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HV  to Earth 5.0mm </a:t>
                </a:r>
              </a:p>
            </p:txBody>
          </p:sp>
          <p:grpSp>
            <p:nvGrpSpPr>
              <p:cNvPr id="4" name="그룹 3"/>
              <p:cNvGrpSpPr/>
              <p:nvPr/>
            </p:nvGrpSpPr>
            <p:grpSpPr>
              <a:xfrm>
                <a:off x="2782929" y="1757688"/>
                <a:ext cx="420831" cy="1553734"/>
                <a:chOff x="2782929" y="1757688"/>
                <a:chExt cx="420831" cy="1553734"/>
              </a:xfrm>
              <a:solidFill>
                <a:srgbClr val="00B0F0">
                  <a:alpha val="50000"/>
                </a:srgbClr>
              </a:solidFill>
            </p:grpSpPr>
            <p:cxnSp>
              <p:nvCxnSpPr>
                <p:cNvPr id="49" name="직선 화살표 연결선 4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919328" y="3115505"/>
                  <a:ext cx="0" cy="272798"/>
                </a:xfrm>
                <a:prstGeom prst="straightConnector1">
                  <a:avLst/>
                </a:prstGeom>
                <a:grpFill/>
                <a:ln w="15875" algn="ctr">
                  <a:solidFill>
                    <a:srgbClr val="FFFF00"/>
                  </a:solidFill>
                  <a:round/>
                  <a:headEnd type="arrow" w="med" len="med"/>
                  <a:tailEnd type="arrow" w="med" len="med"/>
                </a:ln>
              </p:spPr>
            </p:cxnSp>
            <p:sp>
              <p:nvSpPr>
                <p:cNvPr id="2" name="직사각형 1"/>
                <p:cNvSpPr/>
                <p:nvPr/>
              </p:nvSpPr>
              <p:spPr bwMode="auto">
                <a:xfrm>
                  <a:off x="2782929" y="2533357"/>
                  <a:ext cx="272798" cy="778065"/>
                </a:xfrm>
                <a:prstGeom prst="rect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" name="직사각형 17"/>
                <p:cNvSpPr/>
                <p:nvPr/>
              </p:nvSpPr>
              <p:spPr bwMode="auto">
                <a:xfrm>
                  <a:off x="2921457" y="1757688"/>
                  <a:ext cx="272798" cy="778065"/>
                </a:xfrm>
                <a:prstGeom prst="rect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" name="이등변 삼각형 2"/>
                <p:cNvSpPr/>
                <p:nvPr/>
              </p:nvSpPr>
              <p:spPr bwMode="auto">
                <a:xfrm rot="18903462">
                  <a:off x="2947263" y="2510058"/>
                  <a:ext cx="256497" cy="106342"/>
                </a:xfrm>
                <a:prstGeom prst="triangle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" name="이등변 삼각형 18"/>
                <p:cNvSpPr/>
                <p:nvPr/>
              </p:nvSpPr>
              <p:spPr bwMode="auto">
                <a:xfrm rot="8100000">
                  <a:off x="2803300" y="2440618"/>
                  <a:ext cx="256497" cy="106342"/>
                </a:xfrm>
                <a:prstGeom prst="triangle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</p:grpSp>
        <p:cxnSp>
          <p:nvCxnSpPr>
            <p:cNvPr id="9" name="직선 화살표 연결선 8"/>
            <p:cNvCxnSpPr/>
            <p:nvPr/>
          </p:nvCxnSpPr>
          <p:spPr bwMode="auto">
            <a:xfrm>
              <a:off x="6480050" y="1575427"/>
              <a:ext cx="23473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sp>
          <p:nvSpPr>
            <p:cNvPr id="10" name="직사각형 9"/>
            <p:cNvSpPr/>
            <p:nvPr/>
          </p:nvSpPr>
          <p:spPr>
            <a:xfrm>
              <a:off x="2253660" y="2807350"/>
              <a:ext cx="28725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444208" y="1602910"/>
              <a:ext cx="28725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B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직선 화살표 연결선 28"/>
            <p:cNvCxnSpPr/>
            <p:nvPr/>
          </p:nvCxnSpPr>
          <p:spPr bwMode="auto">
            <a:xfrm>
              <a:off x="2217684" y="3116585"/>
              <a:ext cx="32400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triangle"/>
              <a:tailEnd type="triangle"/>
            </a:ln>
            <a:effectLst/>
          </p:spPr>
        </p:cxnSp>
      </p:grpSp>
      <p:sp>
        <p:nvSpPr>
          <p:cNvPr id="6" name="직사각형 5"/>
          <p:cNvSpPr/>
          <p:nvPr/>
        </p:nvSpPr>
        <p:spPr bwMode="auto">
          <a:xfrm>
            <a:off x="7380311" y="4036072"/>
            <a:ext cx="1179825" cy="187828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85875" marR="0" indent="-3714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en-US" sz="2000" b="1" i="0" u="none" strike="noStrike" cap="none" normalizeH="0" baseline="0" smtClean="0">
              <a:ln>
                <a:noFill/>
              </a:ln>
              <a:solidFill>
                <a:srgbClr val="FF3300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03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2"/>
          <p:cNvSpPr txBox="1">
            <a:spLocks noChangeArrowheads="1"/>
          </p:cNvSpPr>
          <p:nvPr/>
        </p:nvSpPr>
        <p:spPr bwMode="auto">
          <a:xfrm>
            <a:off x="0" y="21752"/>
            <a:ext cx="80283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sz="2800">
                <a:solidFill>
                  <a:prstClr val="black"/>
                </a:solidFill>
                <a:latin typeface="+mn-lt"/>
                <a:ea typeface="현대산스 Head" panose="020B0600000101010101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  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EMC </a:t>
            </a:r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を考慮した 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PCB </a:t>
            </a:r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回路の堅牢設計方案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5576" y="4284971"/>
            <a:ext cx="3960000" cy="1440000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26" name="직사각형 25"/>
          <p:cNvSpPr/>
          <p:nvPr/>
        </p:nvSpPr>
        <p:spPr>
          <a:xfrm>
            <a:off x="5291760" y="779455"/>
            <a:ext cx="16433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ex</a:t>
            </a:r>
            <a:r>
              <a:rPr lang="en-US" altLang="ko-KR" sz="1400" b="0" spc="-10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) </a:t>
            </a:r>
            <a:r>
              <a:rPr lang="zh-TW" altLang="en-US" sz="14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低電圧回路設計</a:t>
            </a:r>
            <a:endParaRPr lang="ko-KR" altLang="en-US" sz="1400" b="0" spc="-1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13268" y="4236165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ex)</a:t>
            </a:r>
            <a:endParaRPr lang="ko-KR" altLang="en-US" sz="1800" b="0" spc="-1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 Bold" panose="020B060000010101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14882" y="744774"/>
            <a:ext cx="5481253" cy="892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1" hangingPunct="1">
              <a:lnSpc>
                <a:spcPct val="113000"/>
              </a:lnSpc>
            </a:pPr>
            <a:r>
              <a:rPr kumimoji="1" lang="en-US" altLang="ko-KR" sz="16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1. </a:t>
            </a:r>
            <a:r>
              <a:rPr kumimoji="1" lang="ja-JP" altLang="en-US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回路の堅牢設</a:t>
            </a:r>
            <a:r>
              <a:rPr kumimoji="1" lang="ja-JP" altLang="en-US" sz="16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計</a:t>
            </a:r>
            <a:endParaRPr kumimoji="1" lang="en-US" altLang="ko-KR" sz="1600" spc="-10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eaLnBrk="1" latinLnBrk="1" hangingPunct="1">
              <a:lnSpc>
                <a:spcPct val="113000"/>
              </a:lnSpc>
            </a:pPr>
            <a:r>
              <a:rPr kumimoji="1" lang="en-US" altLang="ko-KR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en-US" altLang="ko-KR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1)</a:t>
            </a:r>
            <a:r>
              <a:rPr kumimoji="1" lang="zh-TW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高電圧電源入力</a:t>
            </a:r>
            <a:r>
              <a:rPr kumimoji="1" lang="zh-TW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部</a:t>
            </a:r>
            <a:r>
              <a:rPr kumimoji="1" lang="ja-JP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へ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 </a:t>
            </a:r>
            <a:r>
              <a:rPr kumimoji="1" lang="en-US" altLang="ko-KR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Y-CAP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kumimoji="1" lang="ko-KR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適用</a:t>
            </a:r>
            <a:endParaRPr kumimoji="1" lang="en-US" altLang="ko-KR" sz="1400" spc="-10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eaLnBrk="1" latinLnBrk="1" hangingPunct="1">
              <a:lnSpc>
                <a:spcPct val="113000"/>
              </a:lnSpc>
            </a:pPr>
            <a:r>
              <a:rPr kumimoji="1" lang="en-US" altLang="ko-KR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en-US" altLang="ko-KR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2)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低電圧入力部へのノイズ除去用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CM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フィルタおよび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Y-CAP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の適用</a:t>
            </a:r>
            <a:endParaRPr kumimoji="1" lang="en-US" altLang="ko-KR" sz="14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21757" y="2274938"/>
            <a:ext cx="8874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eiryo UI" panose="020B0604030504040204" pitchFamily="34" charset="-128"/>
                <a:ea typeface="현대산스 Head Bold" panose="020B0600000101010101" pitchFamily="50" charset="-127"/>
              </a:rPr>
              <a:t>고전압 필터 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13268" y="1628512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ex)</a:t>
            </a:r>
            <a:endParaRPr lang="ko-KR" altLang="en-US" sz="1800" b="0" spc="-1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 Bold" panose="020B060000010101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09939" y="3354104"/>
            <a:ext cx="5342181" cy="857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1" hangingPunct="1">
              <a:lnSpc>
                <a:spcPct val="113000"/>
              </a:lnSpc>
            </a:pPr>
            <a:r>
              <a:rPr kumimoji="1" lang="en-US" altLang="ko-KR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kumimoji="1" lang="en-US" altLang="ko-KR" sz="16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kumimoji="1" lang="en-US" altLang="ko-KR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PCB </a:t>
            </a:r>
            <a:r>
              <a:rPr kumimoji="1" lang="ja-JP" altLang="en-US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kumimoji="1" lang="ko-KR" altLang="en-US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堅牢設計</a:t>
            </a:r>
          </a:p>
          <a:p>
            <a:pPr marL="450900" indent="-342900" eaLnBrk="1" latinLnBrk="1" hangingPunct="1">
              <a:lnSpc>
                <a:spcPct val="113000"/>
              </a:lnSpc>
              <a:buAutoNum type="arabicParenR"/>
            </a:pPr>
            <a:r>
              <a:rPr kumimoji="1" lang="ja-JP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大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電流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GND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パターンとシグナル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GND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パターンの分離設</a:t>
            </a:r>
            <a:r>
              <a:rPr kumimoji="1" lang="ja-JP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計</a:t>
            </a:r>
            <a:endParaRPr kumimoji="1" lang="en-US" altLang="ja-JP" sz="1400" spc="-10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" panose="020B0600000101010101" pitchFamily="50" charset="-127"/>
            </a:endParaRPr>
          </a:p>
          <a:p>
            <a:pPr marL="450900" indent="-342900" eaLnBrk="1" latinLnBrk="1" hangingPunct="1">
              <a:lnSpc>
                <a:spcPct val="113000"/>
              </a:lnSpc>
              <a:buAutoNum type="arabicParenR"/>
            </a:pP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大電流パターンへの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Y-CAP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の配置</a:t>
            </a:r>
            <a:endParaRPr kumimoji="1" lang="en-US" altLang="ko-KR" sz="14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57" y="1695578"/>
            <a:ext cx="4576364" cy="122930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6870" y="1155569"/>
            <a:ext cx="3353091" cy="11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2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065863"/>
              </p:ext>
            </p:extLst>
          </p:nvPr>
        </p:nvGraphicFramePr>
        <p:xfrm>
          <a:off x="251520" y="764704"/>
          <a:ext cx="8537856" cy="5363028"/>
        </p:xfrm>
        <a:graphic>
          <a:graphicData uri="http://schemas.openxmlformats.org/drawingml/2006/table">
            <a:tbl>
              <a:tblPr/>
              <a:tblGrid>
                <a:gridCol w="50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Specification 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Logic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Functions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8V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LV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バッテリーの過放電を保護する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LV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の低電圧状態における異常動作を保護する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17V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LV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の過電圧状態における異常動作を保護する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150V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20V)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HV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バッテリーの急速放電を保護する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HV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の低電圧状態における異常動作を保護する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432V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 20V)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HV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の過電圧状態における異常動作を保護する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8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Current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Over Current 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TBD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各ゾーンにおいて、自律的な制御により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14A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を超えないようにする</a:t>
                      </a:r>
                      <a:endParaRPr kumimoji="0" lang="en-US" altLang="ja-JP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各ゾーンにおいて、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PTC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ヒーターを過電流から保護する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9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6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10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PTC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ヒーター回路を発熱から保護する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7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95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Hysteresis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PTC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ヒーター回路を発熱から保護する</a:t>
                      </a:r>
                      <a:endParaRPr kumimoji="0" lang="en-US" altLang="ja-JP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過熱温度に応じて性能を低減する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4" name="Group 218"/>
          <p:cNvGrpSpPr>
            <a:grpSpLocks/>
          </p:cNvGrpSpPr>
          <p:nvPr/>
        </p:nvGrpSpPr>
        <p:grpSpPr bwMode="auto">
          <a:xfrm>
            <a:off x="4052405" y="1857760"/>
            <a:ext cx="1957276" cy="548121"/>
            <a:chOff x="-13" y="-12"/>
            <a:chExt cx="294" cy="122"/>
          </a:xfrm>
        </p:grpSpPr>
        <p:sp>
          <p:nvSpPr>
            <p:cNvPr id="45" name="Text Box 219"/>
            <p:cNvSpPr txBox="1">
              <a:spLocks noChangeArrowheads="1"/>
            </p:cNvSpPr>
            <p:nvPr/>
          </p:nvSpPr>
          <p:spPr bwMode="auto">
            <a:xfrm>
              <a:off x="-13" y="79"/>
              <a:ext cx="141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4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7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8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Text Box 224"/>
            <p:cNvSpPr txBox="1">
              <a:spLocks noChangeArrowheads="1"/>
            </p:cNvSpPr>
            <p:nvPr/>
          </p:nvSpPr>
          <p:spPr bwMode="auto">
            <a:xfrm>
              <a:off x="151" y="-12"/>
              <a:ext cx="130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18V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0" name="Text Box 225"/>
            <p:cNvSpPr txBox="1">
              <a:spLocks noChangeArrowheads="1"/>
            </p:cNvSpPr>
            <p:nvPr/>
          </p:nvSpPr>
          <p:spPr bwMode="auto">
            <a:xfrm>
              <a:off x="184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1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84" cy="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62" name="Group 199"/>
          <p:cNvGrpSpPr>
            <a:grpSpLocks/>
          </p:cNvGrpSpPr>
          <p:nvPr/>
        </p:nvGrpSpPr>
        <p:grpSpPr bwMode="auto">
          <a:xfrm>
            <a:off x="4105362" y="2588643"/>
            <a:ext cx="1905910" cy="672930"/>
            <a:chOff x="0" y="-10"/>
            <a:chExt cx="285" cy="164"/>
          </a:xfrm>
        </p:grpSpPr>
        <p:sp>
          <p:nvSpPr>
            <p:cNvPr id="63" name="Line 131"/>
            <p:cNvSpPr>
              <a:spLocks noChangeShapeType="1"/>
            </p:cNvSpPr>
            <p:nvPr/>
          </p:nvSpPr>
          <p:spPr bwMode="auto">
            <a:xfrm>
              <a:off x="0" y="112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 flipV="1">
              <a:off x="170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 flipH="1">
              <a:off x="79" y="37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Line 134"/>
            <p:cNvSpPr>
              <a:spLocks noChangeShapeType="1"/>
            </p:cNvSpPr>
            <p:nvPr/>
          </p:nvSpPr>
          <p:spPr bwMode="auto">
            <a:xfrm>
              <a:off x="79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7" name="Text Box 135"/>
            <p:cNvSpPr txBox="1">
              <a:spLocks noChangeArrowheads="1"/>
            </p:cNvSpPr>
            <p:nvPr/>
          </p:nvSpPr>
          <p:spPr bwMode="auto">
            <a:xfrm>
              <a:off x="156" y="92"/>
              <a:ext cx="129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8" name="Text Box 136"/>
            <p:cNvSpPr txBox="1">
              <a:spLocks noChangeArrowheads="1"/>
            </p:cNvSpPr>
            <p:nvPr/>
          </p:nvSpPr>
          <p:spPr bwMode="auto">
            <a:xfrm>
              <a:off x="2" y="-10"/>
              <a:ext cx="106" cy="4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150V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9" name="Text Box 137"/>
            <p:cNvSpPr txBox="1">
              <a:spLocks noChangeArrowheads="1"/>
            </p:cNvSpPr>
            <p:nvPr/>
          </p:nvSpPr>
          <p:spPr bwMode="auto">
            <a:xfrm>
              <a:off x="2" y="109"/>
              <a:ext cx="80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0" name="Text Box 138"/>
            <p:cNvSpPr txBox="1">
              <a:spLocks noChangeArrowheads="1"/>
            </p:cNvSpPr>
            <p:nvPr/>
          </p:nvSpPr>
          <p:spPr bwMode="auto">
            <a:xfrm>
              <a:off x="174" y="-10"/>
              <a:ext cx="72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71" name="Group 218"/>
          <p:cNvGrpSpPr>
            <a:grpSpLocks/>
          </p:cNvGrpSpPr>
          <p:nvPr/>
        </p:nvGrpSpPr>
        <p:grpSpPr bwMode="auto">
          <a:xfrm>
            <a:off x="3940339" y="3356603"/>
            <a:ext cx="1973346" cy="548553"/>
            <a:chOff x="-26" y="-12"/>
            <a:chExt cx="302" cy="128"/>
          </a:xfrm>
        </p:grpSpPr>
        <p:sp>
          <p:nvSpPr>
            <p:cNvPr id="72" name="Text Box 219"/>
            <p:cNvSpPr txBox="1">
              <a:spLocks noChangeArrowheads="1"/>
            </p:cNvSpPr>
            <p:nvPr/>
          </p:nvSpPr>
          <p:spPr bwMode="auto">
            <a:xfrm>
              <a:off x="-26" y="73"/>
              <a:ext cx="161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412V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 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5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6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7" name="Text Box 224"/>
            <p:cNvSpPr txBox="1">
              <a:spLocks noChangeArrowheads="1"/>
            </p:cNvSpPr>
            <p:nvPr/>
          </p:nvSpPr>
          <p:spPr bwMode="auto">
            <a:xfrm>
              <a:off x="157" y="-10"/>
              <a:ext cx="119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432V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8" name="Text Box 225"/>
            <p:cNvSpPr txBox="1">
              <a:spLocks noChangeArrowheads="1"/>
            </p:cNvSpPr>
            <p:nvPr/>
          </p:nvSpPr>
          <p:spPr bwMode="auto">
            <a:xfrm>
              <a:off x="185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9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103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0" name="Group 218"/>
          <p:cNvGrpSpPr>
            <a:grpSpLocks/>
          </p:cNvGrpSpPr>
          <p:nvPr/>
        </p:nvGrpSpPr>
        <p:grpSpPr bwMode="auto">
          <a:xfrm>
            <a:off x="4121876" y="4730993"/>
            <a:ext cx="1892488" cy="1178313"/>
            <a:chOff x="-2" y="-14"/>
            <a:chExt cx="295" cy="296"/>
          </a:xfrm>
        </p:grpSpPr>
        <p:sp>
          <p:nvSpPr>
            <p:cNvPr id="81" name="Text Box 219"/>
            <p:cNvSpPr txBox="1">
              <a:spLocks noChangeArrowheads="1"/>
            </p:cNvSpPr>
            <p:nvPr/>
          </p:nvSpPr>
          <p:spPr bwMode="auto">
            <a:xfrm>
              <a:off x="32" y="104"/>
              <a:ext cx="124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2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3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4" name="Line 222"/>
            <p:cNvSpPr>
              <a:spLocks noChangeShapeType="1"/>
            </p:cNvSpPr>
            <p:nvPr/>
          </p:nvSpPr>
          <p:spPr bwMode="auto">
            <a:xfrm flipH="1">
              <a:off x="1" y="209"/>
              <a:ext cx="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5" name="Line 223"/>
            <p:cNvSpPr>
              <a:spLocks noChangeShapeType="1"/>
            </p:cNvSpPr>
            <p:nvPr/>
          </p:nvSpPr>
          <p:spPr bwMode="auto">
            <a:xfrm>
              <a:off x="81" y="208"/>
              <a:ext cx="89" cy="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6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50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7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8" name="Text Box 226"/>
            <p:cNvSpPr txBox="1">
              <a:spLocks noChangeArrowheads="1"/>
            </p:cNvSpPr>
            <p:nvPr/>
          </p:nvSpPr>
          <p:spPr bwMode="auto">
            <a:xfrm>
              <a:off x="-2" y="-14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9" name="그룹 77"/>
          <p:cNvGrpSpPr>
            <a:grpSpLocks/>
          </p:cNvGrpSpPr>
          <p:nvPr/>
        </p:nvGrpSpPr>
        <p:grpSpPr bwMode="auto">
          <a:xfrm>
            <a:off x="4072681" y="4067183"/>
            <a:ext cx="1846174" cy="550905"/>
            <a:chOff x="4360965" y="4193869"/>
            <a:chExt cx="1901127" cy="549680"/>
          </a:xfrm>
        </p:grpSpPr>
        <p:grpSp>
          <p:nvGrpSpPr>
            <p:cNvPr id="90" name="그룹 75"/>
            <p:cNvGrpSpPr>
              <a:grpSpLocks/>
            </p:cNvGrpSpPr>
            <p:nvPr/>
          </p:nvGrpSpPr>
          <p:grpSpPr bwMode="auto">
            <a:xfrm>
              <a:off x="4360965" y="4193869"/>
              <a:ext cx="1901127" cy="549680"/>
              <a:chOff x="4360965" y="4173511"/>
              <a:chExt cx="1901127" cy="549680"/>
            </a:xfrm>
          </p:grpSpPr>
          <p:grpSp>
            <p:nvGrpSpPr>
              <p:cNvPr id="92" name="Group 218"/>
              <p:cNvGrpSpPr>
                <a:grpSpLocks/>
              </p:cNvGrpSpPr>
              <p:nvPr/>
            </p:nvGrpSpPr>
            <p:grpSpPr bwMode="auto">
              <a:xfrm>
                <a:off x="4360965" y="4173511"/>
                <a:ext cx="1901127" cy="549680"/>
                <a:chOff x="-7" y="-19"/>
                <a:chExt cx="282" cy="135"/>
              </a:xfrm>
            </p:grpSpPr>
            <p:sp>
              <p:nvSpPr>
                <p:cNvPr id="95" name="Line 220"/>
                <p:cNvSpPr>
                  <a:spLocks noChangeShapeType="1"/>
                </p:cNvSpPr>
                <p:nvPr/>
              </p:nvSpPr>
              <p:spPr bwMode="auto">
                <a:xfrm>
                  <a:off x="85" y="116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6" name="Line 222"/>
                <p:cNvSpPr>
                  <a:spLocks noChangeShapeType="1"/>
                </p:cNvSpPr>
                <p:nvPr/>
              </p:nvSpPr>
              <p:spPr bwMode="auto">
                <a:xfrm flipH="1">
                  <a:off x="0" y="34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7" name="Line 223"/>
                <p:cNvSpPr>
                  <a:spLocks noChangeShapeType="1"/>
                </p:cNvSpPr>
                <p:nvPr/>
              </p:nvSpPr>
              <p:spPr bwMode="auto">
                <a:xfrm>
                  <a:off x="171" y="34"/>
                  <a:ext cx="0" cy="7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8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155" y="-15"/>
                  <a:ext cx="120" cy="5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smtClean="0">
                      <a:solidFill>
                        <a:srgbClr val="0070C0"/>
                      </a:solidFill>
                      <a:latin typeface="돋움" pitchFamily="50" charset="-127"/>
                      <a:ea typeface="돋움" pitchFamily="50" charset="-127"/>
                    </a:rPr>
                    <a:t>14A (</a:t>
                  </a:r>
                  <a:r>
                    <a:rPr lang="en-US" altLang="ko-KR" sz="800" smtClean="0">
                      <a:solidFill>
                        <a:schemeClr val="tx1"/>
                      </a:solidFill>
                      <a:ea typeface="굴림" charset="-127"/>
                      <a:cs typeface="Arial" charset="0"/>
                    </a:rPr>
                    <a:t>TBD)</a:t>
                  </a:r>
                  <a:endParaRPr lang="en-US" altLang="ko-KR" sz="80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99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84" y="60"/>
                  <a:ext cx="83" cy="3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dirty="0">
                      <a:solidFill>
                        <a:srgbClr val="FF0000"/>
                      </a:solidFill>
                      <a:latin typeface="돋움" pitchFamily="50" charset="-127"/>
                      <a:ea typeface="돋움" pitchFamily="50" charset="-127"/>
                    </a:rPr>
                    <a:t>STOP</a:t>
                  </a:r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100" name="Text Box 226"/>
                <p:cNvSpPr txBox="1">
                  <a:spLocks noChangeArrowheads="1"/>
                </p:cNvSpPr>
                <p:nvPr/>
              </p:nvSpPr>
              <p:spPr bwMode="auto">
                <a:xfrm>
                  <a:off x="-7" y="-19"/>
                  <a:ext cx="75" cy="6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>
                      <a:solidFill>
                        <a:srgbClr val="3366FF"/>
                      </a:solidFill>
                      <a:latin typeface="돋움" pitchFamily="50" charset="-127"/>
                      <a:ea typeface="돋움" pitchFamily="50" charset="-127"/>
                    </a:rPr>
                    <a:t>RUN</a:t>
                  </a:r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</p:grpSp>
          <p:sp>
            <p:nvSpPr>
              <p:cNvPr id="93" name="왼쪽 화살표 74"/>
              <p:cNvSpPr>
                <a:spLocks noChangeArrowheads="1"/>
              </p:cNvSpPr>
              <p:nvPr/>
            </p:nvSpPr>
            <p:spPr bwMode="auto">
              <a:xfrm>
                <a:off x="5047993" y="4312019"/>
                <a:ext cx="144016" cy="144016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kumimoji="0" lang="ko-KR" altLang="en-US" b="1" i="0">
                  <a:latin typeface="Times New Roman" pitchFamily="18" charset="0"/>
                </a:endParaRPr>
              </a:p>
            </p:txBody>
          </p:sp>
        </p:grpSp>
        <p:sp>
          <p:nvSpPr>
            <p:cNvPr id="91" name="Line 221"/>
            <p:cNvSpPr>
              <a:spLocks noChangeShapeType="1"/>
            </p:cNvSpPr>
            <p:nvPr/>
          </p:nvSpPr>
          <p:spPr bwMode="auto">
            <a:xfrm flipV="1">
              <a:off x="4991348" y="4449812"/>
              <a:ext cx="0" cy="28803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</p:grpSp>
      <p:grpSp>
        <p:nvGrpSpPr>
          <p:cNvPr id="101" name="Group 227"/>
          <p:cNvGrpSpPr>
            <a:grpSpLocks/>
          </p:cNvGrpSpPr>
          <p:nvPr/>
        </p:nvGrpSpPr>
        <p:grpSpPr bwMode="auto">
          <a:xfrm>
            <a:off x="4089996" y="1077695"/>
            <a:ext cx="2138753" cy="606873"/>
            <a:chOff x="-3" y="-8"/>
            <a:chExt cx="309" cy="120"/>
          </a:xfrm>
        </p:grpSpPr>
        <p:sp>
          <p:nvSpPr>
            <p:cNvPr id="102" name="Line 228"/>
            <p:cNvSpPr>
              <a:spLocks noChangeShapeType="1"/>
            </p:cNvSpPr>
            <p:nvPr/>
          </p:nvSpPr>
          <p:spPr bwMode="auto">
            <a:xfrm>
              <a:off x="0" y="105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3" name="Line 229"/>
            <p:cNvSpPr>
              <a:spLocks noChangeShapeType="1"/>
            </p:cNvSpPr>
            <p:nvPr/>
          </p:nvSpPr>
          <p:spPr bwMode="auto">
            <a:xfrm flipV="1">
              <a:off x="170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4" name="Line 230"/>
            <p:cNvSpPr>
              <a:spLocks noChangeShapeType="1"/>
            </p:cNvSpPr>
            <p:nvPr/>
          </p:nvSpPr>
          <p:spPr bwMode="auto">
            <a:xfrm flipH="1">
              <a:off x="79" y="30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5" name="Line 231"/>
            <p:cNvSpPr>
              <a:spLocks noChangeShapeType="1"/>
            </p:cNvSpPr>
            <p:nvPr/>
          </p:nvSpPr>
          <p:spPr bwMode="auto">
            <a:xfrm>
              <a:off x="79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6" name="Text Box 232"/>
            <p:cNvSpPr txBox="1">
              <a:spLocks noChangeArrowheads="1"/>
            </p:cNvSpPr>
            <p:nvPr/>
          </p:nvSpPr>
          <p:spPr bwMode="auto">
            <a:xfrm>
              <a:off x="162" y="70"/>
              <a:ext cx="144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7" name="Text Box 233"/>
            <p:cNvSpPr txBox="1">
              <a:spLocks noChangeArrowheads="1"/>
            </p:cNvSpPr>
            <p:nvPr/>
          </p:nvSpPr>
          <p:spPr bwMode="auto">
            <a:xfrm>
              <a:off x="13" y="-7"/>
              <a:ext cx="121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algn="ctr"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8V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8" name="Text Box 234"/>
            <p:cNvSpPr txBox="1">
              <a:spLocks noChangeArrowheads="1"/>
            </p:cNvSpPr>
            <p:nvPr/>
          </p:nvSpPr>
          <p:spPr bwMode="auto">
            <a:xfrm>
              <a:off x="-3" y="64"/>
              <a:ext cx="80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9" name="Text Box 235"/>
            <p:cNvSpPr txBox="1">
              <a:spLocks noChangeArrowheads="1"/>
            </p:cNvSpPr>
            <p:nvPr/>
          </p:nvSpPr>
          <p:spPr bwMode="auto">
            <a:xfrm>
              <a:off x="173" y="-8"/>
              <a:ext cx="74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10" name="Text Box 121"/>
          <p:cNvSpPr txBox="1">
            <a:spLocks/>
          </p:cNvSpPr>
          <p:nvPr/>
        </p:nvSpPr>
        <p:spPr>
          <a:xfrm>
            <a:off x="3891109" y="4294858"/>
            <a:ext cx="844062" cy="2170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0000" tIns="46800" rIns="90000" bIns="4680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1" hangingPunct="1">
              <a:buFontTx/>
              <a:buNone/>
            </a:pPr>
            <a:r>
              <a:rPr lang="en-US" altLang="ko-KR" sz="9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after 10sec</a:t>
            </a:r>
            <a:endParaRPr lang="ko-KR" altLang="en-US" sz="900" b="1" dirty="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11" name="Group 218"/>
          <p:cNvGrpSpPr>
            <a:grpSpLocks/>
          </p:cNvGrpSpPr>
          <p:nvPr/>
        </p:nvGrpSpPr>
        <p:grpSpPr bwMode="auto">
          <a:xfrm>
            <a:off x="4124889" y="5419182"/>
            <a:ext cx="1789844" cy="676734"/>
            <a:chOff x="-2" y="-16"/>
            <a:chExt cx="279" cy="170"/>
          </a:xfrm>
        </p:grpSpPr>
        <p:sp>
          <p:nvSpPr>
            <p:cNvPr id="112" name="Text Box 219"/>
            <p:cNvSpPr txBox="1">
              <a:spLocks noChangeArrowheads="1"/>
            </p:cNvSpPr>
            <p:nvPr/>
          </p:nvSpPr>
          <p:spPr bwMode="auto">
            <a:xfrm>
              <a:off x="10" y="104"/>
              <a:ext cx="137" cy="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</a:t>
              </a:r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 </a:t>
              </a:r>
              <a:r>
                <a:rPr lang="en-US" altLang="ko-KR" sz="800" smtClean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7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34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r>
                <a:rPr lang="en-US" altLang="ko-KR" sz="800" dirty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 dirty="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8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9" name="Text Box 226"/>
            <p:cNvSpPr txBox="1">
              <a:spLocks noChangeArrowheads="1"/>
            </p:cNvSpPr>
            <p:nvPr/>
          </p:nvSpPr>
          <p:spPr bwMode="auto">
            <a:xfrm>
              <a:off x="-2" y="-16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22" name="Line 222"/>
          <p:cNvSpPr>
            <a:spLocks noChangeShapeType="1"/>
          </p:cNvSpPr>
          <p:nvPr/>
        </p:nvSpPr>
        <p:spPr bwMode="auto">
          <a:xfrm flipH="1">
            <a:off x="4105362" y="4897319"/>
            <a:ext cx="111735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23" name="Line 223"/>
          <p:cNvSpPr>
            <a:spLocks noChangeShapeType="1"/>
          </p:cNvSpPr>
          <p:nvPr/>
        </p:nvSpPr>
        <p:spPr bwMode="auto">
          <a:xfrm>
            <a:off x="5222720" y="4897319"/>
            <a:ext cx="0" cy="32570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15" name="Text Box 192"/>
          <p:cNvSpPr txBox="1">
            <a:spLocks noChangeArrowheads="1"/>
          </p:cNvSpPr>
          <p:nvPr/>
        </p:nvSpPr>
        <p:spPr bwMode="auto">
          <a:xfrm>
            <a:off x="107504" y="21859"/>
            <a:ext cx="6444208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保護機能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Box 192"/>
          <p:cNvSpPr txBox="1">
            <a:spLocks noChangeArrowheads="1"/>
          </p:cNvSpPr>
          <p:nvPr/>
        </p:nvSpPr>
        <p:spPr bwMode="auto">
          <a:xfrm>
            <a:off x="107504" y="21859"/>
            <a:ext cx="6444208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通信情報 </a:t>
            </a:r>
            <a:r>
              <a:rPr lang="en-US" altLang="ko-KR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(1/3)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Text 2"/>
          <p:cNvSpPr/>
          <p:nvPr/>
        </p:nvSpPr>
        <p:spPr>
          <a:xfrm>
            <a:off x="295995" y="609994"/>
            <a:ext cx="8768033" cy="950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Frame Configuration</a:t>
            </a:r>
            <a:endParaRPr lang="en-US" sz="2200" dirty="0"/>
          </a:p>
        </p:txBody>
      </p:sp>
      <p:sp>
        <p:nvSpPr>
          <p:cNvPr id="4" name="Text 3"/>
          <p:cNvSpPr/>
          <p:nvPr/>
        </p:nvSpPr>
        <p:spPr>
          <a:xfrm>
            <a:off x="295994" y="1178005"/>
            <a:ext cx="8768033" cy="60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フレーム定義およびスケジュール表</a:t>
            </a:r>
            <a:endParaRPr lang="ja-JP" altLang="en-US" sz="12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320356"/>
              </p:ext>
            </p:extLst>
          </p:nvPr>
        </p:nvGraphicFramePr>
        <p:xfrm>
          <a:off x="295993" y="1658500"/>
          <a:ext cx="8280920" cy="1970139"/>
        </p:xfrm>
        <a:graphic>
          <a:graphicData uri="http://schemas.openxmlformats.org/drawingml/2006/table">
            <a:tbl>
              <a:tblPr/>
              <a:tblGrid>
                <a:gridCol w="272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2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42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67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7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CLIM_LINCLIM4_A_06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0x3B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EVC → HVH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bytes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7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PTCcabin_LINCLIM4_A_01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→ EVC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bytes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326624" y="3622430"/>
            <a:ext cx="8768033" cy="60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2.0 Protocol  |  Baud Rate: 19200 bps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71" y="4221088"/>
            <a:ext cx="8768033" cy="691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コミュニケーションの方向性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552" y="4437463"/>
            <a:ext cx="8280920" cy="1728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EVC → HVH (ID 0x3B): </a:t>
            </a: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車両コントローラが</a:t>
            </a:r>
            <a:r>
              <a:rPr lang="en-US" altLang="ja-JP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</a:t>
            </a: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ヒーターに目標出力指令を送信する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HVH → EVC (ID 0x24): </a:t>
            </a:r>
            <a:r>
              <a:rPr lang="en-US" altLang="ja-JP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</a:t>
            </a: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ヒーターは、動作状態と故障フラグを車両コントローラーに報告する</a:t>
            </a:r>
            <a:endParaRPr lang="ja-JP" altLang="en-US" sz="12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444614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Box 192"/>
          <p:cNvSpPr txBox="1">
            <a:spLocks noChangeArrowheads="1"/>
          </p:cNvSpPr>
          <p:nvPr/>
        </p:nvSpPr>
        <p:spPr bwMode="auto">
          <a:xfrm>
            <a:off x="107504" y="21859"/>
            <a:ext cx="6444208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通信情報 </a:t>
            </a:r>
            <a:r>
              <a:rPr lang="en-US" altLang="ko-KR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(2/3)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308669" y="620688"/>
            <a:ext cx="8640960" cy="92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0x3B — CLIM_LINCLIM4_A_06  (EVC → HVH)</a:t>
            </a:r>
            <a:endParaRPr lang="en-US" sz="2200" dirty="0"/>
          </a:p>
        </p:txBody>
      </p:sp>
      <p:sp>
        <p:nvSpPr>
          <p:cNvPr id="120" name="Text 3"/>
          <p:cNvSpPr/>
          <p:nvPr/>
        </p:nvSpPr>
        <p:spPr>
          <a:xfrm>
            <a:off x="308669" y="1088623"/>
            <a:ext cx="8640960" cy="588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コマンドフレーム：車両コントローラ </a:t>
            </a:r>
            <a:r>
              <a:rPr lang="en-US" altLang="ja-JP" sz="12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</a:t>
            </a:r>
            <a:r>
              <a:rPr lang="ja-JP" altLang="en-US" sz="12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ja-JP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</a:t>
            </a: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ヒーター</a:t>
            </a:r>
            <a:endParaRPr lang="en-US" sz="120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671944"/>
              </p:ext>
            </p:extLst>
          </p:nvPr>
        </p:nvGraphicFramePr>
        <p:xfrm>
          <a:off x="308668" y="1545824"/>
          <a:ext cx="8343786" cy="2508880"/>
        </p:xfrm>
        <a:graphic>
          <a:graphicData uri="http://schemas.openxmlformats.org/drawingml/2006/table">
            <a:tbl>
              <a:tblPr/>
              <a:tblGrid>
                <a:gridCol w="508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0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63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63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PTC Output Power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0~7000W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E=N×50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2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4" name="Text 4"/>
          <p:cNvSpPr/>
          <p:nvPr/>
        </p:nvSpPr>
        <p:spPr>
          <a:xfrm>
            <a:off x="308669" y="3896676"/>
            <a:ext cx="8640960" cy="50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0~1: Reserved  |  Byte 5~7: Not used</a:t>
            </a:r>
            <a:endParaRPr lang="en-US" sz="1000" dirty="0"/>
          </a:p>
        </p:txBody>
      </p:sp>
      <p:sp>
        <p:nvSpPr>
          <p:cNvPr id="125" name="Shape 5"/>
          <p:cNvSpPr/>
          <p:nvPr/>
        </p:nvSpPr>
        <p:spPr>
          <a:xfrm>
            <a:off x="251520" y="4351461"/>
            <a:ext cx="8640960" cy="19967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6" name="Text 6"/>
          <p:cNvSpPr/>
          <p:nvPr/>
        </p:nvSpPr>
        <p:spPr>
          <a:xfrm>
            <a:off x="491547" y="4295113"/>
            <a:ext cx="8160907" cy="588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</a:t>
            </a:r>
            <a:r>
              <a:rPr lang="ja-JP" alt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r>
              <a:rPr lang="ko-KR" alt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説明</a:t>
            </a:r>
            <a:endParaRPr lang="ko-KR" altLang="en-US" sz="130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491547" y="4501476"/>
            <a:ext cx="8160907" cy="151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</a:t>
            </a:r>
            <a:r>
              <a:rPr lang="en-US" altLang="zh-TW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</a:t>
            </a:r>
            <a:r>
              <a:rPr lang="zh-TW" alt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出力電力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ko-KR" alt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物理値 </a:t>
            </a:r>
            <a:r>
              <a:rPr lang="en-US" altLang="ko-KR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ko-KR" alt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生値 </a:t>
            </a:r>
            <a:r>
              <a:rPr lang="en-US" altLang="ko-KR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50  [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W]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ko-KR" alt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動作範囲：</a:t>
            </a:r>
            <a:r>
              <a:rPr lang="en-US" altLang="ko-KR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r>
              <a:rPr lang="ko-KR" alt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 </a:t>
            </a:r>
            <a:r>
              <a:rPr lang="en-US" altLang="ko-KR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ko-KR" alt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解像度：</a:t>
            </a:r>
            <a:r>
              <a:rPr lang="en-US" altLang="ko-KR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W/</a:t>
            </a:r>
            <a:r>
              <a:rPr lang="ja-JP" alt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ビット</a:t>
            </a:r>
          </a:p>
        </p:txBody>
      </p:sp>
    </p:spTree>
    <p:extLst>
      <p:ext uri="{BB962C8B-B14F-4D97-AF65-F5344CB8AC3E}">
        <p14:creationId xmlns:p14="http://schemas.microsoft.com/office/powerpoint/2010/main" val="243166706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92"/>
          <p:cNvSpPr txBox="1">
            <a:spLocks noChangeArrowheads="1"/>
          </p:cNvSpPr>
          <p:nvPr/>
        </p:nvSpPr>
        <p:spPr bwMode="auto">
          <a:xfrm>
            <a:off x="107504" y="21859"/>
            <a:ext cx="6444208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通信情報 </a:t>
            </a:r>
            <a:r>
              <a:rPr lang="en-US" altLang="ko-KR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(3/3)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2840" y="7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0x24 — PTCcabin_LINCLIM4_A_01  (HVH → EVC)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02840" y="125960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ステータスフレーム：</a:t>
            </a:r>
            <a:r>
              <a:rPr lang="en-US" altLang="ja-JP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PTC</a:t>
            </a: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ヒーター </a:t>
            </a:r>
            <a:r>
              <a:rPr lang="en-US" altLang="ja-JP" sz="12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</a:t>
            </a:r>
            <a:r>
              <a:rPr lang="ja-JP" altLang="en-US" sz="1200" dirty="0" smtClean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ja-JP" alt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車両コントローラ</a:t>
            </a:r>
            <a:endParaRPr lang="ja-JP" altLang="en-US" sz="12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253069"/>
              </p:ext>
            </p:extLst>
          </p:nvPr>
        </p:nvGraphicFramePr>
        <p:xfrm>
          <a:off x="302840" y="1628800"/>
          <a:ext cx="8340472" cy="4194704"/>
        </p:xfrm>
        <a:graphic>
          <a:graphicData uri="http://schemas.openxmlformats.org/drawingml/2006/table">
            <a:tbl>
              <a:tblPr/>
              <a:tblGrid>
                <a:gridCol w="457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1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2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Electronic Parts 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$0=No / $1=Fail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Power Over Limit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$0=No / $1=Over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PCB Temp 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$0=Normal / $1=Error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Hi/Lo Voltage 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$0=Normal / $1=Error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Circuit1 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$0=Normal / $1=Fail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Circuit2 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$0=Normal / $1=Fail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6~7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Current Consumption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0~50A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E=N×0.2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HVH LIN Response 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$0=No / $1=Error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1~3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HVH Power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0~12000W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E=N×50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164469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191431"/>
              </p:ext>
            </p:extLst>
          </p:nvPr>
        </p:nvGraphicFramePr>
        <p:xfrm>
          <a:off x="314449" y="1052736"/>
          <a:ext cx="8721970" cy="5178883"/>
        </p:xfrm>
        <a:graphic>
          <a:graphicData uri="http://schemas.openxmlformats.org/drawingml/2006/table">
            <a:tbl>
              <a:tblPr/>
              <a:tblGrid>
                <a:gridCol w="570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5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No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Function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Remark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Power Control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- </a:t>
                      </a:r>
                      <a:r>
                        <a:rPr lang="ja-JP" altLang="en-US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パルス幅変調（</a:t>
                      </a:r>
                      <a:r>
                        <a:rPr lang="en-US" altLang="ja-JP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6Hz</a:t>
                      </a:r>
                      <a:r>
                        <a:rPr lang="ja-JP" altLang="en-US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- </a:t>
                      </a:r>
                      <a:r>
                        <a:rPr kumimoji="0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周期を一定に保ちながら、</a:t>
                      </a:r>
                      <a:r>
                        <a:rPr kumimoji="0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ON </a:t>
                      </a:r>
                      <a:r>
                        <a:rPr kumimoji="0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時間（パルス幅、デューティ比）を調整する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38134"/>
                  </a:ext>
                </a:extLst>
              </a:tr>
              <a:tr h="7406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Consumption 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Power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Control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電力モード：指令ワット値に応じたリニア電力制御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zh-TW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最大安定電流制御</a:t>
                      </a:r>
                      <a:endParaRPr kumimoji="1" lang="en-US" altLang="zh-TW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zh-TW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最大突入電流制御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Communication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LIN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通信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2.0 </a:t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~ 2.2 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1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Monitoring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LV / HV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電圧監視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HV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電流監視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zh-TW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消費電力監視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PCB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およびコア温度センサーによる温度監視</a:t>
                      </a:r>
                      <a:endParaRPr kumimoji="1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LIN </a:t>
                      </a: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仕様データリスト内で定義する必要あり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2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Protection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Function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LV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電圧異常（低電圧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過電圧）フォルト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HV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低電圧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過電圧フォルト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HV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過電流フォルト</a:t>
                      </a:r>
                      <a:endParaRPr kumimoji="1" lang="en-US" altLang="ja-JP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PCB 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過温度フォルト</a:t>
                      </a:r>
                      <a:endParaRPr kumimoji="1" lang="en-US" altLang="ja-JP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温度センサー（コア部）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過温度フォルト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通信エラーフォルト制御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次のページを参照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6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Failure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Detection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センサー故障（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HV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、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HV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電流、温度センサー）</a:t>
                      </a:r>
                      <a:endParaRPr kumimoji="1" lang="en-US" altLang="ja-JP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IGBT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ショート故障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次のページを参照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14449" y="38091"/>
            <a:ext cx="821799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ja-JP" altLang="en-US" sz="25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製品仕様</a:t>
            </a:r>
            <a:endParaRPr lang="en-US" altLang="ko-KR" sz="2500" b="1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3D199B3-443A-43BA-AE5F-2F514731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48680"/>
            <a:ext cx="784887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defTabSz="685817">
              <a:spcBef>
                <a:spcPct val="50000"/>
              </a:spcBef>
              <a:defRPr/>
            </a:pPr>
            <a:r>
              <a:rPr lang="ko-KR" altLang="en-US" sz="1800" b="1" dirty="0" smtClean="0">
                <a:solidFill>
                  <a:schemeClr val="tx2"/>
                </a:solidFill>
                <a:latin typeface="Meiryo UI" panose="020B0604030504040204" pitchFamily="34" charset="-128"/>
                <a:ea typeface="맑은 고딕" panose="020B0503020000020004" pitchFamily="50" charset="-127"/>
                <a:cs typeface="Tahoma" panose="020B0604030504040204" pitchFamily="34" charset="0"/>
              </a:rPr>
              <a:t>■ </a:t>
            </a:r>
            <a:r>
              <a:rPr lang="ja-JP" altLang="en-US" sz="18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製品仕様レビュー：主要機能の紹介</a:t>
            </a:r>
            <a:endParaRPr lang="ko-KR" altLang="en-US" sz="1800" b="1" dirty="0">
              <a:solidFill>
                <a:schemeClr val="tx2"/>
              </a:solidFill>
              <a:latin typeface="Meiryo UI" panose="020B0604030504040204" pitchFamily="34" charset="-128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711592"/>
      </p:ext>
    </p:extLst>
  </p:cSld>
  <p:clrMapOvr>
    <a:masterClrMapping/>
  </p:clrMapOvr>
  <p:transition>
    <p:blinds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497" y="2276872"/>
            <a:ext cx="9503847" cy="3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0" smtClean="0">
                <a:solidFill>
                  <a:schemeClr val="tx1"/>
                </a:solidFill>
                <a:latin typeface="+mn-ea"/>
                <a:ea typeface="+mn-ea"/>
              </a:rPr>
              <a:t>◎ </a:t>
            </a:r>
            <a:r>
              <a:rPr lang="en-US" altLang="ko-KR" sz="1200" i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Failure List</a:t>
            </a:r>
            <a:endParaRPr lang="en-US" altLang="ko-KR" sz="1200" i="0" dirty="0" smtClean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0662" y="4681651"/>
            <a:ext cx="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22643"/>
              </p:ext>
            </p:extLst>
          </p:nvPr>
        </p:nvGraphicFramePr>
        <p:xfrm>
          <a:off x="276963" y="2646204"/>
          <a:ext cx="874855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22">
                  <a:extLst>
                    <a:ext uri="{9D8B030D-6E8A-4147-A177-3AD203B41FA5}">
                      <a16:colId xmlns:a16="http://schemas.microsoft.com/office/drawing/2014/main" val="3801015202"/>
                    </a:ext>
                  </a:extLst>
                </a:gridCol>
                <a:gridCol w="4733767">
                  <a:extLst>
                    <a:ext uri="{9D8B030D-6E8A-4147-A177-3AD203B41FA5}">
                      <a16:colId xmlns:a16="http://schemas.microsoft.com/office/drawing/2014/main" val="758087031"/>
                    </a:ext>
                  </a:extLst>
                </a:gridCol>
                <a:gridCol w="1014762">
                  <a:extLst>
                    <a:ext uri="{9D8B030D-6E8A-4147-A177-3AD203B41FA5}">
                      <a16:colId xmlns:a16="http://schemas.microsoft.com/office/drawing/2014/main" val="74142611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ITEM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DETAIL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92316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CoreTempSensor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コア温度センサー故障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03873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HighVoltSensor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高電圧センサー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9285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LowVoltSensor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低電圧センサー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0185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PcbTempSensor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PCB </a:t>
                      </a: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温度センサー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85046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IGBT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各ゾーンの </a:t>
                      </a:r>
                      <a:r>
                        <a:rPr lang="en-US" altLang="ja-JP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IGBT </a:t>
                      </a: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0492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OverCurrent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過電流故障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2294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HVHigh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高電圧側の過電圧故障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74931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HVLow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高電圧側の低電圧故障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54153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LVHigh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低電圧側の過電圧故障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92686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LVLow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低電圧側の低電圧故障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2285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PcbOverTemp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PCB </a:t>
                      </a:r>
                      <a:r>
                        <a:rPr lang="zh-TW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温度過昇故障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18836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CoreOverTemp</a:t>
                      </a:r>
                      <a:endParaRPr lang="ko-KR" altLang="en-US" sz="9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コア温度過昇故障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97718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LIN Communication 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Timeout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ja-JP" sz="900" baseline="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LIN </a:t>
                      </a:r>
                      <a:r>
                        <a:rPr lang="ja-JP" altLang="en-US" sz="900" baseline="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通信タイムアウト故障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615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InterLock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インターロック未挿入故障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46943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496" y="620688"/>
            <a:ext cx="9503847" cy="3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0" smtClean="0">
                <a:solidFill>
                  <a:schemeClr val="tx1"/>
                </a:solidFill>
                <a:latin typeface="+mn-ea"/>
                <a:ea typeface="+mn-ea"/>
              </a:rPr>
              <a:t>◎ </a:t>
            </a:r>
            <a:r>
              <a:rPr lang="en-US" altLang="ko-KR" sz="1200" i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OPERATION FeedBack List</a:t>
            </a:r>
            <a:endParaRPr lang="en-US" altLang="ko-KR" sz="1200" i="0" dirty="0" smtClean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833877"/>
              </p:ext>
            </p:extLst>
          </p:nvPr>
        </p:nvGraphicFramePr>
        <p:xfrm>
          <a:off x="276962" y="989856"/>
          <a:ext cx="874855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22">
                  <a:extLst>
                    <a:ext uri="{9D8B030D-6E8A-4147-A177-3AD203B41FA5}">
                      <a16:colId xmlns:a16="http://schemas.microsoft.com/office/drawing/2014/main" val="3801015202"/>
                    </a:ext>
                  </a:extLst>
                </a:gridCol>
                <a:gridCol w="4733767">
                  <a:extLst>
                    <a:ext uri="{9D8B030D-6E8A-4147-A177-3AD203B41FA5}">
                      <a16:colId xmlns:a16="http://schemas.microsoft.com/office/drawing/2014/main" val="758087031"/>
                    </a:ext>
                  </a:extLst>
                </a:gridCol>
                <a:gridCol w="1014762">
                  <a:extLst>
                    <a:ext uri="{9D8B030D-6E8A-4147-A177-3AD203B41FA5}">
                      <a16:colId xmlns:a16="http://schemas.microsoft.com/office/drawing/2014/main" val="74142611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ITEM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DETAIL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92316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IGBT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Operating Frequency Duty (%)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ja-JP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IGBT </a:t>
                      </a: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に適用される現在の周波数フィードバック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03873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Power (%)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現在の出力（パーセンテージ）フィードバック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671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Power (W)</a:t>
                      </a:r>
                      <a:endParaRPr lang="ko-KR" altLang="en-US" sz="90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現在の出力フィードバック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59904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Current (A)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現在の電流フィードバック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92852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14449" y="38091"/>
            <a:ext cx="821799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en-US" altLang="ja-JP" sz="25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LIN </a:t>
            </a:r>
            <a:r>
              <a:rPr lang="ja-JP" altLang="en-US" sz="25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通信リスト</a:t>
            </a:r>
            <a:endParaRPr lang="en-US" altLang="ko-KR" sz="2500" b="1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43684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표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465642"/>
              </p:ext>
            </p:extLst>
          </p:nvPr>
        </p:nvGraphicFramePr>
        <p:xfrm>
          <a:off x="251520" y="764704"/>
          <a:ext cx="8496944" cy="2898742"/>
        </p:xfrm>
        <a:graphic>
          <a:graphicData uri="http://schemas.openxmlformats.org/drawingml/2006/table">
            <a:tbl>
              <a:tblPr/>
              <a:tblGrid>
                <a:gridCol w="1189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ISO 26262 Status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- ASIL B achieved in another project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0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Question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839663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1</a:t>
                      </a: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ISO-21434 (Cyber Security)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 - Cyber Security is applied (Y/N)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545568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2</a:t>
                      </a: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A-SPICE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- A-SPICE is applied (Y/N)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87050"/>
                  </a:ext>
                </a:extLst>
              </a:tr>
            </a:tbl>
          </a:graphicData>
        </a:graphic>
      </p:graphicFrame>
      <p:sp>
        <p:nvSpPr>
          <p:cNvPr id="11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その他の情報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424815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15AA159CC1C344EADF7389267D7D29E" ma:contentTypeVersion="10" ma:contentTypeDescription="새 문서를 만듭니다." ma:contentTypeScope="" ma:versionID="3f1b2834aa93152c4a8f539392146c93">
  <xsd:schema xmlns:xsd="http://www.w3.org/2001/XMLSchema" xmlns:xs="http://www.w3.org/2001/XMLSchema" xmlns:p="http://schemas.microsoft.com/office/2006/metadata/properties" xmlns:ns2="e96725e2-83fe-4ac5-80d3-97d0078319b0" targetNamespace="http://schemas.microsoft.com/office/2006/metadata/properties" ma:root="true" ma:fieldsID="02a9e22d4a5823363a3d12e4db760e32" ns2:_="">
    <xsd:import namespace="e96725e2-83fe-4ac5-80d3-97d007831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725e2-83fe-4ac5-80d3-97d0078319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823F51-1E8B-41B0-B12E-E186174997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6725e2-83fe-4ac5-80d3-97d007831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9262A9-4E72-4C02-951D-EFFC86D157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5D4C76-0AFE-44BD-A36C-4AE64ACB4F2C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e96725e2-83fe-4ac5-80d3-97d0078319b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20261</TotalTime>
  <Words>2630</Words>
  <Application>Microsoft Office PowerPoint</Application>
  <PresentationFormat>화면 슬라이드 쇼(4:3)</PresentationFormat>
  <Paragraphs>808</Paragraphs>
  <Slides>20</Slides>
  <Notes>14</Notes>
  <HiddenSlides>0</HiddenSlides>
  <MMClips>0</MMClips>
  <ScaleCrop>false</ScaleCrop>
  <HeadingPairs>
    <vt:vector size="8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2</vt:i4>
      </vt:variant>
      <vt:variant>
        <vt:lpstr>연결</vt:lpstr>
      </vt:variant>
      <vt:variant>
        <vt:i4>18</vt:i4>
      </vt:variant>
      <vt:variant>
        <vt:lpstr>슬라이드 제목</vt:lpstr>
      </vt:variant>
      <vt:variant>
        <vt:i4>20</vt:i4>
      </vt:variant>
    </vt:vector>
  </HeadingPairs>
  <TitlesOfParts>
    <vt:vector size="57" baseType="lpstr">
      <vt:lpstr>HY헤드라인M</vt:lpstr>
      <vt:lpstr>Meiryo</vt:lpstr>
      <vt:lpstr>Meiryo UI</vt:lpstr>
      <vt:lpstr>宋体</vt:lpstr>
      <vt:lpstr>굴림</vt:lpstr>
      <vt:lpstr>돋움</vt:lpstr>
      <vt:lpstr>맑은 고딕</vt:lpstr>
      <vt:lpstr>현대산스 Head</vt:lpstr>
      <vt:lpstr>현대산스 Head Bold</vt:lpstr>
      <vt:lpstr>현대하모니 L</vt:lpstr>
      <vt:lpstr>현대하모니 M</vt:lpstr>
      <vt:lpstr>Arial</vt:lpstr>
      <vt:lpstr>Lucida Sans Unicode</vt:lpstr>
      <vt:lpstr>Tahoma</vt:lpstr>
      <vt:lpstr>Times New Roman</vt:lpstr>
      <vt:lpstr>Verdana</vt:lpstr>
      <vt:lpstr>Wingdings</vt:lpstr>
      <vt:lpstr>默认设计模板</vt:lpstr>
      <vt:lpstr>디자인 사용자 지정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file:///C:\Users\user\Desktop\QV3D_241202\00_QV_PTC_HEATER_ASSY_241202_LEE.CATProduct</vt:lpstr>
      <vt:lpstr>file:///\\192.168.19.10\airptc\100___AIR_PTC_HEATER\10___고전압_PTC\QV1\550______설계DATA(2D3D)\3D\REV_2_LUMP__3\ROD_ASSY.CATProduct</vt:lpstr>
      <vt:lpstr>file:///\\192.168.19.10\airptc\100___AIR_PTC_HEATER\10___고전압_PTC\QV1\550______설계DATA(2D3D)\3D\REV_15_1_SEPARATE_ROD_DIRECT\ROD_ASSY.CATProduct</vt:lpstr>
      <vt:lpstr>file:///\\192.168.19.10\airptc\100___AIR_PTC_HEATER\10___고전압_PTC\QV1\550______설계DATA(2D3D)\3D\REV_15_1_SEPARATE_ROD_DIRECT\ROD_ASSY.CATProduct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file:///\\192.168.19.10\airptc\100___AIR_PTC_HEATER\10___고전압_PTC\QV1\550______설계DATA(2D3D)\3D\REV_15_1_SEPARATE_ROD_DIRECT\LOWER_HOUSING_2.CATPart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file:///\\192.168.19.10\airptc\100___AIR_PTC_HEATER\10___고전압_PTC\QV1\550______설계DATA(2D3D)\3D\REV_52\00_QV_PTC_HEATER_ASSY_241107.CATProduct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Woory</cp:lastModifiedBy>
  <cp:revision>829</cp:revision>
  <cp:lastPrinted>2012-09-11T04:14:38Z</cp:lastPrinted>
  <dcterms:created xsi:type="dcterms:W3CDTF">2005-05-16T04:40:22Z</dcterms:created>
  <dcterms:modified xsi:type="dcterms:W3CDTF">2026-04-01T08:33:39Z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0x010100515AA159CC1C344EADF7389267D7D29E</vt:lpwstr>
  </property>
</Properties>
</file>