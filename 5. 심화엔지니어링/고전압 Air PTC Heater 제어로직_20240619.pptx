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6" r:id="rId2"/>
    <p:sldId id="263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6" autoAdjust="0"/>
  </p:normalViewPr>
  <p:slideViewPr>
    <p:cSldViewPr>
      <p:cViewPr>
        <p:scale>
          <a:sx n="100" d="100"/>
          <a:sy n="100" d="100"/>
        </p:scale>
        <p:origin x="191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4098A-4737-423D-94AD-5CFBD91B4550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0893B-D5B6-4BD4-9EBE-DEACC20011C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049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406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23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108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045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4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438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94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835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908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652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08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900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56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27FB3-A66D-44CF-B0BC-3DB5B74015C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740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2015231" y="6495425"/>
            <a:ext cx="6153246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8172400" y="6453336"/>
            <a:ext cx="735366" cy="40838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sz="1800" b="1" dirty="0" smtClean="0">
              <a:latin typeface="굴림" pitchFamily="50" charset="-127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5158525" y="6652662"/>
            <a:ext cx="271901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5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COPYRIGHT©2014 WOORY INDUSTRIAL COMPANY, LTD. ALL RIGHTS RESERVED.</a:t>
            </a: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2490727" y="6508402"/>
            <a:ext cx="53912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8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disclosure.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48575" y="3"/>
            <a:ext cx="7922347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 dirty="0" smtClean="0">
              <a:latin typeface="굴림" pitchFamily="50" charset="-127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8170923" y="3"/>
            <a:ext cx="72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99" y="6559517"/>
            <a:ext cx="1549936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2015231" y="6453336"/>
            <a:ext cx="6153246" cy="36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sp>
        <p:nvSpPr>
          <p:cNvPr id="13" name="TextBox 1"/>
          <p:cNvSpPr txBox="1">
            <a:spLocks noChangeArrowheads="1"/>
          </p:cNvSpPr>
          <p:nvPr userDrawn="1"/>
        </p:nvSpPr>
        <p:spPr bwMode="auto">
          <a:xfrm>
            <a:off x="5158525" y="6652662"/>
            <a:ext cx="271901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5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COPYRIGHT©2014 WOORY INDUSTRIAL COMPANY, LTD. ALL RIGHTS RESERVED.</a:t>
            </a:r>
          </a:p>
        </p:txBody>
      </p:sp>
      <p:sp>
        <p:nvSpPr>
          <p:cNvPr id="14" name="TextBox 15"/>
          <p:cNvSpPr txBox="1">
            <a:spLocks noChangeArrowheads="1"/>
          </p:cNvSpPr>
          <p:nvPr userDrawn="1"/>
        </p:nvSpPr>
        <p:spPr bwMode="auto">
          <a:xfrm>
            <a:off x="2490727" y="6508402"/>
            <a:ext cx="53912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en-US" sz="800" dirty="0" smtClean="0">
                <a:solidFill>
                  <a:srgbClr val="7F7F7F"/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disclosure.</a:t>
            </a:r>
          </a:p>
        </p:txBody>
      </p:sp>
      <p:sp>
        <p:nvSpPr>
          <p:cNvPr id="15" name="Rectangle 12"/>
          <p:cNvSpPr>
            <a:spLocks noChangeArrowheads="1"/>
          </p:cNvSpPr>
          <p:nvPr userDrawn="1"/>
        </p:nvSpPr>
        <p:spPr bwMode="auto">
          <a:xfrm>
            <a:off x="248575" y="3"/>
            <a:ext cx="7922347" cy="180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itchFamily="34" charset="0"/>
                <a:ea typeface="굴림" pitchFamily="50" charset="-127"/>
              </a:defRPr>
            </a:lvl9pPr>
          </a:lstStyle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 dirty="0" smtClean="0">
              <a:latin typeface="굴림" pitchFamily="50" charset="-127"/>
            </a:endParaRPr>
          </a:p>
        </p:txBody>
      </p:sp>
      <p:sp>
        <p:nvSpPr>
          <p:cNvPr id="16" name="Rectangle 12"/>
          <p:cNvSpPr>
            <a:spLocks noChangeArrowheads="1"/>
          </p:cNvSpPr>
          <p:nvPr userDrawn="1"/>
        </p:nvSpPr>
        <p:spPr bwMode="auto">
          <a:xfrm>
            <a:off x="8170923" y="3"/>
            <a:ext cx="720000" cy="1800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v"/>
              <a:defRPr/>
            </a:pPr>
            <a:endParaRPr lang="en-US" altLang="ko-KR" b="1">
              <a:latin typeface="굴림" pitchFamily="50" charset="-127"/>
            </a:endParaRPr>
          </a:p>
        </p:txBody>
      </p:sp>
      <p:pic>
        <p:nvPicPr>
          <p:cNvPr id="17" name="Picture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99" y="6559517"/>
            <a:ext cx="1549936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 userDrawn="1"/>
        </p:nvSpPr>
        <p:spPr>
          <a:xfrm rot="19769790">
            <a:off x="2727567" y="3118398"/>
            <a:ext cx="4290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CONFIDENTIAL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본 자료는 우리산업주식회사의 소유 자산으로 사용 용도 외 불법유출 시 </a:t>
            </a:r>
            <a:endParaRPr kumimoji="0" lang="en-US" altLang="ko-KR" sz="900" b="1" i="0" u="none" strike="noStrike" kern="1200" cap="none" spc="0" normalizeH="0" baseline="0" noProof="0" dirty="0">
              <a:ln>
                <a:solidFill>
                  <a:prstClr val="black">
                    <a:alpha val="20000"/>
                  </a:prstClr>
                </a:solidFill>
              </a:ln>
              <a:solidFill>
                <a:prstClr val="white">
                  <a:lumMod val="50000"/>
                  <a:alpha val="20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관계법령 및 회사 규정에 의해 처벌받게 됩니다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solidFill>
                    <a:prstClr val="black">
                      <a:alpha val="20000"/>
                    </a:prstClr>
                  </a:solidFill>
                </a:ln>
                <a:solidFill>
                  <a:prstClr val="white">
                    <a:lumMod val="50000"/>
                    <a:alpha val="2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</a:p>
        </p:txBody>
      </p:sp>
      <p:cxnSp>
        <p:nvCxnSpPr>
          <p:cNvPr id="22" name="직선 연결선 21"/>
          <p:cNvCxnSpPr/>
          <p:nvPr userDrawn="1"/>
        </p:nvCxnSpPr>
        <p:spPr>
          <a:xfrm>
            <a:off x="113328" y="548680"/>
            <a:ext cx="8928992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7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4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2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219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E3FF9-2D19-4BE8-9A64-3FBAD4C12BA1}" type="datetimeFigureOut">
              <a:rPr lang="ko-KR" altLang="en-US" smtClean="0"/>
              <a:pPr/>
              <a:t>2024-06-18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A348C-5DEE-42D2-A2FD-1A4A8B089B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116943" y="2612604"/>
            <a:ext cx="6679658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>
              <a:lnSpc>
                <a:spcPct val="120000"/>
              </a:lnSpc>
              <a:defRPr/>
            </a:pPr>
            <a:r>
              <a:rPr lang="ko-KR" altLang="en-US" sz="1846" b="1">
                <a:solidFill>
                  <a:schemeClr val="bg1"/>
                </a:solidFill>
                <a:latin typeface="+mn-ea"/>
              </a:rPr>
              <a:t>고전압 </a:t>
            </a:r>
            <a:r>
              <a:rPr lang="en-US" altLang="ko-KR" sz="1846" b="1">
                <a:solidFill>
                  <a:schemeClr val="bg1"/>
                </a:solidFill>
                <a:latin typeface="+mn-ea"/>
              </a:rPr>
              <a:t>Air PTC Heater </a:t>
            </a:r>
            <a:r>
              <a:rPr lang="ko-KR" altLang="en-US" sz="1846" b="1" smtClean="0">
                <a:solidFill>
                  <a:schemeClr val="bg1"/>
                </a:solidFill>
                <a:latin typeface="+mn-ea"/>
              </a:rPr>
              <a:t>제어 로직</a:t>
            </a:r>
            <a:endParaRPr lang="en-US" altLang="ko-KR" sz="1846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white">
          <a:xfrm>
            <a:off x="3442028" y="4758380"/>
            <a:ext cx="2658757" cy="3054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385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Woory R&amp;D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white">
          <a:xfrm>
            <a:off x="7097819" y="6170442"/>
            <a:ext cx="1528785" cy="2343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923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Arial" panose="020B0604020202020204" pitchFamily="34" charset="0"/>
              </a:rPr>
              <a:t>2024.06.19</a:t>
            </a:r>
            <a:endParaRPr lang="en-US" altLang="ko-KR" sz="923" b="1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74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2715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고전압 </a:t>
            </a:r>
            <a:r>
              <a:rPr lang="en-US" altLang="ko-KR" sz="1400" smtClean="0"/>
              <a:t>PTC Heater </a:t>
            </a:r>
            <a:r>
              <a:rPr lang="ko-KR" altLang="en-US" sz="1400" smtClean="0"/>
              <a:t>제어로직</a:t>
            </a:r>
            <a:endParaRPr lang="ko-KR" altLang="en-US" sz="14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055017"/>
            <a:ext cx="4750482" cy="524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766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 smtClean="0">
                <a:latin typeface="+mn-ea"/>
                <a:cs typeface="Tahoma" pitchFamily="34" charset="0"/>
              </a:rPr>
              <a:t>기본 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초기화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LV </a:t>
            </a:r>
            <a:r>
              <a:rPr lang="ko-KR" altLang="en-US" sz="1000" smtClean="0">
                <a:solidFill>
                  <a:schemeClr val="tx1"/>
                </a:solidFill>
              </a:rPr>
              <a:t>전원 입력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PTC Heater S/W </a:t>
            </a:r>
            <a:r>
              <a:rPr lang="ko-KR" altLang="en-US" sz="1000" smtClean="0">
                <a:solidFill>
                  <a:schemeClr val="tx1"/>
                </a:solidFill>
              </a:rPr>
              <a:t>구동 위한 </a:t>
            </a:r>
            <a:r>
              <a:rPr lang="en-US" altLang="ko-KR" sz="1000" smtClean="0">
                <a:solidFill>
                  <a:schemeClr val="tx1"/>
                </a:solidFill>
              </a:rPr>
              <a:t>MCU System </a:t>
            </a:r>
            <a:r>
              <a:rPr lang="ko-KR" altLang="en-US" sz="1000" smtClean="0">
                <a:solidFill>
                  <a:schemeClr val="tx1"/>
                </a:solidFill>
              </a:rPr>
              <a:t>초기화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PTC Heater </a:t>
            </a:r>
            <a:r>
              <a:rPr lang="ko-KR" altLang="en-US" sz="1000" smtClean="0">
                <a:solidFill>
                  <a:schemeClr val="tx1"/>
                </a:solidFill>
              </a:rPr>
              <a:t>가동 위한 </a:t>
            </a:r>
            <a:r>
              <a:rPr lang="en-US" altLang="ko-KR" sz="1000" smtClean="0">
                <a:solidFill>
                  <a:schemeClr val="tx1"/>
                </a:solidFill>
              </a:rPr>
              <a:t>PID </a:t>
            </a:r>
            <a:r>
              <a:rPr lang="ko-KR" altLang="en-US" sz="1000" smtClean="0">
                <a:solidFill>
                  <a:schemeClr val="tx1"/>
                </a:solidFill>
              </a:rPr>
              <a:t>제어기 초기화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진단위한 각종 변수 초기화</a:t>
            </a:r>
            <a:endParaRPr lang="ko-KR" altLang="en-US" sz="100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2809453"/>
            <a:ext cx="1500958" cy="3312368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63814" y="2772099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Signal</a:t>
            </a:r>
            <a:endParaRPr lang="ko-KR" altLang="en-US" sz="1000"/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3568" y="4520153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No Signal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41315558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 smtClean="0">
                <a:latin typeface="+mn-ea"/>
                <a:cs typeface="Tahoma" pitchFamily="34" charset="0"/>
              </a:rPr>
              <a:t>기본로직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기본 동작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10ms </a:t>
            </a:r>
            <a:r>
              <a:rPr lang="ko-KR" altLang="en-US" sz="1000" smtClean="0">
                <a:solidFill>
                  <a:schemeClr val="tx1"/>
                </a:solidFill>
              </a:rPr>
              <a:t>마다 기본 로직 수행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ADC </a:t>
            </a:r>
            <a:r>
              <a:rPr lang="ko-KR" altLang="en-US" sz="1000" smtClean="0">
                <a:solidFill>
                  <a:schemeClr val="tx1"/>
                </a:solidFill>
              </a:rPr>
              <a:t>센싱 수행 </a:t>
            </a:r>
            <a:r>
              <a:rPr lang="en-US" altLang="ko-KR" sz="1000" smtClean="0">
                <a:solidFill>
                  <a:schemeClr val="tx1"/>
                </a:solidFill>
              </a:rPr>
              <a:t>(HV, HV Current, Core Temp, PCB Temp)</a:t>
            </a: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Fault Check (LV, HV, HV Current, Core Temp, PCB Temp, Inter Lock)</a:t>
            </a: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ATCU</a:t>
            </a:r>
            <a:r>
              <a:rPr lang="ko-KR" altLang="en-US" sz="1000" smtClean="0">
                <a:solidFill>
                  <a:schemeClr val="tx1"/>
                </a:solidFill>
              </a:rPr>
              <a:t>로부터 수신 한 </a:t>
            </a:r>
            <a:r>
              <a:rPr lang="en-US" altLang="ko-KR" sz="1000" smtClean="0">
                <a:solidFill>
                  <a:schemeClr val="tx1"/>
                </a:solidFill>
              </a:rPr>
              <a:t>CCU_HVPPAllowOperation_Flag (0/1) </a:t>
            </a:r>
            <a:r>
              <a:rPr lang="ko-KR" altLang="en-US" sz="1000" smtClean="0">
                <a:solidFill>
                  <a:schemeClr val="tx1"/>
                </a:solidFill>
              </a:rPr>
              <a:t>상태에 따른 동작 수행</a:t>
            </a:r>
            <a:endParaRPr lang="en-US" altLang="ko-KR" sz="1000" smtClean="0">
              <a:solidFill>
                <a:schemeClr val="tx1"/>
              </a:solidFill>
            </a:endParaRPr>
          </a:p>
          <a:p>
            <a:r>
              <a:rPr lang="en-US" altLang="ko-KR" sz="1000" smtClean="0">
                <a:solidFill>
                  <a:schemeClr val="tx1"/>
                </a:solidFill>
              </a:rPr>
              <a:t>    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0 :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기본 로직 수행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1 : PreCheck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고장 검출 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작동 로직 진입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3568" y="333183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L_ATCU_FHPTCOpPrmssnSta = 0</a:t>
            </a:r>
          </a:p>
          <a:p>
            <a:r>
              <a:rPr lang="en-US" altLang="ko-KR" sz="1000"/>
              <a:t> L_ATCU_FHPTCDrTrgtDty = </a:t>
            </a:r>
            <a:r>
              <a:rPr lang="en-US" altLang="ko-KR" sz="1000" smtClean="0"/>
              <a:t>0</a:t>
            </a:r>
            <a:endParaRPr lang="en-US" altLang="ko-KR" sz="1000"/>
          </a:p>
        </p:txBody>
      </p:sp>
      <p:sp>
        <p:nvSpPr>
          <p:cNvPr id="4" name="TextBox 3"/>
          <p:cNvSpPr txBox="1"/>
          <p:nvPr/>
        </p:nvSpPr>
        <p:spPr>
          <a:xfrm>
            <a:off x="683568" y="3140968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ATCU </a:t>
            </a:r>
            <a:r>
              <a:rPr lang="en-US" altLang="ko-KR" sz="1000" smtClean="0">
                <a:sym typeface="Wingdings" panose="05000000000000000000" pitchFamily="2" charset="2"/>
              </a:rPr>
              <a:t> PTC Heater</a:t>
            </a:r>
            <a:endParaRPr lang="ko-KR" altLang="en-US" sz="1000"/>
          </a:p>
        </p:txBody>
      </p:sp>
      <p:sp>
        <p:nvSpPr>
          <p:cNvPr id="12" name="TextBox 11"/>
          <p:cNvSpPr txBox="1"/>
          <p:nvPr/>
        </p:nvSpPr>
        <p:spPr>
          <a:xfrm>
            <a:off x="683567" y="4062839"/>
            <a:ext cx="3168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FHPTC_DrVoltage_V = 0</a:t>
            </a:r>
          </a:p>
          <a:p>
            <a:r>
              <a:rPr lang="en-US" altLang="ko-KR" sz="1000" smtClean="0"/>
              <a:t> FHPTC_DrCnsmptPwr_W </a:t>
            </a:r>
            <a:r>
              <a:rPr lang="en-US" altLang="ko-KR" sz="1000"/>
              <a:t>= 0</a:t>
            </a:r>
          </a:p>
          <a:p>
            <a:r>
              <a:rPr lang="en-US" altLang="ko-KR" sz="1000" smtClean="0"/>
              <a:t> FHPTC_DrCurrent_A </a:t>
            </a:r>
            <a:r>
              <a:rPr lang="en-US" altLang="ko-KR" sz="1000"/>
              <a:t>= 0</a:t>
            </a:r>
          </a:p>
          <a:p>
            <a:r>
              <a:rPr lang="en-US" altLang="ko-KR" sz="1000" smtClean="0"/>
              <a:t> FHPTC_DrDutyFB_Pec</a:t>
            </a:r>
            <a:r>
              <a:rPr lang="en-US" altLang="ko-KR" sz="1000"/>
              <a:t>= 0</a:t>
            </a:r>
          </a:p>
          <a:p>
            <a:r>
              <a:rPr lang="en-US" altLang="ko-KR" sz="1000" smtClean="0"/>
              <a:t> FHPTC_DrDutyFB_IGBT = 0</a:t>
            </a:r>
          </a:p>
          <a:p>
            <a:r>
              <a:rPr lang="en-US" altLang="ko-KR" sz="1000" smtClean="0"/>
              <a:t> FHPTC_DrCoreTemp_C </a:t>
            </a:r>
            <a:r>
              <a:rPr lang="en-US" altLang="ko-KR" sz="1000"/>
              <a:t>= </a:t>
            </a:r>
            <a:r>
              <a:rPr lang="en-US" altLang="ko-KR" sz="1000" smtClean="0"/>
              <a:t>0</a:t>
            </a:r>
            <a:endParaRPr lang="en-US" altLang="ko-KR" sz="1000"/>
          </a:p>
          <a:p>
            <a:r>
              <a:rPr lang="en-US" altLang="ko-KR" sz="1000" smtClean="0"/>
              <a:t> FHPTC_DrOpSta = 0 (</a:t>
            </a:r>
            <a:r>
              <a:rPr lang="ko-KR" altLang="en-US" sz="1000" smtClean="0"/>
              <a:t>동작 정지 상태 시</a:t>
            </a:r>
            <a:r>
              <a:rPr lang="en-US" altLang="ko-KR" sz="1000" smtClean="0"/>
              <a:t>)</a:t>
            </a:r>
          </a:p>
          <a:p>
            <a:r>
              <a:rPr lang="en-US" altLang="ko-KR" sz="1000"/>
              <a:t> FHPTC_DrLtdOpCause = 0 (</a:t>
            </a:r>
            <a:r>
              <a:rPr lang="ko-KR" altLang="en-US" sz="1000"/>
              <a:t>정상 동작 시</a:t>
            </a:r>
            <a:r>
              <a:rPr lang="en-US" altLang="ko-KR" sz="1000" smtClean="0"/>
              <a:t>)</a:t>
            </a:r>
            <a:endParaRPr lang="en-US" altLang="ko-KR" sz="1000"/>
          </a:p>
        </p:txBody>
      </p:sp>
      <p:sp>
        <p:nvSpPr>
          <p:cNvPr id="13" name="TextBox 12"/>
          <p:cNvSpPr txBox="1"/>
          <p:nvPr/>
        </p:nvSpPr>
        <p:spPr>
          <a:xfrm>
            <a:off x="683568" y="387923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852936"/>
            <a:ext cx="4273524" cy="32984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0662480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 smtClean="0">
                <a:latin typeface="+mn-ea"/>
                <a:cs typeface="Tahoma" pitchFamily="34" charset="0"/>
              </a:rPr>
              <a:t>기본로직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640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CAN </a:t>
            </a:r>
            <a:r>
              <a:rPr lang="ko-KR" altLang="en-US" sz="1400" smtClean="0"/>
              <a:t>통신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Can </a:t>
            </a:r>
            <a:r>
              <a:rPr lang="ko-KR" altLang="en-US" sz="1000" smtClean="0">
                <a:solidFill>
                  <a:schemeClr val="tx1"/>
                </a:solidFill>
              </a:rPr>
              <a:t>통신 초기화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10ms</a:t>
            </a:r>
            <a:r>
              <a:rPr lang="ko-KR" altLang="en-US" sz="1000" smtClean="0">
                <a:solidFill>
                  <a:schemeClr val="tx1"/>
                </a:solidFill>
              </a:rPr>
              <a:t>마다 </a:t>
            </a:r>
            <a:r>
              <a:rPr lang="en-US" altLang="ko-KR" sz="1000" smtClean="0">
                <a:solidFill>
                  <a:schemeClr val="tx1"/>
                </a:solidFill>
              </a:rPr>
              <a:t>Can </a:t>
            </a:r>
            <a:r>
              <a:rPr lang="ko-KR" altLang="en-US" sz="1000" smtClean="0">
                <a:solidFill>
                  <a:schemeClr val="tx1"/>
                </a:solidFill>
              </a:rPr>
              <a:t>통신 수신 및 분석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10ms</a:t>
            </a:r>
            <a:r>
              <a:rPr lang="ko-KR" altLang="en-US" sz="1000" smtClean="0">
                <a:solidFill>
                  <a:schemeClr val="tx1"/>
                </a:solidFill>
              </a:rPr>
              <a:t>마다 </a:t>
            </a:r>
            <a:r>
              <a:rPr lang="en-US" altLang="ko-KR" sz="1000" smtClean="0">
                <a:solidFill>
                  <a:schemeClr val="tx1"/>
                </a:solidFill>
              </a:rPr>
              <a:t>Can </a:t>
            </a:r>
            <a:r>
              <a:rPr lang="ko-KR" altLang="en-US" sz="1000" smtClean="0">
                <a:solidFill>
                  <a:schemeClr val="tx1"/>
                </a:solidFill>
              </a:rPr>
              <a:t>통신 송신 </a:t>
            </a:r>
            <a:r>
              <a:rPr lang="en-US" altLang="ko-KR" sz="1000" smtClean="0">
                <a:solidFill>
                  <a:schemeClr val="tx1"/>
                </a:solidFill>
              </a:rPr>
              <a:t>(FB Data </a:t>
            </a:r>
            <a:r>
              <a:rPr lang="ko-KR" altLang="en-US" sz="1000" smtClean="0">
                <a:solidFill>
                  <a:schemeClr val="tx1"/>
                </a:solidFill>
              </a:rPr>
              <a:t>및</a:t>
            </a:r>
            <a:r>
              <a:rPr lang="en-US" altLang="ko-KR" sz="1000" smtClean="0">
                <a:solidFill>
                  <a:schemeClr val="tx1"/>
                </a:solidFill>
              </a:rPr>
              <a:t> Fault </a:t>
            </a:r>
            <a:r>
              <a:rPr lang="ko-KR" altLang="en-US" sz="1000" smtClean="0">
                <a:solidFill>
                  <a:schemeClr val="tx1"/>
                </a:solidFill>
              </a:rPr>
              <a:t>정보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500ms ~ 1s </a:t>
            </a:r>
            <a:r>
              <a:rPr lang="ko-KR" altLang="en-US" sz="1000" smtClean="0">
                <a:solidFill>
                  <a:schemeClr val="tx1"/>
                </a:solidFill>
              </a:rPr>
              <a:t>동안 데이터 수신 되지 않으면 </a:t>
            </a:r>
            <a:r>
              <a:rPr lang="en-US" altLang="ko-KR" sz="1000" smtClean="0">
                <a:solidFill>
                  <a:schemeClr val="tx1"/>
                </a:solidFill>
              </a:rPr>
              <a:t>Time Out Fault </a:t>
            </a:r>
            <a:r>
              <a:rPr lang="ko-KR" altLang="en-US" sz="1000" smtClean="0">
                <a:solidFill>
                  <a:schemeClr val="tx1"/>
                </a:solidFill>
              </a:rPr>
              <a:t>전송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63814" y="2772099"/>
            <a:ext cx="535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smtClean="0"/>
              <a:t>Signal</a:t>
            </a:r>
            <a:endParaRPr lang="ko-KR" altLang="en-US" sz="1000"/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3567" y="3893350"/>
            <a:ext cx="3149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 ID : 0x111</a:t>
            </a:r>
            <a:endParaRPr lang="en-US" altLang="ko-KR" sz="1000"/>
          </a:p>
        </p:txBody>
      </p:sp>
      <p:sp>
        <p:nvSpPr>
          <p:cNvPr id="4" name="TextBox 3"/>
          <p:cNvSpPr txBox="1"/>
          <p:nvPr/>
        </p:nvSpPr>
        <p:spPr>
          <a:xfrm>
            <a:off x="683568" y="3606115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ATCU </a:t>
            </a:r>
            <a:r>
              <a:rPr lang="en-US" altLang="ko-KR" sz="1000" smtClean="0">
                <a:sym typeface="Wingdings" panose="05000000000000000000" pitchFamily="2" charset="2"/>
              </a:rPr>
              <a:t> PTC Heater</a:t>
            </a:r>
            <a:endParaRPr lang="ko-KR" altLang="en-US" sz="1000"/>
          </a:p>
        </p:txBody>
      </p:sp>
      <p:sp>
        <p:nvSpPr>
          <p:cNvPr id="12" name="TextBox 11"/>
          <p:cNvSpPr txBox="1"/>
          <p:nvPr/>
        </p:nvSpPr>
        <p:spPr>
          <a:xfrm>
            <a:off x="683567" y="4581128"/>
            <a:ext cx="31683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 ID :  0x140</a:t>
            </a:r>
          </a:p>
          <a:p>
            <a:r>
              <a:rPr lang="en-US" altLang="ko-KR" sz="1000" smtClean="0"/>
              <a:t>  </a:t>
            </a:r>
            <a:r>
              <a:rPr lang="en-US" altLang="ko-KR" sz="1000"/>
              <a:t>ID :  </a:t>
            </a:r>
            <a:r>
              <a:rPr lang="en-US" altLang="ko-KR" sz="1000" smtClean="0"/>
              <a:t>0x141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 ID </a:t>
            </a:r>
            <a:r>
              <a:rPr lang="en-US" altLang="ko-KR" sz="1000"/>
              <a:t>:  </a:t>
            </a:r>
            <a:r>
              <a:rPr lang="en-US" altLang="ko-KR" sz="1000" smtClean="0"/>
              <a:t>0x142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 ID </a:t>
            </a:r>
            <a:r>
              <a:rPr lang="en-US" altLang="ko-KR" sz="1000"/>
              <a:t>:  </a:t>
            </a:r>
            <a:r>
              <a:rPr lang="en-US" altLang="ko-KR" sz="1000" smtClean="0"/>
              <a:t>0x143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 </a:t>
            </a:r>
          </a:p>
          <a:p>
            <a:r>
              <a:rPr lang="en-US" altLang="ko-KR" sz="1000" smtClean="0"/>
              <a:t> FHPTC_DrFltMsgTmOutATCU = 1</a:t>
            </a:r>
          </a:p>
          <a:p>
            <a:r>
              <a:rPr lang="en-US" altLang="ko-KR" sz="1000" smtClean="0"/>
              <a:t> FHPTC_PassFltMsgTmOutATCU = 1</a:t>
            </a:r>
            <a:endParaRPr lang="en-US" altLang="ko-KR" sz="1000"/>
          </a:p>
        </p:txBody>
      </p:sp>
      <p:sp>
        <p:nvSpPr>
          <p:cNvPr id="13" name="TextBox 12"/>
          <p:cNvSpPr txBox="1"/>
          <p:nvPr/>
        </p:nvSpPr>
        <p:spPr>
          <a:xfrm>
            <a:off x="683568" y="4293096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17" name="TextBox 16"/>
          <p:cNvSpPr txBox="1"/>
          <p:nvPr/>
        </p:nvSpPr>
        <p:spPr>
          <a:xfrm>
            <a:off x="683567" y="3151205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High Speed CAN (500kbps, 8Byte)</a:t>
            </a:r>
            <a:endParaRPr lang="ko-KR" altLang="en-US" sz="100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605" y="3109080"/>
            <a:ext cx="4353145" cy="271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253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53" y="2853082"/>
            <a:ext cx="4163848" cy="322511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 smtClean="0">
                <a:latin typeface="+mn-ea"/>
                <a:cs typeface="Tahoma" pitchFamily="34" charset="0"/>
              </a:rPr>
              <a:t>작동로직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810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Heater </a:t>
            </a:r>
            <a:r>
              <a:rPr lang="ko-KR" altLang="en-US" sz="1400" smtClean="0"/>
              <a:t>작동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기본 동작 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작동 로직 진입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ATCU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로부터 수신되어진 </a:t>
            </a:r>
            <a:r>
              <a:rPr lang="en-US" altLang="ko-KR" sz="1000" smtClean="0">
                <a:solidFill>
                  <a:schemeClr val="tx1"/>
                </a:solidFill>
              </a:rPr>
              <a:t>CCU_HVPPTargetDutyDriver_Perc (10 </a:t>
            </a:r>
            <a:r>
              <a:rPr lang="ko-KR" altLang="en-US" sz="1000" smtClean="0">
                <a:solidFill>
                  <a:schemeClr val="tx1"/>
                </a:solidFill>
              </a:rPr>
              <a:t>≤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</a:rPr>
              <a:t>duty </a:t>
            </a:r>
            <a:r>
              <a:rPr lang="ko-KR" altLang="en-US" sz="1000" smtClean="0">
                <a:solidFill>
                  <a:schemeClr val="tx1"/>
                </a:solidFill>
              </a:rPr>
              <a:t>≤ </a:t>
            </a:r>
            <a:r>
              <a:rPr lang="en-US" altLang="ko-KR" sz="1000" smtClean="0">
                <a:solidFill>
                  <a:schemeClr val="tx1"/>
                </a:solidFill>
              </a:rPr>
              <a:t>95) </a:t>
            </a:r>
            <a:r>
              <a:rPr lang="ko-KR" altLang="en-US" sz="1000" smtClean="0">
                <a:solidFill>
                  <a:schemeClr val="tx1"/>
                </a:solidFill>
              </a:rPr>
              <a:t>확인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>
                <a:solidFill>
                  <a:schemeClr val="tx1"/>
                </a:solidFill>
              </a:rPr>
              <a:t>CCU_HVPPTargetDutyDriver_Perc </a:t>
            </a:r>
            <a:r>
              <a:rPr lang="ko-KR" altLang="en-US" sz="1000" smtClean="0">
                <a:solidFill>
                  <a:schemeClr val="tx1"/>
                </a:solidFill>
              </a:rPr>
              <a:t>값에 따른</a:t>
            </a: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</a:rPr>
              <a:t>Target </a:t>
            </a:r>
            <a:r>
              <a:rPr lang="ko-KR" altLang="en-US" sz="1000" smtClean="0">
                <a:solidFill>
                  <a:schemeClr val="tx1"/>
                </a:solidFill>
              </a:rPr>
              <a:t>전력 산출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Target </a:t>
            </a:r>
            <a:r>
              <a:rPr lang="ko-KR" altLang="en-US" sz="1000" smtClean="0">
                <a:solidFill>
                  <a:schemeClr val="tx1"/>
                </a:solidFill>
              </a:rPr>
              <a:t>전력을 출력하기 위한 </a:t>
            </a:r>
            <a:r>
              <a:rPr lang="en-US" altLang="ko-KR" sz="1000" smtClean="0">
                <a:solidFill>
                  <a:schemeClr val="tx1"/>
                </a:solidFill>
              </a:rPr>
              <a:t>PID </a:t>
            </a:r>
            <a:r>
              <a:rPr lang="ko-KR" altLang="en-US" sz="1000" smtClean="0">
                <a:solidFill>
                  <a:schemeClr val="tx1"/>
                </a:solidFill>
              </a:rPr>
              <a:t>제어기 수행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PID </a:t>
            </a:r>
            <a:r>
              <a:rPr lang="ko-KR" altLang="en-US" sz="1000" smtClean="0">
                <a:solidFill>
                  <a:schemeClr val="tx1"/>
                </a:solidFill>
              </a:rPr>
              <a:t>제어기로부터의 결과값으로 </a:t>
            </a:r>
            <a:r>
              <a:rPr lang="en-US" altLang="ko-KR" sz="1000" smtClean="0">
                <a:solidFill>
                  <a:schemeClr val="tx1"/>
                </a:solidFill>
              </a:rPr>
              <a:t>PWM </a:t>
            </a:r>
            <a:r>
              <a:rPr lang="ko-KR" altLang="en-US" sz="1000" smtClean="0">
                <a:solidFill>
                  <a:schemeClr val="tx1"/>
                </a:solidFill>
              </a:rPr>
              <a:t>제어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3568" y="3358733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L_ATCU_FHPTCOpPrmssnSta = </a:t>
            </a:r>
            <a:r>
              <a:rPr lang="en-US" altLang="ko-KR" sz="1000" smtClean="0"/>
              <a:t>1</a:t>
            </a:r>
            <a:endParaRPr lang="en-US" altLang="ko-KR" sz="1000"/>
          </a:p>
          <a:p>
            <a:r>
              <a:rPr lang="en-US" altLang="ko-KR" sz="1000"/>
              <a:t> L_ATCU_FHPTCDrTrgtDty = </a:t>
            </a:r>
            <a:r>
              <a:rPr lang="en-US" altLang="ko-KR" sz="1000" smtClean="0"/>
              <a:t>95</a:t>
            </a:r>
            <a:endParaRPr lang="en-US" altLang="ko-KR" sz="1000"/>
          </a:p>
        </p:txBody>
      </p:sp>
      <p:sp>
        <p:nvSpPr>
          <p:cNvPr id="24" name="TextBox 23"/>
          <p:cNvSpPr txBox="1"/>
          <p:nvPr/>
        </p:nvSpPr>
        <p:spPr>
          <a:xfrm>
            <a:off x="683568" y="3140968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ATCU </a:t>
            </a:r>
            <a:r>
              <a:rPr lang="en-US" altLang="ko-KR" sz="1000" smtClean="0">
                <a:sym typeface="Wingdings" panose="05000000000000000000" pitchFamily="2" charset="2"/>
              </a:rPr>
              <a:t> PTC Heater</a:t>
            </a:r>
            <a:endParaRPr lang="ko-KR" altLang="en-US" sz="1000"/>
          </a:p>
        </p:txBody>
      </p:sp>
      <p:sp>
        <p:nvSpPr>
          <p:cNvPr id="25" name="TextBox 24"/>
          <p:cNvSpPr txBox="1"/>
          <p:nvPr/>
        </p:nvSpPr>
        <p:spPr>
          <a:xfrm>
            <a:off x="683567" y="4206567"/>
            <a:ext cx="3168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FHPTC_DrVoltage_V = 654</a:t>
            </a:r>
          </a:p>
          <a:p>
            <a:r>
              <a:rPr lang="en-US" altLang="ko-KR" sz="1000" smtClean="0"/>
              <a:t> FHPTC_DrCnsmptPwr_W </a:t>
            </a:r>
            <a:r>
              <a:rPr lang="en-US" altLang="ko-KR" sz="1000"/>
              <a:t>= </a:t>
            </a:r>
            <a:r>
              <a:rPr lang="en-US" altLang="ko-KR" sz="1000" smtClean="0"/>
              <a:t>3150</a:t>
            </a:r>
            <a:endParaRPr lang="en-US" altLang="ko-KR" sz="1000"/>
          </a:p>
          <a:p>
            <a:r>
              <a:rPr lang="en-US" altLang="ko-KR" sz="1000" smtClean="0"/>
              <a:t> FHPTC_DrCurrent_A </a:t>
            </a:r>
            <a:r>
              <a:rPr lang="en-US" altLang="ko-KR" sz="1000"/>
              <a:t>= </a:t>
            </a:r>
            <a:r>
              <a:rPr lang="en-US" altLang="ko-KR" sz="1000" smtClean="0"/>
              <a:t>4.8</a:t>
            </a:r>
            <a:endParaRPr lang="en-US" altLang="ko-KR" sz="1000"/>
          </a:p>
          <a:p>
            <a:r>
              <a:rPr lang="en-US" altLang="ko-KR" sz="1000" smtClean="0"/>
              <a:t> FHPTC_DrDutyFB_Pec</a:t>
            </a:r>
            <a:r>
              <a:rPr lang="en-US" altLang="ko-KR" sz="1000"/>
              <a:t>= </a:t>
            </a:r>
            <a:r>
              <a:rPr lang="en-US" altLang="ko-KR" sz="1000" smtClean="0"/>
              <a:t>100 (%@</a:t>
            </a:r>
            <a:r>
              <a:rPr lang="ko-KR" altLang="en-US" sz="1000" smtClean="0"/>
              <a:t>현재 전력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FHPTC_DrDutyFB_IGBT = 100 (%@</a:t>
            </a:r>
            <a:r>
              <a:rPr lang="ko-KR" altLang="en-US" sz="1000" smtClean="0"/>
              <a:t>현재 </a:t>
            </a:r>
            <a:r>
              <a:rPr lang="en-US" altLang="ko-KR" sz="1000" smtClean="0"/>
              <a:t>IGBT </a:t>
            </a:r>
            <a:r>
              <a:rPr lang="ko-KR" altLang="en-US" sz="1000" smtClean="0"/>
              <a:t>출력</a:t>
            </a:r>
            <a:r>
              <a:rPr lang="en-US" altLang="ko-KR" sz="1000" smtClean="0"/>
              <a:t>)</a:t>
            </a:r>
          </a:p>
          <a:p>
            <a:r>
              <a:rPr lang="en-US" altLang="ko-KR" sz="1000" smtClean="0"/>
              <a:t> FHPTC_DrCoreTemp_C = 60</a:t>
            </a:r>
          </a:p>
          <a:p>
            <a:r>
              <a:rPr lang="en-US" altLang="ko-KR" sz="1000" smtClean="0"/>
              <a:t> FHPTC_DrOpSta </a:t>
            </a:r>
            <a:r>
              <a:rPr lang="en-US" altLang="ko-KR" sz="1000"/>
              <a:t>= </a:t>
            </a:r>
            <a:r>
              <a:rPr lang="en-US" altLang="ko-KR" sz="1000" smtClean="0"/>
              <a:t>1 (</a:t>
            </a:r>
            <a:r>
              <a:rPr lang="ko-KR" altLang="en-US" sz="1000" smtClean="0"/>
              <a:t>정상 동작 시</a:t>
            </a:r>
            <a:r>
              <a:rPr lang="en-US" altLang="ko-KR" sz="1000" smtClean="0"/>
              <a:t>)</a:t>
            </a:r>
          </a:p>
          <a:p>
            <a:r>
              <a:rPr lang="en-US" altLang="ko-KR" sz="1000" smtClean="0"/>
              <a:t> FHPTC_DrLtdOpCause = 0 (</a:t>
            </a:r>
            <a:r>
              <a:rPr lang="ko-KR" altLang="en-US" sz="1000" smtClean="0"/>
              <a:t>정상 동작 시</a:t>
            </a:r>
            <a:r>
              <a:rPr lang="en-US" altLang="ko-KR" sz="1000" smtClean="0"/>
              <a:t>)</a:t>
            </a:r>
            <a:endParaRPr lang="en-US" altLang="ko-KR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951239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 (Ps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  <p:sp>
        <p:nvSpPr>
          <p:cNvPr id="28" name="TextBox 27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0784123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 smtClean="0">
                <a:latin typeface="+mn-ea"/>
                <a:cs typeface="Tahoma" pitchFamily="34" charset="0"/>
              </a:rPr>
              <a:t>작동로직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214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Pre Check </a:t>
            </a:r>
            <a:r>
              <a:rPr lang="ko-KR" altLang="en-US" sz="1400" smtClean="0"/>
              <a:t>작동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기본 동작 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Pre Check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로직 진입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잔류 제거 안정화 시간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1s Waiting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100ms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동안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High IGBT Check 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정상 일경우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잔류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제거 안정화 시간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200ms Waiting  Low IGBT Check 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정상일경우 작동 로직 진입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100ms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동안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High IGBT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Check  Short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300ms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동안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HIgh IGBT Recheck  Short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IGBT Fault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발생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3568" y="3358733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L_ATCU_FHPTCOpPrmssnSta = </a:t>
            </a:r>
            <a:r>
              <a:rPr lang="en-US" altLang="ko-KR" sz="1000" smtClean="0"/>
              <a:t>1</a:t>
            </a:r>
            <a:endParaRPr lang="en-US" altLang="ko-KR" sz="1000"/>
          </a:p>
          <a:p>
            <a:r>
              <a:rPr lang="en-US" altLang="ko-KR" sz="1000"/>
              <a:t> L_ATCU_FHPTCDrTrgtDty = </a:t>
            </a:r>
            <a:r>
              <a:rPr lang="en-US" altLang="ko-KR" sz="1000" smtClean="0"/>
              <a:t>95</a:t>
            </a:r>
            <a:endParaRPr lang="en-US" altLang="ko-KR" sz="1000"/>
          </a:p>
        </p:txBody>
      </p:sp>
      <p:sp>
        <p:nvSpPr>
          <p:cNvPr id="22" name="TextBox 21"/>
          <p:cNvSpPr txBox="1"/>
          <p:nvPr/>
        </p:nvSpPr>
        <p:spPr>
          <a:xfrm>
            <a:off x="683568" y="3140968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ATCU </a:t>
            </a:r>
            <a:r>
              <a:rPr lang="en-US" altLang="ko-KR" sz="1000" smtClean="0">
                <a:sym typeface="Wingdings" panose="05000000000000000000" pitchFamily="2" charset="2"/>
              </a:rPr>
              <a:t> PTC Heater</a:t>
            </a:r>
            <a:endParaRPr lang="ko-KR" altLang="en-US" sz="1000"/>
          </a:p>
        </p:txBody>
      </p:sp>
      <p:sp>
        <p:nvSpPr>
          <p:cNvPr id="24" name="TextBox 23"/>
          <p:cNvSpPr txBox="1"/>
          <p:nvPr/>
        </p:nvSpPr>
        <p:spPr>
          <a:xfrm>
            <a:off x="683568" y="4088105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 </a:t>
            </a:r>
            <a:r>
              <a:rPr lang="en-US" altLang="ko-KR" sz="1000"/>
              <a:t>(Ps </a:t>
            </a:r>
            <a:r>
              <a:rPr lang="ko-KR" altLang="en-US" sz="1000"/>
              <a:t>동일</a:t>
            </a:r>
            <a:r>
              <a:rPr lang="en-US" altLang="ko-KR" sz="1000"/>
              <a:t>)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7" y="4343433"/>
            <a:ext cx="3168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</a:t>
            </a:r>
            <a:r>
              <a:rPr lang="en-US" altLang="ko-KR" sz="1000" smtClean="0"/>
              <a:t>FHPTC_DrFailIGBT = 1</a:t>
            </a:r>
          </a:p>
          <a:p>
            <a:r>
              <a:rPr lang="en-US" altLang="ko-KR" sz="1000" smtClean="0"/>
              <a:t> FHPTC_DrFlt = 1 (</a:t>
            </a:r>
            <a:r>
              <a:rPr lang="ko-KR" altLang="en-US" sz="1000"/>
              <a:t>통합 </a:t>
            </a:r>
            <a:r>
              <a:rPr lang="en-US" altLang="ko-KR" sz="1000"/>
              <a:t>Fault</a:t>
            </a:r>
            <a:r>
              <a:rPr lang="en-US" altLang="ko-KR" sz="1000" smtClean="0"/>
              <a:t>)</a:t>
            </a:r>
          </a:p>
          <a:p>
            <a:r>
              <a:rPr lang="en-US" altLang="ko-KR" sz="1000" smtClean="0"/>
              <a:t> FHPTC_DrOpSta = 2 (Fault </a:t>
            </a:r>
            <a:r>
              <a:rPr lang="ko-KR" altLang="en-US" sz="1000" smtClean="0"/>
              <a:t>발생 시</a:t>
            </a:r>
            <a:r>
              <a:rPr lang="en-US" altLang="ko-KR" sz="1000" smtClean="0"/>
              <a:t>)</a:t>
            </a:r>
          </a:p>
          <a:p>
            <a:endParaRPr lang="en-US" altLang="ko-KR" sz="10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597" y="2895209"/>
            <a:ext cx="4577161" cy="31229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873225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 smtClean="0">
                <a:latin typeface="+mn-ea"/>
                <a:cs typeface="Tahoma" pitchFamily="34" charset="0"/>
              </a:rPr>
              <a:t>작동로직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고장 </a:t>
            </a:r>
            <a:r>
              <a:rPr lang="ko-KR" altLang="en-US" sz="1400" smtClean="0"/>
              <a:t>진단 </a:t>
            </a:r>
            <a:r>
              <a:rPr lang="ko-KR" altLang="en-US" sz="1400" smtClean="0"/>
              <a:t>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기본 동작 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고장 검출 로직 진입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LV / HV / HV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과전류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/ Core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/ PCB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/ InterLock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센서 및 고장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진단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Fault </a:t>
            </a:r>
            <a:r>
              <a:rPr lang="ko-KR" altLang="en-US" sz="1000" smtClean="0">
                <a:solidFill>
                  <a:schemeClr val="tx1"/>
                </a:solidFill>
              </a:rPr>
              <a:t>발생 시 작동 로직 정지 및 </a:t>
            </a:r>
            <a:r>
              <a:rPr lang="en-US" altLang="ko-KR" sz="1000" smtClean="0">
                <a:solidFill>
                  <a:schemeClr val="tx1"/>
                </a:solidFill>
              </a:rPr>
              <a:t>Fault </a:t>
            </a:r>
            <a:r>
              <a:rPr lang="ko-KR" altLang="en-US" sz="1000" smtClean="0">
                <a:solidFill>
                  <a:schemeClr val="tx1"/>
                </a:solidFill>
              </a:rPr>
              <a:t>데이터 전송 후 기본 동작 로직 수행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</a:t>
            </a:r>
            <a:r>
              <a:rPr lang="en-US" altLang="ko-KR" sz="1000" smtClean="0"/>
              <a:t>FHPTC_DrFltLVLow = 1</a:t>
            </a:r>
            <a:endParaRPr lang="en-US" altLang="ko-KR" sz="1000"/>
          </a:p>
          <a:p>
            <a:r>
              <a:rPr lang="en-US" altLang="ko-KR" sz="1000" smtClean="0"/>
              <a:t> FHPTC_DrFltLVHigh = 1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FHPTC_DrFltHVLow = 1</a:t>
            </a:r>
          </a:p>
          <a:p>
            <a:r>
              <a:rPr lang="en-US" altLang="ko-KR" sz="1000" smtClean="0"/>
              <a:t> FHPTC_DrFltHVHigh = 1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FHPTC_DrFltOverCurrent = 1</a:t>
            </a:r>
          </a:p>
          <a:p>
            <a:r>
              <a:rPr lang="en-US" altLang="ko-KR" sz="1000" smtClean="0"/>
              <a:t> FHPTC_DrFltThermalShutDn = 1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FHPTC_DrFltPcbThermalShutDn = 1</a:t>
            </a:r>
          </a:p>
          <a:p>
            <a:r>
              <a:rPr lang="en-US" altLang="ko-KR" sz="1000" smtClean="0"/>
              <a:t> FHPTC_DrFailCurrentSnr = 1</a:t>
            </a:r>
            <a:endParaRPr lang="en-US" altLang="ko-KR" sz="1000"/>
          </a:p>
          <a:p>
            <a:r>
              <a:rPr lang="en-US" altLang="ko-KR" sz="1000" smtClean="0"/>
              <a:t> FHPTC_DrFailCoreTempSnr = 1</a:t>
            </a:r>
          </a:p>
          <a:p>
            <a:r>
              <a:rPr lang="en-US" altLang="ko-KR" sz="1000" smtClean="0"/>
              <a:t> FHPTC_DrFailPcbTempSnr = 1</a:t>
            </a:r>
          </a:p>
          <a:p>
            <a:r>
              <a:rPr lang="en-US" altLang="ko-KR" sz="1000" smtClean="0"/>
              <a:t> FHPTC_DrFlt </a:t>
            </a:r>
            <a:r>
              <a:rPr lang="en-US" altLang="ko-KR" sz="1000"/>
              <a:t>= </a:t>
            </a:r>
            <a:r>
              <a:rPr lang="en-US" altLang="ko-KR" sz="1000" smtClean="0"/>
              <a:t>1 (</a:t>
            </a:r>
            <a:r>
              <a:rPr lang="ko-KR" altLang="en-US" sz="1000" smtClean="0"/>
              <a:t>통합 </a:t>
            </a:r>
            <a:r>
              <a:rPr lang="en-US" altLang="ko-KR" sz="1000" smtClean="0"/>
              <a:t>Fault)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FHPTC_DrOpSta &gt; 0 (Fault </a:t>
            </a:r>
            <a:r>
              <a:rPr lang="ko-KR" altLang="en-US" sz="1000" smtClean="0"/>
              <a:t>발생 시</a:t>
            </a:r>
            <a:r>
              <a:rPr lang="en-US" altLang="ko-KR" sz="1000" smtClean="0"/>
              <a:t>)</a:t>
            </a:r>
          </a:p>
          <a:p>
            <a:endParaRPr lang="en-US" altLang="ko-KR" sz="1000"/>
          </a:p>
          <a:p>
            <a:endParaRPr lang="en-US" altLang="ko-KR" sz="1000" smtClean="0"/>
          </a:p>
          <a:p>
            <a:endParaRPr lang="en-US" altLang="ko-KR" sz="1000"/>
          </a:p>
          <a:p>
            <a:endParaRPr lang="en-US" altLang="ko-KR" sz="1000" smtClean="0"/>
          </a:p>
          <a:p>
            <a:endParaRPr lang="en-US" altLang="ko-KR" sz="1000"/>
          </a:p>
          <a:p>
            <a:endParaRPr lang="en-US" altLang="ko-KR" sz="1000" smtClean="0"/>
          </a:p>
          <a:p>
            <a:endParaRPr lang="en-US" altLang="ko-KR" sz="1000"/>
          </a:p>
          <a:p>
            <a:endParaRPr lang="en-US" altLang="ko-KR" sz="1000" smtClean="0"/>
          </a:p>
          <a:p>
            <a:endParaRPr lang="en-US" altLang="ko-KR" sz="1000"/>
          </a:p>
          <a:p>
            <a:endParaRPr lang="en-US" altLang="ko-KR" sz="1000" smtClean="0"/>
          </a:p>
          <a:p>
            <a:endParaRPr lang="en-US" altLang="ko-KR" sz="1000"/>
          </a:p>
          <a:p>
            <a:r>
              <a:rPr lang="en-US" altLang="ko-KR" sz="1000"/>
              <a:t> FHPTC_DrFlt</a:t>
            </a:r>
          </a:p>
          <a:p>
            <a:endParaRPr lang="en-US" altLang="ko-KR" sz="1000"/>
          </a:p>
        </p:txBody>
      </p:sp>
      <p:sp>
        <p:nvSpPr>
          <p:cNvPr id="18" name="TextBox 17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852936"/>
            <a:ext cx="4269150" cy="317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3442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 smtClean="0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 smtClean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880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LV </a:t>
            </a:r>
            <a:r>
              <a:rPr lang="ko-KR" altLang="en-US" sz="1400" smtClean="0"/>
              <a:t>전압 </a:t>
            </a:r>
            <a:r>
              <a:rPr lang="ko-KR" altLang="en-US" sz="1400" smtClean="0"/>
              <a:t>진단</a:t>
            </a:r>
            <a:r>
              <a:rPr lang="ko-KR" altLang="en-US" sz="1400" smtClean="0"/>
              <a:t> </a:t>
            </a:r>
            <a:r>
              <a:rPr lang="ko-KR" altLang="en-US" sz="1400" smtClean="0"/>
              <a:t>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000">
                <a:solidFill>
                  <a:schemeClr val="tx1"/>
                </a:solidFill>
              </a:rPr>
              <a:t>LV </a:t>
            </a:r>
            <a:r>
              <a:rPr lang="ko-KR" altLang="en-US" sz="1000">
                <a:solidFill>
                  <a:schemeClr val="tx1"/>
                </a:solidFill>
              </a:rPr>
              <a:t>전압 측정 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LV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센서 고장 진단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(500ms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)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LV Low/High </a:t>
            </a:r>
            <a:r>
              <a:rPr lang="ko-KR" altLang="en-US" sz="1000" smtClean="0">
                <a:solidFill>
                  <a:schemeClr val="tx1"/>
                </a:solidFill>
              </a:rPr>
              <a:t>고장 진단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>
              <a:solidFill>
                <a:schemeClr val="tx1"/>
              </a:solidFill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FHPTC_DrFailLVSnr = 1 (LV </a:t>
            </a:r>
            <a:r>
              <a:rPr lang="ko-KR" altLang="en-US" sz="1000" smtClean="0"/>
              <a:t>센서 고장 진단 시</a:t>
            </a:r>
            <a:r>
              <a:rPr lang="en-US" altLang="ko-KR" sz="1000" smtClean="0"/>
              <a:t>)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FHPTC_DrFltLVLow = 1 (LV </a:t>
            </a:r>
            <a:r>
              <a:rPr lang="ko-KR" altLang="en-US" sz="1000" smtClean="0"/>
              <a:t>저전압 진단</a:t>
            </a:r>
            <a:r>
              <a:rPr lang="en-US" altLang="ko-KR" sz="1000" smtClean="0"/>
              <a:t> </a:t>
            </a:r>
            <a:r>
              <a:rPr lang="ko-KR" altLang="en-US" sz="1000" smtClean="0"/>
              <a:t>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FHPTC_DrFltLVHigh = 1 (LV </a:t>
            </a:r>
            <a:r>
              <a:rPr lang="ko-KR" altLang="en-US" sz="1000" smtClean="0"/>
              <a:t>고전압 진단 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 </a:t>
            </a:r>
            <a:r>
              <a:rPr lang="en-US" altLang="ko-KR" sz="1000"/>
              <a:t>= 1 (</a:t>
            </a:r>
            <a:r>
              <a:rPr lang="ko-KR" altLang="en-US" sz="1000"/>
              <a:t>통합 </a:t>
            </a:r>
            <a:r>
              <a:rPr lang="en-US" altLang="ko-KR" sz="1000"/>
              <a:t>Fault)</a:t>
            </a:r>
          </a:p>
          <a:p>
            <a:r>
              <a:rPr lang="en-US" altLang="ko-KR" sz="1000"/>
              <a:t> 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sp>
        <p:nvSpPr>
          <p:cNvPr id="17" name="TextBox 16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753" y="3325090"/>
            <a:ext cx="4464495" cy="233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783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H</a:t>
            </a:r>
            <a:r>
              <a:rPr lang="en-US" altLang="ko-KR" sz="1400" smtClean="0"/>
              <a:t>V </a:t>
            </a:r>
            <a:r>
              <a:rPr lang="ko-KR" altLang="en-US" sz="1400" smtClean="0"/>
              <a:t>전압 </a:t>
            </a:r>
            <a:r>
              <a:rPr lang="ko-KR" altLang="en-US" sz="1400" smtClean="0"/>
              <a:t>진단</a:t>
            </a:r>
            <a:r>
              <a:rPr lang="ko-KR" altLang="en-US" sz="1400" smtClean="0"/>
              <a:t> </a:t>
            </a:r>
            <a:r>
              <a:rPr lang="ko-KR" altLang="en-US" sz="1400" smtClean="0"/>
              <a:t>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</a:t>
            </a:r>
            <a:r>
              <a:rPr lang="en-US" altLang="ko-KR" sz="1000" smtClean="0">
                <a:solidFill>
                  <a:schemeClr val="tx1"/>
                </a:solidFill>
              </a:rPr>
              <a:t>V </a:t>
            </a:r>
            <a:r>
              <a:rPr lang="ko-KR" altLang="en-US" sz="1000">
                <a:solidFill>
                  <a:schemeClr val="tx1"/>
                </a:solidFill>
              </a:rPr>
              <a:t>전압 측정 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HV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센서 고장 진단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(500ms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)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HV Low/High </a:t>
            </a:r>
            <a:r>
              <a:rPr lang="ko-KR" altLang="en-US" sz="1000" smtClean="0">
                <a:solidFill>
                  <a:schemeClr val="tx1"/>
                </a:solidFill>
              </a:rPr>
              <a:t>고장 진단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>
              <a:solidFill>
                <a:schemeClr val="tx1"/>
              </a:solidFill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FHPTC_DrFailHVSnr = 1 (HV </a:t>
            </a:r>
            <a:r>
              <a:rPr lang="ko-KR" altLang="en-US" sz="1000" smtClean="0"/>
              <a:t>센서 고장 진단 시</a:t>
            </a:r>
            <a:r>
              <a:rPr lang="en-US" altLang="ko-KR" sz="1000" smtClean="0"/>
              <a:t>)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FHPTC_DrFltHVLow = 1 (HV </a:t>
            </a:r>
            <a:r>
              <a:rPr lang="ko-KR" altLang="en-US" sz="1000" smtClean="0"/>
              <a:t>저전압 진단 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FHPTC_DrFltHVHigh = 1 (HV </a:t>
            </a:r>
            <a:r>
              <a:rPr lang="ko-KR" altLang="en-US" sz="1000" smtClean="0"/>
              <a:t>고전압 진단 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 </a:t>
            </a:r>
            <a:r>
              <a:rPr lang="en-US" altLang="ko-KR" sz="1000"/>
              <a:t>= 1 (</a:t>
            </a:r>
            <a:r>
              <a:rPr lang="ko-KR" altLang="en-US" sz="1000"/>
              <a:t>통합 </a:t>
            </a:r>
            <a:r>
              <a:rPr lang="en-US" altLang="ko-KR" sz="1000"/>
              <a:t>Fault)</a:t>
            </a:r>
          </a:p>
          <a:p>
            <a:r>
              <a:rPr lang="en-US" altLang="ko-KR" sz="1000"/>
              <a:t> 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sp>
        <p:nvSpPr>
          <p:cNvPr id="17" name="TextBox 16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174" y="3326165"/>
            <a:ext cx="4543958" cy="227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391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H</a:t>
            </a:r>
            <a:r>
              <a:rPr lang="en-US" altLang="ko-KR" sz="1400" smtClean="0"/>
              <a:t>V </a:t>
            </a:r>
            <a:r>
              <a:rPr lang="ko-KR" altLang="en-US" sz="1400" smtClean="0"/>
              <a:t>전</a:t>
            </a:r>
            <a:r>
              <a:rPr lang="ko-KR" altLang="en-US" sz="1400" smtClean="0"/>
              <a:t>류</a:t>
            </a:r>
            <a:r>
              <a:rPr lang="ko-KR" altLang="en-US" sz="1400" smtClean="0"/>
              <a:t> 진단 </a:t>
            </a:r>
            <a:r>
              <a:rPr lang="ko-KR" altLang="en-US" sz="1400" smtClean="0"/>
              <a:t>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</a:t>
            </a:r>
            <a:r>
              <a:rPr lang="en-US" altLang="ko-KR" sz="1000" smtClean="0">
                <a:solidFill>
                  <a:schemeClr val="tx1"/>
                </a:solidFill>
              </a:rPr>
              <a:t>V </a:t>
            </a:r>
            <a:r>
              <a:rPr lang="ko-KR" altLang="en-US" sz="1000" smtClean="0">
                <a:solidFill>
                  <a:schemeClr val="tx1"/>
                </a:solidFill>
              </a:rPr>
              <a:t>전류 측정 </a:t>
            </a:r>
            <a:r>
              <a:rPr lang="ko-KR" altLang="en-US" sz="1000">
                <a:solidFill>
                  <a:schemeClr val="tx1"/>
                </a:solidFill>
              </a:rPr>
              <a:t>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HV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전류 센서 고장 진단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 (100ms)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</a:rPr>
              <a:t>HV </a:t>
            </a:r>
            <a:r>
              <a:rPr lang="ko-KR" altLang="en-US" sz="1000" smtClean="0">
                <a:solidFill>
                  <a:schemeClr val="tx1"/>
                </a:solidFill>
              </a:rPr>
              <a:t>과전류 진단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>
              <a:solidFill>
                <a:schemeClr val="tx1"/>
              </a:solidFill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FHPTC_2ndDrFailCurrentSnr = 1 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(HV </a:t>
            </a:r>
            <a:r>
              <a:rPr lang="ko-KR" altLang="en-US" sz="1000" smtClean="0"/>
              <a:t>전류 센서 고장 진단</a:t>
            </a:r>
            <a:r>
              <a:rPr lang="en-US" altLang="ko-KR" sz="1000" smtClean="0"/>
              <a:t> </a:t>
            </a:r>
            <a:r>
              <a:rPr lang="ko-KR" altLang="en-US" sz="1000" smtClean="0"/>
              <a:t>시</a:t>
            </a:r>
            <a:r>
              <a:rPr lang="en-US" altLang="ko-KR" sz="1000" smtClean="0"/>
              <a:t>)</a:t>
            </a:r>
          </a:p>
          <a:p>
            <a:r>
              <a:rPr lang="en-US" altLang="ko-KR" sz="1000"/>
              <a:t> </a:t>
            </a:r>
            <a:r>
              <a:rPr lang="en-US" altLang="ko-KR" sz="1000"/>
              <a:t>FHPTC_2ndDrFltOverCurrent = </a:t>
            </a:r>
            <a:r>
              <a:rPr lang="en-US" altLang="ko-KR" sz="1000"/>
              <a:t>1 </a:t>
            </a:r>
            <a:r>
              <a:rPr lang="en-US" altLang="ko-KR" sz="1000" smtClean="0"/>
              <a:t>(</a:t>
            </a:r>
            <a:r>
              <a:rPr lang="ko-KR" altLang="en-US" sz="1000" smtClean="0"/>
              <a:t>과전류 진단</a:t>
            </a:r>
            <a:r>
              <a:rPr lang="en-US" altLang="ko-KR" sz="1000" smtClean="0"/>
              <a:t> </a:t>
            </a:r>
            <a:r>
              <a:rPr lang="ko-KR" altLang="en-US" sz="1000" smtClean="0"/>
              <a:t>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 </a:t>
            </a:r>
            <a:r>
              <a:rPr lang="en-US" altLang="ko-KR" sz="1000"/>
              <a:t>= 1 (</a:t>
            </a:r>
            <a:r>
              <a:rPr lang="ko-KR" altLang="en-US" sz="1000"/>
              <a:t>통합 </a:t>
            </a:r>
            <a:r>
              <a:rPr lang="en-US" altLang="ko-KR" sz="1000"/>
              <a:t>Fault)</a:t>
            </a:r>
          </a:p>
          <a:p>
            <a:r>
              <a:rPr lang="en-US" altLang="ko-KR" sz="1000"/>
              <a:t> 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982" y="3289231"/>
            <a:ext cx="4416276" cy="2376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514555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2658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IGBT</a:t>
            </a:r>
            <a:r>
              <a:rPr lang="ko-KR" altLang="en-US" sz="1400" smtClean="0"/>
              <a:t> </a:t>
            </a:r>
            <a:r>
              <a:rPr lang="en-US" altLang="ko-KR" sz="1400" smtClean="0"/>
              <a:t>Open/Short </a:t>
            </a:r>
            <a:r>
              <a:rPr lang="ko-KR" altLang="en-US" sz="1400" smtClean="0"/>
              <a:t>진단</a:t>
            </a:r>
            <a:r>
              <a:rPr lang="ko-KR" altLang="en-US" sz="1400" smtClean="0"/>
              <a:t>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IGBT Open/Short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진단 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의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ON/OFF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상태 체크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ON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</a:p>
          <a:p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 : 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ON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IGBT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PWM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신호를 출력하지만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5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초동안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전류가 공급되지 않으면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IGBT Open Fault</a:t>
            </a:r>
          </a:p>
          <a:p>
            <a:pPr marL="228600" indent="-228600">
              <a:buAutoNum type="arabicPeriod" startAt="4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Heater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OFF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</a:p>
          <a:p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 : 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OFF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IGBT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PWM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신호를 미출력하지만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5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초동안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전류가 공급되면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IGBT Short Fault</a:t>
            </a:r>
          </a:p>
          <a:p>
            <a:endParaRPr lang="en-US" altLang="ko-KR" sz="100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</a:t>
            </a:r>
            <a:r>
              <a:rPr lang="en-US" altLang="ko-KR" sz="1000" smtClean="0"/>
              <a:t>FHPTC_DrFailIGBT </a:t>
            </a:r>
            <a:r>
              <a:rPr lang="en-US" altLang="ko-KR" sz="1000"/>
              <a:t>= </a:t>
            </a:r>
            <a:r>
              <a:rPr lang="en-US" altLang="ko-KR" sz="1000"/>
              <a:t>1 </a:t>
            </a:r>
            <a:r>
              <a:rPr lang="en-US" altLang="ko-KR" sz="1000" smtClean="0"/>
              <a:t>(IGBT Short </a:t>
            </a:r>
            <a:r>
              <a:rPr lang="ko-KR" altLang="en-US" sz="1000" smtClean="0"/>
              <a:t>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FHPTC_DrFailOpenLoad = </a:t>
            </a:r>
            <a:r>
              <a:rPr lang="en-US" altLang="ko-KR" sz="1000"/>
              <a:t>1 </a:t>
            </a:r>
            <a:r>
              <a:rPr lang="en-US" altLang="ko-KR" sz="1000" smtClean="0"/>
              <a:t>(IGBT Open </a:t>
            </a:r>
            <a:r>
              <a:rPr lang="ko-KR" altLang="en-US" sz="1000" smtClean="0"/>
              <a:t>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 </a:t>
            </a:r>
            <a:r>
              <a:rPr lang="en-US" altLang="ko-KR" sz="1000"/>
              <a:t>= 1 (</a:t>
            </a:r>
            <a:r>
              <a:rPr lang="ko-KR" altLang="en-US" sz="1000"/>
              <a:t>통합 </a:t>
            </a:r>
            <a:r>
              <a:rPr lang="en-US" altLang="ko-KR" sz="1000"/>
              <a:t>Fault)</a:t>
            </a:r>
          </a:p>
          <a:p>
            <a:r>
              <a:rPr lang="en-US" altLang="ko-KR" sz="1000"/>
              <a:t> 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129" y="3027149"/>
            <a:ext cx="4416097" cy="2643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40060918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2658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IGBT</a:t>
            </a:r>
            <a:r>
              <a:rPr lang="ko-KR" altLang="en-US" sz="1400" smtClean="0"/>
              <a:t> </a:t>
            </a:r>
            <a:r>
              <a:rPr lang="en-US" altLang="ko-KR" sz="1400" smtClean="0"/>
              <a:t>Open/Short </a:t>
            </a:r>
            <a:r>
              <a:rPr lang="ko-KR" altLang="en-US" sz="1400" smtClean="0"/>
              <a:t>진단</a:t>
            </a:r>
            <a:r>
              <a:rPr lang="ko-KR" altLang="en-US" sz="1400" smtClean="0"/>
              <a:t>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IGBT Open/Short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진단 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의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ON/OFF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상태 체크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ON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</a:p>
          <a:p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 : 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ON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IGBT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PWM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신호를 출력하지만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5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초동안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전류가 공급되지 않으면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IGBT Open Fault</a:t>
            </a:r>
          </a:p>
          <a:p>
            <a:pPr marL="228600" indent="-228600">
              <a:buAutoNum type="arabicPeriod" startAt="4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Heater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OFF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</a:p>
          <a:p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 : Heater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가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OFF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IGBT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PWM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신호를 미출력하지만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5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초동안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전류가 공급되면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IGBT Short Fault</a:t>
            </a:r>
          </a:p>
          <a:p>
            <a:endParaRPr lang="en-US" altLang="ko-KR" sz="100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</a:t>
            </a:r>
            <a:r>
              <a:rPr lang="en-US" altLang="ko-KR" sz="1000" smtClean="0"/>
              <a:t>FHPTC_DrFailIGBT </a:t>
            </a:r>
            <a:r>
              <a:rPr lang="en-US" altLang="ko-KR" sz="1000"/>
              <a:t>= </a:t>
            </a:r>
            <a:r>
              <a:rPr lang="en-US" altLang="ko-KR" sz="1000"/>
              <a:t>1 </a:t>
            </a:r>
            <a:r>
              <a:rPr lang="en-US" altLang="ko-KR" sz="1000" smtClean="0"/>
              <a:t>(IGBT Short </a:t>
            </a:r>
            <a:r>
              <a:rPr lang="ko-KR" altLang="en-US" sz="1000" smtClean="0"/>
              <a:t>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FHPTC_DrFailOpenLoad = </a:t>
            </a:r>
            <a:r>
              <a:rPr lang="en-US" altLang="ko-KR" sz="1000"/>
              <a:t>1 </a:t>
            </a:r>
            <a:r>
              <a:rPr lang="en-US" altLang="ko-KR" sz="1000" smtClean="0"/>
              <a:t>(IGBT Open </a:t>
            </a:r>
            <a:r>
              <a:rPr lang="ko-KR" altLang="en-US" sz="1000" smtClean="0"/>
              <a:t>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 </a:t>
            </a:r>
            <a:r>
              <a:rPr lang="en-US" altLang="ko-KR" sz="1000"/>
              <a:t>= 1 (</a:t>
            </a:r>
            <a:r>
              <a:rPr lang="ko-KR" altLang="en-US" sz="1000"/>
              <a:t>통합 </a:t>
            </a:r>
            <a:r>
              <a:rPr lang="en-US" altLang="ko-KR" sz="1000"/>
              <a:t>Fault)</a:t>
            </a:r>
          </a:p>
          <a:p>
            <a:r>
              <a:rPr lang="en-US" altLang="ko-KR" sz="1000"/>
              <a:t> 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129" y="3027149"/>
            <a:ext cx="4416097" cy="2643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9544481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20704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Core </a:t>
            </a:r>
            <a:r>
              <a:rPr lang="ko-KR" altLang="en-US" sz="1400" smtClean="0"/>
              <a:t>온도 </a:t>
            </a:r>
            <a:r>
              <a:rPr lang="ko-KR" altLang="en-US" sz="1400" smtClean="0"/>
              <a:t>진단</a:t>
            </a:r>
            <a:r>
              <a:rPr lang="ko-KR" altLang="en-US" sz="1400" smtClean="0"/>
              <a:t>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Core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 진단 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Core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 센서 고장 진단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(100ms)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Core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온도가 정상 일경우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정상 동작 하며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, ATCU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 현재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Core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 전송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4.   Core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온도가 과열 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 FHPTC_2ndDrCoreTemp_C </a:t>
            </a:r>
            <a:r>
              <a:rPr lang="en-US" altLang="ko-KR" sz="1000"/>
              <a:t>= </a:t>
            </a:r>
            <a:r>
              <a:rPr lang="en-US" altLang="ko-KR" sz="1000" smtClean="0"/>
              <a:t>30 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(Normal </a:t>
            </a:r>
            <a:r>
              <a:rPr lang="ko-KR" altLang="en-US" sz="1000" smtClean="0"/>
              <a:t>시 온도 전송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/>
              <a:t> FHPTC_DrFltThermalShutDn = </a:t>
            </a:r>
            <a:r>
              <a:rPr lang="en-US" altLang="ko-KR" sz="1000"/>
              <a:t>1 </a:t>
            </a:r>
            <a:endParaRPr lang="en-US" altLang="ko-KR" sz="1000" smtClean="0"/>
          </a:p>
          <a:p>
            <a:r>
              <a:rPr lang="en-US" altLang="ko-KR" sz="1000"/>
              <a:t> </a:t>
            </a:r>
            <a:r>
              <a:rPr lang="en-US" altLang="ko-KR" sz="1000" smtClean="0"/>
              <a:t>(Core </a:t>
            </a:r>
            <a:r>
              <a:rPr lang="ko-KR" altLang="en-US" sz="1000" smtClean="0"/>
              <a:t>온도 과열 시</a:t>
            </a:r>
            <a:r>
              <a:rPr lang="en-US" altLang="ko-KR" sz="1000" smtClean="0"/>
              <a:t>)</a:t>
            </a:r>
          </a:p>
          <a:p>
            <a:r>
              <a:rPr lang="en-US" altLang="ko-KR" sz="1000" smtClean="0"/>
              <a:t> FHPTC_2ndDrFailCoreTempSnr = 1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(</a:t>
            </a:r>
            <a:r>
              <a:rPr lang="en-US" altLang="ko-KR" sz="1000"/>
              <a:t>Core </a:t>
            </a:r>
            <a:r>
              <a:rPr lang="ko-KR" altLang="en-US" sz="1000" smtClean="0"/>
              <a:t>센서 고장 진단 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 = 1 (</a:t>
            </a:r>
            <a:r>
              <a:rPr lang="ko-KR" altLang="en-US" sz="1000" smtClean="0"/>
              <a:t>통합 </a:t>
            </a:r>
            <a:r>
              <a:rPr lang="en-US" altLang="ko-KR" sz="1000" smtClean="0"/>
              <a:t>Fault)</a:t>
            </a:r>
          </a:p>
          <a:p>
            <a:r>
              <a:rPr lang="en-US" altLang="ko-KR" sz="1000" smtClean="0"/>
              <a:t> </a:t>
            </a:r>
            <a:r>
              <a:rPr lang="en-US" altLang="ko-KR" sz="1000"/>
              <a:t>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sp>
        <p:nvSpPr>
          <p:cNvPr id="13" name="TextBox 12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120" y="3421521"/>
            <a:ext cx="404681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806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2012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en-US" altLang="ko-KR" sz="1400" smtClean="0"/>
              <a:t>PCB </a:t>
            </a:r>
            <a:r>
              <a:rPr lang="ko-KR" altLang="en-US" sz="1400" smtClean="0"/>
              <a:t>온도 </a:t>
            </a:r>
            <a:r>
              <a:rPr lang="ko-KR" altLang="en-US" sz="1400" smtClean="0"/>
              <a:t>진단</a:t>
            </a:r>
            <a:r>
              <a:rPr lang="ko-KR" altLang="en-US" sz="1400" smtClean="0"/>
              <a:t>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PCB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 진단 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PCB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 센서 고장 진단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(100ms) 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PCB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온도가 정상 일경우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정상 동작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4.   PCB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온도가 과열 일경우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고장 진단 시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Fault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전송 </a:t>
            </a:r>
            <a:r>
              <a:rPr lang="en-US" altLang="ko-KR" sz="1000">
                <a:solidFill>
                  <a:schemeClr val="tx1"/>
                </a:solidFill>
                <a:sym typeface="Wingdings" panose="05000000000000000000" pitchFamily="2" charset="2"/>
              </a:rPr>
              <a:t>/ </a:t>
            </a:r>
            <a:r>
              <a:rPr lang="ko-KR" altLang="en-US" sz="1000">
                <a:solidFill>
                  <a:schemeClr val="tx1"/>
                </a:solidFill>
                <a:sym typeface="Wingdings" panose="05000000000000000000" pitchFamily="2" charset="2"/>
              </a:rPr>
              <a:t>작동 정지 후 기본 로직 수행</a:t>
            </a:r>
            <a:endParaRPr lang="en-US" altLang="ko-KR" sz="100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</a:p>
          <a:p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FHPTC_2ndDrFltPcbThermalShutDn </a:t>
            </a:r>
            <a:r>
              <a:rPr lang="en-US" altLang="ko-KR" sz="1000"/>
              <a:t>= </a:t>
            </a:r>
            <a:r>
              <a:rPr lang="en-US" altLang="ko-KR" sz="1000"/>
              <a:t>1 </a:t>
            </a:r>
            <a:endParaRPr lang="en-US" altLang="ko-KR" sz="1000" smtClean="0"/>
          </a:p>
          <a:p>
            <a:r>
              <a:rPr lang="en-US" altLang="ko-KR" sz="1000"/>
              <a:t> </a:t>
            </a:r>
            <a:r>
              <a:rPr lang="en-US" altLang="ko-KR" sz="1000" smtClean="0"/>
              <a:t>(PCB </a:t>
            </a:r>
            <a:r>
              <a:rPr lang="ko-KR" altLang="en-US" sz="1000" smtClean="0"/>
              <a:t>온도 과열 시</a:t>
            </a:r>
            <a:r>
              <a:rPr lang="en-US" altLang="ko-KR" sz="1000" smtClean="0"/>
              <a:t>)</a:t>
            </a:r>
          </a:p>
          <a:p>
            <a:r>
              <a:rPr lang="en-US" altLang="ko-KR" sz="1000"/>
              <a:t> FHPTC_2ndDrFailPcbTempSnr = 1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(PCB </a:t>
            </a:r>
            <a:r>
              <a:rPr lang="ko-KR" altLang="en-US" sz="1000" smtClean="0"/>
              <a:t>센서 고장 진단 시</a:t>
            </a:r>
            <a:r>
              <a:rPr lang="en-US" altLang="ko-KR" sz="1000" smtClean="0"/>
              <a:t>)</a:t>
            </a:r>
            <a:endParaRPr lang="en-US" altLang="ko-KR" sz="1000"/>
          </a:p>
          <a:p>
            <a:r>
              <a:rPr lang="en-US" altLang="ko-KR" sz="1000" smtClean="0"/>
              <a:t> FHPTC_DrFlt = 1 (</a:t>
            </a:r>
            <a:r>
              <a:rPr lang="ko-KR" altLang="en-US" sz="1000" smtClean="0"/>
              <a:t>통합 </a:t>
            </a:r>
            <a:r>
              <a:rPr lang="en-US" altLang="ko-KR" sz="1000" smtClean="0"/>
              <a:t>Fault)</a:t>
            </a:r>
          </a:p>
          <a:p>
            <a:r>
              <a:rPr lang="en-US" altLang="ko-KR" sz="1000" smtClean="0"/>
              <a:t> </a:t>
            </a:r>
            <a:r>
              <a:rPr lang="en-US" altLang="ko-KR" sz="1000"/>
              <a:t>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sp>
        <p:nvSpPr>
          <p:cNvPr id="13" name="TextBox 12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183" y="3412342"/>
            <a:ext cx="4217991" cy="220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431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83568" y="2680229"/>
            <a:ext cx="7848872" cy="35708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4" name="부제목 2"/>
          <p:cNvSpPr txBox="1">
            <a:spLocks/>
          </p:cNvSpPr>
          <p:nvPr/>
        </p:nvSpPr>
        <p:spPr>
          <a:xfrm>
            <a:off x="179512" y="188640"/>
            <a:ext cx="7200800" cy="360040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spcBef>
                <a:spcPct val="20000"/>
              </a:spcBef>
              <a:spcAft>
                <a:spcPct val="0"/>
              </a:spcAft>
            </a:pPr>
            <a:r>
              <a:rPr lang="ko-KR" altLang="en-US" b="1">
                <a:latin typeface="+mn-ea"/>
                <a:cs typeface="Tahoma" pitchFamily="34" charset="0"/>
              </a:rPr>
              <a:t>고전압 </a:t>
            </a:r>
            <a:r>
              <a:rPr lang="en-US" altLang="ko-KR" b="1">
                <a:latin typeface="+mn-ea"/>
                <a:cs typeface="Tahoma" pitchFamily="34" charset="0"/>
              </a:rPr>
              <a:t>Air PTC Heater </a:t>
            </a:r>
            <a:r>
              <a:rPr lang="ko-KR" altLang="en-US" b="1" smtClean="0">
                <a:latin typeface="+mn-ea"/>
                <a:cs typeface="Tahoma" pitchFamily="34" charset="0"/>
              </a:rPr>
              <a:t>제어 로직 </a:t>
            </a:r>
            <a:r>
              <a:rPr lang="en-US" altLang="ko-KR" b="1" smtClean="0">
                <a:latin typeface="+mn-ea"/>
                <a:cs typeface="Tahoma" pitchFamily="34" charset="0"/>
              </a:rPr>
              <a:t>– </a:t>
            </a:r>
            <a:r>
              <a:rPr lang="ko-KR" altLang="en-US" b="1">
                <a:latin typeface="+mn-ea"/>
                <a:cs typeface="Tahoma" pitchFamily="34" charset="0"/>
              </a:rPr>
              <a:t>고장진단세부로직</a:t>
            </a:r>
            <a:endParaRPr lang="en-US" altLang="ko-KR" b="1" dirty="0">
              <a:latin typeface="+mn-ea"/>
              <a:cs typeface="Tahoma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3528" y="646819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■ </a:t>
            </a:r>
            <a:r>
              <a:rPr lang="ko-KR" altLang="en-US" sz="1400" smtClean="0"/>
              <a:t>인터락 진단 로직</a:t>
            </a:r>
            <a:endParaRPr lang="ko-KR" altLang="en-US" sz="1400"/>
          </a:p>
        </p:txBody>
      </p:sp>
      <p:sp>
        <p:nvSpPr>
          <p:cNvPr id="2" name="직사각형 1"/>
          <p:cNvSpPr/>
          <p:nvPr/>
        </p:nvSpPr>
        <p:spPr>
          <a:xfrm>
            <a:off x="683568" y="1052736"/>
            <a:ext cx="7848872" cy="151216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</a:rPr>
              <a:t>고장 진단 </a:t>
            </a:r>
            <a:r>
              <a:rPr lang="ko-KR" altLang="en-US" sz="1000" smtClean="0">
                <a:solidFill>
                  <a:schemeClr val="tx1"/>
                </a:solidFill>
              </a:rPr>
              <a:t>로직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인터락 진단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로직</a:t>
            </a:r>
            <a:endParaRPr lang="en-US" altLang="ko-KR" sz="100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28600" indent="-228600">
              <a:buAutoNum type="arabicPeriod"/>
            </a:pP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인터락이 고장 진단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(1s)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00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00" smtClean="0">
                <a:solidFill>
                  <a:schemeClr val="tx1"/>
                </a:solidFill>
                <a:sym typeface="Wingdings" panose="05000000000000000000" pitchFamily="2" charset="2"/>
              </a:rPr>
              <a:t>미체결로 고장 진단 시 작동 정지</a:t>
            </a:r>
            <a:endParaRPr lang="en-US" altLang="ko-KR" sz="1000" smtClean="0">
              <a:solidFill>
                <a:schemeClr val="tx1"/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 flipV="1">
            <a:off x="3851920" y="2680230"/>
            <a:ext cx="0" cy="357081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683568" y="3140968"/>
            <a:ext cx="316835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3569" y="3166121"/>
            <a:ext cx="3168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/>
              <a:t>◎ </a:t>
            </a:r>
            <a:r>
              <a:rPr lang="en-US" altLang="ko-KR" sz="1000" smtClean="0"/>
              <a:t>P</a:t>
            </a:r>
            <a:r>
              <a:rPr lang="en-US" altLang="ko-KR" sz="1000" smtClean="0">
                <a:sym typeface="Wingdings" panose="05000000000000000000" pitchFamily="2" charset="2"/>
              </a:rPr>
              <a:t>TC Heater  </a:t>
            </a:r>
            <a:r>
              <a:rPr lang="en-US" altLang="ko-KR" sz="1000" smtClean="0"/>
              <a:t>ATCU</a:t>
            </a:r>
            <a:endParaRPr lang="ko-KR" alt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683568" y="3421449"/>
            <a:ext cx="31683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 FHPTC_IntlkSta </a:t>
            </a:r>
            <a:r>
              <a:rPr lang="en-US" altLang="ko-KR" sz="1000"/>
              <a:t>= </a:t>
            </a:r>
            <a:r>
              <a:rPr lang="en-US" altLang="ko-KR" sz="1000"/>
              <a:t>1 </a:t>
            </a:r>
            <a:r>
              <a:rPr lang="en-US" altLang="ko-KR" sz="1000" smtClean="0"/>
              <a:t>(</a:t>
            </a:r>
            <a:r>
              <a:rPr lang="ko-KR" altLang="en-US" sz="1000" smtClean="0"/>
              <a:t>인터락 고장 진단 시</a:t>
            </a:r>
            <a:r>
              <a:rPr lang="en-US" altLang="ko-KR" sz="1000" smtClean="0"/>
              <a:t>)</a:t>
            </a:r>
          </a:p>
          <a:p>
            <a:r>
              <a:rPr lang="en-US" altLang="ko-KR" sz="1000"/>
              <a:t> </a:t>
            </a:r>
            <a:r>
              <a:rPr lang="en-US" altLang="ko-KR" sz="1000" smtClean="0"/>
              <a:t>FHPTC_DrFlt = 1 (</a:t>
            </a:r>
            <a:r>
              <a:rPr lang="ko-KR" altLang="en-US" sz="1000" smtClean="0"/>
              <a:t>통합 </a:t>
            </a:r>
            <a:r>
              <a:rPr lang="en-US" altLang="ko-KR" sz="1000" smtClean="0"/>
              <a:t>Fault)</a:t>
            </a:r>
          </a:p>
          <a:p>
            <a:r>
              <a:rPr lang="en-US" altLang="ko-KR" sz="1000" smtClean="0"/>
              <a:t> </a:t>
            </a:r>
            <a:r>
              <a:rPr lang="en-US" altLang="ko-KR" sz="1000"/>
              <a:t>FHPTC_DrOpSta &gt; 0 (Fault </a:t>
            </a:r>
            <a:r>
              <a:rPr lang="ko-KR" altLang="en-US" sz="1000"/>
              <a:t>발생 시</a:t>
            </a:r>
            <a:r>
              <a:rPr lang="en-US" altLang="ko-KR" sz="1000"/>
              <a:t>)</a:t>
            </a:r>
          </a:p>
          <a:p>
            <a:endParaRPr lang="en-US" altLang="ko-KR" sz="1000"/>
          </a:p>
        </p:txBody>
      </p:sp>
      <p:sp>
        <p:nvSpPr>
          <p:cNvPr id="13" name="TextBox 12"/>
          <p:cNvSpPr txBox="1"/>
          <p:nvPr/>
        </p:nvSpPr>
        <p:spPr>
          <a:xfrm>
            <a:off x="683567" y="2710378"/>
            <a:ext cx="31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mtClean="0"/>
              <a:t>Signal </a:t>
            </a:r>
          </a:p>
          <a:p>
            <a:pPr algn="ctr"/>
            <a:r>
              <a:rPr lang="en-US" altLang="ko-KR" sz="1000" smtClean="0"/>
              <a:t>(Driver Zone </a:t>
            </a:r>
            <a:r>
              <a:rPr lang="ko-KR" altLang="en-US" sz="1000" smtClean="0"/>
              <a:t>기준 작성 </a:t>
            </a:r>
            <a:r>
              <a:rPr lang="en-US" altLang="ko-KR" sz="1000" smtClean="0"/>
              <a:t>/ Passenger Zone </a:t>
            </a:r>
            <a:r>
              <a:rPr lang="ko-KR" altLang="en-US" sz="1000" smtClean="0"/>
              <a:t>동일</a:t>
            </a:r>
            <a:r>
              <a:rPr lang="en-US" altLang="ko-KR" sz="1000" smtClean="0"/>
              <a:t>)</a:t>
            </a:r>
            <a:endParaRPr lang="ko-KR" altLang="en-US" sz="10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984" y="3645024"/>
            <a:ext cx="3611979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041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4702</TotalTime>
  <Words>1678</Words>
  <Application>Microsoft Office PowerPoint</Application>
  <PresentationFormat>화면 슬라이드 쇼(4:3)</PresentationFormat>
  <Paragraphs>262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굴림</vt:lpstr>
      <vt:lpstr>맑은 고딕</vt:lpstr>
      <vt:lpstr>Arial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Windows 사용자</cp:lastModifiedBy>
  <cp:revision>268</cp:revision>
  <dcterms:created xsi:type="dcterms:W3CDTF">2024-02-23T01:38:31Z</dcterms:created>
  <dcterms:modified xsi:type="dcterms:W3CDTF">2024-06-19T05:35:26Z</dcterms:modified>
</cp:coreProperties>
</file>