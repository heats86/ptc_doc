
<file path=[Content_Types].xml><?xml version="1.0" encoding="utf-8"?>
<Types xmlns="http://schemas.openxmlformats.org/package/2006/content-types">
  <Default Extension="png" ContentType="image/png"/>
  <Default Extension="emf" ContentType="image/x-emf"/>
  <Default Extension="wmf" ContentType="image/x-wmf"/>
  <Default Extension="rels" ContentType="application/vnd.openxmlformats-package.relationships+xml"/>
  <Default Extension="xml" ContentType="application/xml"/>
  <Default Extension="vml" ContentType="application/vnd.openxmlformats-officedocument.vmlDrawi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firstSlideNum="0" showSpecialPlsOnTitleSld="0" saveSubsetFonts="1">
  <p:sldMasterIdLst>
    <p:sldMasterId id="2147483661" r:id="rId1"/>
  </p:sldMasterIdLst>
  <p:notesMasterIdLst>
    <p:notesMasterId r:id="rId16"/>
  </p:notesMasterIdLst>
  <p:handoutMasterIdLst>
    <p:handoutMasterId r:id="rId17"/>
  </p:handoutMasterIdLst>
  <p:sldIdLst>
    <p:sldId id="458" r:id="rId2"/>
    <p:sldId id="655" r:id="rId3"/>
    <p:sldId id="651" r:id="rId4"/>
    <p:sldId id="658" r:id="rId5"/>
    <p:sldId id="666" r:id="rId6"/>
    <p:sldId id="667" r:id="rId7"/>
    <p:sldId id="665" r:id="rId8"/>
    <p:sldId id="662" r:id="rId9"/>
    <p:sldId id="653" r:id="rId10"/>
    <p:sldId id="656" r:id="rId11"/>
    <p:sldId id="660" r:id="rId12"/>
    <p:sldId id="659" r:id="rId13"/>
    <p:sldId id="663" r:id="rId14"/>
    <p:sldId id="657" r:id="rId15"/>
  </p:sldIdLst>
  <p:sldSz cx="9144000" cy="6858000" type="screen4x3"/>
  <p:notesSz cx="6805613" cy="9939338"/>
  <p:defaultTextStyle>
    <a:defPPr>
      <a:defRPr lang="ko-KR"/>
    </a:defPPr>
    <a:lvl1pPr marL="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071">
          <p15:clr>
            <a:srgbClr val="A4A3A4"/>
          </p15:clr>
        </p15:guide>
        <p15:guide id="2" orient="horz" pos="2069">
          <p15:clr>
            <a:srgbClr val="A4A3A4"/>
          </p15:clr>
        </p15:guide>
        <p15:guide id="3" orient="horz" pos="2976">
          <p15:clr>
            <a:srgbClr val="A4A3A4"/>
          </p15:clr>
        </p15:guide>
        <p15:guide id="4" pos="975">
          <p15:clr>
            <a:srgbClr val="A4A3A4"/>
          </p15:clr>
        </p15:guide>
        <p15:guide id="6" pos="4150">
          <p15:clr>
            <a:srgbClr val="A4A3A4"/>
          </p15:clr>
        </p15:guide>
        <p15:guide id="7" pos="2880" userDrawn="1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00FF"/>
    <a:srgbClr val="FF0000"/>
    <a:srgbClr val="FF3300"/>
    <a:srgbClr val="CCCCFF"/>
    <a:srgbClr val="3399FF"/>
    <a:srgbClr val="00FF00"/>
    <a:srgbClr val="99CCFF"/>
    <a:srgbClr val="FF99FF"/>
    <a:srgbClr val="FF33CC"/>
    <a:srgbClr val="FF3399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보통 스타일 2 - 강조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73A0DAA-6AF3-43AB-8588-CEC1D06C72B9}" styleName="보통 스타일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스타일 없음, 표 눈금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7E9639D4-E3E2-4D34-9284-5A2195B3D0D7}" styleName="밝은 스타일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12" autoAdjust="0"/>
    <p:restoredTop sz="96730" autoAdjust="0"/>
  </p:normalViewPr>
  <p:slideViewPr>
    <p:cSldViewPr snapToObjects="1">
      <p:cViewPr varScale="1">
        <p:scale>
          <a:sx n="158" d="100"/>
          <a:sy n="158" d="100"/>
        </p:scale>
        <p:origin x="4854" y="114"/>
      </p:cViewPr>
      <p:guideLst>
        <p:guide orient="horz" pos="1071"/>
        <p:guide orient="horz" pos="2069"/>
        <p:guide orient="horz" pos="2976"/>
        <p:guide pos="975"/>
        <p:guide pos="415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3" d="2"/>
        <a:sy n="3" d="2"/>
      </p:scale>
      <p:origin x="0" y="0"/>
    </p:cViewPr>
  </p:notesTextViewPr>
  <p:sorterViewPr>
    <p:cViewPr>
      <p:scale>
        <a:sx n="100" d="100"/>
        <a:sy n="100" d="100"/>
      </p:scale>
      <p:origin x="0" y="0"/>
    </p:cViewPr>
  </p:sorterViewPr>
  <p:notesViewPr>
    <p:cSldViewPr snapToObjects="1">
      <p:cViewPr varScale="1">
        <p:scale>
          <a:sx n="85" d="100"/>
          <a:sy n="85" d="100"/>
        </p:scale>
        <p:origin x="3804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handoutMaster" Target="handoutMasters/handoutMaster1.xml"/><Relationship Id="rId2" Type="http://schemas.openxmlformats.org/officeDocument/2006/relationships/slide" Target="slides/slide1.xml"/><Relationship Id="rId16" Type="http://schemas.openxmlformats.org/officeDocument/2006/relationships/notesMaster" Target="notesMasters/notesMaster1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3_1">
  <dgm:title val=""/>
  <dgm:desc val=""/>
  <dgm:catLst>
    <dgm:cat type="accent3" pri="11100"/>
  </dgm:catLst>
  <dgm:styleLbl name="node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lig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lnNode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vennNode1">
    <dgm:fillClrLst meth="repeat">
      <a:schemeClr val="lt1">
        <a:alpha val="50000"/>
      </a:schemeClr>
    </dgm:fillClrLst>
    <dgm:linClrLst meth="repeat">
      <a:schemeClr val="accent3">
        <a:shade val="80000"/>
      </a:schemeClr>
    </dgm:linClrLst>
    <dgm:effectClrLst/>
    <dgm:txLinClrLst/>
    <dgm:txFillClrLst/>
    <dgm:txEffectClrLst/>
  </dgm:styleLbl>
  <dgm:styleLbl name="node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node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f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40000"/>
      </a:schemeClr>
    </dgm:fillClrLst>
    <dgm:linClrLst meth="repeat">
      <a:schemeClr val="accent3">
        <a:shade val="80000"/>
      </a:schemeClr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dk1"/>
    </dgm:txFillClrLst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1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2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3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asst4">
    <dgm:fillClrLst meth="repeat">
      <a:schemeClr val="lt1"/>
    </dgm:fillClrLst>
    <dgm:linClrLst meth="repeat">
      <a:schemeClr val="accent3">
        <a:shade val="80000"/>
      </a:schemeClr>
    </dgm:linClrLst>
    <dgm:effectClrLst/>
    <dgm:txLinClrLst/>
    <dgm:txFillClrLst meth="repeat">
      <a:schemeClr val="dk1"/>
    </dgm:txFillClrLst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accent3">
        <a:alpha val="4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lt1">
        <a:alpha val="90000"/>
        <a:tint val="40000"/>
      </a:schemeClr>
    </dgm:fillClrLst>
    <dgm:linClrLst meth="repeat">
      <a:schemeClr val="accent3"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accent3">
        <a:alpha val="90000"/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497179AD-76FF-4314-A489-0C057E636CB7}" type="doc">
      <dgm:prSet loTypeId="urn:microsoft.com/office/officeart/2005/8/layout/cycle4" loCatId="cycle" qsTypeId="urn:microsoft.com/office/officeart/2005/8/quickstyle/simple1" qsCatId="simple" csTypeId="urn:microsoft.com/office/officeart/2005/8/colors/accent3_1" csCatId="accent3" phldr="1"/>
      <dgm:spPr/>
      <dgm:t>
        <a:bodyPr/>
        <a:lstStyle/>
        <a:p>
          <a:pPr latinLnBrk="1"/>
          <a:endParaRPr lang="ko-KR" altLang="en-US"/>
        </a:p>
      </dgm:t>
    </dgm:pt>
    <dgm:pt modelId="{B345032F-B193-46C7-A619-98FE673DBA4C}">
      <dgm:prSet phldrT="[텍스트]" custT="1"/>
      <dgm:spPr/>
      <dgm:t>
        <a:bodyPr/>
        <a:lstStyle/>
        <a:p>
          <a:pPr latinLnBrk="1"/>
          <a:r>
            <a:rPr lang="ko-KR" altLang="en-US" sz="1100" dirty="0" smtClean="0">
              <a:latin typeface="+mn-lt"/>
            </a:rPr>
            <a:t>발열체 변경으로 신기술 공법 적용</a:t>
          </a:r>
          <a:endParaRPr lang="en-US" altLang="ko-KR" sz="1100" dirty="0" smtClean="0">
            <a:latin typeface="+mn-lt"/>
          </a:endParaRPr>
        </a:p>
      </dgm:t>
    </dgm:pt>
    <dgm:pt modelId="{0EEB8A5C-51EF-4839-96DB-3F78AD7F89A0}" type="parTrans" cxnId="{B1B0E1DB-8110-4755-8BA5-6BA0B99917E0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D1BB5615-4442-4635-894F-1B03CDB691CA}" type="sibTrans" cxnId="{B1B0E1DB-8110-4755-8BA5-6BA0B99917E0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97D62728-1855-4447-A9AE-C433BCAE4AF8}">
      <dgm:prSet phldrT="[텍스트]"/>
      <dgm:spPr/>
      <dgm:t>
        <a:bodyPr/>
        <a:lstStyle/>
        <a:p>
          <a:pPr latinLnBrk="1"/>
          <a:r>
            <a:rPr lang="ko-KR" altLang="en-US" dirty="0" smtClean="0">
              <a:latin typeface="+mn-lt"/>
            </a:rPr>
            <a:t>설계</a:t>
          </a:r>
          <a:endParaRPr lang="ko-KR" altLang="en-US" dirty="0">
            <a:latin typeface="+mn-lt"/>
          </a:endParaRPr>
        </a:p>
      </dgm:t>
    </dgm:pt>
    <dgm:pt modelId="{8E74EFD8-0B27-4EE3-8B2F-ED7E0354D41E}" type="parTrans" cxnId="{BBC013A1-C828-4A9D-96E5-A43D8C22470F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B46B876A-1992-4835-A6F8-56B12B5A870A}" type="sibTrans" cxnId="{BBC013A1-C828-4A9D-96E5-A43D8C22470F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B0941163-7DE3-4AED-BDFE-9D72A8FBD681}">
      <dgm:prSet phldrT="[텍스트]"/>
      <dgm:spPr/>
      <dgm:t>
        <a:bodyPr/>
        <a:lstStyle/>
        <a:p>
          <a:pPr latinLnBrk="1"/>
          <a:r>
            <a:rPr lang="ko-KR" altLang="en-US" dirty="0" smtClean="0">
              <a:latin typeface="+mn-lt"/>
            </a:rPr>
            <a:t>조립 공정</a:t>
          </a:r>
          <a:endParaRPr lang="en-US" altLang="ko-KR" dirty="0" smtClean="0">
            <a:latin typeface="+mn-lt"/>
          </a:endParaRPr>
        </a:p>
        <a:p>
          <a:pPr latinLnBrk="1"/>
          <a:r>
            <a:rPr lang="ko-KR" altLang="en-US" dirty="0" smtClean="0">
              <a:latin typeface="+mn-lt"/>
            </a:rPr>
            <a:t>단순화</a:t>
          </a:r>
          <a:endParaRPr lang="ko-KR" altLang="en-US" dirty="0">
            <a:latin typeface="+mn-lt"/>
          </a:endParaRPr>
        </a:p>
      </dgm:t>
    </dgm:pt>
    <dgm:pt modelId="{804AF538-2621-48DB-8A75-155F01608465}" type="parTrans" cxnId="{CE246183-6F50-493D-9B39-1F7BDFCBCE1F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5F56F08F-D3F2-4364-9AD7-0F9E202746D8}" type="sibTrans" cxnId="{CE246183-6F50-493D-9B39-1F7BDFCBCE1F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FD85C3CF-ED6E-4AAF-8AC9-E26D170DA47E}">
      <dgm:prSet phldrT="[텍스트]"/>
      <dgm:spPr/>
      <dgm:t>
        <a:bodyPr/>
        <a:lstStyle/>
        <a:p>
          <a:pPr latinLnBrk="1"/>
          <a:r>
            <a:rPr lang="ko-KR" altLang="en-US" dirty="0" smtClean="0">
              <a:latin typeface="+mn-lt"/>
            </a:rPr>
            <a:t>공정</a:t>
          </a:r>
          <a:endParaRPr lang="ko-KR" altLang="en-US" dirty="0">
            <a:latin typeface="+mn-lt"/>
          </a:endParaRPr>
        </a:p>
      </dgm:t>
    </dgm:pt>
    <dgm:pt modelId="{E0510E4F-EDEE-4356-AD2C-285364733668}" type="parTrans" cxnId="{5661F419-0DB7-40B7-AF2E-C92351898482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D1EFBF5E-D0C9-4A98-9295-65FE02F317AD}" type="sibTrans" cxnId="{5661F419-0DB7-40B7-AF2E-C92351898482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12796A03-5AE3-44FC-86B2-C45ACE08909B}">
      <dgm:prSet phldrT="[텍스트]" custT="1"/>
      <dgm:spPr/>
      <dgm:t>
        <a:bodyPr/>
        <a:lstStyle/>
        <a:p>
          <a:pPr latinLnBrk="1"/>
          <a:r>
            <a:rPr lang="ko-KR" altLang="en-US" sz="1100" dirty="0" smtClean="0">
              <a:latin typeface="+mn-lt"/>
            </a:rPr>
            <a:t>부품 삭제에 따른 원가 절감</a:t>
          </a:r>
          <a:endParaRPr lang="ko-KR" altLang="en-US" sz="1100" dirty="0">
            <a:latin typeface="+mn-lt"/>
          </a:endParaRPr>
        </a:p>
      </dgm:t>
    </dgm:pt>
    <dgm:pt modelId="{644092AB-1A56-44AC-9FC4-F01BE9C3CCBE}" type="parTrans" cxnId="{DBB27B78-FF1D-4AB7-B808-228B12844CE5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A4052880-9A42-4460-87D9-ECA170374F1E}" type="sibTrans" cxnId="{DBB27B78-FF1D-4AB7-B808-228B12844CE5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C678178E-73BC-406B-B4C7-AC9BB0F33626}">
      <dgm:prSet phldrT="[텍스트]"/>
      <dgm:spPr/>
      <dgm:t>
        <a:bodyPr/>
        <a:lstStyle/>
        <a:p>
          <a:pPr latinLnBrk="1"/>
          <a:r>
            <a:rPr lang="ko-KR" altLang="en-US" dirty="0" smtClean="0">
              <a:latin typeface="+mn-lt"/>
            </a:rPr>
            <a:t>원가</a:t>
          </a:r>
          <a:endParaRPr lang="ko-KR" altLang="en-US" dirty="0">
            <a:latin typeface="+mn-lt"/>
          </a:endParaRPr>
        </a:p>
      </dgm:t>
    </dgm:pt>
    <dgm:pt modelId="{487DB14B-2465-4A00-869E-8F367942770D}" type="parTrans" cxnId="{2298A03D-08F5-4F15-8870-281EDDEC9385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3797E2C0-A538-4CEA-94BD-06ADFD9169D5}" type="sibTrans" cxnId="{2298A03D-08F5-4F15-8870-281EDDEC9385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885F18D2-B539-4A6C-BAB4-7CD1E2D2687B}">
      <dgm:prSet phldrT="[텍스트]"/>
      <dgm:spPr/>
      <dgm:t>
        <a:bodyPr/>
        <a:lstStyle/>
        <a:p>
          <a:pPr latinLnBrk="1"/>
          <a:r>
            <a:rPr lang="ko-KR" altLang="en-US" dirty="0" smtClean="0">
              <a:latin typeface="+mn-lt"/>
            </a:rPr>
            <a:t>안정성</a:t>
          </a:r>
          <a:endParaRPr lang="en-US" altLang="ko-KR" dirty="0" smtClean="0">
            <a:latin typeface="+mn-lt"/>
          </a:endParaRPr>
        </a:p>
        <a:p>
          <a:pPr latinLnBrk="1"/>
          <a:r>
            <a:rPr lang="ko-KR" altLang="en-US" dirty="0" smtClean="0">
              <a:latin typeface="+mn-lt"/>
            </a:rPr>
            <a:t>확보</a:t>
          </a:r>
          <a:endParaRPr lang="ko-KR" altLang="en-US" dirty="0">
            <a:latin typeface="+mn-lt"/>
          </a:endParaRPr>
        </a:p>
      </dgm:t>
    </dgm:pt>
    <dgm:pt modelId="{9BE6DF1D-A51A-417A-8F8F-30C79A4F9F8B}" type="parTrans" cxnId="{5134DDC9-7149-4ADB-BB99-B1C8E3C995CE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628FD024-BA3A-4BE9-B15F-0755E26E9F04}" type="sibTrans" cxnId="{5134DDC9-7149-4ADB-BB99-B1C8E3C995CE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130F4B47-7367-45CE-A4D5-8BDDE220B697}">
      <dgm:prSet phldrT="[텍스트]"/>
      <dgm:spPr/>
      <dgm:t>
        <a:bodyPr/>
        <a:lstStyle/>
        <a:p>
          <a:pPr latinLnBrk="1"/>
          <a:r>
            <a:rPr lang="ko-KR" altLang="en-US" dirty="0" smtClean="0">
              <a:latin typeface="+mn-lt"/>
            </a:rPr>
            <a:t>기타</a:t>
          </a:r>
          <a:endParaRPr lang="ko-KR" altLang="en-US" dirty="0">
            <a:latin typeface="+mn-lt"/>
          </a:endParaRPr>
        </a:p>
      </dgm:t>
    </dgm:pt>
    <dgm:pt modelId="{34F19A06-5520-4A36-84AD-8CF5BB8B12C3}" type="parTrans" cxnId="{4E333630-A8C4-4E13-92F0-85354A13F179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D01AC3D3-F9C6-403E-A2D4-A21040FEAE6F}" type="sibTrans" cxnId="{4E333630-A8C4-4E13-92F0-85354A13F179}">
      <dgm:prSet/>
      <dgm:spPr/>
      <dgm:t>
        <a:bodyPr/>
        <a:lstStyle/>
        <a:p>
          <a:pPr latinLnBrk="1"/>
          <a:endParaRPr lang="ko-KR" altLang="en-US">
            <a:latin typeface="+mn-lt"/>
          </a:endParaRPr>
        </a:p>
      </dgm:t>
    </dgm:pt>
    <dgm:pt modelId="{E8AB4A13-EE10-42E4-8FA2-7A075ED1C191}" type="pres">
      <dgm:prSet presAssocID="{497179AD-76FF-4314-A489-0C057E636CB7}" presName="cycleMatrixDiagram" presStyleCnt="0">
        <dgm:presLayoutVars>
          <dgm:chMax val="1"/>
          <dgm:dir/>
          <dgm:animLvl val="lvl"/>
          <dgm:resizeHandles val="exact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F71A59C-5F41-4491-946B-5023C9909C1C}" type="pres">
      <dgm:prSet presAssocID="{497179AD-76FF-4314-A489-0C057E636CB7}" presName="children" presStyleCnt="0"/>
      <dgm:spPr/>
    </dgm:pt>
    <dgm:pt modelId="{DAF5771E-FA02-409E-8019-B9BCB97A6940}" type="pres">
      <dgm:prSet presAssocID="{497179AD-76FF-4314-A489-0C057E636CB7}" presName="child1group" presStyleCnt="0"/>
      <dgm:spPr/>
    </dgm:pt>
    <dgm:pt modelId="{D6F65A11-B662-4C0A-9B89-8F14460FE971}" type="pres">
      <dgm:prSet presAssocID="{497179AD-76FF-4314-A489-0C057E636CB7}" presName="child1" presStyleLbl="bgAcc1" presStyleIdx="0" presStyleCnt="4"/>
      <dgm:spPr/>
      <dgm:t>
        <a:bodyPr/>
        <a:lstStyle/>
        <a:p>
          <a:pPr latinLnBrk="1"/>
          <a:endParaRPr lang="ko-KR" altLang="en-US"/>
        </a:p>
      </dgm:t>
    </dgm:pt>
    <dgm:pt modelId="{16FADAE4-DF19-4E97-A712-221136A6DBE4}" type="pres">
      <dgm:prSet presAssocID="{497179AD-76FF-4314-A489-0C057E636CB7}" presName="child1Text" presStyleLbl="bgAcc1" presStyleIdx="0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6488D98-E92E-4C1B-9408-04772E26A180}" type="pres">
      <dgm:prSet presAssocID="{497179AD-76FF-4314-A489-0C057E636CB7}" presName="child2group" presStyleCnt="0"/>
      <dgm:spPr/>
    </dgm:pt>
    <dgm:pt modelId="{8BBA0B14-542E-4833-AA24-C793E782A5EE}" type="pres">
      <dgm:prSet presAssocID="{497179AD-76FF-4314-A489-0C057E636CB7}" presName="child2" presStyleLbl="bgAcc1" presStyleIdx="1" presStyleCnt="4"/>
      <dgm:spPr/>
      <dgm:t>
        <a:bodyPr/>
        <a:lstStyle/>
        <a:p>
          <a:pPr latinLnBrk="1"/>
          <a:endParaRPr lang="ko-KR" altLang="en-US"/>
        </a:p>
      </dgm:t>
    </dgm:pt>
    <dgm:pt modelId="{17BAC5BA-0FE5-48A3-BB0E-C86B9C69D41A}" type="pres">
      <dgm:prSet presAssocID="{497179AD-76FF-4314-A489-0C057E636CB7}" presName="child2Text" presStyleLbl="bgAcc1" presStyleIdx="1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3779BA83-98D1-4674-B121-4DDD482830EE}" type="pres">
      <dgm:prSet presAssocID="{497179AD-76FF-4314-A489-0C057E636CB7}" presName="child3group" presStyleCnt="0"/>
      <dgm:spPr/>
    </dgm:pt>
    <dgm:pt modelId="{10922AFE-B303-4C96-B680-F6A4EBF806B6}" type="pres">
      <dgm:prSet presAssocID="{497179AD-76FF-4314-A489-0C057E636CB7}" presName="child3" presStyleLbl="bgAcc1" presStyleIdx="2" presStyleCnt="4"/>
      <dgm:spPr/>
      <dgm:t>
        <a:bodyPr/>
        <a:lstStyle/>
        <a:p>
          <a:pPr latinLnBrk="1"/>
          <a:endParaRPr lang="ko-KR" altLang="en-US"/>
        </a:p>
      </dgm:t>
    </dgm:pt>
    <dgm:pt modelId="{630BE6DA-D32E-419D-8A3A-03A15FCDEF9D}" type="pres">
      <dgm:prSet presAssocID="{497179AD-76FF-4314-A489-0C057E636CB7}" presName="child3Text" presStyleLbl="bgAcc1" presStyleIdx="2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4B00CF95-A9A4-4EF4-9C18-63DDD3A6EF69}" type="pres">
      <dgm:prSet presAssocID="{497179AD-76FF-4314-A489-0C057E636CB7}" presName="child4group" presStyleCnt="0"/>
      <dgm:spPr/>
    </dgm:pt>
    <dgm:pt modelId="{A976AC1F-75DE-4F11-9D83-15F7CAF3B73E}" type="pres">
      <dgm:prSet presAssocID="{497179AD-76FF-4314-A489-0C057E636CB7}" presName="child4" presStyleLbl="bgAcc1" presStyleIdx="3" presStyleCnt="4"/>
      <dgm:spPr/>
      <dgm:t>
        <a:bodyPr/>
        <a:lstStyle/>
        <a:p>
          <a:pPr latinLnBrk="1"/>
          <a:endParaRPr lang="ko-KR" altLang="en-US"/>
        </a:p>
      </dgm:t>
    </dgm:pt>
    <dgm:pt modelId="{2545FE1F-2B7B-417A-A7F5-0959A5960F5F}" type="pres">
      <dgm:prSet presAssocID="{497179AD-76FF-4314-A489-0C057E636CB7}" presName="child4Text" presStyleLbl="bgAcc1" presStyleIdx="3" presStyleCnt="4">
        <dgm:presLayoutVars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60663856-0EEA-41B0-9C64-116CE89F4C19}" type="pres">
      <dgm:prSet presAssocID="{497179AD-76FF-4314-A489-0C057E636CB7}" presName="childPlaceholder" presStyleCnt="0"/>
      <dgm:spPr/>
    </dgm:pt>
    <dgm:pt modelId="{E133517D-5528-42DC-9AA2-9364D8BDBD64}" type="pres">
      <dgm:prSet presAssocID="{497179AD-76FF-4314-A489-0C057E636CB7}" presName="circle" presStyleCnt="0"/>
      <dgm:spPr/>
    </dgm:pt>
    <dgm:pt modelId="{B509E333-9631-4631-88FC-560F3C1609BC}" type="pres">
      <dgm:prSet presAssocID="{497179AD-76FF-4314-A489-0C057E636CB7}" presName="quadrant1" presStyleLbl="node1" presStyleIdx="0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F4F7CE94-F1D1-425F-B448-FE47CCD73A10}" type="pres">
      <dgm:prSet presAssocID="{497179AD-76FF-4314-A489-0C057E636CB7}" presName="quadrant2" presStyleLbl="node1" presStyleIdx="1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9DA16A43-7615-4D60-9DBF-5710C5BD0A08}" type="pres">
      <dgm:prSet presAssocID="{497179AD-76FF-4314-A489-0C057E636CB7}" presName="quadrant3" presStyleLbl="node1" presStyleIdx="2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70234D82-E4F6-4DEE-ADBD-211380EDDAA5}" type="pres">
      <dgm:prSet presAssocID="{497179AD-76FF-4314-A489-0C057E636CB7}" presName="quadrant4" presStyleLbl="node1" presStyleIdx="3" presStyleCnt="4">
        <dgm:presLayoutVars>
          <dgm:chMax val="1"/>
          <dgm:bulletEnabled val="1"/>
        </dgm:presLayoutVars>
      </dgm:prSet>
      <dgm:spPr/>
      <dgm:t>
        <a:bodyPr/>
        <a:lstStyle/>
        <a:p>
          <a:pPr latinLnBrk="1"/>
          <a:endParaRPr lang="ko-KR" altLang="en-US"/>
        </a:p>
      </dgm:t>
    </dgm:pt>
    <dgm:pt modelId="{AA848EF2-A41E-4D21-A5FF-3614D5557DE5}" type="pres">
      <dgm:prSet presAssocID="{497179AD-76FF-4314-A489-0C057E636CB7}" presName="quadrantPlaceholder" presStyleCnt="0"/>
      <dgm:spPr/>
    </dgm:pt>
    <dgm:pt modelId="{275D7DE8-703F-461B-BFE1-3C3A2F769612}" type="pres">
      <dgm:prSet presAssocID="{497179AD-76FF-4314-A489-0C057E636CB7}" presName="center1" presStyleLbl="fgShp" presStyleIdx="0" presStyleCnt="2"/>
      <dgm:spPr/>
    </dgm:pt>
    <dgm:pt modelId="{A634B76E-0E4B-499E-A9CD-3D2F1BCE5893}" type="pres">
      <dgm:prSet presAssocID="{497179AD-76FF-4314-A489-0C057E636CB7}" presName="center2" presStyleLbl="fgShp" presStyleIdx="1" presStyleCnt="2"/>
      <dgm:spPr/>
    </dgm:pt>
  </dgm:ptLst>
  <dgm:cxnLst>
    <dgm:cxn modelId="{1D82A4AB-FD42-440E-9CFF-D1B84DDAF1B9}" type="presOf" srcId="{B0941163-7DE3-4AED-BDFE-9D72A8FBD681}" destId="{F4F7CE94-F1D1-425F-B448-FE47CCD73A10}" srcOrd="0" destOrd="0" presId="urn:microsoft.com/office/officeart/2005/8/layout/cycle4"/>
    <dgm:cxn modelId="{B1B0E1DB-8110-4755-8BA5-6BA0B99917E0}" srcId="{497179AD-76FF-4314-A489-0C057E636CB7}" destId="{B345032F-B193-46C7-A619-98FE673DBA4C}" srcOrd="0" destOrd="0" parTransId="{0EEB8A5C-51EF-4839-96DB-3F78AD7F89A0}" sibTransId="{D1BB5615-4442-4635-894F-1B03CDB691CA}"/>
    <dgm:cxn modelId="{F6261187-32A0-4FF4-BACA-750039F0D8CB}" type="presOf" srcId="{C678178E-73BC-406B-B4C7-AC9BB0F33626}" destId="{630BE6DA-D32E-419D-8A3A-03A15FCDEF9D}" srcOrd="1" destOrd="0" presId="urn:microsoft.com/office/officeart/2005/8/layout/cycle4"/>
    <dgm:cxn modelId="{5134DDC9-7149-4ADB-BB99-B1C8E3C995CE}" srcId="{497179AD-76FF-4314-A489-0C057E636CB7}" destId="{885F18D2-B539-4A6C-BAB4-7CD1E2D2687B}" srcOrd="3" destOrd="0" parTransId="{9BE6DF1D-A51A-417A-8F8F-30C79A4F9F8B}" sibTransId="{628FD024-BA3A-4BE9-B15F-0755E26E9F04}"/>
    <dgm:cxn modelId="{12589AED-972C-47B2-98A3-26C34A1A410D}" type="presOf" srcId="{130F4B47-7367-45CE-A4D5-8BDDE220B697}" destId="{2545FE1F-2B7B-417A-A7F5-0959A5960F5F}" srcOrd="1" destOrd="0" presId="urn:microsoft.com/office/officeart/2005/8/layout/cycle4"/>
    <dgm:cxn modelId="{67CBE507-609A-425B-A16D-F706207DF8A4}" type="presOf" srcId="{497179AD-76FF-4314-A489-0C057E636CB7}" destId="{E8AB4A13-EE10-42E4-8FA2-7A075ED1C191}" srcOrd="0" destOrd="0" presId="urn:microsoft.com/office/officeart/2005/8/layout/cycle4"/>
    <dgm:cxn modelId="{7F7969EC-0E8E-4372-B83D-F85D9DD1CD3F}" type="presOf" srcId="{12796A03-5AE3-44FC-86B2-C45ACE08909B}" destId="{9DA16A43-7615-4D60-9DBF-5710C5BD0A08}" srcOrd="0" destOrd="0" presId="urn:microsoft.com/office/officeart/2005/8/layout/cycle4"/>
    <dgm:cxn modelId="{5661F419-0DB7-40B7-AF2E-C92351898482}" srcId="{B0941163-7DE3-4AED-BDFE-9D72A8FBD681}" destId="{FD85C3CF-ED6E-4AAF-8AC9-E26D170DA47E}" srcOrd="0" destOrd="0" parTransId="{E0510E4F-EDEE-4356-AD2C-285364733668}" sibTransId="{D1EFBF5E-D0C9-4A98-9295-65FE02F317AD}"/>
    <dgm:cxn modelId="{04E49D07-65CA-4B53-A83B-9DE8D643D1EE}" type="presOf" srcId="{97D62728-1855-4447-A9AE-C433BCAE4AF8}" destId="{D6F65A11-B662-4C0A-9B89-8F14460FE971}" srcOrd="0" destOrd="0" presId="urn:microsoft.com/office/officeart/2005/8/layout/cycle4"/>
    <dgm:cxn modelId="{4CBB252A-D4A9-4345-A2D1-6070BA5D1B21}" type="presOf" srcId="{C678178E-73BC-406B-B4C7-AC9BB0F33626}" destId="{10922AFE-B303-4C96-B680-F6A4EBF806B6}" srcOrd="0" destOrd="0" presId="urn:microsoft.com/office/officeart/2005/8/layout/cycle4"/>
    <dgm:cxn modelId="{71C8D4FA-A8CD-4806-B7BA-0D8B27BCA1BD}" type="presOf" srcId="{B345032F-B193-46C7-A619-98FE673DBA4C}" destId="{B509E333-9631-4631-88FC-560F3C1609BC}" srcOrd="0" destOrd="0" presId="urn:microsoft.com/office/officeart/2005/8/layout/cycle4"/>
    <dgm:cxn modelId="{CE246183-6F50-493D-9B39-1F7BDFCBCE1F}" srcId="{497179AD-76FF-4314-A489-0C057E636CB7}" destId="{B0941163-7DE3-4AED-BDFE-9D72A8FBD681}" srcOrd="1" destOrd="0" parTransId="{804AF538-2621-48DB-8A75-155F01608465}" sibTransId="{5F56F08F-D3F2-4364-9AD7-0F9E202746D8}"/>
    <dgm:cxn modelId="{CE8E5EB4-B6F6-45A8-9CDF-806D353EB28F}" type="presOf" srcId="{FD85C3CF-ED6E-4AAF-8AC9-E26D170DA47E}" destId="{17BAC5BA-0FE5-48A3-BB0E-C86B9C69D41A}" srcOrd="1" destOrd="0" presId="urn:microsoft.com/office/officeart/2005/8/layout/cycle4"/>
    <dgm:cxn modelId="{2298A03D-08F5-4F15-8870-281EDDEC9385}" srcId="{12796A03-5AE3-44FC-86B2-C45ACE08909B}" destId="{C678178E-73BC-406B-B4C7-AC9BB0F33626}" srcOrd="0" destOrd="0" parTransId="{487DB14B-2465-4A00-869E-8F367942770D}" sibTransId="{3797E2C0-A538-4CEA-94BD-06ADFD9169D5}"/>
    <dgm:cxn modelId="{D5F3A7F0-1B4B-4A13-82FE-7F32376984F2}" type="presOf" srcId="{130F4B47-7367-45CE-A4D5-8BDDE220B697}" destId="{A976AC1F-75DE-4F11-9D83-15F7CAF3B73E}" srcOrd="0" destOrd="0" presId="urn:microsoft.com/office/officeart/2005/8/layout/cycle4"/>
    <dgm:cxn modelId="{D3E126FD-FEF7-44AB-8C0F-0C0E719B7382}" type="presOf" srcId="{FD85C3CF-ED6E-4AAF-8AC9-E26D170DA47E}" destId="{8BBA0B14-542E-4833-AA24-C793E782A5EE}" srcOrd="0" destOrd="0" presId="urn:microsoft.com/office/officeart/2005/8/layout/cycle4"/>
    <dgm:cxn modelId="{4E333630-A8C4-4E13-92F0-85354A13F179}" srcId="{885F18D2-B539-4A6C-BAB4-7CD1E2D2687B}" destId="{130F4B47-7367-45CE-A4D5-8BDDE220B697}" srcOrd="0" destOrd="0" parTransId="{34F19A06-5520-4A36-84AD-8CF5BB8B12C3}" sibTransId="{D01AC3D3-F9C6-403E-A2D4-A21040FEAE6F}"/>
    <dgm:cxn modelId="{DBB27B78-FF1D-4AB7-B808-228B12844CE5}" srcId="{497179AD-76FF-4314-A489-0C057E636CB7}" destId="{12796A03-5AE3-44FC-86B2-C45ACE08909B}" srcOrd="2" destOrd="0" parTransId="{644092AB-1A56-44AC-9FC4-F01BE9C3CCBE}" sibTransId="{A4052880-9A42-4460-87D9-ECA170374F1E}"/>
    <dgm:cxn modelId="{1D5DCF37-EEAD-49AC-9CF5-CE08677A8348}" type="presOf" srcId="{97D62728-1855-4447-A9AE-C433BCAE4AF8}" destId="{16FADAE4-DF19-4E97-A712-221136A6DBE4}" srcOrd="1" destOrd="0" presId="urn:microsoft.com/office/officeart/2005/8/layout/cycle4"/>
    <dgm:cxn modelId="{BBC013A1-C828-4A9D-96E5-A43D8C22470F}" srcId="{B345032F-B193-46C7-A619-98FE673DBA4C}" destId="{97D62728-1855-4447-A9AE-C433BCAE4AF8}" srcOrd="0" destOrd="0" parTransId="{8E74EFD8-0B27-4EE3-8B2F-ED7E0354D41E}" sibTransId="{B46B876A-1992-4835-A6F8-56B12B5A870A}"/>
    <dgm:cxn modelId="{CCAEBC96-40FA-44B5-B015-5A274949DFE6}" type="presOf" srcId="{885F18D2-B539-4A6C-BAB4-7CD1E2D2687B}" destId="{70234D82-E4F6-4DEE-ADBD-211380EDDAA5}" srcOrd="0" destOrd="0" presId="urn:microsoft.com/office/officeart/2005/8/layout/cycle4"/>
    <dgm:cxn modelId="{85189729-ECF6-40DD-B015-A9A9F52BE0F9}" type="presParOf" srcId="{E8AB4A13-EE10-42E4-8FA2-7A075ED1C191}" destId="{6F71A59C-5F41-4491-946B-5023C9909C1C}" srcOrd="0" destOrd="0" presId="urn:microsoft.com/office/officeart/2005/8/layout/cycle4"/>
    <dgm:cxn modelId="{0105D4AF-24D3-4584-A5CC-E5BAAF8A8941}" type="presParOf" srcId="{6F71A59C-5F41-4491-946B-5023C9909C1C}" destId="{DAF5771E-FA02-409E-8019-B9BCB97A6940}" srcOrd="0" destOrd="0" presId="urn:microsoft.com/office/officeart/2005/8/layout/cycle4"/>
    <dgm:cxn modelId="{3C8105A9-1092-4E3C-85D3-A7F36E027C16}" type="presParOf" srcId="{DAF5771E-FA02-409E-8019-B9BCB97A6940}" destId="{D6F65A11-B662-4C0A-9B89-8F14460FE971}" srcOrd="0" destOrd="0" presId="urn:microsoft.com/office/officeart/2005/8/layout/cycle4"/>
    <dgm:cxn modelId="{2E55423D-178C-40D1-ADC3-324BDA5A27F4}" type="presParOf" srcId="{DAF5771E-FA02-409E-8019-B9BCB97A6940}" destId="{16FADAE4-DF19-4E97-A712-221136A6DBE4}" srcOrd="1" destOrd="0" presId="urn:microsoft.com/office/officeart/2005/8/layout/cycle4"/>
    <dgm:cxn modelId="{0A044D34-C0F0-4CF6-A845-0361FACD415B}" type="presParOf" srcId="{6F71A59C-5F41-4491-946B-5023C9909C1C}" destId="{76488D98-E92E-4C1B-9408-04772E26A180}" srcOrd="1" destOrd="0" presId="urn:microsoft.com/office/officeart/2005/8/layout/cycle4"/>
    <dgm:cxn modelId="{6B7AF5BF-5CAD-455D-B662-A50D36D3B769}" type="presParOf" srcId="{76488D98-E92E-4C1B-9408-04772E26A180}" destId="{8BBA0B14-542E-4833-AA24-C793E782A5EE}" srcOrd="0" destOrd="0" presId="urn:microsoft.com/office/officeart/2005/8/layout/cycle4"/>
    <dgm:cxn modelId="{603E8D92-317B-4D69-A6D8-0B38B0CCD303}" type="presParOf" srcId="{76488D98-E92E-4C1B-9408-04772E26A180}" destId="{17BAC5BA-0FE5-48A3-BB0E-C86B9C69D41A}" srcOrd="1" destOrd="0" presId="urn:microsoft.com/office/officeart/2005/8/layout/cycle4"/>
    <dgm:cxn modelId="{542778A0-EE92-4B36-83A3-978C473C72AD}" type="presParOf" srcId="{6F71A59C-5F41-4491-946B-5023C9909C1C}" destId="{3779BA83-98D1-4674-B121-4DDD482830EE}" srcOrd="2" destOrd="0" presId="urn:microsoft.com/office/officeart/2005/8/layout/cycle4"/>
    <dgm:cxn modelId="{CF24B46E-4308-47D3-8919-CA3089368A17}" type="presParOf" srcId="{3779BA83-98D1-4674-B121-4DDD482830EE}" destId="{10922AFE-B303-4C96-B680-F6A4EBF806B6}" srcOrd="0" destOrd="0" presId="urn:microsoft.com/office/officeart/2005/8/layout/cycle4"/>
    <dgm:cxn modelId="{143EB5AA-0296-43C4-A115-8E4D67F0581A}" type="presParOf" srcId="{3779BA83-98D1-4674-B121-4DDD482830EE}" destId="{630BE6DA-D32E-419D-8A3A-03A15FCDEF9D}" srcOrd="1" destOrd="0" presId="urn:microsoft.com/office/officeart/2005/8/layout/cycle4"/>
    <dgm:cxn modelId="{DEE7968B-0098-4442-A436-B0382AA1B4D4}" type="presParOf" srcId="{6F71A59C-5F41-4491-946B-5023C9909C1C}" destId="{4B00CF95-A9A4-4EF4-9C18-63DDD3A6EF69}" srcOrd="3" destOrd="0" presId="urn:microsoft.com/office/officeart/2005/8/layout/cycle4"/>
    <dgm:cxn modelId="{1AA857D6-42BF-4F47-863E-196C4520F576}" type="presParOf" srcId="{4B00CF95-A9A4-4EF4-9C18-63DDD3A6EF69}" destId="{A976AC1F-75DE-4F11-9D83-15F7CAF3B73E}" srcOrd="0" destOrd="0" presId="urn:microsoft.com/office/officeart/2005/8/layout/cycle4"/>
    <dgm:cxn modelId="{79295EEB-0623-457E-B582-15CDC7B65AED}" type="presParOf" srcId="{4B00CF95-A9A4-4EF4-9C18-63DDD3A6EF69}" destId="{2545FE1F-2B7B-417A-A7F5-0959A5960F5F}" srcOrd="1" destOrd="0" presId="urn:microsoft.com/office/officeart/2005/8/layout/cycle4"/>
    <dgm:cxn modelId="{BDDF95F4-2157-4BDF-B0AF-D0B0BA616E3F}" type="presParOf" srcId="{6F71A59C-5F41-4491-946B-5023C9909C1C}" destId="{60663856-0EEA-41B0-9C64-116CE89F4C19}" srcOrd="4" destOrd="0" presId="urn:microsoft.com/office/officeart/2005/8/layout/cycle4"/>
    <dgm:cxn modelId="{030D694D-5E4D-4696-B3C9-57139F83101D}" type="presParOf" srcId="{E8AB4A13-EE10-42E4-8FA2-7A075ED1C191}" destId="{E133517D-5528-42DC-9AA2-9364D8BDBD64}" srcOrd="1" destOrd="0" presId="urn:microsoft.com/office/officeart/2005/8/layout/cycle4"/>
    <dgm:cxn modelId="{4BC29F28-4551-4229-BEEA-841C60B3DF32}" type="presParOf" srcId="{E133517D-5528-42DC-9AA2-9364D8BDBD64}" destId="{B509E333-9631-4631-88FC-560F3C1609BC}" srcOrd="0" destOrd="0" presId="urn:microsoft.com/office/officeart/2005/8/layout/cycle4"/>
    <dgm:cxn modelId="{31FB28E1-9A08-4B70-A9E4-5D07BED08E43}" type="presParOf" srcId="{E133517D-5528-42DC-9AA2-9364D8BDBD64}" destId="{F4F7CE94-F1D1-425F-B448-FE47CCD73A10}" srcOrd="1" destOrd="0" presId="urn:microsoft.com/office/officeart/2005/8/layout/cycle4"/>
    <dgm:cxn modelId="{9AEB7998-1819-41DA-A567-D970B405F52D}" type="presParOf" srcId="{E133517D-5528-42DC-9AA2-9364D8BDBD64}" destId="{9DA16A43-7615-4D60-9DBF-5710C5BD0A08}" srcOrd="2" destOrd="0" presId="urn:microsoft.com/office/officeart/2005/8/layout/cycle4"/>
    <dgm:cxn modelId="{95A3C2FB-1B38-4A80-AB8C-8ED98C89203F}" type="presParOf" srcId="{E133517D-5528-42DC-9AA2-9364D8BDBD64}" destId="{70234D82-E4F6-4DEE-ADBD-211380EDDAA5}" srcOrd="3" destOrd="0" presId="urn:microsoft.com/office/officeart/2005/8/layout/cycle4"/>
    <dgm:cxn modelId="{24B505E1-A0C6-4C5B-B769-988818797623}" type="presParOf" srcId="{E133517D-5528-42DC-9AA2-9364D8BDBD64}" destId="{AA848EF2-A41E-4D21-A5FF-3614D5557DE5}" srcOrd="4" destOrd="0" presId="urn:microsoft.com/office/officeart/2005/8/layout/cycle4"/>
    <dgm:cxn modelId="{3DEEF226-9A7C-4E95-A76E-CE1142BB4CFB}" type="presParOf" srcId="{E8AB4A13-EE10-42E4-8FA2-7A075ED1C191}" destId="{275D7DE8-703F-461B-BFE1-3C3A2F769612}" srcOrd="2" destOrd="0" presId="urn:microsoft.com/office/officeart/2005/8/layout/cycle4"/>
    <dgm:cxn modelId="{56A75AB1-3F02-4A19-9D3D-E13F7F4A1EBC}" type="presParOf" srcId="{E8AB4A13-EE10-42E4-8FA2-7A075ED1C191}" destId="{A634B76E-0E4B-499E-A9CD-3D2F1BCE5893}" srcOrd="3" destOrd="0" presId="urn:microsoft.com/office/officeart/2005/8/layout/cycle4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0922AFE-B303-4C96-B680-F6A4EBF806B6}">
      <dsp:nvSpPr>
        <dsp:cNvPr id="0" name=""/>
        <dsp:cNvSpPr/>
      </dsp:nvSpPr>
      <dsp:spPr>
        <a:xfrm>
          <a:off x="2632301" y="2020178"/>
          <a:ext cx="1467600" cy="950672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100" kern="1200" dirty="0" smtClean="0">
              <a:latin typeface="+mn-lt"/>
            </a:rPr>
            <a:t>원가</a:t>
          </a:r>
          <a:endParaRPr lang="ko-KR" altLang="en-US" sz="2100" kern="1200" dirty="0">
            <a:latin typeface="+mn-lt"/>
          </a:endParaRPr>
        </a:p>
      </dsp:txBody>
      <dsp:txXfrm>
        <a:off x="3093464" y="2278729"/>
        <a:ext cx="985554" cy="671238"/>
      </dsp:txXfrm>
    </dsp:sp>
    <dsp:sp modelId="{A976AC1F-75DE-4F11-9D83-15F7CAF3B73E}">
      <dsp:nvSpPr>
        <dsp:cNvPr id="0" name=""/>
        <dsp:cNvSpPr/>
      </dsp:nvSpPr>
      <dsp:spPr>
        <a:xfrm>
          <a:off x="237795" y="2020178"/>
          <a:ext cx="1467600" cy="950672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100" kern="1200" dirty="0" smtClean="0">
              <a:latin typeface="+mn-lt"/>
            </a:rPr>
            <a:t>기타</a:t>
          </a:r>
          <a:endParaRPr lang="ko-KR" altLang="en-US" sz="2100" kern="1200" dirty="0">
            <a:latin typeface="+mn-lt"/>
          </a:endParaRPr>
        </a:p>
      </dsp:txBody>
      <dsp:txXfrm>
        <a:off x="258678" y="2278729"/>
        <a:ext cx="985554" cy="671238"/>
      </dsp:txXfrm>
    </dsp:sp>
    <dsp:sp modelId="{8BBA0B14-542E-4833-AA24-C793E782A5EE}">
      <dsp:nvSpPr>
        <dsp:cNvPr id="0" name=""/>
        <dsp:cNvSpPr/>
      </dsp:nvSpPr>
      <dsp:spPr>
        <a:xfrm>
          <a:off x="2632301" y="0"/>
          <a:ext cx="1467600" cy="950672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100" kern="1200" dirty="0" smtClean="0">
              <a:latin typeface="+mn-lt"/>
            </a:rPr>
            <a:t>공정</a:t>
          </a:r>
          <a:endParaRPr lang="ko-KR" altLang="en-US" sz="2100" kern="1200" dirty="0">
            <a:latin typeface="+mn-lt"/>
          </a:endParaRPr>
        </a:p>
      </dsp:txBody>
      <dsp:txXfrm>
        <a:off x="3093464" y="20883"/>
        <a:ext cx="985554" cy="671238"/>
      </dsp:txXfrm>
    </dsp:sp>
    <dsp:sp modelId="{D6F65A11-B662-4C0A-9B89-8F14460FE971}">
      <dsp:nvSpPr>
        <dsp:cNvPr id="0" name=""/>
        <dsp:cNvSpPr/>
      </dsp:nvSpPr>
      <dsp:spPr>
        <a:xfrm>
          <a:off x="237795" y="0"/>
          <a:ext cx="1467600" cy="950672"/>
        </a:xfrm>
        <a:prstGeom prst="roundRect">
          <a:avLst>
            <a:gd name="adj" fmla="val 10000"/>
          </a:avLst>
        </a:prstGeom>
        <a:solidFill>
          <a:schemeClr val="accent3">
            <a:alpha val="90000"/>
            <a:tint val="4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102870" tIns="102870" rIns="102870" bIns="102870" numCol="1" spcCol="1270" anchor="t" anchorCtr="0">
          <a:noAutofit/>
        </a:bodyPr>
        <a:lstStyle/>
        <a:p>
          <a:pPr marL="228600" lvl="1" indent="-228600" algn="l" defTabSz="933450" latinLnBrk="1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•"/>
          </a:pPr>
          <a:r>
            <a:rPr lang="ko-KR" altLang="en-US" sz="2100" kern="1200" dirty="0" smtClean="0">
              <a:latin typeface="+mn-lt"/>
            </a:rPr>
            <a:t>설계</a:t>
          </a:r>
          <a:endParaRPr lang="ko-KR" altLang="en-US" sz="2100" kern="1200" dirty="0">
            <a:latin typeface="+mn-lt"/>
          </a:endParaRPr>
        </a:p>
      </dsp:txBody>
      <dsp:txXfrm>
        <a:off x="258678" y="20883"/>
        <a:ext cx="985554" cy="671238"/>
      </dsp:txXfrm>
    </dsp:sp>
    <dsp:sp modelId="{B509E333-9631-4631-88FC-560F3C1609BC}">
      <dsp:nvSpPr>
        <dsp:cNvPr id="0" name=""/>
        <dsp:cNvSpPr/>
      </dsp:nvSpPr>
      <dsp:spPr>
        <a:xfrm>
          <a:off x="852762" y="169338"/>
          <a:ext cx="1286378" cy="1286378"/>
        </a:xfrm>
        <a:prstGeom prst="pieWedg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100" kern="1200" dirty="0" smtClean="0">
              <a:latin typeface="+mn-lt"/>
            </a:rPr>
            <a:t>발열체 변경으로 신기술 공법 적용</a:t>
          </a:r>
          <a:endParaRPr lang="en-US" altLang="ko-KR" sz="1100" kern="1200" dirty="0" smtClean="0">
            <a:latin typeface="+mn-lt"/>
          </a:endParaRPr>
        </a:p>
      </dsp:txBody>
      <dsp:txXfrm>
        <a:off x="1229533" y="546109"/>
        <a:ext cx="909607" cy="909607"/>
      </dsp:txXfrm>
    </dsp:sp>
    <dsp:sp modelId="{F4F7CE94-F1D1-425F-B448-FE47CCD73A10}">
      <dsp:nvSpPr>
        <dsp:cNvPr id="0" name=""/>
        <dsp:cNvSpPr/>
      </dsp:nvSpPr>
      <dsp:spPr>
        <a:xfrm rot="5400000">
          <a:off x="2198557" y="169338"/>
          <a:ext cx="1286378" cy="1286378"/>
        </a:xfrm>
        <a:prstGeom prst="pieWedg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300" kern="1200" dirty="0" smtClean="0">
              <a:latin typeface="+mn-lt"/>
            </a:rPr>
            <a:t>조립 공정</a:t>
          </a:r>
          <a:endParaRPr lang="en-US" altLang="ko-KR" sz="1300" kern="1200" dirty="0" smtClean="0">
            <a:latin typeface="+mn-lt"/>
          </a:endParaRPr>
        </a:p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300" kern="1200" dirty="0" smtClean="0">
              <a:latin typeface="+mn-lt"/>
            </a:rPr>
            <a:t>단순화</a:t>
          </a:r>
          <a:endParaRPr lang="ko-KR" altLang="en-US" sz="1300" kern="1200" dirty="0">
            <a:latin typeface="+mn-lt"/>
          </a:endParaRPr>
        </a:p>
      </dsp:txBody>
      <dsp:txXfrm rot="-5400000">
        <a:off x="2198557" y="546109"/>
        <a:ext cx="909607" cy="909607"/>
      </dsp:txXfrm>
    </dsp:sp>
    <dsp:sp modelId="{9DA16A43-7615-4D60-9DBF-5710C5BD0A08}">
      <dsp:nvSpPr>
        <dsp:cNvPr id="0" name=""/>
        <dsp:cNvSpPr/>
      </dsp:nvSpPr>
      <dsp:spPr>
        <a:xfrm rot="10800000">
          <a:off x="2198557" y="1515134"/>
          <a:ext cx="1286378" cy="1286378"/>
        </a:xfrm>
        <a:prstGeom prst="pieWedg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8232" tIns="78232" rIns="78232" bIns="78232" numCol="1" spcCol="1270" anchor="ctr" anchorCtr="0">
          <a:noAutofit/>
        </a:bodyPr>
        <a:lstStyle/>
        <a:p>
          <a:pPr lvl="0" algn="ctr" defTabSz="4889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100" kern="1200" dirty="0" smtClean="0">
              <a:latin typeface="+mn-lt"/>
            </a:rPr>
            <a:t>부품 삭제에 따른 원가 절감</a:t>
          </a:r>
          <a:endParaRPr lang="ko-KR" altLang="en-US" sz="1100" kern="1200" dirty="0">
            <a:latin typeface="+mn-lt"/>
          </a:endParaRPr>
        </a:p>
      </dsp:txBody>
      <dsp:txXfrm rot="10800000">
        <a:off x="2198557" y="1515134"/>
        <a:ext cx="909607" cy="909607"/>
      </dsp:txXfrm>
    </dsp:sp>
    <dsp:sp modelId="{70234D82-E4F6-4DEE-ADBD-211380EDDAA5}">
      <dsp:nvSpPr>
        <dsp:cNvPr id="0" name=""/>
        <dsp:cNvSpPr/>
      </dsp:nvSpPr>
      <dsp:spPr>
        <a:xfrm rot="16200000">
          <a:off x="852762" y="1515134"/>
          <a:ext cx="1286378" cy="1286378"/>
        </a:xfrm>
        <a:prstGeom prst="pieWedge">
          <a:avLst/>
        </a:prstGeom>
        <a:solidFill>
          <a:schemeClr val="l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accent3">
              <a:shade val="8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92456" tIns="92456" rIns="92456" bIns="92456" numCol="1" spcCol="1270" anchor="ctr" anchorCtr="0">
          <a:noAutofit/>
        </a:bodyPr>
        <a:lstStyle/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300" kern="1200" dirty="0" smtClean="0">
              <a:latin typeface="+mn-lt"/>
            </a:rPr>
            <a:t>안정성</a:t>
          </a:r>
          <a:endParaRPr lang="en-US" altLang="ko-KR" sz="1300" kern="1200" dirty="0" smtClean="0">
            <a:latin typeface="+mn-lt"/>
          </a:endParaRPr>
        </a:p>
        <a:p>
          <a:pPr lvl="0" algn="ctr" defTabSz="577850" latinLnBrk="1">
            <a:lnSpc>
              <a:spcPct val="90000"/>
            </a:lnSpc>
            <a:spcBef>
              <a:spcPct val="0"/>
            </a:spcBef>
            <a:spcAft>
              <a:spcPct val="35000"/>
            </a:spcAft>
          </a:pPr>
          <a:r>
            <a:rPr lang="ko-KR" altLang="en-US" sz="1300" kern="1200" dirty="0" smtClean="0">
              <a:latin typeface="+mn-lt"/>
            </a:rPr>
            <a:t>확보</a:t>
          </a:r>
          <a:endParaRPr lang="ko-KR" altLang="en-US" sz="1300" kern="1200" dirty="0">
            <a:latin typeface="+mn-lt"/>
          </a:endParaRPr>
        </a:p>
      </dsp:txBody>
      <dsp:txXfrm rot="5400000">
        <a:off x="1229533" y="1515134"/>
        <a:ext cx="909607" cy="909607"/>
      </dsp:txXfrm>
    </dsp:sp>
    <dsp:sp modelId="{275D7DE8-703F-461B-BFE1-3C3A2F769612}">
      <dsp:nvSpPr>
        <dsp:cNvPr id="0" name=""/>
        <dsp:cNvSpPr/>
      </dsp:nvSpPr>
      <dsp:spPr>
        <a:xfrm>
          <a:off x="1946777" y="1218048"/>
          <a:ext cx="444142" cy="386210"/>
        </a:xfrm>
        <a:prstGeom prst="circularArrow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A634B76E-0E4B-499E-A9CD-3D2F1BCE5893}">
      <dsp:nvSpPr>
        <dsp:cNvPr id="0" name=""/>
        <dsp:cNvSpPr/>
      </dsp:nvSpPr>
      <dsp:spPr>
        <a:xfrm rot="10800000">
          <a:off x="1946777" y="1366591"/>
          <a:ext cx="444142" cy="386210"/>
        </a:xfrm>
        <a:prstGeom prst="circularArrow">
          <a:avLst/>
        </a:prstGeom>
        <a:solidFill>
          <a:schemeClr val="accent3">
            <a:tint val="60000"/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cycle4">
  <dgm:title val=""/>
  <dgm:desc val=""/>
  <dgm:catLst>
    <dgm:cat type="relationship" pri="26000"/>
    <dgm:cat type="cycle" pri="13000"/>
    <dgm:cat type="matrix" pri="4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  <dgm:pt modelId="3">
          <dgm:prSet phldr="1"/>
        </dgm:pt>
        <dgm:pt modelId="31">
          <dgm:prSet phldr="1"/>
        </dgm:pt>
        <dgm:pt modelId="4">
          <dgm:prSet phldr="1"/>
        </dgm:pt>
        <dgm:pt modelId="41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ampData>
  <dgm:style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styleData>
  <dgm:clrData>
    <dgm:dataModel>
      <dgm:ptLst>
        <dgm:pt modelId="0" type="doc"/>
        <dgm:pt modelId="1"/>
        <dgm:pt modelId="11"/>
        <dgm:pt modelId="2"/>
        <dgm:pt modelId="21"/>
        <dgm:pt modelId="3"/>
        <dgm:pt modelId="31"/>
        <dgm:pt modelId="4"/>
        <dgm:pt modelId="41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  <dgm:cxn modelId="13" srcId="1" destId="11" srcOrd="0" destOrd="0"/>
        <dgm:cxn modelId="23" srcId="2" destId="21" srcOrd="0" destOrd="0"/>
        <dgm:cxn modelId="33" srcId="3" destId="31" srcOrd="0" destOrd="0"/>
        <dgm:cxn modelId="43" srcId="4" destId="41" srcOrd="0" destOrd="0"/>
      </dgm:cxnLst>
      <dgm:bg/>
      <dgm:whole/>
    </dgm:dataModel>
  </dgm:clrData>
  <dgm:layoutNode name="cycleMatrixDiagram">
    <dgm:varLst>
      <dgm:chMax val="1"/>
      <dgm:dir/>
      <dgm:animLvl val="lvl"/>
      <dgm:resizeHandles val="exact"/>
    </dgm:varLst>
    <dgm:alg type="composite">
      <dgm:param type="ar" val="1.3"/>
    </dgm:alg>
    <dgm:shape xmlns:r="http://schemas.openxmlformats.org/officeDocument/2006/relationships" r:blip="">
      <dgm:adjLst/>
    </dgm:shape>
    <dgm:presOf/>
    <dgm:constrLst>
      <dgm:constr type="w" for="ch" forName="children" refType="w"/>
      <dgm:constr type="h" for="ch" forName="children" refType="w" refFor="ch" refForName="children" fact="0.77"/>
      <dgm:constr type="ctrX" for="ch" forName="children" refType="w" fact="0.5"/>
      <dgm:constr type="ctrY" for="ch" forName="children" refType="h" fact="0.5"/>
      <dgm:constr type="w" for="ch" forName="circle" refType="w"/>
      <dgm:constr type="h" for="ch" forName="circle" refType="h"/>
      <dgm:constr type="ctrX" for="ch" forName="circle" refType="w" fact="0.5"/>
      <dgm:constr type="ctrY" for="ch" forName="circle" refType="h" fact="0.5"/>
      <dgm:constr type="w" for="ch" forName="center1" refType="w" fact="0.115"/>
      <dgm:constr type="h" for="ch" forName="center1" refType="w" fact="0.1"/>
      <dgm:constr type="ctrX" for="ch" forName="center1" refType="w" fact="0.5"/>
      <dgm:constr type="ctrY" for="ch" forName="center1" refType="h" fact="0.475"/>
      <dgm:constr type="w" for="ch" forName="center2" refType="w" fact="0.115"/>
      <dgm:constr type="h" for="ch" forName="center2" refType="w" fact="0.1"/>
      <dgm:constr type="ctrX" for="ch" forName="center2" refType="w" fact="0.5"/>
      <dgm:constr type="ctrY" for="ch" forName="center2" refType="h" fact="0.525"/>
    </dgm:constrLst>
    <dgm:ruleLst/>
    <dgm:choose name="Name0">
      <dgm:if name="Name1" axis="ch" ptType="node" func="cnt" op="gte" val="1">
        <dgm:layoutNode name="children">
          <dgm:alg type="composite">
            <dgm:param type="ar" val="1.3"/>
          </dgm:alg>
          <dgm:shape xmlns:r="http://schemas.openxmlformats.org/officeDocument/2006/relationships" r:blip="">
            <dgm:adjLst/>
          </dgm:shape>
          <dgm:presOf/>
          <dgm:choose name="Name2">
            <dgm:if name="Name3" func="var" arg="dir" op="equ" val="norm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l" for="ch" forName="child1group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r" for="ch" forName="child2group" refType="w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r" for="ch" forName="child3group" refType="w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l" for="ch" forName="child4group"/>
              </dgm:constrLst>
            </dgm:if>
            <dgm:else name="Name4">
              <dgm:constrLst>
                <dgm:constr type="primFontSz" for="des" ptType="node" op="equ" val="65"/>
                <dgm:constr type="w" for="ch" forName="child1group" refType="w" fact="0.38"/>
                <dgm:constr type="h" for="ch" forName="child1group" refType="h" fact="0.32"/>
                <dgm:constr type="t" for="ch" forName="child1group"/>
                <dgm:constr type="r" for="ch" forName="child1group" refType="w"/>
                <dgm:constr type="w" for="ch" forName="child2group" refType="w" fact="0.38"/>
                <dgm:constr type="h" for="ch" forName="child2group" refType="h" fact="0.32"/>
                <dgm:constr type="t" for="ch" forName="child2group"/>
                <dgm:constr type="l" for="ch" forName="child2group"/>
                <dgm:constr type="w" for="ch" forName="child3group" refType="w" fact="0.38"/>
                <dgm:constr type="h" for="ch" forName="child3group" refType="h" fact="0.32"/>
                <dgm:constr type="b" for="ch" forName="child3group" refType="h"/>
                <dgm:constr type="l" for="ch" forName="child3group"/>
                <dgm:constr type="w" for="ch" forName="child4group" refType="w" fact="0.38"/>
                <dgm:constr type="h" for="ch" forName="child4group" refType="h" fact="0.32"/>
                <dgm:constr type="b" for="ch" forName="child4group" refType="h"/>
                <dgm:constr type="r" for="ch" forName="child4group" refType="w"/>
              </dgm:constrLst>
            </dgm:else>
          </dgm:choose>
          <dgm:ruleLst/>
          <dgm:choose name="Name5">
            <dgm:if name="Name6" axis="ch ch" ptType="node node" st="1 1" cnt="1 0" func="cnt" op="gte" val="1">
              <dgm:layoutNode name="child1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7">
                  <dgm:if name="Name8" func="var" arg="dir" op="equ" val="norm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l" for="ch" forName="child1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l" for="ch" forName="child1Text"/>
                    </dgm:constrLst>
                  </dgm:if>
                  <dgm:else name="Name9">
                    <dgm:constrLst>
                      <dgm:constr type="w" for="ch" forName="child1" refType="w"/>
                      <dgm:constr type="h" for="ch" forName="child1" refType="h"/>
                      <dgm:constr type="t" for="ch" forName="child1"/>
                      <dgm:constr type="r" for="ch" forName="child1" refType="w"/>
                      <dgm:constr type="w" for="ch" forName="child1Text" refType="w" fact="0.7"/>
                      <dgm:constr type="h" for="ch" forName="child1Text" refType="h" fact="0.75"/>
                      <dgm:constr type="t" for="ch" forName="child1Text"/>
                      <dgm:constr type="r" for="ch" forName="child1Text" refType="w"/>
                    </dgm:constrLst>
                  </dgm:else>
                </dgm:choose>
                <dgm:ruleLst/>
                <dgm:layoutNode name="child1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1 1" cnt="1 0"/>
                  <dgm:constrLst/>
                  <dgm:ruleLst/>
                </dgm:layoutNode>
                <dgm:layoutNode name="child1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1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0"/>
          </dgm:choose>
          <dgm:choose name="Name11">
            <dgm:if name="Name12" axis="ch ch" ptType="node node" st="2 1" cnt="1 0" func="cnt" op="gte" val="1">
              <dgm:layoutNode name="child2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choose name="Name13">
                  <dgm:if name="Name14" func="var" arg="dir" op="equ" val="norm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r" for="ch" forName="child2" refType="w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r" for="ch" forName="child2Text" refType="w"/>
                    </dgm:constrLst>
                  </dgm:if>
                  <dgm:else name="Name15">
                    <dgm:constrLst>
                      <dgm:constr type="w" for="ch" forName="child2" refType="w"/>
                      <dgm:constr type="h" for="ch" forName="child2" refType="h"/>
                      <dgm:constr type="t" for="ch" forName="child2"/>
                      <dgm:constr type="l" for="ch" forName="child2"/>
                      <dgm:constr type="w" for="ch" forName="child2Text" refType="w" fact="0.7"/>
                      <dgm:constr type="h" for="ch" forName="child2Text" refType="h" fact="0.75"/>
                      <dgm:constr type="t" for="ch" forName="child2Text"/>
                      <dgm:constr type="l" for="ch" forName="child2Text"/>
                    </dgm:constrLst>
                  </dgm:else>
                </dgm:choose>
                <dgm:ruleLst/>
                <dgm:layoutNode name="child2" styleLbl="bgAcc1">
                  <dgm:alg type="sp"/>
                  <dgm:shape xmlns:r="http://schemas.openxmlformats.org/officeDocument/2006/relationships" type="roundRect" r:blip="" zOrderOff="-2">
                    <dgm:adjLst>
                      <dgm:adj idx="1" val="0.1"/>
                    </dgm:adjLst>
                  </dgm:shape>
                  <dgm:presOf axis="ch des" ptType="node node" st="2 1" cnt="1 0"/>
                  <dgm:constrLst/>
                  <dgm:ruleLst/>
                </dgm:layoutNode>
                <dgm:layoutNode name="child2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2" hideGeom="1">
                    <dgm:adjLst>
                      <dgm:adj idx="1" val="0.1"/>
                    </dgm:adjLst>
                  </dgm:shape>
                  <dgm:presOf axis="ch des" ptType="node node" st="2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16"/>
          </dgm:choose>
          <dgm:choose name="Name17">
            <dgm:if name="Name18" axis="ch ch" ptType="node node" st="3 1" cnt="1 0" func="cnt" op="gte" val="1">
              <dgm:layoutNode name="child3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19">
                  <dgm:if name="Name20" func="var" arg="dir" op="equ" val="norm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r" for="ch" forName="child3" refType="w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r" for="ch" forName="child3Text" refType="w"/>
                    </dgm:constrLst>
                  </dgm:if>
                  <dgm:else name="Name21">
                    <dgm:constrLst>
                      <dgm:constr type="w" for="ch" forName="child3" refType="w"/>
                      <dgm:constr type="h" for="ch" forName="child3" refType="h"/>
                      <dgm:constr type="b" for="ch" forName="child3" refType="h"/>
                      <dgm:constr type="l" for="ch" forName="child3"/>
                      <dgm:constr type="w" for="ch" forName="child3Text" refType="w" fact="0.7"/>
                      <dgm:constr type="h" for="ch" forName="child3Text" refType="h" fact="0.75"/>
                      <dgm:constr type="b" for="ch" forName="child3Text" refType="h"/>
                      <dgm:constr type="l" for="ch" forName="child3Text"/>
                    </dgm:constrLst>
                  </dgm:else>
                </dgm:choose>
                <dgm:ruleLst/>
                <dgm:layoutNode name="child3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3 1" cnt="1 0"/>
                  <dgm:constrLst/>
                  <dgm:ruleLst/>
                </dgm:layoutNode>
                <dgm:layoutNode name="child3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3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2"/>
          </dgm:choose>
          <dgm:choose name="Name23">
            <dgm:if name="Name24" axis="ch ch" ptType="node node" st="4 1" cnt="1 0" func="cnt" op="gte" val="1">
              <dgm:layoutNode name="child4group">
                <dgm:alg type="composite">
                  <dgm:param type="horzAlign" val="none"/>
                  <dgm:param type="vertAlign" val="none"/>
                </dgm:alg>
                <dgm:shape xmlns:r="http://schemas.openxmlformats.org/officeDocument/2006/relationships" r:blip="">
                  <dgm:adjLst/>
                </dgm:shape>
                <dgm:presOf/>
                <dgm:choose name="Name25">
                  <dgm:if name="Name26" func="var" arg="dir" op="equ" val="norm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l" for="ch" forName="child4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l" for="ch" forName="child4Text"/>
                    </dgm:constrLst>
                  </dgm:if>
                  <dgm:else name="Name27">
                    <dgm:constrLst>
                      <dgm:constr type="w" for="ch" forName="child4" refType="w"/>
                      <dgm:constr type="h" for="ch" forName="child4" refType="h"/>
                      <dgm:constr type="b" for="ch" forName="child4" refType="h"/>
                      <dgm:constr type="r" for="ch" forName="child4" refType="w"/>
                      <dgm:constr type="w" for="ch" forName="child4Text" refType="w" fact="0.7"/>
                      <dgm:constr type="h" for="ch" forName="child4Text" refType="h" fact="0.75"/>
                      <dgm:constr type="b" for="ch" forName="child4Text" refType="h"/>
                      <dgm:constr type="r" for="ch" forName="child4Text" refType="w"/>
                    </dgm:constrLst>
                  </dgm:else>
                </dgm:choose>
                <dgm:ruleLst/>
                <dgm:layoutNode name="child4" styleLbl="bgAcc1">
                  <dgm:alg type="sp"/>
                  <dgm:shape xmlns:r="http://schemas.openxmlformats.org/officeDocument/2006/relationships" type="roundRect" r:blip="" zOrderOff="-4">
                    <dgm:adjLst>
                      <dgm:adj idx="1" val="0.1"/>
                    </dgm:adjLst>
                  </dgm:shape>
                  <dgm:presOf axis="ch des" ptType="node node" st="4 1" cnt="1 0"/>
                  <dgm:constrLst/>
                  <dgm:ruleLst/>
                </dgm:layoutNode>
                <dgm:layoutNode name="child4Text" styleLbl="bgAcc1">
                  <dgm:varLst>
                    <dgm:bulletEnabled val="1"/>
                  </dgm:varLst>
                  <dgm:alg type="tx">
                    <dgm:param type="stBulletLvl" val="1"/>
                  </dgm:alg>
                  <dgm:shape xmlns:r="http://schemas.openxmlformats.org/officeDocument/2006/relationships" type="roundRect" r:blip="" zOrderOff="-4" hideGeom="1">
                    <dgm:adjLst>
                      <dgm:adj idx="1" val="0.1"/>
                    </dgm:adjLst>
                  </dgm:shape>
                  <dgm:presOf axis="ch des" ptType="node node" st="4 1" cnt="1 0"/>
                  <dgm:constrLst>
                    <dgm:constr type="tMarg" refType="primFontSz" fact="0.3"/>
                    <dgm:constr type="bMarg" refType="primFontSz" fact="0.3"/>
                    <dgm:constr type="lMarg" refType="primFontSz" fact="0.3"/>
                    <dgm:constr type="rMarg" refType="primFontSz" fact="0.3"/>
                  </dgm:constrLst>
                  <dgm:ruleLst>
                    <dgm:rule type="primFontSz" val="5" fact="NaN" max="NaN"/>
                  </dgm:ruleLst>
                </dgm:layoutNode>
              </dgm:layoutNode>
            </dgm:if>
            <dgm:else name="Name28"/>
          </dgm:choose>
          <dgm:layoutNode name="child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ircle">
          <dgm:alg type="composite">
            <dgm:param type="ar" val="1"/>
          </dgm:alg>
          <dgm:shape xmlns:r="http://schemas.openxmlformats.org/officeDocument/2006/relationships" r:blip="">
            <dgm:adjLst/>
          </dgm:shape>
          <dgm:presOf/>
          <dgm:choose name="Name29">
            <dgm:if name="Name30" func="var" arg="dir" op="equ" val="norm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r" for="ch" forName="quadrant1" refType="w" fact="0.5"/>
                <dgm:constr type="rOff" for="ch" forName="quadrant1" refType="w" fact="-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l" for="ch" forName="quadrant2" refType="w" fact="0.5"/>
                <dgm:constr type="lOff" for="ch" forName="quadrant2" refType="w" fact="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l" for="ch" forName="quadrant3" refType="w" fact="0.5"/>
                <dgm:constr type="lOff" for="ch" forName="quadrant3" refType="w" fact="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r" for="ch" forName="quadrant4" refType="w" fact="0.5"/>
                <dgm:constr type="rOff" for="ch" forName="quadrant4" refType="w" fact="-0.01"/>
              </dgm:constrLst>
            </dgm:if>
            <dgm:else name="Name31">
              <dgm:constrLst>
                <dgm:constr type="primFontSz" for="ch" ptType="node" op="equ" val="65"/>
                <dgm:constr type="w" for="ch" forName="quadrant1" refType="w" fact="0.433"/>
                <dgm:constr type="h" for="ch" forName="quadrant1" refType="h" fact="0.433"/>
                <dgm:constr type="b" for="ch" forName="quadrant1" refType="h" fact="0.5"/>
                <dgm:constr type="bOff" for="ch" forName="quadrant1" refType="h" fact="-0.01"/>
                <dgm:constr type="l" for="ch" forName="quadrant1" refType="w" fact="0.5"/>
                <dgm:constr type="lOff" for="ch" forName="quadrant1" refType="w" fact="0.01"/>
                <dgm:constr type="w" for="ch" forName="quadrant2" refType="w" fact="0.433"/>
                <dgm:constr type="h" for="ch" forName="quadrant2" refType="h" fact="0.433"/>
                <dgm:constr type="b" for="ch" forName="quadrant2" refType="h" fact="0.5"/>
                <dgm:constr type="bOff" for="ch" forName="quadrant2" refType="h" fact="-0.01"/>
                <dgm:constr type="r" for="ch" forName="quadrant2" refType="w" fact="0.5"/>
                <dgm:constr type="rOff" for="ch" forName="quadrant2" refType="w" fact="-0.01"/>
                <dgm:constr type="w" for="ch" forName="quadrant3" refType="w" fact="0.433"/>
                <dgm:constr type="h" for="ch" forName="quadrant3" refType="h" fact="0.433"/>
                <dgm:constr type="t" for="ch" forName="quadrant3" refType="h" fact="0.5"/>
                <dgm:constr type="tOff" for="ch" forName="quadrant3" refType="h" fact="0.01"/>
                <dgm:constr type="r" for="ch" forName="quadrant3" refType="w" fact="0.5"/>
                <dgm:constr type="rOff" for="ch" forName="quadrant3" refType="w" fact="-0.01"/>
                <dgm:constr type="w" for="ch" forName="quadrant4" refType="w" fact="0.433"/>
                <dgm:constr type="h" for="ch" forName="quadrant4" refType="h" fact="0.433"/>
                <dgm:constr type="t" for="ch" forName="quadrant4" refType="h" fact="0.5"/>
                <dgm:constr type="tOff" for="ch" forName="quadrant4" refType="h" fact="0.01"/>
                <dgm:constr type="l" for="ch" forName="quadrant4" refType="w" fact="0.5"/>
                <dgm:constr type="lOff" for="ch" forName="quadrant4" refType="w" fact="0.01"/>
              </dgm:constrLst>
            </dgm:else>
          </dgm:choose>
          <dgm:ruleLst/>
          <dgm:layoutNode name="quadrant1" styleLbl="node1">
            <dgm:varLst>
              <dgm:chMax val="1"/>
              <dgm:bulletEnabled val="1"/>
            </dgm:varLst>
            <dgm:alg type="tx"/>
            <dgm:choose name="Name32">
              <dgm:if name="Name33" func="var" arg="dir" op="equ" val="norm">
                <dgm:shape xmlns:r="http://schemas.openxmlformats.org/officeDocument/2006/relationships" type="pieWedge" r:blip="">
                  <dgm:adjLst/>
                </dgm:shape>
              </dgm:if>
              <dgm:else name="Name34">
                <dgm:shape xmlns:r="http://schemas.openxmlformats.org/officeDocument/2006/relationships" rot="90" type="pieWedge" r:blip="">
                  <dgm:adjLst/>
                </dgm:shape>
              </dgm:else>
            </dgm:choose>
            <dgm:presOf axis="ch" ptType="node" cnt="1"/>
            <dgm:constrLst/>
            <dgm:ruleLst>
              <dgm:rule type="primFontSz" val="5" fact="NaN" max="NaN"/>
            </dgm:ruleLst>
          </dgm:layoutNode>
          <dgm:layoutNode name="quadrant2" styleLbl="node1">
            <dgm:varLst>
              <dgm:chMax val="1"/>
              <dgm:bulletEnabled val="1"/>
            </dgm:varLst>
            <dgm:alg type="tx"/>
            <dgm:choose name="Name35">
              <dgm:if name="Name36" func="var" arg="dir" op="equ" val="norm">
                <dgm:shape xmlns:r="http://schemas.openxmlformats.org/officeDocument/2006/relationships" rot="90" type="pieWedge" r:blip="">
                  <dgm:adjLst/>
                </dgm:shape>
              </dgm:if>
              <dgm:else name="Name37">
                <dgm:shape xmlns:r="http://schemas.openxmlformats.org/officeDocument/2006/relationships" type="pieWedge" r:blip="">
                  <dgm:adjLst/>
                </dgm:shape>
              </dgm:else>
            </dgm:choose>
            <dgm:presOf axis="ch" ptType="node" st="2" cnt="1"/>
            <dgm:constrLst/>
            <dgm:ruleLst>
              <dgm:rule type="primFontSz" val="5" fact="NaN" max="NaN"/>
            </dgm:ruleLst>
          </dgm:layoutNode>
          <dgm:layoutNode name="quadrant3" styleLbl="node1">
            <dgm:varLst>
              <dgm:chMax val="1"/>
              <dgm:bulletEnabled val="1"/>
            </dgm:varLst>
            <dgm:alg type="tx"/>
            <dgm:choose name="Name38">
              <dgm:if name="Name39" func="var" arg="dir" op="equ" val="norm">
                <dgm:shape xmlns:r="http://schemas.openxmlformats.org/officeDocument/2006/relationships" rot="180" type="pieWedge" r:blip="">
                  <dgm:adjLst/>
                </dgm:shape>
              </dgm:if>
              <dgm:else name="Name40">
                <dgm:shape xmlns:r="http://schemas.openxmlformats.org/officeDocument/2006/relationships" rot="270" type="pieWedge" r:blip="">
                  <dgm:adjLst/>
                </dgm:shape>
              </dgm:else>
            </dgm:choose>
            <dgm:presOf axis="ch" ptType="node" st="3" cnt="1"/>
            <dgm:constrLst/>
            <dgm:ruleLst>
              <dgm:rule type="primFontSz" val="5" fact="NaN" max="NaN"/>
            </dgm:ruleLst>
          </dgm:layoutNode>
          <dgm:layoutNode name="quadrant4" styleLbl="node1">
            <dgm:varLst>
              <dgm:chMax val="1"/>
              <dgm:bulletEnabled val="1"/>
            </dgm:varLst>
            <dgm:alg type="tx"/>
            <dgm:choose name="Name41">
              <dgm:if name="Name42" func="var" arg="dir" op="equ" val="norm">
                <dgm:shape xmlns:r="http://schemas.openxmlformats.org/officeDocument/2006/relationships" rot="270" type="pieWedge" r:blip="">
                  <dgm:adjLst/>
                </dgm:shape>
              </dgm:if>
              <dgm:else name="Name43">
                <dgm:shape xmlns:r="http://schemas.openxmlformats.org/officeDocument/2006/relationships" rot="180" type="pieWedge" r:blip="">
                  <dgm:adjLst/>
                </dgm:shape>
              </dgm:else>
            </dgm:choose>
            <dgm:presOf axis="ch" ptType="node" st="4" cnt="1"/>
            <dgm:constrLst/>
            <dgm:ruleLst>
              <dgm:rule type="primFontSz" val="5" fact="NaN" max="NaN"/>
            </dgm:ruleLst>
          </dgm:layoutNode>
          <dgm:layoutNode name="quadrantPlaceholder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</dgm:layoutNode>
        <dgm:layoutNode name="center1" styleLbl="fgShp">
          <dgm:alg type="sp"/>
          <dgm:choose name="Name44">
            <dgm:if name="Name45" func="var" arg="dir" op="equ" val="norm">
              <dgm:shape xmlns:r="http://schemas.openxmlformats.org/officeDocument/2006/relationships" type="circularArrow" r:blip="" zOrderOff="16">
                <dgm:adjLst/>
              </dgm:shape>
            </dgm:if>
            <dgm:else name="Name46">
              <dgm:shape xmlns:r="http://schemas.openxmlformats.org/officeDocument/2006/relationships" rot="180" type="leftCircularArrow" r:blip="" zOrderOff="16">
                <dgm:adjLst/>
              </dgm:shape>
            </dgm:else>
          </dgm:choose>
          <dgm:presOf/>
          <dgm:constrLst/>
          <dgm:ruleLst/>
        </dgm:layoutNode>
        <dgm:layoutNode name="center2" styleLbl="fgShp">
          <dgm:alg type="sp"/>
          <dgm:choose name="Name47">
            <dgm:if name="Name48" func="var" arg="dir" op="equ" val="norm">
              <dgm:shape xmlns:r="http://schemas.openxmlformats.org/officeDocument/2006/relationships" rot="180" type="circularArrow" r:blip="" zOrderOff="16">
                <dgm:adjLst/>
              </dgm:shape>
            </dgm:if>
            <dgm:else name="Name49">
              <dgm:shape xmlns:r="http://schemas.openxmlformats.org/officeDocument/2006/relationships" type="leftCircularArrow" r:blip="" zOrderOff="16">
                <dgm:adjLst/>
              </dgm:shape>
            </dgm:else>
          </dgm:choose>
          <dgm:presOf/>
          <dgm:constrLst/>
          <dgm:ruleLst/>
        </dgm:layoutNode>
      </dgm:if>
      <dgm:else name="Name50"/>
    </dgm:choose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rawings/_rels/vmlDrawing1.vml.rels><?xml version="1.0" encoding="UTF-8" standalone="yes"?>
<Relationships xmlns="http://schemas.openxmlformats.org/package/2006/relationships"><Relationship Id="rId3" Type="http://schemas.openxmlformats.org/officeDocument/2006/relationships/image" Target="../media/image12.wmf"/><Relationship Id="rId2" Type="http://schemas.openxmlformats.org/officeDocument/2006/relationships/image" Target="../media/image11.wmf"/><Relationship Id="rId1" Type="http://schemas.openxmlformats.org/officeDocument/2006/relationships/image" Target="../media/image10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77" tIns="45738" rIns="91477" bIns="45738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sz="quarter" idx="1"/>
          </p:nvPr>
        </p:nvSpPr>
        <p:spPr>
          <a:xfrm>
            <a:off x="3854940" y="0"/>
            <a:ext cx="2949099" cy="498693"/>
          </a:xfrm>
          <a:prstGeom prst="rect">
            <a:avLst/>
          </a:prstGeom>
        </p:spPr>
        <p:txBody>
          <a:bodyPr vert="horz" lIns="91477" tIns="45738" rIns="91477" bIns="45738" rtlCol="0"/>
          <a:lstStyle>
            <a:lvl1pPr algn="r">
              <a:defRPr sz="1200"/>
            </a:lvl1pPr>
          </a:lstStyle>
          <a:p>
            <a:fld id="{0F9C7889-A84F-49D1-BD5A-0C9403740ED6}" type="datetimeFigureOut">
              <a:rPr lang="ko-KR" altLang="en-US" smtClean="0"/>
              <a:pPr/>
              <a:t>2026-04-08</a:t>
            </a:fld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2"/>
          </p:nvPr>
        </p:nvSpPr>
        <p:spPr>
          <a:xfrm>
            <a:off x="0" y="9440648"/>
            <a:ext cx="2949099" cy="498692"/>
          </a:xfrm>
          <a:prstGeom prst="rect">
            <a:avLst/>
          </a:prstGeom>
        </p:spPr>
        <p:txBody>
          <a:bodyPr vert="horz" lIns="91477" tIns="45738" rIns="91477" bIns="45738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3"/>
          </p:nvPr>
        </p:nvSpPr>
        <p:spPr>
          <a:xfrm>
            <a:off x="3854940" y="9440648"/>
            <a:ext cx="2949099" cy="498692"/>
          </a:xfrm>
          <a:prstGeom prst="rect">
            <a:avLst/>
          </a:prstGeom>
        </p:spPr>
        <p:txBody>
          <a:bodyPr vert="horz" lIns="91477" tIns="45738" rIns="91477" bIns="45738" rtlCol="0" anchor="b"/>
          <a:lstStyle>
            <a:lvl1pPr algn="r">
              <a:defRPr sz="1200"/>
            </a:lvl1pPr>
          </a:lstStyle>
          <a:p>
            <a:fld id="{7FACC8F6-5469-4F2F-A461-25A096C94798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650288760"/>
      </p:ext>
    </p:extLst>
  </p:cSld>
  <p:clrMap bg1="lt1" tx1="dk1" bg2="lt2" tx2="dk2" accent1="accent1" accent2="accent2" accent3="accent3" accent4="accent4" accent5="accent5" accent6="accent6" hlink="hlink" folHlink="folHlink"/>
  <p:hf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머리글 개체 틀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49099" cy="498693"/>
          </a:xfrm>
          <a:prstGeom prst="rect">
            <a:avLst/>
          </a:prstGeom>
        </p:spPr>
        <p:txBody>
          <a:bodyPr vert="horz" lIns="91477" tIns="45738" rIns="91477" bIns="45738" rtlCol="0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3" name="날짜 개체 틀 2"/>
          <p:cNvSpPr>
            <a:spLocks noGrp="1"/>
          </p:cNvSpPr>
          <p:nvPr>
            <p:ph type="dt" idx="1"/>
          </p:nvPr>
        </p:nvSpPr>
        <p:spPr>
          <a:xfrm>
            <a:off x="3854940" y="0"/>
            <a:ext cx="2949099" cy="498693"/>
          </a:xfrm>
          <a:prstGeom prst="rect">
            <a:avLst/>
          </a:prstGeom>
        </p:spPr>
        <p:txBody>
          <a:bodyPr vert="horz" lIns="91477" tIns="45738" rIns="91477" bIns="45738" rtlCol="0"/>
          <a:lstStyle>
            <a:lvl1pPr algn="r">
              <a:defRPr sz="1200"/>
            </a:lvl1pPr>
          </a:lstStyle>
          <a:p>
            <a:fld id="{95102FC6-FE94-47A7-84EE-A54FBD2777CB}" type="datetimeFigureOut">
              <a:rPr lang="ko-KR" altLang="en-US" smtClean="0"/>
              <a:pPr/>
              <a:t>2026-04-08</a:t>
            </a:fld>
            <a:endParaRPr lang="ko-KR" altLang="en-US" dirty="0"/>
          </a:p>
        </p:txBody>
      </p:sp>
      <p:sp>
        <p:nvSpPr>
          <p:cNvPr id="4" name="슬라이드 이미지 개체 틀 3"/>
          <p:cNvSpPr>
            <a:spLocks noGrp="1" noRot="1" noChangeAspect="1"/>
          </p:cNvSpPr>
          <p:nvPr>
            <p:ph type="sldImg" idx="2"/>
          </p:nvPr>
        </p:nvSpPr>
        <p:spPr>
          <a:xfrm>
            <a:off x="1166813" y="1241425"/>
            <a:ext cx="4471987" cy="3354388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77" tIns="45738" rIns="91477" bIns="45738" rtlCol="0" anchor="ctr"/>
          <a:lstStyle/>
          <a:p>
            <a:endParaRPr lang="ko-KR" altLang="en-US" dirty="0"/>
          </a:p>
        </p:txBody>
      </p:sp>
      <p:sp>
        <p:nvSpPr>
          <p:cNvPr id="5" name="슬라이드 노트 개체 틀 4"/>
          <p:cNvSpPr>
            <a:spLocks noGrp="1"/>
          </p:cNvSpPr>
          <p:nvPr>
            <p:ph type="body" sz="quarter" idx="3"/>
          </p:nvPr>
        </p:nvSpPr>
        <p:spPr>
          <a:xfrm>
            <a:off x="680562" y="4783307"/>
            <a:ext cx="5444490" cy="3913614"/>
          </a:xfrm>
          <a:prstGeom prst="rect">
            <a:avLst/>
          </a:prstGeom>
        </p:spPr>
        <p:txBody>
          <a:bodyPr vert="horz" lIns="91477" tIns="45738" rIns="91477" bIns="45738" rtlCol="0"/>
          <a:lstStyle/>
          <a:p>
            <a:pPr lvl="0"/>
            <a:r>
              <a:rPr lang="ko-KR" altLang="en-US" smtClean="0"/>
              <a:t>마스터 텍스트 스타일 편집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6" name="바닥글 개체 틀 5"/>
          <p:cNvSpPr>
            <a:spLocks noGrp="1"/>
          </p:cNvSpPr>
          <p:nvPr>
            <p:ph type="ftr" sz="quarter" idx="4"/>
          </p:nvPr>
        </p:nvSpPr>
        <p:spPr>
          <a:xfrm>
            <a:off x="0" y="9440648"/>
            <a:ext cx="2949099" cy="498692"/>
          </a:xfrm>
          <a:prstGeom prst="rect">
            <a:avLst/>
          </a:prstGeom>
        </p:spPr>
        <p:txBody>
          <a:bodyPr vert="horz" lIns="91477" tIns="45738" rIns="91477" bIns="45738" rtlCol="0" anchor="b"/>
          <a:lstStyle>
            <a:lvl1pPr algn="l">
              <a:defRPr sz="1200"/>
            </a:lvl1pPr>
          </a:lstStyle>
          <a:p>
            <a:endParaRPr lang="ko-KR" altLang="en-US" dirty="0"/>
          </a:p>
        </p:txBody>
      </p:sp>
      <p:sp>
        <p:nvSpPr>
          <p:cNvPr id="7" name="슬라이드 번호 개체 틀 6"/>
          <p:cNvSpPr>
            <a:spLocks noGrp="1"/>
          </p:cNvSpPr>
          <p:nvPr>
            <p:ph type="sldNum" sz="quarter" idx="5"/>
          </p:nvPr>
        </p:nvSpPr>
        <p:spPr>
          <a:xfrm>
            <a:off x="3854940" y="9440648"/>
            <a:ext cx="2949099" cy="498692"/>
          </a:xfrm>
          <a:prstGeom prst="rect">
            <a:avLst/>
          </a:prstGeom>
        </p:spPr>
        <p:txBody>
          <a:bodyPr vert="horz" lIns="91477" tIns="45738" rIns="91477" bIns="45738" rtlCol="0" anchor="b"/>
          <a:lstStyle>
            <a:lvl1pPr algn="r">
              <a:defRPr sz="1200"/>
            </a:lvl1pPr>
          </a:lstStyle>
          <a:p>
            <a:fld id="{17C94E65-097A-4CA0-B953-83BB7887CD73}" type="slidenum">
              <a:rPr lang="ko-KR" altLang="en-US" smtClean="0"/>
              <a:pPr/>
              <a:t>‹#›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838141052"/>
      </p:ext>
    </p:extLst>
  </p:cSld>
  <p:clrMap bg1="lt1" tx1="dk1" bg2="lt2" tx2="dk2" accent1="accent1" accent2="accent2" accent3="accent3" accent4="accent4" accent5="accent5" accent6="accent6" hlink="hlink" folHlink="folHlink"/>
  <p:hf hdr="0" dt="0"/>
  <p:notesStyle>
    <a:lvl1pPr marL="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1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pPr/>
              <a:t>3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53333377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pPr/>
              <a:t>6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501645004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이미지 개체 틀 1"/>
          <p:cNvSpPr>
            <a:spLocks noGrp="1" noRot="1" noChangeAspect="1"/>
          </p:cNvSpPr>
          <p:nvPr>
            <p:ph type="sldImg"/>
          </p:nvPr>
        </p:nvSpPr>
        <p:spPr>
          <a:xfrm>
            <a:off x="1166813" y="1241425"/>
            <a:ext cx="4473575" cy="3354388"/>
          </a:xfrm>
        </p:spPr>
      </p:sp>
      <p:sp>
        <p:nvSpPr>
          <p:cNvPr id="3" name="슬라이드 노트 개체 틀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4" name="바닥글 개체 틀 3"/>
          <p:cNvSpPr>
            <a:spLocks noGrp="1"/>
          </p:cNvSpPr>
          <p:nvPr>
            <p:ph type="ftr" sz="quarter" idx="10"/>
          </p:nvPr>
        </p:nvSpPr>
        <p:spPr/>
        <p:txBody>
          <a:bodyPr/>
          <a:lstStyle/>
          <a:p>
            <a:endParaRPr lang="ko-KR" altLang="en-US" dirty="0"/>
          </a:p>
        </p:txBody>
      </p:sp>
      <p:sp>
        <p:nvSpPr>
          <p:cNvPr id="5" name="슬라이드 번호 개체 틀 4"/>
          <p:cNvSpPr>
            <a:spLocks noGrp="1"/>
          </p:cNvSpPr>
          <p:nvPr>
            <p:ph type="sldNum" sz="quarter" idx="11"/>
          </p:nvPr>
        </p:nvSpPr>
        <p:spPr/>
        <p:txBody>
          <a:bodyPr/>
          <a:lstStyle/>
          <a:p>
            <a:fld id="{17C94E65-097A-4CA0-B953-83BB7887CD73}" type="slidenum">
              <a:rPr lang="ko-KR" altLang="en-US" smtClean="0"/>
              <a:pPr/>
              <a:t>7</a:t>
            </a:fld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3187888424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Rectangle 36"/>
          <p:cNvSpPr>
            <a:spLocks noChangeArrowheads="1"/>
          </p:cNvSpPr>
          <p:nvPr userDrawn="1"/>
        </p:nvSpPr>
        <p:spPr bwMode="white">
          <a:xfrm>
            <a:off x="0" y="-26988"/>
            <a:ext cx="9144000" cy="2303463"/>
          </a:xfrm>
          <a:prstGeom prst="rect">
            <a:avLst/>
          </a:prstGeom>
          <a:gradFill flip="none" rotWithShape="1">
            <a:gsLst>
              <a:gs pos="0">
                <a:schemeClr val="bg1">
                  <a:lumMod val="50000"/>
                </a:schemeClr>
              </a:gs>
              <a:gs pos="100000">
                <a:schemeClr val="bg1">
                  <a:lumMod val="85000"/>
                </a:schemeClr>
              </a:gs>
            </a:gsLst>
            <a:lin ang="0" scaled="1"/>
            <a:tileRect/>
          </a:gra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7" name="Freeform 38"/>
          <p:cNvSpPr>
            <a:spLocks/>
          </p:cNvSpPr>
          <p:nvPr userDrawn="1"/>
        </p:nvSpPr>
        <p:spPr bwMode="gray">
          <a:xfrm>
            <a:off x="0" y="3284984"/>
            <a:ext cx="1911350" cy="461962"/>
          </a:xfrm>
          <a:custGeom>
            <a:avLst/>
            <a:gdLst/>
            <a:ahLst/>
            <a:cxnLst>
              <a:cxn ang="0">
                <a:pos x="0" y="0"/>
              </a:cxn>
              <a:cxn ang="0">
                <a:pos x="1204" y="0"/>
              </a:cxn>
              <a:cxn ang="0">
                <a:pos x="1041" y="291"/>
              </a:cxn>
              <a:cxn ang="0">
                <a:pos x="0" y="286"/>
              </a:cxn>
              <a:cxn ang="0">
                <a:pos x="0" y="0"/>
              </a:cxn>
            </a:cxnLst>
            <a:rect l="0" t="0" r="r" b="b"/>
            <a:pathLst>
              <a:path w="1204" h="291">
                <a:moveTo>
                  <a:pt x="0" y="0"/>
                </a:moveTo>
                <a:lnTo>
                  <a:pt x="1204" y="0"/>
                </a:lnTo>
                <a:lnTo>
                  <a:pt x="1041" y="291"/>
                </a:lnTo>
                <a:lnTo>
                  <a:pt x="0" y="286"/>
                </a:lnTo>
                <a:lnTo>
                  <a:pt x="0" y="0"/>
                </a:lnTo>
                <a:close/>
              </a:path>
            </a:pathLst>
          </a:custGeom>
          <a:solidFill>
            <a:schemeClr val="tx1">
              <a:lumMod val="75000"/>
              <a:lumOff val="25000"/>
            </a:schemeClr>
          </a:solidFill>
          <a:ln w="9525" cap="flat" cmpd="sng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sp>
        <p:nvSpPr>
          <p:cNvPr id="18" name="Freeform 44"/>
          <p:cNvSpPr>
            <a:spLocks/>
          </p:cNvSpPr>
          <p:nvPr userDrawn="1"/>
        </p:nvSpPr>
        <p:spPr bwMode="gray">
          <a:xfrm>
            <a:off x="1908175" y="2276475"/>
            <a:ext cx="7240588" cy="1008509"/>
          </a:xfrm>
          <a:custGeom>
            <a:avLst/>
            <a:gdLst/>
            <a:ahLst/>
            <a:cxnLst>
              <a:cxn ang="0">
                <a:pos x="0" y="573"/>
              </a:cxn>
              <a:cxn ang="0">
                <a:pos x="4134" y="573"/>
              </a:cxn>
              <a:cxn ang="0">
                <a:pos x="4134" y="1"/>
              </a:cxn>
              <a:cxn ang="0">
                <a:pos x="322" y="0"/>
              </a:cxn>
              <a:cxn ang="0">
                <a:pos x="0" y="573"/>
              </a:cxn>
            </a:cxnLst>
            <a:rect l="0" t="0" r="r" b="b"/>
            <a:pathLst>
              <a:path w="4134" h="573">
                <a:moveTo>
                  <a:pt x="0" y="573"/>
                </a:moveTo>
                <a:lnTo>
                  <a:pt x="4134" y="573"/>
                </a:lnTo>
                <a:lnTo>
                  <a:pt x="4134" y="1"/>
                </a:lnTo>
                <a:lnTo>
                  <a:pt x="322" y="0"/>
                </a:lnTo>
                <a:lnTo>
                  <a:pt x="0" y="573"/>
                </a:lnTo>
                <a:close/>
              </a:path>
            </a:pathLst>
          </a:custGeom>
          <a:solidFill>
            <a:srgbClr val="CC0000">
              <a:alpha val="74902"/>
            </a:srgbClr>
          </a:solidFill>
          <a:ln w="9525">
            <a:noFill/>
            <a:round/>
            <a:headEnd/>
            <a:tailEnd/>
          </a:ln>
          <a:effectLst/>
        </p:spPr>
        <p:txBody>
          <a:bodyPr/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  <a:defRPr/>
            </a:pPr>
            <a:endParaRPr lang="ko-KR" altLang="en-US" sz="1100" dirty="0">
              <a:solidFill>
                <a:srgbClr val="FFFFFF"/>
              </a:solidFill>
              <a:ea typeface="굴림" pitchFamily="50" charset="-127"/>
            </a:endParaRPr>
          </a:p>
        </p:txBody>
      </p:sp>
      <p:pic>
        <p:nvPicPr>
          <p:cNvPr id="19" name="Picture 46"/>
          <p:cNvPicPr>
            <a:picLocks noChangeAspect="1" noChangeArrowheads="1"/>
          </p:cNvPicPr>
          <p:nvPr userDrawn="1"/>
        </p:nvPicPr>
        <p:blipFill>
          <a:blip r:embed="rId2" cstate="print"/>
          <a:srcRect l="36575" b="-2045"/>
          <a:stretch>
            <a:fillRect/>
          </a:stretch>
        </p:blipFill>
        <p:spPr bwMode="auto">
          <a:xfrm>
            <a:off x="252413" y="2655217"/>
            <a:ext cx="1498600" cy="52863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20" name="Picture 1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9388" y="2348880"/>
            <a:ext cx="1728316" cy="297581"/>
          </a:xfrm>
          <a:prstGeom prst="rect">
            <a:avLst/>
          </a:prstGeom>
          <a:noFill/>
          <a:ln w="1">
            <a:noFill/>
            <a:miter lim="800000"/>
            <a:headEnd/>
            <a:tailEnd/>
          </a:ln>
        </p:spPr>
      </p:pic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000"/>
            </a:lvl1pPr>
            <a:lvl2pPr marL="457200" indent="0">
              <a:buNone/>
              <a:defRPr sz="1800"/>
            </a:lvl2pPr>
            <a:lvl3pPr marL="914400" indent="0">
              <a:buNone/>
              <a:defRPr sz="1600"/>
            </a:lvl3pPr>
            <a:lvl4pPr marL="1371600" indent="0">
              <a:buNone/>
              <a:defRPr sz="1400"/>
            </a:lvl4pPr>
            <a:lvl5pPr marL="1828800" indent="0">
              <a:buNone/>
              <a:defRPr sz="1400"/>
            </a:lvl5pPr>
            <a:lvl6pPr marL="2286000" indent="0">
              <a:buNone/>
              <a:defRPr sz="1400"/>
            </a:lvl6pPr>
            <a:lvl7pPr marL="2743200" indent="0">
              <a:buNone/>
              <a:defRPr sz="1400"/>
            </a:lvl7pPr>
            <a:lvl8pPr marL="3200400" indent="0">
              <a:buNone/>
              <a:defRPr sz="1400"/>
            </a:lvl8pPr>
            <a:lvl9pPr marL="3657600" indent="0">
              <a:buNone/>
              <a:defRPr sz="14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dirty="0" smtClean="0"/>
              <a:t>마스터 제목 스타일 편집</a:t>
            </a:r>
            <a:endParaRPr lang="ko-KR" altLang="en-US" dirty="0"/>
          </a:p>
        </p:txBody>
      </p:sp>
      <p:sp>
        <p:nvSpPr>
          <p:cNvPr id="3" name="내용 개체 틀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>
            <a:lvl1pPr>
              <a:defRPr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텍스트 개체 틀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4" name="내용 개체 틀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5" name="텍스트 개체 틀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  <p:sp>
        <p:nvSpPr>
          <p:cNvPr id="6" name="내용 개체 틀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직사각형 1"/>
          <p:cNvSpPr/>
          <p:nvPr userDrawn="1"/>
        </p:nvSpPr>
        <p:spPr>
          <a:xfrm>
            <a:off x="323528" y="6604084"/>
            <a:ext cx="6768752" cy="23083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en-US" sz="900" dirty="0" smtClean="0">
                <a:solidFill>
                  <a:schemeClr val="bg1">
                    <a:lumMod val="65000"/>
                  </a:schemeClr>
                </a:solidFill>
                <a:latin typeface="Arial" charset="0"/>
                <a:cs typeface="Arial" charset="0"/>
              </a:rPr>
              <a:t>The information contained in this document may be privileged and confidential and thus protected from disclosure</a:t>
            </a:r>
            <a:endParaRPr lang="ko-KR" altLang="en-US" sz="900" dirty="0">
              <a:solidFill>
                <a:schemeClr val="bg1">
                  <a:lumMod val="65000"/>
                </a:schemeClr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내용 개체 틀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그림 개체 틀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lvl="0"/>
            <a:endParaRPr lang="ko-KR" altLang="en-US" noProof="0" dirty="0" smtClean="0"/>
          </a:p>
        </p:txBody>
      </p:sp>
      <p:sp>
        <p:nvSpPr>
          <p:cNvPr id="4" name="텍스트 개체 틀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ko-KR" altLang="en-US" smtClean="0"/>
              <a:t>마스터 텍스트 스타일을 편집합니다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제목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세로 제목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  <a:prstGeom prst="rect">
            <a:avLst/>
          </a:prstGeom>
        </p:spPr>
        <p:txBody>
          <a:bodyPr vert="eaVert"/>
          <a:lstStyle/>
          <a:p>
            <a:r>
              <a:rPr lang="ko-KR" altLang="en-US" smtClean="0"/>
              <a:t>마스터 제목 스타일 편집</a:t>
            </a:r>
            <a:endParaRPr lang="ko-KR" altLang="en-US"/>
          </a:p>
        </p:txBody>
      </p:sp>
      <p:sp>
        <p:nvSpPr>
          <p:cNvPr id="3" name="세로 텍스트 개체 틀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  <a:prstGeom prst="rect">
            <a:avLst/>
          </a:prstGeom>
        </p:spPr>
        <p:txBody>
          <a:bodyPr vert="eaVert"/>
          <a:lstStyle/>
          <a:p>
            <a:pPr lvl="0"/>
            <a:r>
              <a:rPr lang="ko-KR" altLang="en-US" smtClean="0"/>
              <a:t>마스터 텍스트 스타일을 편집합니다</a:t>
            </a:r>
          </a:p>
          <a:p>
            <a:pPr lvl="1"/>
            <a:r>
              <a:rPr lang="ko-KR" altLang="en-US" smtClean="0"/>
              <a:t>둘째 수준</a:t>
            </a:r>
          </a:p>
          <a:p>
            <a:pPr lvl="2"/>
            <a:r>
              <a:rPr lang="ko-KR" altLang="en-US" smtClean="0"/>
              <a:t>셋째 수준</a:t>
            </a:r>
          </a:p>
          <a:p>
            <a:pPr lvl="3"/>
            <a:r>
              <a:rPr lang="ko-KR" altLang="en-US" smtClean="0"/>
              <a:t>넷째 수준</a:t>
            </a:r>
          </a:p>
          <a:p>
            <a:pPr lvl="4"/>
            <a:r>
              <a:rPr lang="ko-KR" altLang="en-US" smtClean="0"/>
              <a:t>다섯째 수준</a:t>
            </a:r>
            <a:endParaRPr lang="ko-KR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 rotWithShape="1">
          <a:blip r:embed="rId13" cstate="print"/>
          <a:srcRect l="26775" t="20591" r="33426" b="72507"/>
          <a:stretch/>
        </p:blipFill>
        <p:spPr>
          <a:xfrm>
            <a:off x="7766135" y="6585166"/>
            <a:ext cx="1368152" cy="266957"/>
          </a:xfrm>
          <a:prstGeom prst="rect">
            <a:avLst/>
          </a:prstGeom>
        </p:spPr>
      </p:pic>
      <p:sp>
        <p:nvSpPr>
          <p:cNvPr id="7" name="Rectangle 36"/>
          <p:cNvSpPr>
            <a:spLocks noChangeArrowheads="1"/>
          </p:cNvSpPr>
          <p:nvPr/>
        </p:nvSpPr>
        <p:spPr bwMode="white">
          <a:xfrm>
            <a:off x="0" y="480312"/>
            <a:ext cx="543464" cy="60384"/>
          </a:xfrm>
          <a:prstGeom prst="rect">
            <a:avLst/>
          </a:prstGeom>
          <a:solidFill>
            <a:srgbClr val="FF0000"/>
          </a:solidFill>
          <a:ln w="9525">
            <a:noFill/>
            <a:miter lim="800000"/>
            <a:headEnd/>
            <a:tailEnd/>
          </a:ln>
          <a:effectLst/>
        </p:spPr>
        <p:txBody>
          <a:bodyPr wrap="none" anchor="ctr"/>
          <a:lstStyle/>
          <a:p>
            <a:pPr algn="ctr" latinLnBrk="0">
              <a:defRPr/>
            </a:pPr>
            <a:endParaRPr lang="ko-KR" altLang="en-US" dirty="0">
              <a:solidFill>
                <a:prstClr val="black"/>
              </a:solidFill>
              <a:latin typeface="Lucida Sans Unicode"/>
            </a:endParaRPr>
          </a:p>
        </p:txBody>
      </p:sp>
      <p:sp>
        <p:nvSpPr>
          <p:cNvPr id="8" name="Rectangle 36"/>
          <p:cNvSpPr>
            <a:spLocks noChangeArrowheads="1"/>
          </p:cNvSpPr>
          <p:nvPr/>
        </p:nvSpPr>
        <p:spPr bwMode="white">
          <a:xfrm>
            <a:off x="628650" y="480313"/>
            <a:ext cx="8515350" cy="60383"/>
          </a:xfrm>
          <a:prstGeom prst="rect">
            <a:avLst/>
          </a:prstGeom>
          <a:solidFill>
            <a:schemeClr val="tx1">
              <a:lumMod val="50000"/>
              <a:lumOff val="50000"/>
            </a:schemeClr>
          </a:solidFill>
          <a:ln>
            <a:noFill/>
          </a:ln>
        </p:spPr>
        <p:txBody>
          <a:bodyPr wrap="none" anchor="ctr"/>
          <a:lstStyle>
            <a:lvl1pPr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맑은 고딕" pitchFamily="50" charset="-127"/>
                <a:ea typeface="굴림" charset="-127"/>
              </a:defRPr>
            </a:lvl9pPr>
          </a:lstStyle>
          <a:p>
            <a:pPr eaLnBrk="1" fontAlgn="base" latinLnBrk="0" hangingPunct="1">
              <a:spcBef>
                <a:spcPct val="0"/>
              </a:spcBef>
              <a:spcAft>
                <a:spcPct val="0"/>
              </a:spcAft>
              <a:defRPr/>
            </a:pPr>
            <a:endParaRPr kumimoji="0" lang="ko-KR" altLang="en-US" sz="1100" dirty="0">
              <a:solidFill>
                <a:srgbClr val="FFFFFF"/>
              </a:solidFill>
              <a:latin typeface="Verdana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9858" y="6516798"/>
            <a:ext cx="6768752" cy="37446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l">
              <a:lnSpc>
                <a:spcPts val="1100"/>
              </a:lnSpc>
            </a:pPr>
            <a:r>
              <a:rPr lang="ko-KR" altLang="en-US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본 문서는 우리산업㈜의 자산으로 회사의 승인없이 외부 유포 및 공개가 금지 됩니다</a:t>
            </a:r>
            <a:r>
              <a:rPr lang="en-US" altLang="ko-KR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. </a:t>
            </a:r>
            <a:endParaRPr lang="en-US" altLang="en-US" sz="800" dirty="0" smtClean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l">
              <a:lnSpc>
                <a:spcPts val="1100"/>
              </a:lnSpc>
            </a:pPr>
            <a:r>
              <a:rPr lang="en-US" altLang="en-US" sz="800" dirty="0" smtClean="0">
                <a:solidFill>
                  <a:schemeClr val="bg1">
                    <a:lumMod val="85000"/>
                  </a:schemeClr>
                </a:solidFill>
                <a:latin typeface="Arial" panose="020B0604020202020204" pitchFamily="34" charset="0"/>
                <a:cs typeface="Arial" panose="020B0604020202020204" pitchFamily="34" charset="0"/>
              </a:rPr>
              <a:t>The information contained in this document may be privileged and confidential and thus protected from disclosure.</a:t>
            </a:r>
            <a:endParaRPr lang="ko-KR" altLang="en-US" sz="800" dirty="0">
              <a:solidFill>
                <a:schemeClr val="bg1">
                  <a:lumMod val="85000"/>
                </a:schemeClr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2" r:id="rId1"/>
    <p:sldLayoutId id="2147483663" r:id="rId2"/>
    <p:sldLayoutId id="2147483664" r:id="rId3"/>
    <p:sldLayoutId id="2147483665" r:id="rId4"/>
    <p:sldLayoutId id="2147483666" r:id="rId5"/>
    <p:sldLayoutId id="2147483667" r:id="rId6"/>
    <p:sldLayoutId id="2147483668" r:id="rId7"/>
    <p:sldLayoutId id="2147483669" r:id="rId8"/>
    <p:sldLayoutId id="2147483670" r:id="rId9"/>
    <p:sldLayoutId id="2147483671" r:id="rId10"/>
    <p:sldLayoutId id="2147483672" r:id="rId11"/>
  </p:sldLayoutIdLst>
  <p:timing>
    <p:tnLst>
      <p:par>
        <p:cTn id="1" dur="indefinite" restart="never" nodeType="tmRoot"/>
      </p:par>
    </p:tnLst>
  </p:timing>
  <p:hf sldNum="0" hdr="0" dt="0"/>
  <p:txStyles>
    <p:titleStyle>
      <a:lvl1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+mj-lt"/>
          <a:ea typeface="+mj-ea"/>
          <a:cs typeface="+mj-cs"/>
        </a:defRPr>
      </a:lvl1pPr>
      <a:lvl2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2pPr>
      <a:lvl3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3pPr>
      <a:lvl4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4pPr>
      <a:lvl5pPr algn="l" rtl="0" eaLnBrk="0" fontAlgn="base" hangingPunct="0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5pPr>
      <a:lvl6pPr marL="4572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6pPr>
      <a:lvl7pPr marL="9144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7pPr>
      <a:lvl8pPr marL="13716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8pPr>
      <a:lvl9pPr marL="1828800" algn="l" rtl="0" fontAlgn="base">
        <a:spcBef>
          <a:spcPct val="0"/>
        </a:spcBef>
        <a:spcAft>
          <a:spcPct val="0"/>
        </a:spcAft>
        <a:defRPr sz="3600">
          <a:solidFill>
            <a:schemeClr val="tx2"/>
          </a:solidFill>
          <a:latin typeface="Arial" charset="0"/>
        </a:defRPr>
      </a:lvl9pPr>
    </p:titleStyle>
    <p:bodyStyle>
      <a:lvl1pPr marL="342900" indent="-342900" algn="l" rtl="0" eaLnBrk="0" fontAlgn="base" hangingPunct="0">
        <a:spcBef>
          <a:spcPct val="20000"/>
        </a:spcBef>
        <a:spcAft>
          <a:spcPct val="0"/>
        </a:spcAft>
        <a:buClr>
          <a:schemeClr val="hlink"/>
        </a:buClr>
        <a:buFont typeface="Wingdings" pitchFamily="2" charset="2"/>
        <a:buChar char="v"/>
        <a:defRPr sz="2800">
          <a:solidFill>
            <a:schemeClr val="accent1"/>
          </a:solidFill>
          <a:latin typeface="+mn-lt"/>
          <a:ea typeface="+mn-ea"/>
          <a:cs typeface="+mn-cs"/>
        </a:defRPr>
      </a:lvl1pPr>
      <a:lvl2pPr marL="742950" indent="-285750" algn="l" rtl="0" eaLnBrk="0" fontAlgn="base" hangingPunct="0">
        <a:spcBef>
          <a:spcPct val="20000"/>
        </a:spcBef>
        <a:spcAft>
          <a:spcPct val="0"/>
        </a:spcAft>
        <a:buClr>
          <a:schemeClr val="accent1"/>
        </a:buClr>
        <a:buFont typeface="Wingdings" pitchFamily="2" charset="2"/>
        <a:buChar char="§"/>
        <a:defRPr sz="2800">
          <a:solidFill>
            <a:schemeClr val="tx1"/>
          </a:solidFill>
          <a:latin typeface="+mj-lt"/>
        </a:defRPr>
      </a:lvl2pPr>
      <a:lvl3pPr marL="1143000" indent="-228600" algn="l" rtl="0" eaLnBrk="0" fontAlgn="base" hangingPunct="0">
        <a:spcBef>
          <a:spcPct val="20000"/>
        </a:spcBef>
        <a:spcAft>
          <a:spcPct val="0"/>
        </a:spcAft>
        <a:buClr>
          <a:schemeClr val="tx1"/>
        </a:buClr>
        <a:buChar char="•"/>
        <a:defRPr sz="2400">
          <a:solidFill>
            <a:schemeClr val="tx1"/>
          </a:solidFill>
          <a:latin typeface="+mj-lt"/>
        </a:defRPr>
      </a:lvl3pPr>
      <a:lvl4pPr marL="1600200" indent="-228600" algn="l" rtl="0" eaLnBrk="0" fontAlgn="base" hangingPunct="0">
        <a:spcBef>
          <a:spcPct val="20000"/>
        </a:spcBef>
        <a:spcAft>
          <a:spcPct val="0"/>
        </a:spcAft>
        <a:buChar char="–"/>
        <a:defRPr sz="2000">
          <a:solidFill>
            <a:schemeClr val="tx1"/>
          </a:solidFill>
          <a:latin typeface="+mj-lt"/>
        </a:defRPr>
      </a:lvl4pPr>
      <a:lvl5pPr marL="2057400" indent="-228600" algn="l" rtl="0" eaLnBrk="0" fontAlgn="base" hangingPunct="0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5pPr>
      <a:lvl6pPr marL="25146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6pPr>
      <a:lvl7pPr marL="29718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7pPr>
      <a:lvl8pPr marL="34290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8pPr>
      <a:lvl9pPr marL="3886200" indent="-228600" algn="l" rtl="0" fontAlgn="base">
        <a:spcBef>
          <a:spcPct val="20000"/>
        </a:spcBef>
        <a:spcAft>
          <a:spcPct val="0"/>
        </a:spcAft>
        <a:buChar char="»"/>
        <a:defRPr sz="2000">
          <a:solidFill>
            <a:schemeClr val="tx1"/>
          </a:solidFill>
          <a:latin typeface="+mj-lt"/>
        </a:defRPr>
      </a:lvl9pPr>
    </p:bodyStyle>
    <p:otherStyle>
      <a:defPPr>
        <a:defRPr lang="ko-KR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6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8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7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9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oleObject" Target="file:///C:\Users\user\Desktop\&#46160;&#44204;\3D-3\01_NEa%20PE_PTC%20HEATER%20ASSY_230216.CATProduct" TargetMode="External"/><Relationship Id="rId2" Type="http://schemas.openxmlformats.org/officeDocument/2006/relationships/slideLayout" Target="../slideLayouts/slideLayout2.xml"/><Relationship Id="rId1" Type="http://schemas.openxmlformats.org/officeDocument/2006/relationships/vmlDrawing" Target="../drawings/vmlDrawing1.vml"/><Relationship Id="rId6" Type="http://schemas.openxmlformats.org/officeDocument/2006/relationships/image" Target="../media/image12.wmf"/><Relationship Id="rId5" Type="http://schemas.openxmlformats.org/officeDocument/2006/relationships/image" Target="../media/image11.wmf"/><Relationship Id="rId4" Type="http://schemas.openxmlformats.org/officeDocument/2006/relationships/image" Target="../media/image10.wmf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emf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/>
          <p:cNvSpPr txBox="1"/>
          <p:nvPr/>
        </p:nvSpPr>
        <p:spPr>
          <a:xfrm>
            <a:off x="1835696" y="5301208"/>
            <a:ext cx="5934638" cy="52322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28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28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28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28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28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 </a:t>
            </a:r>
            <a:r>
              <a:rPr lang="en-US" altLang="ko-KR" sz="28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”</a:t>
            </a:r>
            <a:endParaRPr lang="ko-KR" altLang="en-US" sz="28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3611021" y="6061358"/>
            <a:ext cx="2273379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ko-KR" altLang="en-US" smtClean="0">
                <a:solidFill>
                  <a:schemeClr val="tx1">
                    <a:lumMod val="65000"/>
                    <a:lumOff val="35000"/>
                  </a:schemeClr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우리산업㈜ 기술연구소</a:t>
            </a:r>
            <a:endParaRPr lang="ko-KR" altLang="en-US">
              <a:solidFill>
                <a:schemeClr val="tx1">
                  <a:lumMod val="65000"/>
                  <a:lumOff val="35000"/>
                </a:schemeClr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2174776" y="2531570"/>
            <a:ext cx="6969224" cy="6093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fontAlgn="base">
              <a:lnSpc>
                <a:spcPct val="120000"/>
              </a:lnSpc>
              <a:spcBef>
                <a:spcPct val="0"/>
              </a:spcBef>
              <a:spcAft>
                <a:spcPct val="0"/>
              </a:spcAft>
              <a:defRPr/>
            </a:pPr>
            <a:r>
              <a:rPr kumimoji="1" lang="en-US" altLang="ko-KR" sz="2800" dirty="0" smtClean="0">
                <a:solidFill>
                  <a:prstClr val="white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4Zone HV PTC Heater </a:t>
            </a:r>
            <a:r>
              <a:rPr kumimoji="1" lang="ko-KR" altLang="en-US" sz="2800" dirty="0" smtClean="0">
                <a:solidFill>
                  <a:prstClr val="white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개발 </a:t>
            </a:r>
            <a:r>
              <a:rPr kumimoji="1" lang="ko-KR" altLang="en-US" sz="2800" dirty="0" err="1" smtClean="0">
                <a:solidFill>
                  <a:prstClr val="white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로드맵</a:t>
            </a:r>
            <a:endParaRPr kumimoji="1" lang="en-US" altLang="ko-KR" sz="2800" dirty="0" smtClean="0">
              <a:solidFill>
                <a:prstClr val="white"/>
              </a:solidFill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5" name="직사각형 4"/>
          <p:cNvSpPr/>
          <p:nvPr/>
        </p:nvSpPr>
        <p:spPr>
          <a:xfrm>
            <a:off x="7662435" y="6382468"/>
            <a:ext cx="1730678" cy="256529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 anchorCtr="0"/>
          <a:lstStyle/>
          <a:p>
            <a:pPr algn="ctr">
              <a:lnSpc>
                <a:spcPts val="5000"/>
              </a:lnSpc>
            </a:pPr>
            <a:r>
              <a:rPr lang="en-US" altLang="ko-KR" sz="1200" b="1" dirty="0" smtClean="0">
                <a:solidFill>
                  <a:schemeClr val="tx2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2026.</a:t>
            </a:r>
            <a:r>
              <a:rPr lang="ko-KR" altLang="en-US" sz="1200" b="1" dirty="0" smtClean="0">
                <a:solidFill>
                  <a:schemeClr val="tx2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 </a:t>
            </a:r>
            <a:r>
              <a:rPr lang="en-US" altLang="ko-KR" sz="1200" b="1" dirty="0" smtClean="0">
                <a:solidFill>
                  <a:schemeClr val="tx2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04. 03</a:t>
            </a:r>
            <a:endParaRPr lang="en-US" altLang="ko-KR" sz="1200" b="1" dirty="0">
              <a:solidFill>
                <a:schemeClr val="tx2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</p:spTree>
    <p:extLst>
      <p:ext uri="{BB962C8B-B14F-4D97-AF65-F5344CB8AC3E}">
        <p14:creationId xmlns:p14="http://schemas.microsoft.com/office/powerpoint/2010/main" val="13147991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9" name="직선 연결선 8"/>
          <p:cNvCxnSpPr/>
          <p:nvPr/>
        </p:nvCxnSpPr>
        <p:spPr bwMode="auto">
          <a:xfrm flipV="1">
            <a:off x="908653" y="2842244"/>
            <a:ext cx="0" cy="69066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5" name="직선 연결선 24"/>
          <p:cNvCxnSpPr/>
          <p:nvPr/>
        </p:nvCxnSpPr>
        <p:spPr bwMode="auto">
          <a:xfrm flipV="1">
            <a:off x="2745766" y="2842244"/>
            <a:ext cx="0" cy="69066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6" name="직선 연결선 25"/>
          <p:cNvCxnSpPr/>
          <p:nvPr/>
        </p:nvCxnSpPr>
        <p:spPr bwMode="auto">
          <a:xfrm flipV="1">
            <a:off x="4632755" y="2211185"/>
            <a:ext cx="0" cy="132172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27" name="직선 연결선 26"/>
          <p:cNvCxnSpPr/>
          <p:nvPr/>
        </p:nvCxnSpPr>
        <p:spPr bwMode="auto">
          <a:xfrm flipV="1">
            <a:off x="6469868" y="2842244"/>
            <a:ext cx="0" cy="69066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31" name="직선 연결선 30"/>
          <p:cNvCxnSpPr/>
          <p:nvPr/>
        </p:nvCxnSpPr>
        <p:spPr bwMode="auto">
          <a:xfrm flipV="1">
            <a:off x="8381795" y="2842244"/>
            <a:ext cx="0" cy="690665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24" name="TextBox 23"/>
          <p:cNvSpPr txBox="1"/>
          <p:nvPr/>
        </p:nvSpPr>
        <p:spPr>
          <a:xfrm>
            <a:off x="6548383" y="797784"/>
            <a:ext cx="2399889" cy="16183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ts val="1714"/>
              </a:lnSpc>
            </a:pPr>
            <a:r>
              <a:rPr lang="ko-KR" altLang="en-US" sz="1270" b="1" dirty="0">
                <a:latin typeface="+mn-ea"/>
              </a:rPr>
              <a:t>■  </a:t>
            </a:r>
            <a:r>
              <a:rPr lang="en-US" altLang="ko-KR" sz="1270" b="1" dirty="0">
                <a:latin typeface="+mn-ea"/>
              </a:rPr>
              <a:t>TFT </a:t>
            </a:r>
            <a:r>
              <a:rPr lang="ko-KR" altLang="en-US" sz="1270" b="1" dirty="0">
                <a:latin typeface="+mn-ea"/>
              </a:rPr>
              <a:t>총원 </a:t>
            </a:r>
            <a:r>
              <a:rPr lang="en-US" altLang="ko-KR" sz="1270" b="1" dirty="0">
                <a:latin typeface="+mn-ea"/>
              </a:rPr>
              <a:t>: 9</a:t>
            </a:r>
            <a:r>
              <a:rPr lang="ko-KR" altLang="en-US" sz="1270" b="1" dirty="0" smtClean="0">
                <a:latin typeface="+mn-ea"/>
              </a:rPr>
              <a:t>명</a:t>
            </a:r>
            <a:endParaRPr lang="en-US" altLang="ko-KR" sz="1270" b="1" dirty="0">
              <a:latin typeface="+mn-ea"/>
            </a:endParaRPr>
          </a:p>
          <a:p>
            <a:pPr>
              <a:lnSpc>
                <a:spcPts val="1714"/>
              </a:lnSpc>
            </a:pPr>
            <a:r>
              <a:rPr lang="ko-KR" altLang="en-US" sz="1270" b="1" dirty="0">
                <a:latin typeface="+mn-ea"/>
              </a:rPr>
              <a:t>    </a:t>
            </a:r>
            <a:r>
              <a:rPr lang="en-US" altLang="ko-KR" sz="1270" b="1" dirty="0">
                <a:latin typeface="+mn-ea"/>
              </a:rPr>
              <a:t>&gt;</a:t>
            </a:r>
            <a:r>
              <a:rPr lang="ko-KR" altLang="en-US" sz="1270" b="1" dirty="0">
                <a:latin typeface="+mn-ea"/>
              </a:rPr>
              <a:t> </a:t>
            </a:r>
            <a:r>
              <a:rPr lang="en-US" altLang="ko-KR" sz="1270" b="1" dirty="0">
                <a:latin typeface="+mn-ea"/>
              </a:rPr>
              <a:t>TFT </a:t>
            </a:r>
            <a:r>
              <a:rPr lang="ko-KR" altLang="en-US" sz="1270" b="1" dirty="0">
                <a:latin typeface="+mn-ea"/>
              </a:rPr>
              <a:t>장 </a:t>
            </a:r>
            <a:r>
              <a:rPr lang="en-US" altLang="ko-KR" sz="1270" b="1" dirty="0">
                <a:latin typeface="+mn-ea"/>
              </a:rPr>
              <a:t>: 1</a:t>
            </a:r>
            <a:r>
              <a:rPr lang="ko-KR" altLang="en-US" sz="1270" b="1" dirty="0">
                <a:latin typeface="+mn-ea"/>
              </a:rPr>
              <a:t>명</a:t>
            </a:r>
            <a:endParaRPr lang="en-US" altLang="ko-KR" sz="1270" b="1" dirty="0">
              <a:latin typeface="+mn-ea"/>
            </a:endParaRPr>
          </a:p>
          <a:p>
            <a:pPr>
              <a:lnSpc>
                <a:spcPts val="1714"/>
              </a:lnSpc>
            </a:pPr>
            <a:r>
              <a:rPr lang="en-US" altLang="ko-KR" sz="1270" b="1" dirty="0">
                <a:latin typeface="+mn-ea"/>
              </a:rPr>
              <a:t>     &gt;</a:t>
            </a:r>
            <a:r>
              <a:rPr lang="ko-KR" altLang="en-US" sz="1270" b="1" dirty="0">
                <a:latin typeface="+mn-ea"/>
              </a:rPr>
              <a:t> 연구소 기구 </a:t>
            </a:r>
            <a:r>
              <a:rPr lang="en-US" altLang="ko-KR" sz="1270" b="1" dirty="0">
                <a:latin typeface="+mn-ea"/>
              </a:rPr>
              <a:t>:  </a:t>
            </a:r>
            <a:r>
              <a:rPr lang="en-US" altLang="ko-KR" sz="1270" b="1" dirty="0" smtClean="0">
                <a:latin typeface="+mn-ea"/>
              </a:rPr>
              <a:t>??</a:t>
            </a:r>
            <a:r>
              <a:rPr lang="ko-KR" altLang="en-US" sz="1270" b="1" dirty="0" smtClean="0">
                <a:latin typeface="+mn-ea"/>
              </a:rPr>
              <a:t>명</a:t>
            </a:r>
            <a:endParaRPr lang="en-US" altLang="ko-KR" sz="1270" b="1" dirty="0">
              <a:latin typeface="+mn-ea"/>
            </a:endParaRPr>
          </a:p>
          <a:p>
            <a:pPr>
              <a:lnSpc>
                <a:spcPts val="1714"/>
              </a:lnSpc>
            </a:pPr>
            <a:r>
              <a:rPr lang="ko-KR" altLang="en-US" sz="1270" b="1" dirty="0">
                <a:latin typeface="+mn-ea"/>
              </a:rPr>
              <a:t>     </a:t>
            </a:r>
            <a:r>
              <a:rPr lang="en-US" altLang="ko-KR" sz="1270" b="1" dirty="0">
                <a:latin typeface="+mn-ea"/>
              </a:rPr>
              <a:t>&gt;</a:t>
            </a:r>
            <a:r>
              <a:rPr lang="ko-KR" altLang="en-US" sz="1270" b="1" dirty="0">
                <a:latin typeface="+mn-ea"/>
              </a:rPr>
              <a:t> 연구소 회로 </a:t>
            </a:r>
            <a:r>
              <a:rPr lang="en-US" altLang="ko-KR" sz="1270" b="1" dirty="0">
                <a:latin typeface="+mn-ea"/>
              </a:rPr>
              <a:t>:  2</a:t>
            </a:r>
            <a:r>
              <a:rPr lang="ko-KR" altLang="en-US" sz="1270" b="1" dirty="0" smtClean="0">
                <a:latin typeface="+mn-ea"/>
              </a:rPr>
              <a:t>명</a:t>
            </a:r>
            <a:endParaRPr lang="en-US" altLang="ko-KR" sz="1270" b="1" dirty="0" smtClean="0">
              <a:latin typeface="+mn-ea"/>
            </a:endParaRPr>
          </a:p>
          <a:p>
            <a:pPr>
              <a:lnSpc>
                <a:spcPts val="1714"/>
              </a:lnSpc>
            </a:pPr>
            <a:r>
              <a:rPr lang="en-US" altLang="ko-KR" sz="1270" b="1" dirty="0">
                <a:latin typeface="+mn-ea"/>
              </a:rPr>
              <a:t> </a:t>
            </a:r>
            <a:r>
              <a:rPr lang="en-US" altLang="ko-KR" sz="1270" b="1" dirty="0" smtClean="0">
                <a:latin typeface="+mn-ea"/>
              </a:rPr>
              <a:t>    &gt; </a:t>
            </a:r>
            <a:r>
              <a:rPr lang="ko-KR" altLang="en-US" sz="1270" b="1" dirty="0" smtClean="0">
                <a:latin typeface="+mn-ea"/>
              </a:rPr>
              <a:t>연구소 </a:t>
            </a:r>
            <a:r>
              <a:rPr lang="en-US" altLang="ko-KR" sz="1270" b="1" dirty="0" smtClean="0">
                <a:latin typeface="+mn-ea"/>
              </a:rPr>
              <a:t>SW  :  1</a:t>
            </a:r>
            <a:r>
              <a:rPr lang="ko-KR" altLang="en-US" sz="1270" b="1" dirty="0" smtClean="0">
                <a:latin typeface="+mn-ea"/>
              </a:rPr>
              <a:t>명</a:t>
            </a:r>
            <a:endParaRPr lang="en-US" altLang="ko-KR" sz="1270" b="1" dirty="0">
              <a:latin typeface="+mn-ea"/>
            </a:endParaRPr>
          </a:p>
          <a:p>
            <a:pPr>
              <a:lnSpc>
                <a:spcPts val="1714"/>
              </a:lnSpc>
            </a:pPr>
            <a:r>
              <a:rPr lang="en-US" altLang="ko-KR" sz="1270" b="1" dirty="0">
                <a:latin typeface="+mn-ea"/>
              </a:rPr>
              <a:t>     &gt;</a:t>
            </a:r>
            <a:r>
              <a:rPr lang="ko-KR" altLang="en-US" sz="1270" b="1" dirty="0">
                <a:latin typeface="+mn-ea"/>
              </a:rPr>
              <a:t> 제조기술     </a:t>
            </a:r>
            <a:r>
              <a:rPr lang="en-US" altLang="ko-KR" sz="1270" b="1" dirty="0">
                <a:latin typeface="+mn-ea"/>
              </a:rPr>
              <a:t>:  1</a:t>
            </a:r>
            <a:r>
              <a:rPr lang="ko-KR" altLang="en-US" sz="1270" b="1" dirty="0">
                <a:latin typeface="+mn-ea"/>
              </a:rPr>
              <a:t>명</a:t>
            </a:r>
            <a:endParaRPr lang="en-US" altLang="ko-KR" sz="1270" b="1" dirty="0">
              <a:latin typeface="+mn-ea"/>
            </a:endParaRPr>
          </a:p>
          <a:p>
            <a:pPr>
              <a:lnSpc>
                <a:spcPts val="1714"/>
              </a:lnSpc>
            </a:pPr>
            <a:r>
              <a:rPr lang="en-US" altLang="ko-KR" sz="1270" b="1" dirty="0">
                <a:latin typeface="+mn-ea"/>
              </a:rPr>
              <a:t>     &gt;</a:t>
            </a:r>
            <a:r>
              <a:rPr lang="ko-KR" altLang="en-US" sz="1270" b="1" dirty="0">
                <a:latin typeface="+mn-ea"/>
              </a:rPr>
              <a:t> 원가팀        </a:t>
            </a:r>
            <a:r>
              <a:rPr lang="en-US" altLang="ko-KR" sz="1270" b="1" dirty="0">
                <a:latin typeface="+mn-ea"/>
              </a:rPr>
              <a:t>:  1</a:t>
            </a:r>
            <a:r>
              <a:rPr lang="ko-KR" altLang="en-US" sz="1270" b="1" dirty="0">
                <a:latin typeface="+mn-ea"/>
              </a:rPr>
              <a:t>명</a:t>
            </a:r>
            <a:endParaRPr lang="en-US" altLang="ko-KR" sz="1270" b="1" dirty="0">
              <a:latin typeface="+mn-ea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1681118"/>
              </p:ext>
            </p:extLst>
          </p:nvPr>
        </p:nvGraphicFramePr>
        <p:xfrm>
          <a:off x="3759137" y="1469475"/>
          <a:ext cx="1724028" cy="74018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2402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657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TFT</a:t>
                      </a:r>
                      <a:r>
                        <a:rPr lang="en-US" altLang="ko-KR" sz="1400" b="1" baseline="0" dirty="0" smtClean="0"/>
                        <a:t> </a:t>
                      </a:r>
                      <a:r>
                        <a:rPr lang="ko-KR" altLang="en-US" sz="1400" b="1" baseline="0" dirty="0" smtClean="0"/>
                        <a:t>팀장</a:t>
                      </a:r>
                      <a:endParaRPr lang="ko-KR" altLang="en-US" sz="1400" b="1" dirty="0"/>
                    </a:p>
                  </a:txBody>
                  <a:tcPr marL="156731" marR="156731" marT="78365" marB="78365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5703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400" b="1" dirty="0" smtClean="0"/>
                        <a:t>??</a:t>
                      </a:r>
                      <a:endParaRPr lang="ko-KR" altLang="en-US" sz="1400" b="1" dirty="0"/>
                    </a:p>
                  </a:txBody>
                  <a:tcPr marL="156731" marR="156731" marT="78365" marB="78365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28" name="표 2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866715970"/>
              </p:ext>
            </p:extLst>
          </p:nvPr>
        </p:nvGraphicFramePr>
        <p:xfrm>
          <a:off x="208768" y="3430872"/>
          <a:ext cx="1351171" cy="580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기구팀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이사 박건호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148736134"/>
              </p:ext>
            </p:extLst>
          </p:nvPr>
        </p:nvGraphicFramePr>
        <p:xfrm>
          <a:off x="208768" y="4151195"/>
          <a:ext cx="1351171" cy="580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</a:rPr>
                        <a:t>??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/>
                        <a:t>??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34279272"/>
                  </a:ext>
                </a:extLst>
              </a:tr>
            </a:tbl>
          </a:graphicData>
        </a:graphic>
      </p:graphicFrame>
      <p:graphicFrame>
        <p:nvGraphicFramePr>
          <p:cNvPr id="37" name="표 3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79069650"/>
              </p:ext>
            </p:extLst>
          </p:nvPr>
        </p:nvGraphicFramePr>
        <p:xfrm>
          <a:off x="2063469" y="3430872"/>
          <a:ext cx="1351171" cy="580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회로팀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수석 </a:t>
                      </a:r>
                      <a:r>
                        <a:rPr lang="ko-KR" altLang="en-US" sz="1100" b="1" dirty="0" err="1" smtClean="0"/>
                        <a:t>현주영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38" name="표 3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36405704"/>
              </p:ext>
            </p:extLst>
          </p:nvPr>
        </p:nvGraphicFramePr>
        <p:xfrm>
          <a:off x="2051720" y="4151195"/>
          <a:ext cx="1351171" cy="29047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>
                          <a:solidFill>
                            <a:schemeClr val="tx1"/>
                          </a:solidFill>
                        </a:rPr>
                        <a:t>전임 신지훈</a:t>
                      </a:r>
                      <a:endParaRPr lang="ko-KR" altLang="en-US" sz="1100" b="1" dirty="0">
                        <a:solidFill>
                          <a:schemeClr val="tx1"/>
                        </a:solidFill>
                      </a:endParaRPr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1" name="표 4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88379307"/>
              </p:ext>
            </p:extLst>
          </p:nvPr>
        </p:nvGraphicFramePr>
        <p:xfrm>
          <a:off x="7627572" y="3429000"/>
          <a:ext cx="1351171" cy="580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원가팀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선임 윤두현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4303009"/>
              </p:ext>
            </p:extLst>
          </p:nvPr>
        </p:nvGraphicFramePr>
        <p:xfrm>
          <a:off x="5772871" y="3436402"/>
          <a:ext cx="1351171" cy="580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제조기술팀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100" b="1" dirty="0" smtClean="0"/>
                        <a:t>수석</a:t>
                      </a:r>
                      <a:r>
                        <a:rPr lang="en-US" altLang="ko-KR" sz="1100" b="1" dirty="0" smtClean="0"/>
                        <a:t> </a:t>
                      </a:r>
                      <a:r>
                        <a:rPr lang="ko-KR" altLang="en-US" sz="1100" b="1" dirty="0" err="1" smtClean="0"/>
                        <a:t>유금렬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sp>
        <p:nvSpPr>
          <p:cNvPr id="15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en-US" altLang="ko-KR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CFT 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조직도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17" name="표 1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11445404"/>
              </p:ext>
            </p:extLst>
          </p:nvPr>
        </p:nvGraphicFramePr>
        <p:xfrm>
          <a:off x="3918170" y="3429000"/>
          <a:ext cx="1351171" cy="58094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51171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/>
                        <a:t>SW</a:t>
                      </a:r>
                      <a:r>
                        <a:rPr lang="ko-KR" altLang="en-US" sz="1100" b="1" dirty="0" smtClean="0"/>
                        <a:t>팀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8722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/>
                        <a:t>??</a:t>
                      </a:r>
                      <a:endParaRPr lang="ko-KR" altLang="en-US" sz="1100" b="1" dirty="0"/>
                    </a:p>
                  </a:txBody>
                  <a:tcPr marL="122834" marR="122834" marT="61417" marB="61417" anchor="ctr">
                    <a:lnL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chemeClr val="bg2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</a:tbl>
          </a:graphicData>
        </a:graphic>
      </p:graphicFrame>
      <p:cxnSp>
        <p:nvCxnSpPr>
          <p:cNvPr id="4" name="직선 연결선 3"/>
          <p:cNvCxnSpPr/>
          <p:nvPr/>
        </p:nvCxnSpPr>
        <p:spPr bwMode="auto">
          <a:xfrm>
            <a:off x="899592" y="2852936"/>
            <a:ext cx="7488832" cy="0"/>
          </a:xfrm>
          <a:prstGeom prst="line">
            <a:avLst/>
          </a:prstGeom>
          <a:noFill/>
          <a:ln w="19050" cap="flat" cmpd="sng" algn="ctr">
            <a:solidFill>
              <a:schemeClr val="bg1">
                <a:lumMod val="50000"/>
              </a:schemeClr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</p:spTree>
    <p:extLst>
      <p:ext uri="{BB962C8B-B14F-4D97-AF65-F5344CB8AC3E}">
        <p14:creationId xmlns:p14="http://schemas.microsoft.com/office/powerpoint/2010/main" val="34451479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표 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98849033"/>
              </p:ext>
            </p:extLst>
          </p:nvPr>
        </p:nvGraphicFramePr>
        <p:xfrm>
          <a:off x="60435" y="648979"/>
          <a:ext cx="8978741" cy="15676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79117">
                  <a:extLst>
                    <a:ext uri="{9D8B030D-6E8A-4147-A177-3AD203B41FA5}">
                      <a16:colId xmlns:a16="http://schemas.microsoft.com/office/drawing/2014/main" val="2290459475"/>
                    </a:ext>
                  </a:extLst>
                </a:gridCol>
                <a:gridCol w="2124906">
                  <a:extLst>
                    <a:ext uri="{9D8B030D-6E8A-4147-A177-3AD203B41FA5}">
                      <a16:colId xmlns:a16="http://schemas.microsoft.com/office/drawing/2014/main" val="1435743547"/>
                    </a:ext>
                  </a:extLst>
                </a:gridCol>
                <a:gridCol w="2124906">
                  <a:extLst>
                    <a:ext uri="{9D8B030D-6E8A-4147-A177-3AD203B41FA5}">
                      <a16:colId xmlns:a16="http://schemas.microsoft.com/office/drawing/2014/main" val="319553581"/>
                    </a:ext>
                  </a:extLst>
                </a:gridCol>
                <a:gridCol w="2124906">
                  <a:extLst>
                    <a:ext uri="{9D8B030D-6E8A-4147-A177-3AD203B41FA5}">
                      <a16:colId xmlns:a16="http://schemas.microsoft.com/office/drawing/2014/main" val="2356883888"/>
                    </a:ext>
                  </a:extLst>
                </a:gridCol>
                <a:gridCol w="2124906">
                  <a:extLst>
                    <a:ext uri="{9D8B030D-6E8A-4147-A177-3AD203B41FA5}">
                      <a16:colId xmlns:a16="http://schemas.microsoft.com/office/drawing/2014/main" val="925131253"/>
                    </a:ext>
                  </a:extLst>
                </a:gridCol>
              </a:tblGrid>
              <a:tr h="236797"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/>
                        <a:t>구분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/>
                        <a:t>분기별 계획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>
                        <a:lumMod val="95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28431010"/>
                  </a:ext>
                </a:extLst>
              </a:tr>
              <a:tr h="24036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1</a:t>
                      </a:r>
                      <a:r>
                        <a:rPr lang="ko-KR" altLang="en-US" sz="1000" b="1" dirty="0" smtClean="0"/>
                        <a:t>분기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2</a:t>
                      </a:r>
                      <a:r>
                        <a:rPr lang="ko-KR" altLang="en-US" sz="1000" b="1" dirty="0" smtClean="0"/>
                        <a:t>분기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3</a:t>
                      </a:r>
                      <a:r>
                        <a:rPr lang="ko-KR" altLang="en-US" sz="1000" b="1" dirty="0" smtClean="0"/>
                        <a:t>분기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000" b="1" dirty="0" smtClean="0"/>
                        <a:t>4</a:t>
                      </a:r>
                      <a:r>
                        <a:rPr lang="ko-KR" altLang="en-US" sz="1000" b="1" dirty="0" smtClean="0"/>
                        <a:t>분기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51805816"/>
                  </a:ext>
                </a:extLst>
              </a:tr>
              <a:tr h="108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1000" b="1" dirty="0" smtClean="0"/>
                        <a:t>개발 </a:t>
                      </a:r>
                      <a:endParaRPr lang="en-US" altLang="ko-KR" sz="1000" b="1" dirty="0" smtClean="0"/>
                    </a:p>
                    <a:p>
                      <a:pPr algn="ctr" latinLnBrk="1"/>
                      <a:r>
                        <a:rPr lang="ko-KR" altLang="en-US" sz="1000" b="1" dirty="0" smtClean="0"/>
                        <a:t>일정</a:t>
                      </a:r>
                      <a:endParaRPr lang="ko-KR" altLang="en-US" sz="1000" b="1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000" dirty="0"/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ysDot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5373561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en-US" altLang="ko-KR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4Zone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</a:t>
            </a:r>
            <a:r>
              <a:rPr lang="ko-KR" altLang="en-US" sz="2000" b="1" dirty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개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발 일정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cxnSp>
        <p:nvCxnSpPr>
          <p:cNvPr id="50" name="직선 연결선 49"/>
          <p:cNvCxnSpPr/>
          <p:nvPr/>
        </p:nvCxnSpPr>
        <p:spPr bwMode="auto">
          <a:xfrm>
            <a:off x="1020104" y="1744941"/>
            <a:ext cx="7740000" cy="0"/>
          </a:xfrm>
          <a:prstGeom prst="line">
            <a:avLst/>
          </a:prstGeom>
          <a:noFill/>
          <a:ln w="28575" cap="flat" cmpd="sng" algn="ctr">
            <a:solidFill>
              <a:srgbClr val="92D050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51" name="타원 50"/>
          <p:cNvSpPr/>
          <p:nvPr/>
        </p:nvSpPr>
        <p:spPr>
          <a:xfrm>
            <a:off x="963921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2" name="타원 51"/>
          <p:cNvSpPr/>
          <p:nvPr/>
        </p:nvSpPr>
        <p:spPr>
          <a:xfrm>
            <a:off x="1693011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5" name="타원 54"/>
          <p:cNvSpPr/>
          <p:nvPr/>
        </p:nvSpPr>
        <p:spPr>
          <a:xfrm>
            <a:off x="8727001" y="1672933"/>
            <a:ext cx="152795" cy="144016"/>
          </a:xfrm>
          <a:prstGeom prst="ellipse">
            <a:avLst/>
          </a:prstGeom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56" name="TextBox 55"/>
          <p:cNvSpPr txBox="1"/>
          <p:nvPr/>
        </p:nvSpPr>
        <p:spPr>
          <a:xfrm>
            <a:off x="467544" y="1270829"/>
            <a:ext cx="1146468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lvl="0" algn="ctr">
              <a:defRPr/>
            </a:pPr>
            <a:r>
              <a:rPr lang="ko-KR" altLang="en-US" sz="800" b="1" dirty="0">
                <a:solidFill>
                  <a:prstClr val="black"/>
                </a:solidFill>
              </a:rPr>
              <a:t>계획 </a:t>
            </a:r>
            <a:r>
              <a:rPr lang="ko-KR" altLang="en-US" sz="800" b="1" dirty="0" smtClean="0">
                <a:solidFill>
                  <a:prstClr val="black"/>
                </a:solidFill>
              </a:rPr>
              <a:t>보고</a:t>
            </a:r>
            <a:endParaRPr lang="en-US" altLang="ko-KR" sz="800" b="1" dirty="0" smtClean="0">
              <a:solidFill>
                <a:prstClr val="black"/>
              </a:solidFill>
            </a:endParaRPr>
          </a:p>
          <a:p>
            <a:pPr lvl="0">
              <a:defRPr/>
            </a:pPr>
            <a:r>
              <a:rPr lang="en-US" altLang="ko-KR" sz="800" b="1" dirty="0" smtClean="0">
                <a:solidFill>
                  <a:prstClr val="black"/>
                </a:solidFill>
              </a:rPr>
              <a:t>Kick Off / </a:t>
            </a:r>
            <a:r>
              <a:rPr lang="ko-KR" altLang="en-US" sz="800" b="1" dirty="0" smtClean="0">
                <a:solidFill>
                  <a:prstClr val="black"/>
                </a:solidFill>
              </a:rPr>
              <a:t>업체 선정</a:t>
            </a:r>
            <a:endParaRPr lang="ko-KR" altLang="en-US" sz="800" b="1" dirty="0">
              <a:solidFill>
                <a:prstClr val="black"/>
              </a:solidFill>
            </a:endParaRPr>
          </a:p>
        </p:txBody>
      </p:sp>
      <p:sp>
        <p:nvSpPr>
          <p:cNvPr id="57" name="TextBox 56"/>
          <p:cNvSpPr txBox="1"/>
          <p:nvPr/>
        </p:nvSpPr>
        <p:spPr>
          <a:xfrm>
            <a:off x="1475656" y="1268760"/>
            <a:ext cx="58701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Concept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설계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61" name="TextBox 60"/>
          <p:cNvSpPr txBox="1"/>
          <p:nvPr/>
        </p:nvSpPr>
        <p:spPr>
          <a:xfrm>
            <a:off x="8476600" y="1329864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최종</a:t>
            </a:r>
            <a:endParaRPr kumimoji="0" lang="en-US" altLang="ko-KR" sz="800" b="1" i="0" u="none" strike="noStrike" kern="1200" cap="none" spc="0" normalizeH="0" baseline="0" noProof="0" dirty="0" smtClean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ko-KR" altLang="en-US" sz="800" b="1" i="0" u="none" strike="noStrike" kern="1200" cap="none" spc="0" normalizeH="0" baseline="0" noProof="0" dirty="0" smtClean="0">
                <a:ln>
                  <a:noFill/>
                </a:ln>
                <a:solidFill>
                  <a:srgbClr val="0000FF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완료 보고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srgbClr val="0000FF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2" name="TextBox 61"/>
          <p:cNvSpPr txBox="1"/>
          <p:nvPr/>
        </p:nvSpPr>
        <p:spPr>
          <a:xfrm>
            <a:off x="8532440" y="1825796"/>
            <a:ext cx="553357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27.1/29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4" name="TextBox 63"/>
          <p:cNvSpPr txBox="1"/>
          <p:nvPr/>
        </p:nvSpPr>
        <p:spPr>
          <a:xfrm>
            <a:off x="795217" y="1825794"/>
            <a:ext cx="407484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</a:rPr>
              <a:t>4/10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65" name="타원 64"/>
          <p:cNvSpPr/>
          <p:nvPr/>
        </p:nvSpPr>
        <p:spPr>
          <a:xfrm>
            <a:off x="8729356" y="1672933"/>
            <a:ext cx="152795" cy="144016"/>
          </a:xfrm>
          <a:prstGeom prst="ellipse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532172" y="1828994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~4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/30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9" name="타원 38"/>
          <p:cNvSpPr/>
          <p:nvPr/>
        </p:nvSpPr>
        <p:spPr>
          <a:xfrm>
            <a:off x="2367658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0" name="TextBox 39"/>
          <p:cNvSpPr txBox="1"/>
          <p:nvPr/>
        </p:nvSpPr>
        <p:spPr>
          <a:xfrm>
            <a:off x="2051720" y="1268760"/>
            <a:ext cx="784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Sample </a:t>
            </a: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제작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단품</a:t>
            </a: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검증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41" name="TextBox 40"/>
          <p:cNvSpPr txBox="1"/>
          <p:nvPr/>
        </p:nvSpPr>
        <p:spPr>
          <a:xfrm>
            <a:off x="2206819" y="1828994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~5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/22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2" name="타원 41"/>
          <p:cNvSpPr/>
          <p:nvPr/>
        </p:nvSpPr>
        <p:spPr>
          <a:xfrm>
            <a:off x="3149367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3" name="TextBox 42"/>
          <p:cNvSpPr txBox="1"/>
          <p:nvPr/>
        </p:nvSpPr>
        <p:spPr>
          <a:xfrm>
            <a:off x="2890549" y="1341348"/>
            <a:ext cx="678391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Ass’y</a:t>
            </a: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 </a:t>
            </a: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제작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44" name="TextBox 43"/>
          <p:cNvSpPr txBox="1"/>
          <p:nvPr/>
        </p:nvSpPr>
        <p:spPr>
          <a:xfrm>
            <a:off x="2988528" y="1828994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~5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/30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3" name="타원 22"/>
          <p:cNvSpPr/>
          <p:nvPr/>
        </p:nvSpPr>
        <p:spPr>
          <a:xfrm>
            <a:off x="3947609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4" name="TextBox 23"/>
          <p:cNvSpPr txBox="1"/>
          <p:nvPr/>
        </p:nvSpPr>
        <p:spPr>
          <a:xfrm>
            <a:off x="3635896" y="1268760"/>
            <a:ext cx="784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Heater </a:t>
            </a:r>
            <a:r>
              <a:rPr lang="en-US" altLang="ko-KR" sz="8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ass’y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DV </a:t>
            </a: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검증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3786770" y="1828994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~7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/24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6" name="타원 25"/>
          <p:cNvSpPr/>
          <p:nvPr/>
        </p:nvSpPr>
        <p:spPr>
          <a:xfrm>
            <a:off x="4695535" y="1672933"/>
            <a:ext cx="152795" cy="144016"/>
          </a:xfrm>
          <a:prstGeom prst="ellipse">
            <a:avLst/>
          </a:prstGeom>
          <a:solidFill>
            <a:srgbClr val="0000FF"/>
          </a:solidFill>
          <a:ln>
            <a:solidFill>
              <a:srgbClr val="0000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27" name="TextBox 26"/>
          <p:cNvSpPr txBox="1"/>
          <p:nvPr/>
        </p:nvSpPr>
        <p:spPr>
          <a:xfrm>
            <a:off x="4459966" y="1285386"/>
            <a:ext cx="63190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 smtClean="0">
                <a:solidFill>
                  <a:srgbClr val="0000FF"/>
                </a:solidFill>
                <a:latin typeface="맑은 고딕"/>
                <a:ea typeface="맑은 고딕" panose="020B0503020000020004" pitchFamily="50" charset="-127"/>
              </a:rPr>
              <a:t>상반기</a:t>
            </a:r>
            <a:endParaRPr lang="en-US" altLang="ko-KR" sz="800" b="1" dirty="0" smtClean="0">
              <a:solidFill>
                <a:srgbClr val="0000FF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 smtClean="0">
                <a:solidFill>
                  <a:srgbClr val="0000FF"/>
                </a:solidFill>
                <a:latin typeface="맑은 고딕"/>
                <a:ea typeface="맑은 고딕" panose="020B0503020000020004" pitchFamily="50" charset="-127"/>
              </a:rPr>
              <a:t>완료 보고</a:t>
            </a:r>
            <a:endParaRPr lang="en-US" altLang="ko-KR" sz="800" b="1" dirty="0" smtClean="0">
              <a:solidFill>
                <a:srgbClr val="0000FF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28" name="TextBox 27"/>
          <p:cNvSpPr txBox="1"/>
          <p:nvPr/>
        </p:nvSpPr>
        <p:spPr>
          <a:xfrm>
            <a:off x="4534696" y="1828994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~7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/31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0" name="타원 29"/>
          <p:cNvSpPr/>
          <p:nvPr/>
        </p:nvSpPr>
        <p:spPr>
          <a:xfrm>
            <a:off x="5422791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1" name="TextBox 30"/>
          <p:cNvSpPr txBox="1"/>
          <p:nvPr/>
        </p:nvSpPr>
        <p:spPr>
          <a:xfrm>
            <a:off x="5066195" y="1268760"/>
            <a:ext cx="873957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원가 절감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반영 최종 설계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5261952" y="1828994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~8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/28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3" name="타원 32"/>
          <p:cNvSpPr/>
          <p:nvPr/>
        </p:nvSpPr>
        <p:spPr>
          <a:xfrm>
            <a:off x="6250234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5995428" y="1268760"/>
            <a:ext cx="670376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MOCK UP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제작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35" name="TextBox 34"/>
          <p:cNvSpPr txBox="1"/>
          <p:nvPr/>
        </p:nvSpPr>
        <p:spPr>
          <a:xfrm>
            <a:off x="6089395" y="1828994"/>
            <a:ext cx="481222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~9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/30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6" name="타원 35"/>
          <p:cNvSpPr/>
          <p:nvPr/>
        </p:nvSpPr>
        <p:spPr>
          <a:xfrm>
            <a:off x="7008023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37" name="TextBox 36"/>
          <p:cNvSpPr txBox="1"/>
          <p:nvPr/>
        </p:nvSpPr>
        <p:spPr>
          <a:xfrm>
            <a:off x="6796498" y="1268760"/>
            <a:ext cx="583814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SAMPLE</a:t>
            </a: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제작 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38" name="TextBox 37"/>
          <p:cNvSpPr txBox="1"/>
          <p:nvPr/>
        </p:nvSpPr>
        <p:spPr>
          <a:xfrm>
            <a:off x="6847184" y="1828994"/>
            <a:ext cx="5405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~10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/16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5" name="타원 44"/>
          <p:cNvSpPr/>
          <p:nvPr/>
        </p:nvSpPr>
        <p:spPr>
          <a:xfrm>
            <a:off x="7843937" y="1672933"/>
            <a:ext cx="152795" cy="144016"/>
          </a:xfrm>
          <a:prstGeom prst="ellipse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ko-KR" altLang="en-US" sz="14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sp>
        <p:nvSpPr>
          <p:cNvPr id="46" name="TextBox 45"/>
          <p:cNvSpPr txBox="1"/>
          <p:nvPr/>
        </p:nvSpPr>
        <p:spPr>
          <a:xfrm>
            <a:off x="7532227" y="1268760"/>
            <a:ext cx="784189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Heater </a:t>
            </a:r>
            <a:r>
              <a:rPr lang="en-US" altLang="ko-KR" sz="800" b="1" dirty="0" err="1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ass’y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  <a:p>
            <a:pPr marL="0" marR="0" lvl="0" indent="0" algn="ctr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2</a:t>
            </a: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차 </a:t>
            </a: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DV </a:t>
            </a:r>
            <a:r>
              <a:rPr lang="ko-KR" altLang="en-US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검증</a:t>
            </a:r>
            <a:endParaRPr lang="en-US" altLang="ko-KR" sz="800" b="1" dirty="0" smtClean="0">
              <a:solidFill>
                <a:prstClr val="black"/>
              </a:solidFill>
              <a:latin typeface="맑은 고딕"/>
              <a:ea typeface="맑은 고딕" panose="020B0503020000020004" pitchFamily="50" charset="-127"/>
            </a:endParaRPr>
          </a:p>
        </p:txBody>
      </p:sp>
      <p:sp>
        <p:nvSpPr>
          <p:cNvPr id="47" name="TextBox 46"/>
          <p:cNvSpPr txBox="1"/>
          <p:nvPr/>
        </p:nvSpPr>
        <p:spPr>
          <a:xfrm>
            <a:off x="7683098" y="1828994"/>
            <a:ext cx="540533" cy="21544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0" marR="0" lvl="0" indent="0" algn="l" defTabSz="914400" rtl="0" eaLnBrk="1" fontAlgn="auto" latinLnBrk="1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en-US" altLang="ko-KR" sz="800" b="1" dirty="0" smtClean="0">
                <a:solidFill>
                  <a:prstClr val="black"/>
                </a:solidFill>
                <a:latin typeface="맑은 고딕"/>
                <a:ea typeface="맑은 고딕" panose="020B0503020000020004" pitchFamily="50" charset="-127"/>
              </a:rPr>
              <a:t>~12</a:t>
            </a:r>
            <a:r>
              <a:rPr kumimoji="0" lang="en-US" altLang="ko-KR" sz="8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맑은 고딕"/>
                <a:ea typeface="맑은 고딕" panose="020B0503020000020004" pitchFamily="50" charset="-127"/>
                <a:cs typeface="+mn-cs"/>
              </a:rPr>
              <a:t>/24</a:t>
            </a:r>
            <a:endParaRPr kumimoji="0" lang="ko-KR" altLang="en-US" sz="8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맑은 고딕"/>
              <a:ea typeface="맑은 고딕" panose="020B0503020000020004" pitchFamily="50" charset="-127"/>
              <a:cs typeface="+mn-cs"/>
            </a:endParaRPr>
          </a:p>
        </p:txBody>
      </p:sp>
      <p:graphicFrame>
        <p:nvGraphicFramePr>
          <p:cNvPr id="48" name="표 4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0590440"/>
              </p:ext>
            </p:extLst>
          </p:nvPr>
        </p:nvGraphicFramePr>
        <p:xfrm>
          <a:off x="69404" y="2268664"/>
          <a:ext cx="8956225" cy="4392000"/>
        </p:xfrm>
        <a:graphic>
          <a:graphicData uri="http://schemas.openxmlformats.org/drawingml/2006/table">
            <a:tbl>
              <a:tblPr/>
              <a:tblGrid>
                <a:gridCol w="2802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0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1449109078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531972519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07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08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09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10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21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22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23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24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25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11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12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13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14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0015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2111124498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578633094"/>
                    </a:ext>
                  </a:extLst>
                </a:gridCol>
                <a:gridCol w="363600">
                  <a:extLst>
                    <a:ext uri="{9D8B030D-6E8A-4147-A177-3AD203B41FA5}">
                      <a16:colId xmlns:a16="http://schemas.microsoft.com/office/drawing/2014/main" val="3556379199"/>
                    </a:ext>
                  </a:extLst>
                </a:gridCol>
              </a:tblGrid>
              <a:tr h="216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No.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항목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일정</a:t>
                      </a:r>
                      <a:endParaRPr lang="en-US" altLang="ko-KR" sz="700" b="1" i="0" u="none" strike="noStrike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관리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　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BlToTr w="635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5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6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8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11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en-US" altLang="ko-KR" sz="700" b="1" i="0" u="none" strike="noStrike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12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en-US" altLang="ko-KR" sz="700" b="1" i="0" u="none" strike="noStrike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 smtClean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27.1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월</a:t>
                      </a:r>
                      <a:endParaRPr lang="en-US" altLang="ko-KR" sz="700" b="1" i="0" u="none" strike="noStrike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 smtClean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8D8D8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16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진행 단계</a:t>
                      </a:r>
                      <a:endParaRPr lang="ko-KR" altLang="en-US" sz="700" b="1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1~2</a:t>
                      </a:r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3~4</a:t>
                      </a:r>
                      <a:r>
                        <a:rPr lang="ko-KR" altLang="en-US" sz="700" b="1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주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계획 보고</a:t>
                      </a:r>
                      <a:endParaRPr lang="en-US" altLang="ko-KR" sz="700" b="0" i="0" u="none" strike="noStrike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KICK</a:t>
                      </a:r>
                      <a:r>
                        <a:rPr lang="en-US" altLang="ko-KR" sz="700" b="0" i="0" u="none" strike="noStrike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OFF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개발 업체 선정</a:t>
                      </a:r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차 검증</a:t>
                      </a:r>
                      <a:endParaRPr lang="en-US" altLang="ko-KR" sz="700" b="0" i="0" u="none" strike="noStrike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유효성 평가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14039097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25467108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4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2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차 검증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 개선</a:t>
                      </a:r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5</a:t>
                      </a:r>
                      <a:endParaRPr lang="en-US" altLang="ko-KR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중간보고</a:t>
                      </a:r>
                      <a:endParaRPr lang="en-US" altLang="ko-KR" sz="700" b="0" i="0" u="none" strike="noStrike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상반기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kern="1200" dirty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latinLnBrk="1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656659330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6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시제품 제작</a:t>
                      </a:r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6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7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7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시작품</a:t>
                      </a:r>
                      <a:endParaRPr lang="en-US" altLang="ko-KR" sz="700" b="0" i="0" u="none" strike="noStrike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기능 검증</a:t>
                      </a:r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130538416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0778623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8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신뢰성 검증</a:t>
                      </a:r>
                      <a:endParaRPr lang="en-US" altLang="ko-KR" sz="700" b="0" i="0" u="none" strike="noStrike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기계적 시험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50237886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448470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9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신뢰성 검증</a:t>
                      </a:r>
                      <a:endParaRPr lang="en-US" altLang="ko-KR" sz="700" b="0" i="0" u="none" strike="noStrike" kern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algn="ctr" fontAlgn="ctr"/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(</a:t>
                      </a:r>
                      <a:r>
                        <a:rPr lang="ko-KR" altLang="en-US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환경 시험</a:t>
                      </a:r>
                      <a:r>
                        <a:rPr lang="en-US" altLang="ko-KR" sz="700" b="0" i="0" u="none" strike="noStrike" kern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5479085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kern="1200" dirty="0">
                        <a:solidFill>
                          <a:srgbClr val="000000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marL="3988" marR="3988" marT="3988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73536106"/>
                  </a:ext>
                </a:extLst>
              </a:tr>
              <a:tr h="19800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10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0" i="0" u="none" strike="noStrike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완료 보고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Plan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0"/>
                  </a:ext>
                </a:extLst>
              </a:tr>
              <a:tr h="19800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맑은 고딕"/>
                      </a:endParaRPr>
                    </a:p>
                  </a:txBody>
                  <a:tcPr marL="3988" marR="3988" marT="3988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0" i="0" u="none" strike="noStrike" dirty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Action</a:t>
                      </a: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ln>
                          <a:solidFill>
                            <a:schemeClr val="accent1"/>
                          </a:solidFill>
                          <a:prstDash val="sysDot"/>
                        </a:ln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</a:txBody>
                  <a:tcPr marL="3988" marR="3988" marT="3988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21"/>
                  </a:ext>
                </a:extLst>
              </a:tr>
            </a:tbl>
          </a:graphicData>
        </a:graphic>
      </p:graphicFrame>
      <p:sp>
        <p:nvSpPr>
          <p:cNvPr id="5" name="이등변 삼각형 4"/>
          <p:cNvSpPr/>
          <p:nvPr/>
        </p:nvSpPr>
        <p:spPr>
          <a:xfrm>
            <a:off x="712631" y="1761190"/>
            <a:ext cx="72008" cy="62076"/>
          </a:xfrm>
          <a:prstGeom prst="triangle">
            <a:avLst/>
          </a:prstGeom>
          <a:solidFill>
            <a:srgbClr val="FF0000"/>
          </a:solidFill>
          <a:ln>
            <a:solidFill>
              <a:srgbClr val="FF0000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  <p:sp>
        <p:nvSpPr>
          <p:cNvPr id="7" name="TextBox 6"/>
          <p:cNvSpPr txBox="1"/>
          <p:nvPr/>
        </p:nvSpPr>
        <p:spPr>
          <a:xfrm>
            <a:off x="539552" y="1837097"/>
            <a:ext cx="432048" cy="2000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ko-KR" altLang="en-US" sz="700" b="1" dirty="0" smtClean="0">
                <a:solidFill>
                  <a:srgbClr val="FF0000"/>
                </a:solidFill>
              </a:rPr>
              <a:t>현재</a:t>
            </a:r>
            <a:endParaRPr lang="ko-KR" altLang="en-US" sz="700" b="1" dirty="0">
              <a:solidFill>
                <a:srgbClr val="FF0000"/>
              </a:solidFill>
            </a:endParaRPr>
          </a:p>
        </p:txBody>
      </p:sp>
      <p:sp>
        <p:nvSpPr>
          <p:cNvPr id="49" name="TextBox 48"/>
          <p:cNvSpPr txBox="1"/>
          <p:nvPr/>
        </p:nvSpPr>
        <p:spPr>
          <a:xfrm>
            <a:off x="2483768" y="3885716"/>
            <a:ext cx="381642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Mechanical/HW/SW </a:t>
            </a:r>
            <a:r>
              <a:rPr lang="ko-KR" altLang="en-US" dirty="0" smtClean="0"/>
              <a:t>일정 검토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59627435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en-US" altLang="ko-KR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4Zone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로드맵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502157304"/>
              </p:ext>
            </p:extLst>
          </p:nvPr>
        </p:nvGraphicFramePr>
        <p:xfrm>
          <a:off x="60435" y="1844824"/>
          <a:ext cx="8999999" cy="4842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9999">
                  <a:extLst>
                    <a:ext uri="{9D8B030D-6E8A-4147-A177-3AD203B41FA5}">
                      <a16:colId xmlns:a16="http://schemas.microsoft.com/office/drawing/2014/main" val="4048630161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358197978"/>
                    </a:ext>
                  </a:extLst>
                </a:gridCol>
              </a:tblGrid>
              <a:tr h="27041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i="0" dirty="0"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500562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1.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</a:rPr>
                        <a:t> </a:t>
                      </a: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1.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</a:rPr>
                        <a:t> </a:t>
                      </a: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743881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89681617"/>
              </p:ext>
            </p:extLst>
          </p:nvPr>
        </p:nvGraphicFramePr>
        <p:xfrm>
          <a:off x="60435" y="565306"/>
          <a:ext cx="9000000" cy="119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1165">
                  <a:extLst>
                    <a:ext uri="{9D8B030D-6E8A-4147-A177-3AD203B41FA5}">
                      <a16:colId xmlns:a16="http://schemas.microsoft.com/office/drawing/2014/main" val="1690147088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35020852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38861941"/>
                    </a:ext>
                  </a:extLst>
                </a:gridCol>
                <a:gridCol w="3012491">
                  <a:extLst>
                    <a:ext uri="{9D8B030D-6E8A-4147-A177-3AD203B41FA5}">
                      <a16:colId xmlns:a16="http://schemas.microsoft.com/office/drawing/2014/main" val="2869045654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1939771692"/>
                    </a:ext>
                  </a:extLst>
                </a:gridCol>
              </a:tblGrid>
              <a:tr h="324000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현대하모니 B" panose="02020603020101020101"/>
                          <a:cs typeface="+mn-cs"/>
                        </a:rPr>
                        <a:t>4Zone PTC Heater</a:t>
                      </a:r>
                      <a:r>
                        <a:rPr lang="ko-KR" altLang="en-US" sz="16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현대하모니 B" panose="02020603020101020101"/>
                          <a:cs typeface="+mn-cs"/>
                        </a:rPr>
                        <a:t> </a:t>
                      </a:r>
                      <a:r>
                        <a:rPr lang="ko-KR" altLang="en-US" sz="1600" b="1" baseline="0" dirty="0" smtClean="0">
                          <a:ea typeface="현대하모니 B" panose="02020603020101020101"/>
                        </a:rPr>
                        <a:t>검토</a:t>
                      </a:r>
                      <a:endParaRPr lang="ko-KR" altLang="en-US" sz="1600" b="1" dirty="0"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ea typeface="현대하모니 B" panose="02020603020101020101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ea typeface="현대하모니 B" panose="02020603020101020101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 smtClean="0">
                          <a:ea typeface="현대하모니 B" panose="02020603020101020101"/>
                        </a:rPr>
                        <a:t>&lt; </a:t>
                      </a:r>
                      <a:r>
                        <a:rPr lang="ko-KR" altLang="en-US" sz="800" b="1" dirty="0" smtClean="0">
                          <a:ea typeface="현대하모니 B" panose="02020603020101020101"/>
                        </a:rPr>
                        <a:t>제품 형상 </a:t>
                      </a:r>
                      <a:r>
                        <a:rPr lang="en-US" altLang="ko-KR" sz="800" b="1" dirty="0" smtClean="0">
                          <a:ea typeface="현대하모니 B" panose="02020603020101020101"/>
                        </a:rPr>
                        <a:t>&gt;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538247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품      명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EV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AIR 4Zone Heater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      능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탑승객의 편의성을 극대화하는 지능형 열관리 시스템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ea typeface="현대하모니 B" panose="0202060302010102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9177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차      종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 smtClean="0">
                          <a:latin typeface="+mn-ea"/>
                          <a:ea typeface="+mn-ea"/>
                        </a:rPr>
                        <a:t>MVa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FRONT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요구 성능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6.3kW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ea typeface="현대하모니 B" panose="02020603020101020101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83574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동작 조건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800Vdc / 0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℃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 300kgh</a:t>
                      </a:r>
                      <a:endParaRPr lang="ko-KR" altLang="en-US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 환경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-40~85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℃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 smtClean="0"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60133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368284" y="625926"/>
            <a:ext cx="613539" cy="899940"/>
          </a:xfrm>
          <a:prstGeom prst="rect">
            <a:avLst/>
          </a:prstGeom>
        </p:spPr>
      </p:pic>
      <p:sp>
        <p:nvSpPr>
          <p:cNvPr id="15" name="TextBox 14"/>
          <p:cNvSpPr txBox="1"/>
          <p:nvPr/>
        </p:nvSpPr>
        <p:spPr>
          <a:xfrm>
            <a:off x="2483768" y="3885716"/>
            <a:ext cx="3816424" cy="646331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1. Mechanical 4Zone </a:t>
            </a:r>
            <a:r>
              <a:rPr lang="ko-KR" altLang="en-US" dirty="0" smtClean="0"/>
              <a:t>구성도</a:t>
            </a:r>
            <a:endParaRPr lang="en-US" altLang="ko-KR" dirty="0" smtClean="0"/>
          </a:p>
          <a:p>
            <a:r>
              <a:rPr lang="en-US" altLang="ko-KR" dirty="0" smtClean="0"/>
              <a:t>2. Core Temp sensor </a:t>
            </a:r>
            <a:r>
              <a:rPr lang="ko-KR" altLang="en-US" dirty="0" smtClean="0"/>
              <a:t>수량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98763799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en-US" altLang="ko-KR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4Zone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로드맵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791703920"/>
              </p:ext>
            </p:extLst>
          </p:nvPr>
        </p:nvGraphicFramePr>
        <p:xfrm>
          <a:off x="60435" y="1844824"/>
          <a:ext cx="8999999" cy="4842416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9999">
                  <a:extLst>
                    <a:ext uri="{9D8B030D-6E8A-4147-A177-3AD203B41FA5}">
                      <a16:colId xmlns:a16="http://schemas.microsoft.com/office/drawing/2014/main" val="4048630161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358197978"/>
                    </a:ext>
                  </a:extLst>
                </a:gridCol>
              </a:tblGrid>
              <a:tr h="270416"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i="0" dirty="0"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1100" b="1" dirty="0">
                        <a:solidFill>
                          <a:schemeClr val="tx1"/>
                        </a:solidFill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500562"/>
                  </a:ext>
                </a:extLst>
              </a:tr>
              <a:tr h="4572000">
                <a:tc>
                  <a:txBody>
                    <a:bodyPr/>
                    <a:lstStyle/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1.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</a:rPr>
                        <a:t> H/W 4ZONE </a:t>
                      </a:r>
                      <a:r>
                        <a:rPr lang="ko-KR" altLang="en-US" sz="900" b="1" baseline="0" dirty="0" smtClean="0">
                          <a:ea typeface="현대하모니 B" panose="02020603020101020101"/>
                        </a:rPr>
                        <a:t>구성방안</a:t>
                      </a:r>
                      <a:endParaRPr lang="en-US" altLang="ko-KR" sz="900" b="1" baseline="0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baseline="0" dirty="0" smtClean="0">
                          <a:ea typeface="현대하모니 B" panose="02020603020101020101"/>
                        </a:rPr>
                        <a:t>   1) </a:t>
                      </a:r>
                      <a:r>
                        <a:rPr lang="ko-KR" altLang="en-US" sz="900" b="1" baseline="0" dirty="0" smtClean="0">
                          <a:ea typeface="현대하모니 B" panose="02020603020101020101"/>
                        </a:rPr>
                        <a:t>기존 제어방식 적용</a:t>
                      </a:r>
                      <a:endParaRPr lang="en-US" altLang="ko-KR" sz="900" b="1" baseline="0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baseline="0" dirty="0" smtClean="0">
                          <a:ea typeface="현대하모니 B" panose="02020603020101020101"/>
                        </a:rPr>
                        <a:t>      - HIGH SIDE IGBT: ON/OFF</a:t>
                      </a:r>
                      <a:r>
                        <a:rPr lang="ko-KR" altLang="en-US" sz="900" b="1" baseline="0" dirty="0" smtClean="0">
                          <a:ea typeface="현대하모니 B" panose="02020603020101020101"/>
                        </a:rPr>
                        <a:t> 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  <a:sym typeface="Wingdings" panose="05000000000000000000" pitchFamily="2" charset="2"/>
                        </a:rPr>
                        <a:t> 2EA</a:t>
                      </a:r>
                      <a:endParaRPr lang="en-US" altLang="ko-KR" sz="900" b="1" baseline="0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baseline="0" dirty="0" smtClean="0">
                          <a:ea typeface="현대하모니 B" panose="02020603020101020101"/>
                        </a:rPr>
                        <a:t>      - LOW SIDE IGBT: PWM SWITCHING 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  <a:sym typeface="Wingdings" panose="05000000000000000000" pitchFamily="2" charset="2"/>
                        </a:rPr>
                        <a:t> 4EA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baseline="0" dirty="0" smtClean="0">
                          <a:ea typeface="현대하모니 B" panose="02020603020101020101"/>
                          <a:sym typeface="Wingdings" panose="05000000000000000000" pitchFamily="2" charset="2"/>
                        </a:rPr>
                        <a:t>       </a:t>
                      </a:r>
                      <a:r>
                        <a:rPr lang="ko-KR" altLang="en-US" sz="900" b="1" baseline="0" dirty="0" smtClean="0">
                          <a:ea typeface="현대하모니 B" panose="02020603020101020101"/>
                          <a:sym typeface="Wingdings" panose="05000000000000000000" pitchFamily="2" charset="2"/>
                        </a:rPr>
                        <a:t>총 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  <a:sym typeface="Wingdings" panose="05000000000000000000" pitchFamily="2" charset="2"/>
                        </a:rPr>
                        <a:t>6EA(</a:t>
                      </a:r>
                      <a:r>
                        <a:rPr lang="ko-KR" altLang="en-US" sz="900" b="1" baseline="0" dirty="0" smtClean="0">
                          <a:ea typeface="현대하모니 B" panose="02020603020101020101"/>
                          <a:sym typeface="Wingdings" panose="05000000000000000000" pitchFamily="2" charset="2"/>
                        </a:rPr>
                        <a:t>상단 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  <a:sym typeface="Wingdings" panose="05000000000000000000" pitchFamily="2" charset="2"/>
                        </a:rPr>
                        <a:t>2EA + </a:t>
                      </a:r>
                      <a:r>
                        <a:rPr lang="ko-KR" altLang="en-US" sz="900" b="1" baseline="0" dirty="0" smtClean="0">
                          <a:ea typeface="현대하모니 B" panose="02020603020101020101"/>
                          <a:sym typeface="Wingdings" panose="05000000000000000000" pitchFamily="2" charset="2"/>
                        </a:rPr>
                        <a:t>하단 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  <a:sym typeface="Wingdings" panose="05000000000000000000" pitchFamily="2" charset="2"/>
                        </a:rPr>
                        <a:t>4</a:t>
                      </a:r>
                      <a:r>
                        <a:rPr lang="ko-KR" altLang="en-US" sz="900" b="1" baseline="0" dirty="0" smtClean="0">
                          <a:ea typeface="현대하모니 B" panose="02020603020101020101"/>
                          <a:sym typeface="Wingdings" panose="05000000000000000000" pitchFamily="2" charset="2"/>
                        </a:rPr>
                        <a:t>개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  <a:sym typeface="Wingdings" panose="05000000000000000000" pitchFamily="2" charset="2"/>
                        </a:rPr>
                        <a:t>)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baseline="0" dirty="0" smtClean="0">
                          <a:ea typeface="현대하모니 B" panose="02020603020101020101"/>
                          <a:sym typeface="Wingdings" panose="05000000000000000000" pitchFamily="2" charset="2"/>
                        </a:rPr>
                        <a:t>   2) </a:t>
                      </a: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latinLnBrk="1">
                        <a:buNone/>
                      </a:pP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1.</a:t>
                      </a:r>
                      <a:r>
                        <a:rPr lang="en-US" altLang="ko-KR" sz="900" b="1" baseline="0" dirty="0" smtClean="0">
                          <a:ea typeface="현대하모니 B" panose="02020603020101020101"/>
                        </a:rPr>
                        <a:t> </a:t>
                      </a: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1"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743881"/>
                  </a:ext>
                </a:extLst>
              </a:tr>
            </a:tbl>
          </a:graphicData>
        </a:graphic>
      </p:graphicFrame>
      <p:graphicFrame>
        <p:nvGraphicFramePr>
          <p:cNvPr id="6" name="표 5"/>
          <p:cNvGraphicFramePr>
            <a:graphicFrameLocks noGrp="1"/>
          </p:cNvGraphicFramePr>
          <p:nvPr>
            <p:extLst/>
          </p:nvPr>
        </p:nvGraphicFramePr>
        <p:xfrm>
          <a:off x="60435" y="565306"/>
          <a:ext cx="9000000" cy="119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1165">
                  <a:extLst>
                    <a:ext uri="{9D8B030D-6E8A-4147-A177-3AD203B41FA5}">
                      <a16:colId xmlns:a16="http://schemas.microsoft.com/office/drawing/2014/main" val="1690147088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35020852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38861941"/>
                    </a:ext>
                  </a:extLst>
                </a:gridCol>
                <a:gridCol w="3012491">
                  <a:extLst>
                    <a:ext uri="{9D8B030D-6E8A-4147-A177-3AD203B41FA5}">
                      <a16:colId xmlns:a16="http://schemas.microsoft.com/office/drawing/2014/main" val="2869045654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1939771692"/>
                    </a:ext>
                  </a:extLst>
                </a:gridCol>
              </a:tblGrid>
              <a:tr h="324000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현대하모니 B" panose="02020603020101020101"/>
                          <a:cs typeface="+mn-cs"/>
                        </a:rPr>
                        <a:t>4Zone PTC Heater</a:t>
                      </a:r>
                      <a:r>
                        <a:rPr lang="ko-KR" altLang="en-US" sz="16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현대하모니 B" panose="02020603020101020101"/>
                          <a:cs typeface="+mn-cs"/>
                        </a:rPr>
                        <a:t> </a:t>
                      </a:r>
                      <a:r>
                        <a:rPr lang="ko-KR" altLang="en-US" sz="1600" b="1" baseline="0" dirty="0" smtClean="0">
                          <a:ea typeface="현대하모니 B" panose="02020603020101020101"/>
                        </a:rPr>
                        <a:t>검토</a:t>
                      </a:r>
                      <a:endParaRPr lang="ko-KR" altLang="en-US" sz="1600" b="1" dirty="0"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ea typeface="현대하모니 B" panose="02020603020101020101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ea typeface="현대하모니 B" panose="02020603020101020101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 smtClean="0">
                          <a:ea typeface="현대하모니 B" panose="02020603020101020101"/>
                        </a:rPr>
                        <a:t>&lt; </a:t>
                      </a:r>
                      <a:r>
                        <a:rPr lang="ko-KR" altLang="en-US" sz="800" b="1" dirty="0" smtClean="0">
                          <a:ea typeface="현대하모니 B" panose="02020603020101020101"/>
                        </a:rPr>
                        <a:t>제품 형상 </a:t>
                      </a:r>
                      <a:r>
                        <a:rPr lang="en-US" altLang="ko-KR" sz="800" b="1" dirty="0" smtClean="0">
                          <a:ea typeface="현대하모니 B" panose="02020603020101020101"/>
                        </a:rPr>
                        <a:t>&gt;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538247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품      명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EV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AIR 4Zone Heater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      능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탑승객의 편의성을 극대화하는 지능형 열관리 시스템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ea typeface="현대하모니 B" panose="0202060302010102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9177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차      종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 smtClean="0">
                          <a:latin typeface="+mn-ea"/>
                          <a:ea typeface="+mn-ea"/>
                        </a:rPr>
                        <a:t>MVa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FRONT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요구 성능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6.3kW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ea typeface="현대하모니 B" panose="02020603020101020101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83574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동작 조건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800Vdc / 0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℃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 300kgh</a:t>
                      </a:r>
                      <a:endParaRPr lang="ko-KR" altLang="en-US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 환경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-40~85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℃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 smtClean="0"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60133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284" y="625926"/>
            <a:ext cx="613539" cy="89994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725671638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표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965728881"/>
              </p:ext>
            </p:extLst>
          </p:nvPr>
        </p:nvGraphicFramePr>
        <p:xfrm>
          <a:off x="60435" y="1844825"/>
          <a:ext cx="8999999" cy="510171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99999">
                  <a:extLst>
                    <a:ext uri="{9D8B030D-6E8A-4147-A177-3AD203B41FA5}">
                      <a16:colId xmlns:a16="http://schemas.microsoft.com/office/drawing/2014/main" val="4048630161"/>
                    </a:ext>
                  </a:extLst>
                </a:gridCol>
                <a:gridCol w="4500000">
                  <a:extLst>
                    <a:ext uri="{9D8B030D-6E8A-4147-A177-3AD203B41FA5}">
                      <a16:colId xmlns:a16="http://schemas.microsoft.com/office/drawing/2014/main" val="358197978"/>
                    </a:ext>
                  </a:extLst>
                </a:gridCol>
              </a:tblGrid>
              <a:tr h="22672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i="0" dirty="0" smtClean="0">
                          <a:ea typeface="현대하모니 B" panose="02020603020101020101"/>
                        </a:rPr>
                        <a:t>2 Zone</a:t>
                      </a:r>
                      <a:endParaRPr lang="ko-KR" altLang="en-US" sz="1100" b="1" i="0" dirty="0"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ea typeface="현대하모니 B" panose="02020603020101020101"/>
                        </a:rPr>
                        <a:t>4</a:t>
                      </a:r>
                      <a:r>
                        <a:rPr lang="en-US" altLang="ko-KR" sz="1100" b="1" baseline="0" dirty="0" smtClean="0">
                          <a:solidFill>
                            <a:schemeClr val="tx1"/>
                          </a:solidFill>
                          <a:ea typeface="현대하모니 B" panose="02020603020101020101"/>
                        </a:rPr>
                        <a:t> Zone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534500562"/>
                  </a:ext>
                </a:extLst>
              </a:tr>
              <a:tr h="4237775"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 2 Zone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PWM 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교차 제어</a:t>
                      </a:r>
                      <a:endParaRPr lang="en-US" altLang="ko-KR" sz="9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목적 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9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중첩구간을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최소화 하여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순간 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Peak 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전류로 인한 과전류 방지 및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소음 발생</a:t>
                      </a:r>
                      <a:endParaRPr lang="en-US" altLang="ko-KR" sz="9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최소화</a:t>
                      </a:r>
                      <a:endParaRPr lang="en-US" altLang="ko-KR" sz="9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   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  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과열 방지 </a:t>
                      </a:r>
                      <a:r>
                        <a:rPr lang="ko-KR" altLang="en-US" sz="9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</a:t>
                      </a:r>
                      <a:endParaRPr lang="en-US" altLang="ko-KR" sz="9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- 1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Zone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별 온도 센서를 통한 과열 감지 및 온도 유지 </a:t>
                      </a:r>
                      <a:r>
                        <a:rPr lang="ko-KR" altLang="en-US" sz="9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적용</a:t>
                      </a: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  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- 2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PTC Stone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Tc Spec Over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 급증하는 저항을 활용한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 </a:t>
                      </a:r>
                      <a:r>
                        <a:rPr lang="ko-KR" altLang="en-US" sz="9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적용</a:t>
                      </a:r>
                      <a:endParaRPr lang="en-US" altLang="ko-KR" sz="9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(R</a:t>
                      </a:r>
                      <a:r>
                        <a:rPr lang="ko-KR" altLang="en-US" sz="9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로직은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온도센서 고장에 따른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과열 미 감지 시의 화재 방지 목적으로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2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차로 최대 과열 시 동작 정지 하는 보호 </a:t>
                      </a:r>
                      <a:r>
                        <a:rPr lang="ko-KR" altLang="en-US" sz="9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l" defTabSz="914400" rtl="0" eaLnBrk="1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1. 4 Zone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PWM 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교차 제어</a:t>
                      </a:r>
                      <a:endParaRPr lang="en-US" altLang="ko-KR" sz="9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- 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목적 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</a:t>
                      </a:r>
                      <a:r>
                        <a:rPr lang="ko-KR" altLang="en-US" sz="900" kern="120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중첩구간을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최소화하여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순간 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Peak </a:t>
                      </a:r>
                      <a:r>
                        <a:rPr lang="ko-KR" altLang="en-US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전류로 인한 과전류 방지 및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소음 발생 </a:t>
                      </a:r>
                      <a:endParaRPr lang="en-US" altLang="ko-KR" sz="9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indent="0" algn="l" defTabSz="914400" rtl="0" eaLnBrk="1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최소화</a:t>
                      </a: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indent="0" algn="l" defTabSz="914400" rtl="0" eaLnBrk="1" latinLnBrk="1" hangingPunct="1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     </a:t>
                      </a:r>
                      <a:r>
                        <a:rPr lang="en-US" altLang="ko-KR" sz="10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10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  </a:t>
                      </a: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indent="0" latinLnBrk="0">
                        <a:lnSpc>
                          <a:spcPct val="150000"/>
                        </a:lnSpc>
                        <a:buNone/>
                      </a:pP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2.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과열 방지 </a:t>
                      </a:r>
                      <a:r>
                        <a:rPr lang="ko-KR" altLang="en-US" sz="9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</a:t>
                      </a:r>
                      <a:endParaRPr lang="en-US" altLang="ko-KR" sz="9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- 1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Zone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별 온도 센서를 통한 과열 감지 및 온도 유지 </a:t>
                      </a:r>
                      <a:r>
                        <a:rPr lang="ko-KR" altLang="en-US" sz="9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적용</a:t>
                      </a: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 </a:t>
                      </a: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dirty="0" smtClean="0">
                          <a:ea typeface="현대하모니 B" panose="02020603020101020101"/>
                        </a:rPr>
                        <a:t>            (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1/3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존 온도센서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개로 병행 사용 및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2/4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존 온도센서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개로 병행 사용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  <a:endParaRPr lang="en-US" altLang="ko-KR" sz="900" b="1" dirty="0" smtClean="0">
                        <a:ea typeface="현대하모니 B" panose="02020603020101020101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0" dirty="0" smtClean="0">
                          <a:ea typeface="현대하모니 B" panose="02020603020101020101"/>
                        </a:rPr>
                        <a:t>  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- 2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: PTC Stone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의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Tc Spec Over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시 급증하는 저항을 활용한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R </a:t>
                      </a:r>
                      <a:r>
                        <a:rPr lang="ko-KR" altLang="en-US" sz="9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적용</a:t>
                      </a:r>
                      <a:endParaRPr lang="en-US" altLang="ko-KR" sz="9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　　　　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(R </a:t>
                      </a:r>
                      <a:r>
                        <a:rPr lang="ko-KR" altLang="en-US" sz="9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로직을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차 과열방지로직으로 사용했을 시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,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Tc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Spec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이내에서의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저항 </a:t>
                      </a:r>
                      <a:endParaRPr lang="en-US" altLang="ko-KR" sz="9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변화만으로는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특정 온도 검출 불가로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ES Spec 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무풍 </a:t>
                      </a:r>
                      <a:r>
                        <a:rPr lang="ko-KR" altLang="en-US" sz="9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저풍량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시험에서의 </a:t>
                      </a:r>
                      <a:endParaRPr lang="en-US" altLang="ko-KR" sz="900" kern="1200" baseline="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  <a:p>
                      <a:pPr marL="0" marR="0" indent="0" algn="l" defTabSz="914400" rtl="0" eaLnBrk="1" fontAlgn="auto" latinLnBrk="0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            </a:t>
                      </a:r>
                      <a:r>
                        <a:rPr lang="ko-KR" altLang="en-US" sz="900" kern="1200" baseline="0" dirty="0" err="1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잠열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 온도 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140</a:t>
                      </a:r>
                      <a:r>
                        <a:rPr lang="ko-KR" altLang="en-US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℃ 불만족</a:t>
                      </a:r>
                      <a:r>
                        <a:rPr lang="en-US" altLang="ko-KR" sz="90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)</a:t>
                      </a:r>
                    </a:p>
                  </a:txBody>
                  <a:tcPr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743881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en-US" altLang="ko-KR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4Zone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로드맵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6" name="표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2607099"/>
              </p:ext>
            </p:extLst>
          </p:nvPr>
        </p:nvGraphicFramePr>
        <p:xfrm>
          <a:off x="60435" y="565306"/>
          <a:ext cx="9000000" cy="119928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911165">
                  <a:extLst>
                    <a:ext uri="{9D8B030D-6E8A-4147-A177-3AD203B41FA5}">
                      <a16:colId xmlns:a16="http://schemas.microsoft.com/office/drawing/2014/main" val="1690147088"/>
                    </a:ext>
                  </a:extLst>
                </a:gridCol>
                <a:gridCol w="2160240">
                  <a:extLst>
                    <a:ext uri="{9D8B030D-6E8A-4147-A177-3AD203B41FA5}">
                      <a16:colId xmlns:a16="http://schemas.microsoft.com/office/drawing/2014/main" val="2350208521"/>
                    </a:ext>
                  </a:extLst>
                </a:gridCol>
                <a:gridCol w="936104">
                  <a:extLst>
                    <a:ext uri="{9D8B030D-6E8A-4147-A177-3AD203B41FA5}">
                      <a16:colId xmlns:a16="http://schemas.microsoft.com/office/drawing/2014/main" val="438861941"/>
                    </a:ext>
                  </a:extLst>
                </a:gridCol>
                <a:gridCol w="3012491">
                  <a:extLst>
                    <a:ext uri="{9D8B030D-6E8A-4147-A177-3AD203B41FA5}">
                      <a16:colId xmlns:a16="http://schemas.microsoft.com/office/drawing/2014/main" val="2869045654"/>
                    </a:ext>
                  </a:extLst>
                </a:gridCol>
                <a:gridCol w="1980000">
                  <a:extLst>
                    <a:ext uri="{9D8B030D-6E8A-4147-A177-3AD203B41FA5}">
                      <a16:colId xmlns:a16="http://schemas.microsoft.com/office/drawing/2014/main" val="1939771692"/>
                    </a:ext>
                  </a:extLst>
                </a:gridCol>
              </a:tblGrid>
              <a:tr h="324000">
                <a:tc grid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6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현대하모니 B" panose="02020603020101020101"/>
                          <a:cs typeface="+mn-cs"/>
                        </a:rPr>
                        <a:t>4Zone PTC Heater</a:t>
                      </a:r>
                      <a:r>
                        <a:rPr lang="ko-KR" altLang="en-US" sz="1600" b="1" kern="1200" baseline="0" dirty="0" smtClean="0">
                          <a:solidFill>
                            <a:schemeClr val="tx1"/>
                          </a:solidFill>
                          <a:latin typeface="+mn-lt"/>
                          <a:ea typeface="현대하모니 B" panose="02020603020101020101"/>
                          <a:cs typeface="+mn-cs"/>
                        </a:rPr>
                        <a:t> </a:t>
                      </a:r>
                      <a:r>
                        <a:rPr lang="ko-KR" altLang="en-US" sz="1600" b="1" baseline="0" dirty="0" smtClean="0">
                          <a:ea typeface="현대하모니 B" panose="02020603020101020101"/>
                        </a:rPr>
                        <a:t>검토</a:t>
                      </a:r>
                      <a:endParaRPr lang="ko-KR" altLang="en-US" sz="1600" b="1" dirty="0"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ea typeface="현대하모니 B" panose="02020603020101020101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ea typeface="현대하모니 B" panose="02020603020101020101"/>
                      </a:endParaRPr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dirty="0" smtClean="0">
                          <a:ea typeface="현대하모니 B" panose="02020603020101020101"/>
                        </a:rPr>
                        <a:t>&lt; </a:t>
                      </a:r>
                      <a:r>
                        <a:rPr lang="ko-KR" altLang="en-US" sz="800" b="1" dirty="0" smtClean="0">
                          <a:ea typeface="현대하모니 B" panose="02020603020101020101"/>
                        </a:rPr>
                        <a:t>제품 형상 </a:t>
                      </a:r>
                      <a:r>
                        <a:rPr lang="en-US" altLang="ko-KR" sz="800" b="1" dirty="0" smtClean="0">
                          <a:ea typeface="현대하모니 B" panose="02020603020101020101"/>
                        </a:rPr>
                        <a:t>&gt;</a:t>
                      </a:r>
                    </a:p>
                  </a:txBody>
                  <a:tcPr anchor="b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875382477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품      명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EV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AIR 4Zone Heater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기      능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탑승객의 편의성을 극대화하는 지능형 열관리 시스템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 sz="1000" dirty="0">
                        <a:ea typeface="현대하모니 B" panose="02020603020101020101"/>
                      </a:endParaRP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15917714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차      종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err="1" smtClean="0">
                          <a:latin typeface="+mn-ea"/>
                          <a:ea typeface="+mn-ea"/>
                        </a:rPr>
                        <a:t>MVa</a:t>
                      </a:r>
                      <a:r>
                        <a:rPr lang="en-US" altLang="ko-KR" sz="800" baseline="0" dirty="0" smtClean="0">
                          <a:latin typeface="+mn-ea"/>
                          <a:ea typeface="+mn-ea"/>
                        </a:rPr>
                        <a:t> FRONT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요구 성능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6.3kW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ea typeface="현대하모니 B" panose="02020603020101020101"/>
                      </a:endParaRPr>
                    </a:p>
                  </a:txBody>
                  <a:tcPr anchor="ctr">
                    <a:solidFill>
                      <a:schemeClr val="bg1">
                        <a:lumMod val="85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62835745"/>
                  </a:ext>
                </a:extLst>
              </a:tr>
              <a:tr h="288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 smtClean="0">
                          <a:latin typeface="+mn-ea"/>
                          <a:ea typeface="+mn-ea"/>
                        </a:rPr>
                        <a:t>동작 조건</a:t>
                      </a: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800Vdc / 0</a:t>
                      </a:r>
                      <a:r>
                        <a:rPr lang="ko-KR" altLang="en-US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℃ </a:t>
                      </a:r>
                      <a:r>
                        <a:rPr lang="en-US" altLang="ko-KR" sz="80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/ 300kgh</a:t>
                      </a:r>
                      <a:endParaRPr lang="ko-KR" altLang="en-US" sz="800" kern="1200" dirty="0" smtClean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+mn-cs"/>
                        </a:rPr>
                        <a:t>사용 환경</a:t>
                      </a:r>
                      <a:endParaRPr lang="ko-KR" altLang="en-US" sz="8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+mn-cs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 latinLnBrk="1">
                        <a:buFontTx/>
                        <a:buNone/>
                      </a:pPr>
                      <a:r>
                        <a:rPr lang="en-US" altLang="ko-KR" sz="800" dirty="0" smtClean="0">
                          <a:latin typeface="+mn-ea"/>
                          <a:ea typeface="+mn-ea"/>
                        </a:rPr>
                        <a:t>-40~85</a:t>
                      </a:r>
                      <a:r>
                        <a:rPr lang="ko-KR" altLang="en-US" sz="800" dirty="0" smtClean="0">
                          <a:latin typeface="+mn-ea"/>
                          <a:ea typeface="+mn-ea"/>
                        </a:rPr>
                        <a:t>℃</a:t>
                      </a:r>
                      <a:endParaRPr lang="ko-KR" altLang="en-US" sz="800" dirty="0">
                        <a:latin typeface="+mn-ea"/>
                        <a:ea typeface="+mn-ea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1" dirty="0" smtClean="0">
                        <a:ea typeface="현대하모니 B" panose="02020603020101020101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73960133"/>
                  </a:ext>
                </a:extLst>
              </a:tr>
            </a:tbl>
          </a:graphicData>
        </a:graphic>
      </p:graphicFrame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368284" y="625926"/>
            <a:ext cx="613539" cy="899940"/>
          </a:xfrm>
          <a:prstGeom prst="rect">
            <a:avLst/>
          </a:prstGeom>
        </p:spPr>
      </p:pic>
      <p:sp>
        <p:nvSpPr>
          <p:cNvPr id="16" name="TextBox 15"/>
          <p:cNvSpPr txBox="1"/>
          <p:nvPr/>
        </p:nvSpPr>
        <p:spPr>
          <a:xfrm>
            <a:off x="4788024" y="3137193"/>
            <a:ext cx="3286477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</a:rPr>
              <a:t>[LOW Side</a:t>
            </a:r>
            <a:r>
              <a:rPr lang="en-US" altLang="ko-KR" sz="900" dirty="0" smtClean="0">
                <a:latin typeface="+mn-ea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900" dirty="0" smtClean="0">
                <a:latin typeface="+mn-ea"/>
              </a:rPr>
              <a:t>   - Zone1 / Zone2 / Zone3 / Zone4 </a:t>
            </a:r>
            <a:r>
              <a:rPr lang="en-US" altLang="ko-KR" sz="900" b="1" dirty="0" smtClean="0">
                <a:solidFill>
                  <a:srgbClr val="0000FF"/>
                </a:solidFill>
                <a:latin typeface="+mn-ea"/>
              </a:rPr>
              <a:t>25%</a:t>
            </a:r>
            <a:r>
              <a:rPr lang="en-US" altLang="ko-KR" sz="900" dirty="0" smtClean="0">
                <a:latin typeface="+mn-ea"/>
              </a:rPr>
              <a:t> </a:t>
            </a:r>
            <a:r>
              <a:rPr lang="ko-KR" altLang="en-US" sz="900" dirty="0" smtClean="0">
                <a:latin typeface="+mn-ea"/>
              </a:rPr>
              <a:t>비율로 교차 제어</a:t>
            </a:r>
            <a:endParaRPr lang="en-US" altLang="ko-KR" sz="900" dirty="0">
              <a:latin typeface="+mn-ea"/>
            </a:endParaRPr>
          </a:p>
        </p:txBody>
      </p:sp>
      <p:sp>
        <p:nvSpPr>
          <p:cNvPr id="17" name="TextBox 16"/>
          <p:cNvSpPr txBox="1"/>
          <p:nvPr/>
        </p:nvSpPr>
        <p:spPr>
          <a:xfrm>
            <a:off x="280131" y="2708920"/>
            <a:ext cx="2813591" cy="481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 smtClean="0">
                <a:latin typeface="+mn-ea"/>
              </a:rPr>
              <a:t>[HIGH </a:t>
            </a:r>
            <a:r>
              <a:rPr lang="en-US" altLang="ko-KR" sz="900" dirty="0">
                <a:latin typeface="+mn-ea"/>
              </a:rPr>
              <a:t>Side</a:t>
            </a:r>
            <a:r>
              <a:rPr lang="en-US" altLang="ko-KR" sz="900" dirty="0" smtClean="0">
                <a:latin typeface="+mn-ea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900" dirty="0" smtClean="0">
                <a:latin typeface="+mn-ea"/>
              </a:rPr>
              <a:t>   - </a:t>
            </a:r>
            <a:r>
              <a:rPr lang="en-US" altLang="ko-KR" sz="900" dirty="0">
                <a:latin typeface="+mn-ea"/>
              </a:rPr>
              <a:t>PTC ON </a:t>
            </a:r>
            <a:r>
              <a:rPr lang="ko-KR" altLang="en-US" sz="900" dirty="0">
                <a:latin typeface="+mn-ea"/>
              </a:rPr>
              <a:t>시 </a:t>
            </a:r>
            <a:r>
              <a:rPr lang="en-US" altLang="ko-KR" sz="900" dirty="0">
                <a:latin typeface="+mn-ea"/>
              </a:rPr>
              <a:t>High Side Enable / OFF </a:t>
            </a:r>
            <a:r>
              <a:rPr lang="ko-KR" altLang="en-US" sz="900" dirty="0">
                <a:latin typeface="+mn-ea"/>
              </a:rPr>
              <a:t>시 </a:t>
            </a:r>
            <a:r>
              <a:rPr lang="en-US" altLang="ko-KR" sz="900" dirty="0">
                <a:latin typeface="+mn-ea"/>
              </a:rPr>
              <a:t>Disable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788024" y="2708920"/>
            <a:ext cx="2813591" cy="481029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 smtClean="0">
                <a:latin typeface="+mn-ea"/>
              </a:rPr>
              <a:t>[HIGH </a:t>
            </a:r>
            <a:r>
              <a:rPr lang="en-US" altLang="ko-KR" sz="900" dirty="0">
                <a:latin typeface="+mn-ea"/>
              </a:rPr>
              <a:t>Side</a:t>
            </a:r>
            <a:r>
              <a:rPr lang="en-US" altLang="ko-KR" sz="900" dirty="0" smtClean="0">
                <a:latin typeface="+mn-ea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900" dirty="0" smtClean="0">
                <a:latin typeface="+mn-ea"/>
              </a:rPr>
              <a:t>   - </a:t>
            </a:r>
            <a:r>
              <a:rPr lang="en-US" altLang="ko-KR" sz="900" dirty="0">
                <a:latin typeface="+mn-ea"/>
              </a:rPr>
              <a:t>PTC ON </a:t>
            </a:r>
            <a:r>
              <a:rPr lang="ko-KR" altLang="en-US" sz="900" dirty="0">
                <a:latin typeface="+mn-ea"/>
              </a:rPr>
              <a:t>시 </a:t>
            </a:r>
            <a:r>
              <a:rPr lang="en-US" altLang="ko-KR" sz="900" dirty="0">
                <a:latin typeface="+mn-ea"/>
              </a:rPr>
              <a:t>High Side Enable / OFF </a:t>
            </a:r>
            <a:r>
              <a:rPr lang="ko-KR" altLang="en-US" sz="900" dirty="0">
                <a:latin typeface="+mn-ea"/>
              </a:rPr>
              <a:t>시 </a:t>
            </a:r>
            <a:r>
              <a:rPr lang="en-US" altLang="ko-KR" sz="900" dirty="0">
                <a:latin typeface="+mn-ea"/>
              </a:rPr>
              <a:t>Disable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280131" y="3140968"/>
            <a:ext cx="2383986" cy="5078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ko-KR" sz="900" dirty="0">
                <a:latin typeface="+mn-ea"/>
              </a:rPr>
              <a:t>[LOW Side</a:t>
            </a:r>
            <a:r>
              <a:rPr lang="en-US" altLang="ko-KR" sz="900" dirty="0" smtClean="0">
                <a:latin typeface="+mn-ea"/>
              </a:rPr>
              <a:t>]</a:t>
            </a:r>
          </a:p>
          <a:p>
            <a:pPr>
              <a:lnSpc>
                <a:spcPct val="150000"/>
              </a:lnSpc>
            </a:pPr>
            <a:r>
              <a:rPr lang="en-US" altLang="ko-KR" sz="900" dirty="0" smtClean="0">
                <a:latin typeface="+mn-ea"/>
              </a:rPr>
              <a:t>   - Zone1 / Zone2 </a:t>
            </a:r>
            <a:r>
              <a:rPr lang="en-US" altLang="ko-KR" sz="900" b="1" dirty="0" smtClean="0">
                <a:solidFill>
                  <a:srgbClr val="0000FF"/>
                </a:solidFill>
                <a:latin typeface="+mn-ea"/>
              </a:rPr>
              <a:t>50%</a:t>
            </a:r>
            <a:r>
              <a:rPr lang="en-US" altLang="ko-KR" sz="900" dirty="0" smtClean="0">
                <a:latin typeface="+mn-ea"/>
              </a:rPr>
              <a:t> </a:t>
            </a:r>
            <a:r>
              <a:rPr lang="ko-KR" altLang="en-US" sz="900" dirty="0" smtClean="0">
                <a:latin typeface="+mn-ea"/>
              </a:rPr>
              <a:t>비율로 교차 제어</a:t>
            </a:r>
            <a:endParaRPr lang="en-US" altLang="ko-KR" sz="900" dirty="0">
              <a:latin typeface="+mn-ea"/>
            </a:endParaRPr>
          </a:p>
        </p:txBody>
      </p:sp>
      <p:pic>
        <p:nvPicPr>
          <p:cNvPr id="7" name="그림 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87763" y="3648799"/>
            <a:ext cx="2575883" cy="1416861"/>
          </a:xfrm>
          <a:prstGeom prst="rect">
            <a:avLst/>
          </a:prstGeom>
        </p:spPr>
      </p:pic>
      <p:pic>
        <p:nvPicPr>
          <p:cNvPr id="8" name="그림 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364088" y="3642041"/>
            <a:ext cx="2520279" cy="180318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063023805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초격차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로드맵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117585" y="576207"/>
            <a:ext cx="8217991" cy="30777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▶ </a:t>
            </a:r>
            <a:r>
              <a:rPr lang="en-US" altLang="ko-KR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2Zone vs 4Zone</a:t>
            </a:r>
            <a:r>
              <a:rPr lang="ko-KR" altLang="en-US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비교  </a:t>
            </a:r>
            <a:r>
              <a:rPr lang="en-US" altLang="ko-KR" sz="14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</a:t>
            </a:r>
            <a:endParaRPr lang="en-US" altLang="ko-KR" sz="14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8" name="표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3543706"/>
              </p:ext>
            </p:extLst>
          </p:nvPr>
        </p:nvGraphicFramePr>
        <p:xfrm>
          <a:off x="177338" y="980728"/>
          <a:ext cx="8825346" cy="5720591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4412673">
                  <a:extLst>
                    <a:ext uri="{9D8B030D-6E8A-4147-A177-3AD203B41FA5}">
                      <a16:colId xmlns:a16="http://schemas.microsoft.com/office/drawing/2014/main" val="2805608320"/>
                    </a:ext>
                  </a:extLst>
                </a:gridCol>
                <a:gridCol w="4412673">
                  <a:extLst>
                    <a:ext uri="{9D8B030D-6E8A-4147-A177-3AD203B41FA5}">
                      <a16:colId xmlns:a16="http://schemas.microsoft.com/office/drawing/2014/main" val="2847512224"/>
                    </a:ext>
                  </a:extLst>
                </a:gridCol>
              </a:tblGrid>
              <a:tr h="284591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i="0" dirty="0" smtClean="0">
                          <a:solidFill>
                            <a:schemeClr val="tx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2Zone</a:t>
                      </a:r>
                      <a:endParaRPr lang="ko-KR" altLang="en-US" sz="1100" b="1" i="0" dirty="0">
                        <a:solidFill>
                          <a:schemeClr val="tx1"/>
                        </a:solidFill>
                        <a:latin typeface="현대하모니 B" panose="02020603020101020101" pitchFamily="18" charset="-127"/>
                        <a:ea typeface="현대하모니 B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1100" b="1" dirty="0" smtClean="0">
                          <a:solidFill>
                            <a:schemeClr val="tx1"/>
                          </a:solidFill>
                          <a:latin typeface="현대하모니 B" panose="02020603020101020101" pitchFamily="18" charset="-127"/>
                          <a:ea typeface="현대하모니 B" panose="02020603020101020101" pitchFamily="18" charset="-127"/>
                        </a:rPr>
                        <a:t>4Zone</a:t>
                      </a:r>
                      <a:endParaRPr lang="ko-KR" altLang="en-US" sz="1100" b="1" dirty="0">
                        <a:solidFill>
                          <a:schemeClr val="tx1"/>
                        </a:solidFill>
                        <a:latin typeface="현대하모니 B" panose="02020603020101020101" pitchFamily="18" charset="-127"/>
                        <a:ea typeface="현대하모니 B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5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136488367"/>
                  </a:ext>
                </a:extLst>
              </a:tr>
              <a:tr h="4824000">
                <a:tc>
                  <a:txBody>
                    <a:bodyPr/>
                    <a:lstStyle/>
                    <a:p>
                      <a:pPr algn="l" latinLnBrk="1"/>
                      <a:r>
                        <a:rPr lang="en-US" altLang="ko-KR" sz="1000" i="0" dirty="0" smtClean="0"/>
                        <a:t>1.</a:t>
                      </a:r>
                      <a:r>
                        <a:rPr lang="en-US" altLang="ko-KR" sz="1000" i="0" baseline="0" dirty="0" smtClean="0"/>
                        <a:t> H/W block diagram</a:t>
                      </a:r>
                      <a:endParaRPr lang="ko-KR" altLang="en-US" sz="1000" i="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l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1000" i="0" dirty="0" smtClean="0"/>
                        <a:t>1.</a:t>
                      </a:r>
                      <a:r>
                        <a:rPr lang="en-US" altLang="ko-KR" sz="1000" i="0" baseline="0" dirty="0" smtClean="0"/>
                        <a:t> H/W block diagram</a:t>
                      </a:r>
                      <a:endParaRPr lang="ko-KR" altLang="en-US" sz="1000" i="0" dirty="0" smtClean="0"/>
                    </a:p>
                    <a:p>
                      <a:pPr algn="l" latinLnBrk="1"/>
                      <a:r>
                        <a:rPr lang="en-US" altLang="ko-KR" sz="1000" dirty="0" smtClean="0"/>
                        <a:t>   - </a:t>
                      </a:r>
                      <a:r>
                        <a:rPr lang="ko-KR" altLang="en-US" sz="1000" dirty="0" smtClean="0"/>
                        <a:t>기존 제어 방식</a:t>
                      </a:r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r>
                        <a:rPr lang="en-US" altLang="ko-KR" sz="1000" dirty="0" smtClean="0"/>
                        <a:t>   </a:t>
                      </a:r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endParaRPr lang="en-US" altLang="ko-KR" sz="1000" dirty="0" smtClean="0"/>
                    </a:p>
                    <a:p>
                      <a:pPr algn="l" latinLnBrk="1"/>
                      <a:r>
                        <a:rPr lang="ko-KR" altLang="en-US" sz="1000" dirty="0" smtClean="0"/>
                        <a:t>왼쪽 </a:t>
                      </a:r>
                      <a:r>
                        <a:rPr lang="en-US" altLang="ko-KR" sz="1000" dirty="0" smtClean="0"/>
                        <a:t>1</a:t>
                      </a:r>
                      <a:r>
                        <a:rPr lang="ko-KR" altLang="en-US" sz="1000" dirty="0" smtClean="0"/>
                        <a:t>번 </a:t>
                      </a:r>
                      <a:r>
                        <a:rPr lang="en-US" altLang="ko-KR" sz="1000" dirty="0" smtClean="0"/>
                        <a:t>3</a:t>
                      </a:r>
                      <a:r>
                        <a:rPr lang="ko-KR" altLang="en-US" sz="1000" dirty="0" smtClean="0"/>
                        <a:t>번 </a:t>
                      </a:r>
                      <a:r>
                        <a:rPr lang="en-US" altLang="ko-KR" sz="1000" dirty="0" smtClean="0"/>
                        <a:t>1</a:t>
                      </a:r>
                      <a:r>
                        <a:rPr lang="ko-KR" altLang="en-US" sz="1000" dirty="0" smtClean="0"/>
                        <a:t>번</a:t>
                      </a:r>
                      <a:r>
                        <a:rPr lang="en-US" altLang="ko-KR" sz="1000" dirty="0" smtClean="0"/>
                        <a:t>, 2</a:t>
                      </a:r>
                      <a:r>
                        <a:rPr lang="en-US" altLang="ko-KR" sz="1000" baseline="0" dirty="0" smtClean="0"/>
                        <a:t> 4</a:t>
                      </a:r>
                      <a:r>
                        <a:rPr lang="ko-KR" altLang="en-US" sz="1000" baseline="0" dirty="0" smtClean="0"/>
                        <a:t>번 </a:t>
                      </a:r>
                      <a:r>
                        <a:rPr lang="en-US" altLang="ko-KR" sz="1000" baseline="0" dirty="0" smtClean="0"/>
                        <a:t>2</a:t>
                      </a:r>
                      <a:r>
                        <a:rPr lang="ko-KR" altLang="en-US" sz="1000" baseline="0" dirty="0" smtClean="0"/>
                        <a:t>번 </a:t>
                      </a:r>
                      <a:endParaRPr lang="ko-KR" altLang="en-US" sz="1000" dirty="0"/>
                    </a:p>
                  </a:txBody>
                  <a:tcPr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2098321"/>
                  </a:ext>
                </a:extLst>
              </a:tr>
              <a:tr h="612000">
                <a:tc>
                  <a:txBody>
                    <a:bodyPr/>
                    <a:lstStyle/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Char char="-"/>
                        <a:tabLst/>
                        <a:defRPr/>
                      </a:pPr>
                      <a:endParaRPr lang="en-US" altLang="ko-KR" sz="1000" b="1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1000" b="1" baseline="0" dirty="0" smtClean="0">
                        <a:solidFill>
                          <a:schemeClr val="tx1"/>
                        </a:solidFill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233161257"/>
                  </a:ext>
                </a:extLst>
              </a:tr>
            </a:tbl>
          </a:graphicData>
        </a:graphic>
      </p:graphicFrame>
      <p:sp>
        <p:nvSpPr>
          <p:cNvPr id="87" name="TextBox 86"/>
          <p:cNvSpPr txBox="1"/>
          <p:nvPr/>
        </p:nvSpPr>
        <p:spPr>
          <a:xfrm>
            <a:off x="2681799" y="573199"/>
            <a:ext cx="381642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Mechanical/HW/SW </a:t>
            </a:r>
            <a:r>
              <a:rPr lang="ko-KR" altLang="en-US" dirty="0" smtClean="0"/>
              <a:t>내용 추가</a:t>
            </a:r>
            <a:endParaRPr lang="ko-KR" altLang="en-US" dirty="0"/>
          </a:p>
        </p:txBody>
      </p:sp>
      <p:pic>
        <p:nvPicPr>
          <p:cNvPr id="5" name="그림 4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0010" y="1492761"/>
            <a:ext cx="4298400" cy="2944351"/>
          </a:xfrm>
          <a:prstGeom prst="rect">
            <a:avLst/>
          </a:prstGeom>
        </p:spPr>
      </p:pic>
      <p:pic>
        <p:nvPicPr>
          <p:cNvPr id="7" name="그림 6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673624" y="1628800"/>
            <a:ext cx="4146848" cy="274637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8759953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Text Box 3">
            <a:extLst>
              <a:ext uri="{FF2B5EF4-FFF2-40B4-BE49-F238E27FC236}">
                <a16:creationId xmlns:a16="http://schemas.microsoft.com/office/drawing/2014/main" id="{9BF71E5E-C3B1-4C00-BC56-49B59E9E937B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35496" y="576769"/>
            <a:ext cx="4444891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u="sng" spc="-91" dirty="0">
                <a:latin typeface="+mj-ea"/>
                <a:ea typeface="+mj-ea"/>
                <a:cs typeface="Tahoma" panose="020B0604030504040204" pitchFamily="34" charset="0"/>
              </a:rPr>
              <a:t>1. </a:t>
            </a:r>
            <a:r>
              <a:rPr lang="ko-KR" altLang="en-US" sz="1200" b="1" u="sng" spc="-91" dirty="0">
                <a:latin typeface="+mj-ea"/>
                <a:ea typeface="+mj-ea"/>
                <a:cs typeface="Tahoma" panose="020B0604030504040204" pitchFamily="34" charset="0"/>
              </a:rPr>
              <a:t>적용 가능성 검토 내용 </a:t>
            </a:r>
            <a:r>
              <a:rPr lang="en-US" altLang="ko-KR" sz="1200" b="1" u="sng" spc="-91" dirty="0">
                <a:latin typeface="+mj-ea"/>
                <a:ea typeface="+mj-ea"/>
                <a:cs typeface="Tahoma" panose="020B0604030504040204" pitchFamily="34" charset="0"/>
              </a:rPr>
              <a:t>(</a:t>
            </a:r>
            <a:r>
              <a:rPr lang="ko-KR" altLang="en-US" sz="1200" b="1" u="sng" spc="-91" dirty="0">
                <a:latin typeface="+mj-ea"/>
                <a:ea typeface="+mj-ea"/>
                <a:cs typeface="Tahoma" panose="020B0604030504040204" pitchFamily="34" charset="0"/>
              </a:rPr>
              <a:t>공정</a:t>
            </a:r>
            <a:r>
              <a:rPr lang="en-US" altLang="ko-KR" sz="1200" b="1" u="sng" spc="-91" dirty="0">
                <a:latin typeface="+mj-ea"/>
                <a:ea typeface="+mj-ea"/>
                <a:cs typeface="Tahoma" panose="020B0604030504040204" pitchFamily="34" charset="0"/>
              </a:rPr>
              <a:t>/</a:t>
            </a:r>
            <a:r>
              <a:rPr lang="ko-KR" altLang="en-US" sz="1200" b="1" u="sng" spc="-91" dirty="0">
                <a:latin typeface="+mj-ea"/>
                <a:ea typeface="+mj-ea"/>
                <a:cs typeface="Tahoma" panose="020B0604030504040204" pitchFamily="34" charset="0"/>
              </a:rPr>
              <a:t>단가</a:t>
            </a:r>
            <a:r>
              <a:rPr lang="en-US" altLang="ko-KR" sz="1200" b="1" u="sng" spc="-91" dirty="0">
                <a:latin typeface="+mj-ea"/>
                <a:ea typeface="+mj-ea"/>
                <a:cs typeface="Tahoma" panose="020B0604030504040204" pitchFamily="34" charset="0"/>
              </a:rPr>
              <a:t>)</a:t>
            </a:r>
          </a:p>
        </p:txBody>
      </p:sp>
      <p:graphicFrame>
        <p:nvGraphicFramePr>
          <p:cNvPr id="34" name="표 3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725818832"/>
              </p:ext>
            </p:extLst>
          </p:nvPr>
        </p:nvGraphicFramePr>
        <p:xfrm>
          <a:off x="251520" y="950451"/>
          <a:ext cx="8712509" cy="1110397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092">
                  <a:extLst>
                    <a:ext uri="{9D8B030D-6E8A-4147-A177-3AD203B41FA5}">
                      <a16:colId xmlns:a16="http://schemas.microsoft.com/office/drawing/2014/main" val="1321464569"/>
                    </a:ext>
                  </a:extLst>
                </a:gridCol>
                <a:gridCol w="803536">
                  <a:extLst>
                    <a:ext uri="{9D8B030D-6E8A-4147-A177-3AD203B41FA5}">
                      <a16:colId xmlns:a16="http://schemas.microsoft.com/office/drawing/2014/main" val="1035093076"/>
                    </a:ext>
                  </a:extLst>
                </a:gridCol>
                <a:gridCol w="736641">
                  <a:extLst>
                    <a:ext uri="{9D8B030D-6E8A-4147-A177-3AD203B41FA5}">
                      <a16:colId xmlns:a16="http://schemas.microsoft.com/office/drawing/2014/main" val="3693363731"/>
                    </a:ext>
                  </a:extLst>
                </a:gridCol>
                <a:gridCol w="736641">
                  <a:extLst>
                    <a:ext uri="{9D8B030D-6E8A-4147-A177-3AD203B41FA5}">
                      <a16:colId xmlns:a16="http://schemas.microsoft.com/office/drawing/2014/main" val="240457569"/>
                    </a:ext>
                  </a:extLst>
                </a:gridCol>
                <a:gridCol w="736641">
                  <a:extLst>
                    <a:ext uri="{9D8B030D-6E8A-4147-A177-3AD203B41FA5}">
                      <a16:colId xmlns:a16="http://schemas.microsoft.com/office/drawing/2014/main" val="2381597478"/>
                    </a:ext>
                  </a:extLst>
                </a:gridCol>
                <a:gridCol w="736641">
                  <a:extLst>
                    <a:ext uri="{9D8B030D-6E8A-4147-A177-3AD203B41FA5}">
                      <a16:colId xmlns:a16="http://schemas.microsoft.com/office/drawing/2014/main" val="1409526487"/>
                    </a:ext>
                  </a:extLst>
                </a:gridCol>
                <a:gridCol w="825037">
                  <a:extLst>
                    <a:ext uri="{9D8B030D-6E8A-4147-A177-3AD203B41FA5}">
                      <a16:colId xmlns:a16="http://schemas.microsoft.com/office/drawing/2014/main" val="889864249"/>
                    </a:ext>
                  </a:extLst>
                </a:gridCol>
                <a:gridCol w="825037">
                  <a:extLst>
                    <a:ext uri="{9D8B030D-6E8A-4147-A177-3AD203B41FA5}">
                      <a16:colId xmlns:a16="http://schemas.microsoft.com/office/drawing/2014/main" val="3186684282"/>
                    </a:ext>
                  </a:extLst>
                </a:gridCol>
                <a:gridCol w="648243">
                  <a:extLst>
                    <a:ext uri="{9D8B030D-6E8A-4147-A177-3AD203B41FA5}">
                      <a16:colId xmlns:a16="http://schemas.microsoft.com/office/drawing/2014/main" val="2117479532"/>
                    </a:ext>
                  </a:extLst>
                </a:gridCol>
                <a:gridCol w="2160000">
                  <a:extLst>
                    <a:ext uri="{9D8B030D-6E8A-4147-A177-3AD203B41FA5}">
                      <a16:colId xmlns:a16="http://schemas.microsoft.com/office/drawing/2014/main" val="2083963762"/>
                    </a:ext>
                  </a:extLst>
                </a:gridCol>
              </a:tblGrid>
              <a:tr h="331459"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구분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적용 공정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적용 내용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재질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사용 설비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경화 시간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공정 비용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err="1" smtClean="0"/>
                        <a:t>싸이클</a:t>
                      </a:r>
                      <a:r>
                        <a:rPr lang="ko-KR" altLang="en-US" sz="1000" b="1" dirty="0" smtClean="0"/>
                        <a:t> 타임</a:t>
                      </a:r>
                      <a:endParaRPr lang="en-US" altLang="ko-KR" sz="1000" b="1" dirty="0" smtClean="0"/>
                    </a:p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en-US" altLang="ko-KR" sz="1000" b="1" dirty="0" smtClean="0"/>
                        <a:t>(</a:t>
                      </a:r>
                      <a:r>
                        <a:rPr lang="ko-KR" altLang="en-US" sz="1000" b="1" dirty="0" err="1" smtClean="0"/>
                        <a:t>로드조립</a:t>
                      </a:r>
                      <a:r>
                        <a:rPr lang="en-US" altLang="ko-KR" sz="1000" b="1" dirty="0" smtClean="0"/>
                        <a:t>)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효과 금액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r>
                        <a:rPr lang="ko-KR" altLang="en-US" sz="1000" b="1" dirty="0" smtClean="0"/>
                        <a:t>비 고</a:t>
                      </a:r>
                      <a:endParaRPr lang="ko-KR" altLang="en-US" sz="1000" b="1" dirty="0"/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773280"/>
                  </a:ext>
                </a:extLst>
              </a:tr>
              <a:tr h="389469">
                <a:tc>
                  <a:txBody>
                    <a:bodyPr/>
                    <a:lstStyle/>
                    <a:p>
                      <a:pPr marL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ko-KR" altLang="en-US" sz="8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Tahoma" panose="020B0604030504040204" pitchFamily="34" charset="0"/>
                        </a:rPr>
                        <a:t>기존</a:t>
                      </a:r>
                      <a:endParaRPr lang="en-US" altLang="ko-KR" sz="8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algn="ctr" fontAlgn="base" latinLnBrk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altLang="ko-KR" sz="8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Tahoma" panose="020B0604030504040204" pitchFamily="34" charset="0"/>
                        </a:rPr>
                        <a:t>HEAT ROD</a:t>
                      </a: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1100" b="1" dirty="0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l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spc="-10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157407"/>
                  </a:ext>
                </a:extLst>
              </a:tr>
              <a:tr h="389469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Tahoma" panose="020B0604030504040204" pitchFamily="34" charset="0"/>
                        </a:rPr>
                        <a:t>변경</a:t>
                      </a:r>
                      <a:endParaRPr lang="en-US" altLang="ko-KR" sz="8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Tahoma" panose="020B0604030504040204" pitchFamily="34" charset="0"/>
                        </a:rPr>
                        <a:t>SHEATH</a:t>
                      </a:r>
                      <a:r>
                        <a:rPr lang="en-US" altLang="ko-KR" sz="800" b="1" kern="1200" baseline="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Tahoma" panose="020B0604030504040204" pitchFamily="34" charset="0"/>
                        </a:rPr>
                        <a:t> HEATER</a:t>
                      </a:r>
                      <a:endParaRPr lang="en-US" altLang="ko-KR" sz="8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800" b="1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dirty="0"/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algn="ctr" latinLnBrk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</a:pPr>
                      <a:endParaRPr lang="ko-KR" altLang="en-US" sz="900" b="1" dirty="0">
                        <a:solidFill>
                          <a:srgbClr val="0000FF"/>
                        </a:solidFill>
                      </a:endParaRPr>
                    </a:p>
                  </a:txBody>
                  <a:tcPr marL="0" marR="0" marT="0" marB="0"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737759"/>
                  </a:ext>
                </a:extLst>
              </a:tr>
            </a:tbl>
          </a:graphicData>
        </a:graphic>
      </p:graphicFrame>
      <p:sp>
        <p:nvSpPr>
          <p:cNvPr id="55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en-US" altLang="ko-KR" sz="2000" b="1" dirty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4Zone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비용 절감 효과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6" name="다이어그램 5"/>
          <p:cNvGraphicFramePr/>
          <p:nvPr>
            <p:extLst>
              <p:ext uri="{D42A27DB-BD31-4B8C-83A1-F6EECF244321}">
                <p14:modId xmlns:p14="http://schemas.microsoft.com/office/powerpoint/2010/main" val="3961753038"/>
              </p:ext>
            </p:extLst>
          </p:nvPr>
        </p:nvGraphicFramePr>
        <p:xfrm>
          <a:off x="4770806" y="2771838"/>
          <a:ext cx="4337698" cy="29708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  <p:graphicFrame>
        <p:nvGraphicFramePr>
          <p:cNvPr id="56" name="표 5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698521106"/>
              </p:ext>
            </p:extLst>
          </p:nvPr>
        </p:nvGraphicFramePr>
        <p:xfrm>
          <a:off x="224333" y="4545296"/>
          <a:ext cx="4464000" cy="1548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684000">
                  <a:extLst>
                    <a:ext uri="{9D8B030D-6E8A-4147-A177-3AD203B41FA5}">
                      <a16:colId xmlns:a16="http://schemas.microsoft.com/office/drawing/2014/main" val="2312224193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3693363731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1508629044"/>
                    </a:ext>
                  </a:extLst>
                </a:gridCol>
                <a:gridCol w="936000">
                  <a:extLst>
                    <a:ext uri="{9D8B030D-6E8A-4147-A177-3AD203B41FA5}">
                      <a16:colId xmlns:a16="http://schemas.microsoft.com/office/drawing/2014/main" val="2286407209"/>
                    </a:ext>
                  </a:extLst>
                </a:gridCol>
                <a:gridCol w="972000">
                  <a:extLst>
                    <a:ext uri="{9D8B030D-6E8A-4147-A177-3AD203B41FA5}">
                      <a16:colId xmlns:a16="http://schemas.microsoft.com/office/drawing/2014/main" val="1649192565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구분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공정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설비 </a:t>
                      </a:r>
                      <a:r>
                        <a:rPr lang="ko-KR" altLang="en-US" sz="900" b="1" dirty="0" err="1" smtClean="0"/>
                        <a:t>상각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총 금액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비고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773280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기존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157407"/>
                  </a:ext>
                </a:extLst>
              </a:tr>
              <a:tr h="396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변경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dirty="0" smtClean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7502145"/>
                  </a:ext>
                </a:extLst>
              </a:tr>
              <a:tr h="396000"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효과 금액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endParaRPr lang="ko-KR" altLang="en-US" sz="900" b="1" dirty="0">
                        <a:solidFill>
                          <a:srgbClr val="0000FF"/>
                        </a:solidFill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dirty="0" smtClean="0"/>
                        <a:t>1</a:t>
                      </a:r>
                      <a:r>
                        <a:rPr lang="en-US" altLang="ko-KR" sz="900" baseline="0" dirty="0" smtClean="0"/>
                        <a:t> Core </a:t>
                      </a:r>
                      <a:r>
                        <a:rPr lang="ko-KR" altLang="en-US" sz="900" baseline="0" dirty="0" smtClean="0"/>
                        <a:t>기준</a:t>
                      </a:r>
                      <a:endParaRPr lang="ko-KR" altLang="en-US" sz="900" dirty="0" smtClean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554905877"/>
                  </a:ext>
                </a:extLst>
              </a:tr>
            </a:tbl>
          </a:graphicData>
        </a:graphic>
      </p:graphicFrame>
      <p:sp>
        <p:nvSpPr>
          <p:cNvPr id="62" name="Text Box 3">
            <a:extLst>
              <a:ext uri="{FF2B5EF4-FFF2-40B4-BE49-F238E27FC236}">
                <a16:creationId xmlns:a16="http://schemas.microsoft.com/office/drawing/2014/main" id="{9BF71E5E-C3B1-4C00-BC56-49B59E9E937B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0" y="4257264"/>
            <a:ext cx="4664995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u="sng" dirty="0">
                <a:latin typeface="+mj-ea"/>
                <a:ea typeface="+mj-ea"/>
                <a:cs typeface="Tahoma" panose="020B0604030504040204" pitchFamily="34" charset="0"/>
              </a:rPr>
              <a:t>3</a:t>
            </a:r>
            <a:r>
              <a:rPr lang="en-US" altLang="ko-KR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. </a:t>
            </a:r>
            <a:r>
              <a:rPr lang="ko-KR" altLang="en-US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원가 비교 </a:t>
            </a:r>
            <a:r>
              <a:rPr lang="en-US" altLang="ko-KR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(</a:t>
            </a:r>
            <a:r>
              <a:rPr lang="ko-KR" altLang="en-US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단가</a:t>
            </a:r>
            <a:r>
              <a:rPr lang="en-US" altLang="ko-KR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)</a:t>
            </a:r>
            <a:endParaRPr lang="en-US" altLang="ko-KR" sz="800" b="1" u="sng" dirty="0">
              <a:latin typeface="+mj-ea"/>
              <a:ea typeface="+mj-ea"/>
              <a:cs typeface="Tahoma" panose="020B0604030504040204" pitchFamily="34" charset="0"/>
            </a:endParaRPr>
          </a:p>
        </p:txBody>
      </p:sp>
      <p:sp>
        <p:nvSpPr>
          <p:cNvPr id="63" name="Text Box 3">
            <a:extLst>
              <a:ext uri="{FF2B5EF4-FFF2-40B4-BE49-F238E27FC236}">
                <a16:creationId xmlns:a16="http://schemas.microsoft.com/office/drawing/2014/main" id="{9BF71E5E-C3B1-4C00-BC56-49B59E9E937B}"/>
              </a:ext>
            </a:extLst>
          </p:cNvPr>
          <p:cNvSpPr txBox="1">
            <a:spLocks noChangeArrowheads="1"/>
          </p:cNvSpPr>
          <p:nvPr/>
        </p:nvSpPr>
        <p:spPr bwMode="white">
          <a:xfrm>
            <a:off x="-2878" y="2241040"/>
            <a:ext cx="4667871" cy="276999"/>
          </a:xfrm>
          <a:prstGeom prst="rect">
            <a:avLst/>
          </a:prstGeom>
          <a:noFill/>
          <a:ln w="9525" algn="ctr">
            <a:noFill/>
            <a:miter lim="800000"/>
            <a:headEnd/>
            <a:tailEnd/>
          </a:ln>
        </p:spPr>
        <p:txBody>
          <a:bodyPr wrap="square">
            <a:spAutoFit/>
          </a:bodyPr>
          <a:lstStyle/>
          <a:p>
            <a:pPr fontAlgn="base" latinLnBrk="0">
              <a:spcBef>
                <a:spcPct val="50000"/>
              </a:spcBef>
              <a:spcAft>
                <a:spcPct val="0"/>
              </a:spcAft>
            </a:pPr>
            <a:r>
              <a:rPr lang="en-US" altLang="ko-KR" sz="1200" b="1" u="sng" dirty="0">
                <a:latin typeface="+mj-ea"/>
                <a:ea typeface="+mj-ea"/>
                <a:cs typeface="Tahoma" panose="020B0604030504040204" pitchFamily="34" charset="0"/>
              </a:rPr>
              <a:t>2</a:t>
            </a:r>
            <a:r>
              <a:rPr lang="en-US" altLang="ko-KR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. </a:t>
            </a:r>
            <a:r>
              <a:rPr lang="ko-KR" altLang="en-US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적용 검토 </a:t>
            </a:r>
            <a:r>
              <a:rPr lang="en-US" altLang="ko-KR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(</a:t>
            </a:r>
            <a:r>
              <a:rPr lang="ko-KR" altLang="en-US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공정</a:t>
            </a:r>
            <a:r>
              <a:rPr lang="en-US" altLang="ko-KR" sz="1200" b="1" u="sng" dirty="0" smtClean="0">
                <a:latin typeface="+mj-ea"/>
                <a:ea typeface="+mj-ea"/>
                <a:cs typeface="Tahoma" panose="020B0604030504040204" pitchFamily="34" charset="0"/>
              </a:rPr>
              <a:t>)</a:t>
            </a:r>
            <a:endParaRPr lang="en-US" altLang="ko-KR" sz="800" b="1" u="sng" dirty="0">
              <a:latin typeface="+mj-ea"/>
              <a:ea typeface="+mj-ea"/>
              <a:cs typeface="Tahoma" panose="020B0604030504040204" pitchFamily="34" charset="0"/>
            </a:endParaRPr>
          </a:p>
        </p:txBody>
      </p:sp>
      <p:graphicFrame>
        <p:nvGraphicFramePr>
          <p:cNvPr id="64" name="표 6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352957611"/>
              </p:ext>
            </p:extLst>
          </p:nvPr>
        </p:nvGraphicFramePr>
        <p:xfrm>
          <a:off x="237602" y="2529240"/>
          <a:ext cx="4428000" cy="151200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504000">
                  <a:extLst>
                    <a:ext uri="{9D8B030D-6E8A-4147-A177-3AD203B41FA5}">
                      <a16:colId xmlns:a16="http://schemas.microsoft.com/office/drawing/2014/main" val="1321464569"/>
                    </a:ext>
                  </a:extLst>
                </a:gridCol>
                <a:gridCol w="1008000">
                  <a:extLst>
                    <a:ext uri="{9D8B030D-6E8A-4147-A177-3AD203B41FA5}">
                      <a16:colId xmlns:a16="http://schemas.microsoft.com/office/drawing/2014/main" val="1035093076"/>
                    </a:ext>
                  </a:extLst>
                </a:gridCol>
                <a:gridCol w="828000">
                  <a:extLst>
                    <a:ext uri="{9D8B030D-6E8A-4147-A177-3AD203B41FA5}">
                      <a16:colId xmlns:a16="http://schemas.microsoft.com/office/drawing/2014/main" val="3693363731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40457569"/>
                    </a:ext>
                  </a:extLst>
                </a:gridCol>
                <a:gridCol w="792000">
                  <a:extLst>
                    <a:ext uri="{9D8B030D-6E8A-4147-A177-3AD203B41FA5}">
                      <a16:colId xmlns:a16="http://schemas.microsoft.com/office/drawing/2014/main" val="2381597478"/>
                    </a:ext>
                  </a:extLst>
                </a:gridCol>
                <a:gridCol w="504000">
                  <a:extLst>
                    <a:ext uri="{9D8B030D-6E8A-4147-A177-3AD203B41FA5}">
                      <a16:colId xmlns:a16="http://schemas.microsoft.com/office/drawing/2014/main" val="1409526487"/>
                    </a:ext>
                  </a:extLst>
                </a:gridCol>
              </a:tblGrid>
              <a:tr h="360000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구분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적용 공정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적용 내용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재질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사용 설비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900" b="1" dirty="0" smtClean="0"/>
                        <a:t>시간</a:t>
                      </a:r>
                      <a:endParaRPr lang="ko-KR" altLang="en-US" sz="900" b="1" dirty="0"/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09773280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indent="0" algn="ctr" fontAlgn="base" latinLnBrk="0"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</a:pPr>
                      <a:r>
                        <a:rPr lang="ko-KR" altLang="en-US" sz="9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Tahoma" panose="020B0604030504040204" pitchFamily="34" charset="0"/>
                        </a:rPr>
                        <a:t>기존</a:t>
                      </a: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indent="0" fontAlgn="base" latinLnBrk="0">
                        <a:spcBef>
                          <a:spcPct val="50000"/>
                        </a:spcBef>
                        <a:spcAft>
                          <a:spcPct val="0"/>
                        </a:spcAft>
                        <a:buNone/>
                      </a:pP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44157407"/>
                  </a:ext>
                </a:extLst>
              </a:tr>
              <a:tr h="576000">
                <a:tc>
                  <a:txBody>
                    <a:bodyPr/>
                    <a:lstStyle/>
                    <a:p>
                      <a:pPr marL="0" marR="0" indent="0" algn="ctr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900" b="1" kern="1200" dirty="0" smtClean="0">
                          <a:solidFill>
                            <a:schemeClr val="tx1"/>
                          </a:solidFill>
                          <a:latin typeface="+mj-ea"/>
                          <a:ea typeface="+mn-ea"/>
                          <a:cs typeface="Tahoma" panose="020B0604030504040204" pitchFamily="34" charset="0"/>
                        </a:rPr>
                        <a:t>변경</a:t>
                      </a: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0" hangingPunct="1">
                        <a:lnSpc>
                          <a:spcPct val="10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9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5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9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b="1" kern="1200" dirty="0" smtClean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lnSpc>
                          <a:spcPct val="150000"/>
                        </a:lnSpc>
                      </a:pPr>
                      <a:endParaRPr lang="ko-KR" altLang="en-US" sz="900" b="1" kern="1200" dirty="0">
                        <a:solidFill>
                          <a:schemeClr val="tx1"/>
                        </a:solidFill>
                        <a:latin typeface="+mj-ea"/>
                        <a:ea typeface="+mn-ea"/>
                        <a:cs typeface="Tahoma" panose="020B0604030504040204" pitchFamily="34" charset="0"/>
                      </a:endParaRPr>
                    </a:p>
                  </a:txBody>
                  <a:tcPr anchor="ctr">
                    <a:lnL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2">
                          <a:lumMod val="2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98737759"/>
                  </a:ext>
                </a:extLst>
              </a:tr>
            </a:tbl>
          </a:graphicData>
        </a:graphic>
      </p:graphicFrame>
      <p:sp>
        <p:nvSpPr>
          <p:cNvPr id="7" name="직사각형 6"/>
          <p:cNvSpPr/>
          <p:nvPr/>
        </p:nvSpPr>
        <p:spPr>
          <a:xfrm>
            <a:off x="1331640" y="1628800"/>
            <a:ext cx="6480720" cy="4113889"/>
          </a:xfrm>
          <a:prstGeom prst="rect">
            <a:avLst/>
          </a:prstGeom>
          <a:noFill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r>
              <a:rPr lang="ko-KR" altLang="en-US" dirty="0" smtClean="0">
                <a:solidFill>
                  <a:srgbClr val="FF0000"/>
                </a:solidFill>
              </a:rPr>
              <a:t>추후 절감 효과 내용 적용</a:t>
            </a:r>
            <a:endParaRPr lang="ko-KR" altLang="en-US" dirty="0">
              <a:solidFill>
                <a:srgbClr val="FF0000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04643388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그림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70806" y="836712"/>
            <a:ext cx="3029400" cy="4445101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6" name="AutoShape 60"/>
          <p:cNvSpPr>
            <a:spLocks noChangeArrowheads="1"/>
          </p:cNvSpPr>
          <p:nvPr/>
        </p:nvSpPr>
        <p:spPr bwMode="auto">
          <a:xfrm>
            <a:off x="5652120" y="1090389"/>
            <a:ext cx="3456384" cy="4714875"/>
          </a:xfrm>
          <a:prstGeom prst="roundRect">
            <a:avLst>
              <a:gd name="adj" fmla="val 1903"/>
            </a:avLst>
          </a:prstGeom>
          <a:noFill/>
          <a:ln w="15875" algn="ctr">
            <a:noFill/>
            <a:round/>
            <a:headEnd/>
            <a:tailEnd/>
          </a:ln>
        </p:spPr>
        <p:txBody>
          <a:bodyPr wrap="none" lIns="36000"/>
          <a:lstStyle/>
          <a:p>
            <a:pPr marL="85725" defTabSz="844550"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en-US" altLang="ko-KR" sz="1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Arial" pitchFamily="34" charset="0"/>
              </a:rPr>
              <a:t> </a:t>
            </a:r>
            <a:r>
              <a:rPr lang="en-US" altLang="ko-KR" sz="1200" b="1" dirty="0" smtClean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Arial" pitchFamily="34" charset="0"/>
              </a:rPr>
              <a:t>EV Heater </a:t>
            </a:r>
            <a:r>
              <a:rPr lang="en-US" altLang="ko-KR" sz="1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Arial" pitchFamily="34" charset="0"/>
              </a:rPr>
              <a:t>general characteristic</a:t>
            </a:r>
          </a:p>
          <a:p>
            <a:pPr marL="85725" defTabSz="844550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200" b="1" dirty="0">
                <a:solidFill>
                  <a:srgbClr val="FF3300"/>
                </a:solidFill>
                <a:latin typeface="+mn-ea"/>
                <a:cs typeface="Arial" pitchFamily="34" charset="0"/>
              </a:rPr>
              <a:t>  </a:t>
            </a:r>
            <a:r>
              <a:rPr lang="en-US" altLang="ko-KR" sz="1200" b="1" dirty="0" smtClean="0">
                <a:solidFill>
                  <a:srgbClr val="FF3300"/>
                </a:solidFill>
                <a:latin typeface="+mn-ea"/>
                <a:cs typeface="Arial" pitchFamily="34" charset="0"/>
              </a:rPr>
              <a:t>EV </a:t>
            </a:r>
            <a:r>
              <a:rPr lang="en-US" altLang="ko-KR" sz="1200" b="1" dirty="0">
                <a:solidFill>
                  <a:srgbClr val="FF3300"/>
                </a:solidFill>
                <a:latin typeface="+mn-ea"/>
                <a:cs typeface="Arial" pitchFamily="34" charset="0"/>
              </a:rPr>
              <a:t>Heater Performance : </a:t>
            </a:r>
            <a:r>
              <a:rPr lang="en-US" altLang="ko-KR" sz="1200" b="1" dirty="0" smtClean="0">
                <a:solidFill>
                  <a:srgbClr val="FF3300"/>
                </a:solidFill>
                <a:latin typeface="+mn-ea"/>
                <a:cs typeface="Arial" pitchFamily="34" charset="0"/>
              </a:rPr>
              <a:t>6,300Watt</a:t>
            </a:r>
            <a:endParaRPr lang="en-US" altLang="ko-KR" sz="1200" b="1" dirty="0">
              <a:solidFill>
                <a:srgbClr val="FF3300"/>
              </a:solidFill>
              <a:latin typeface="+mn-ea"/>
              <a:cs typeface="Arial" pitchFamily="34" charset="0"/>
            </a:endParaRPr>
          </a:p>
          <a:p>
            <a:pPr marL="85725" defTabSz="844550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200" b="1" dirty="0" smtClean="0">
                <a:solidFill>
                  <a:srgbClr val="FF3300"/>
                </a:solidFill>
                <a:latin typeface="+mn-ea"/>
                <a:cs typeface="Arial" pitchFamily="34" charset="0"/>
              </a:rPr>
              <a:t>  Core fin (Module Core)</a:t>
            </a:r>
            <a:endParaRPr lang="en-US" altLang="ko-KR" sz="1200" b="1" dirty="0">
              <a:solidFill>
                <a:srgbClr val="FF3300"/>
              </a:solidFill>
              <a:latin typeface="+mn-ea"/>
              <a:cs typeface="Arial" pitchFamily="34" charset="0"/>
            </a:endParaRPr>
          </a:p>
          <a:p>
            <a:pPr marL="85725" defTabSz="844550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200" b="1" dirty="0">
                <a:solidFill>
                  <a:srgbClr val="FF3300"/>
                </a:solidFill>
                <a:latin typeface="+mn-ea"/>
                <a:cs typeface="Arial" pitchFamily="34" charset="0"/>
              </a:rPr>
              <a:t>  Al-tube Heat </a:t>
            </a:r>
            <a:r>
              <a:rPr lang="en-US" altLang="ko-KR" sz="1200" b="1" dirty="0" smtClean="0">
                <a:solidFill>
                  <a:srgbClr val="FF3300"/>
                </a:solidFill>
                <a:latin typeface="+mn-ea"/>
                <a:cs typeface="Arial" pitchFamily="34" charset="0"/>
              </a:rPr>
              <a:t>rod </a:t>
            </a:r>
            <a:endParaRPr lang="en-US" altLang="ko-KR" sz="1200" b="1" dirty="0">
              <a:solidFill>
                <a:srgbClr val="FF3300"/>
              </a:solidFill>
              <a:latin typeface="+mn-ea"/>
              <a:cs typeface="Arial" pitchFamily="34" charset="0"/>
            </a:endParaRPr>
          </a:p>
          <a:p>
            <a:pPr marL="85725" defTabSz="844550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200" b="1" dirty="0">
                <a:latin typeface="+mn-ea"/>
                <a:cs typeface="Arial" pitchFamily="34" charset="0"/>
              </a:rPr>
              <a:t>  Heater core 4</a:t>
            </a:r>
            <a:r>
              <a:rPr lang="en-US" altLang="ko-KR" sz="1200" b="1" dirty="0" smtClean="0">
                <a:latin typeface="+mn-ea"/>
                <a:cs typeface="Arial" pitchFamily="34" charset="0"/>
              </a:rPr>
              <a:t> zone</a:t>
            </a:r>
          </a:p>
          <a:p>
            <a:pPr marL="85725" defTabSz="844550">
              <a:spcBef>
                <a:spcPct val="50000"/>
              </a:spcBef>
              <a:buFont typeface="Arial" charset="0"/>
              <a:buChar char="•"/>
              <a:defRPr/>
            </a:pPr>
            <a:r>
              <a:rPr lang="ko-KR" altLang="en-US" sz="1200" b="1" dirty="0" smtClean="0">
                <a:latin typeface="+mn-ea"/>
                <a:cs typeface="Arial" pitchFamily="34" charset="0"/>
              </a:rPr>
              <a:t>  </a:t>
            </a:r>
            <a:r>
              <a:rPr lang="en-US" altLang="ko-KR" sz="1200" b="1" dirty="0" smtClean="0">
                <a:latin typeface="+mn-ea"/>
                <a:cs typeface="Arial" pitchFamily="34" charset="0"/>
              </a:rPr>
              <a:t>Heater System Operating :  Power control</a:t>
            </a:r>
          </a:p>
          <a:p>
            <a:pPr marL="85725" defTabSz="844550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200" b="1" dirty="0" smtClean="0">
                <a:latin typeface="+mn-ea"/>
                <a:cs typeface="Arial" pitchFamily="34" charset="0"/>
              </a:rPr>
              <a:t>  </a:t>
            </a:r>
            <a:r>
              <a:rPr lang="en-US" altLang="ko-KR" sz="1200" b="1" dirty="0">
                <a:latin typeface="+mn-ea"/>
                <a:cs typeface="Arial" pitchFamily="34" charset="0"/>
              </a:rPr>
              <a:t>HV Connector </a:t>
            </a:r>
            <a:r>
              <a:rPr lang="en-US" altLang="ko-KR" sz="1200" b="1" dirty="0" smtClean="0">
                <a:latin typeface="+mn-ea"/>
                <a:cs typeface="Arial" pitchFamily="34" charset="0"/>
              </a:rPr>
              <a:t>: APTIV 35415839</a:t>
            </a:r>
          </a:p>
          <a:p>
            <a:pPr marL="85725" defTabSz="844550">
              <a:spcBef>
                <a:spcPct val="50000"/>
              </a:spcBef>
              <a:buFont typeface="Arial" charset="0"/>
              <a:buChar char="•"/>
              <a:defRPr/>
            </a:pPr>
            <a:r>
              <a:rPr lang="en-US" altLang="ko-KR" sz="1200" b="1" dirty="0" smtClean="0">
                <a:latin typeface="+mn-ea"/>
                <a:cs typeface="Arial" pitchFamily="34" charset="0"/>
              </a:rPr>
              <a:t>Signal </a:t>
            </a:r>
            <a:r>
              <a:rPr lang="en-US" altLang="ko-KR" sz="1200" b="1" dirty="0">
                <a:latin typeface="+mn-ea"/>
                <a:cs typeface="Arial" pitchFamily="34" charset="0"/>
              </a:rPr>
              <a:t>Connector : KET MG </a:t>
            </a:r>
            <a:r>
              <a:rPr lang="en-US" altLang="ko-KR" sz="1200" b="1" dirty="0" smtClean="0">
                <a:latin typeface="+mn-ea"/>
                <a:cs typeface="Arial" pitchFamily="34" charset="0"/>
              </a:rPr>
              <a:t>651098-5</a:t>
            </a:r>
            <a:endParaRPr lang="en-US" altLang="ko-KR" sz="1200" b="1" dirty="0">
              <a:latin typeface="+mn-ea"/>
              <a:cs typeface="Arial" pitchFamily="34" charset="0"/>
            </a:endParaRPr>
          </a:p>
          <a:p>
            <a:pPr marL="85725" defTabSz="844550" eaLnBrk="0" latinLnBrk="0" hangingPunct="0">
              <a:spcBef>
                <a:spcPct val="50000"/>
              </a:spcBef>
            </a:pPr>
            <a:r>
              <a:rPr lang="en-US" altLang="ko-KR" sz="1200" b="1" dirty="0">
                <a:latin typeface="+mn-ea"/>
                <a:cs typeface="Arial" pitchFamily="34" charset="0"/>
              </a:rPr>
              <a:t>                 (Mate : KET </a:t>
            </a:r>
            <a:r>
              <a:rPr lang="en-US" altLang="ko-KR" sz="1200" b="1" dirty="0" smtClean="0">
                <a:latin typeface="+mn-ea"/>
                <a:cs typeface="Arial" pitchFamily="34" charset="0"/>
              </a:rPr>
              <a:t>641101-5)</a:t>
            </a:r>
            <a:endParaRPr lang="en-US" altLang="ko-KR" sz="1200" b="1" dirty="0">
              <a:latin typeface="+mn-ea"/>
              <a:cs typeface="Arial" pitchFamily="34" charset="0"/>
            </a:endParaRPr>
          </a:p>
          <a:p>
            <a:pPr marL="85725" defTabSz="844550">
              <a:spcBef>
                <a:spcPct val="50000"/>
              </a:spcBef>
              <a:buFont typeface="Wingdings" pitchFamily="2" charset="2"/>
              <a:buChar char="ü"/>
              <a:defRPr/>
            </a:pPr>
            <a:r>
              <a:rPr lang="en-US" altLang="ko-KR" sz="1200" b="1" dirty="0">
                <a:solidFill>
                  <a:srgbClr val="0000FF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+mn-ea"/>
                <a:cs typeface="Arial" pitchFamily="34" charset="0"/>
              </a:rPr>
              <a:t> Safety function</a:t>
            </a:r>
            <a:endParaRPr lang="en-US" altLang="ko-KR" sz="1200" b="1" dirty="0">
              <a:latin typeface="+mn-ea"/>
              <a:cs typeface="Arial" pitchFamily="34" charset="0"/>
            </a:endParaRPr>
          </a:p>
          <a:p>
            <a:pPr marL="85725" defTabSz="844550" eaLnBrk="0" latinLnBrk="0" hangingPunct="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ko-KR" sz="1200" b="1" dirty="0">
                <a:latin typeface="+mn-ea"/>
                <a:cs typeface="Arial" pitchFamily="34" charset="0"/>
              </a:rPr>
              <a:t>  High Voltage Over/Under Protection</a:t>
            </a:r>
          </a:p>
          <a:p>
            <a:pPr marL="85725" defTabSz="844550" eaLnBrk="0" latinLnBrk="0" hangingPunct="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ko-KR" sz="1200" b="1" dirty="0">
                <a:latin typeface="+mn-ea"/>
                <a:cs typeface="Arial" pitchFamily="34" charset="0"/>
              </a:rPr>
              <a:t>  Low Voltage Over Protection</a:t>
            </a:r>
          </a:p>
          <a:p>
            <a:pPr marL="85725" defTabSz="844550" eaLnBrk="0" latinLnBrk="0" hangingPunct="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ko-KR" sz="1200" b="1" dirty="0">
                <a:latin typeface="+mn-ea"/>
                <a:cs typeface="Arial" pitchFamily="34" charset="0"/>
              </a:rPr>
              <a:t>  Over/Under Current Protection</a:t>
            </a:r>
          </a:p>
          <a:p>
            <a:pPr marL="85725" defTabSz="844550" eaLnBrk="0" latinLnBrk="0" hangingPunct="0">
              <a:spcBef>
                <a:spcPct val="50000"/>
              </a:spcBef>
              <a:buFont typeface="Arial" pitchFamily="34" charset="0"/>
              <a:buChar char="•"/>
            </a:pPr>
            <a:r>
              <a:rPr lang="ko-KR" altLang="en-US" sz="1200" b="1" dirty="0">
                <a:latin typeface="+mn-ea"/>
                <a:cs typeface="Arial" pitchFamily="34" charset="0"/>
              </a:rPr>
              <a:t>  </a:t>
            </a:r>
            <a:r>
              <a:rPr lang="en-US" altLang="ko-KR" sz="1200" b="1" dirty="0">
                <a:latin typeface="+mn-ea"/>
                <a:cs typeface="Arial" pitchFamily="34" charset="0"/>
              </a:rPr>
              <a:t>Over Heat Protection (PCB)</a:t>
            </a:r>
          </a:p>
          <a:p>
            <a:pPr marL="85725" defTabSz="844550" eaLnBrk="0" latinLnBrk="0" hangingPunct="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ko-KR" sz="1200" b="1" dirty="0">
                <a:latin typeface="+mn-ea"/>
                <a:cs typeface="Arial" pitchFamily="34" charset="0"/>
              </a:rPr>
              <a:t>  Communication lost</a:t>
            </a:r>
          </a:p>
          <a:p>
            <a:pPr marL="85725" defTabSz="844550" eaLnBrk="0" latinLnBrk="0" hangingPunct="0">
              <a:spcBef>
                <a:spcPct val="50000"/>
              </a:spcBef>
              <a:buFont typeface="Arial" pitchFamily="34" charset="0"/>
              <a:buChar char="•"/>
            </a:pPr>
            <a:r>
              <a:rPr lang="en-US" altLang="ko-KR" sz="1200" b="1" dirty="0">
                <a:latin typeface="+mn-ea"/>
                <a:cs typeface="Arial" pitchFamily="34" charset="0"/>
              </a:rPr>
              <a:t>  Voltage surge</a:t>
            </a:r>
          </a:p>
        </p:txBody>
      </p:sp>
      <p:sp>
        <p:nvSpPr>
          <p:cNvPr id="7" name="직사각형 6"/>
          <p:cNvSpPr/>
          <p:nvPr/>
        </p:nvSpPr>
        <p:spPr bwMode="auto">
          <a:xfrm>
            <a:off x="2937445" y="1010179"/>
            <a:ext cx="1887855" cy="5524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altLang="ko-KR" sz="1400" b="1" dirty="0">
                <a:latin typeface="+mn-ea"/>
              </a:rPr>
              <a:t>Signal </a:t>
            </a:r>
            <a:endParaRPr lang="en-US" altLang="ko-KR" sz="1400" b="1" dirty="0" smtClean="0">
              <a:latin typeface="+mn-ea"/>
            </a:endParaRPr>
          </a:p>
          <a:p>
            <a:pPr algn="ctr">
              <a:defRPr/>
            </a:pPr>
            <a:r>
              <a:rPr lang="en-US" altLang="ko-KR" sz="1400" b="1" dirty="0" smtClean="0">
                <a:latin typeface="+mn-ea"/>
              </a:rPr>
              <a:t>Connector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8" name="직사각형 7"/>
          <p:cNvSpPr/>
          <p:nvPr/>
        </p:nvSpPr>
        <p:spPr bwMode="auto">
          <a:xfrm>
            <a:off x="-263658" y="937887"/>
            <a:ext cx="1887855" cy="5524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altLang="ko-KR" sz="1400" b="1" dirty="0">
                <a:latin typeface="+mn-ea"/>
              </a:rPr>
              <a:t>PWM Part</a:t>
            </a:r>
            <a:endParaRPr lang="ko-KR" altLang="en-US" sz="1400" b="1" dirty="0">
              <a:latin typeface="+mn-ea"/>
            </a:endParaRPr>
          </a:p>
        </p:txBody>
      </p:sp>
      <p:cxnSp>
        <p:nvCxnSpPr>
          <p:cNvPr id="9" name="꺾인 연결선 55"/>
          <p:cNvCxnSpPr>
            <a:cxnSpLocks noChangeShapeType="1"/>
            <a:stCxn id="8" idx="2"/>
          </p:cNvCxnSpPr>
          <p:nvPr/>
        </p:nvCxnSpPr>
        <p:spPr bwMode="auto">
          <a:xfrm rot="16200000" flipH="1">
            <a:off x="1051898" y="1118709"/>
            <a:ext cx="416375" cy="1159630"/>
          </a:xfrm>
          <a:prstGeom prst="bentConnector2">
            <a:avLst/>
          </a:prstGeom>
          <a:noFill/>
          <a:ln w="9525" algn="ctr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2" name="직사각형 11"/>
          <p:cNvSpPr/>
          <p:nvPr/>
        </p:nvSpPr>
        <p:spPr bwMode="auto">
          <a:xfrm>
            <a:off x="-248190" y="2547032"/>
            <a:ext cx="1887855" cy="5524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altLang="ko-KR" sz="1400" b="1" dirty="0">
                <a:latin typeface="+mn-ea"/>
              </a:rPr>
              <a:t>HV Connector</a:t>
            </a:r>
            <a:endParaRPr lang="ko-KR" altLang="en-US" sz="1400" b="1" dirty="0">
              <a:latin typeface="+mn-ea"/>
            </a:endParaRPr>
          </a:p>
        </p:txBody>
      </p:sp>
      <p:cxnSp>
        <p:nvCxnSpPr>
          <p:cNvPr id="13" name="꺾인 연결선 61"/>
          <p:cNvCxnSpPr>
            <a:cxnSpLocks noChangeShapeType="1"/>
          </p:cNvCxnSpPr>
          <p:nvPr/>
        </p:nvCxnSpPr>
        <p:spPr bwMode="auto">
          <a:xfrm>
            <a:off x="3068703" y="2572361"/>
            <a:ext cx="968656" cy="692479"/>
          </a:xfrm>
          <a:prstGeom prst="bentConnector3">
            <a:avLst>
              <a:gd name="adj1" fmla="val 50000"/>
            </a:avLst>
          </a:prstGeom>
          <a:noFill/>
          <a:ln w="9525" algn="ctr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14" name="직사각형 13"/>
          <p:cNvSpPr/>
          <p:nvPr/>
        </p:nvSpPr>
        <p:spPr bwMode="auto">
          <a:xfrm>
            <a:off x="3845625" y="2971458"/>
            <a:ext cx="1887220" cy="5524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altLang="ko-KR" sz="1400" b="1" dirty="0">
                <a:latin typeface="+mn-ea"/>
              </a:rPr>
              <a:t>Cooling Device</a:t>
            </a:r>
            <a:endParaRPr lang="ko-KR" altLang="en-US" sz="1400" b="1" dirty="0">
              <a:latin typeface="+mn-ea"/>
            </a:endParaRPr>
          </a:p>
        </p:txBody>
      </p:sp>
      <p:sp>
        <p:nvSpPr>
          <p:cNvPr id="15" name="직사각형 14"/>
          <p:cNvSpPr/>
          <p:nvPr/>
        </p:nvSpPr>
        <p:spPr bwMode="auto">
          <a:xfrm>
            <a:off x="3980289" y="2019982"/>
            <a:ext cx="1887855" cy="527050"/>
          </a:xfrm>
          <a:prstGeom prst="rect">
            <a:avLst/>
          </a:prstGeom>
          <a:noFill/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wrap="none" lIns="92075" tIns="46038" rIns="92075" bIns="46038" anchor="ctr"/>
          <a:lstStyle/>
          <a:p>
            <a:pPr algn="ctr">
              <a:defRPr/>
            </a:pPr>
            <a:r>
              <a:rPr lang="en-US" altLang="ko-KR" sz="1400" b="1" dirty="0">
                <a:latin typeface="+mn-ea"/>
              </a:rPr>
              <a:t>Chassis Ground</a:t>
            </a:r>
            <a:endParaRPr lang="ko-KR" altLang="en-US" sz="1400" b="1" dirty="0">
              <a:latin typeface="+mn-ea"/>
            </a:endParaRPr>
          </a:p>
        </p:txBody>
      </p:sp>
      <p:cxnSp>
        <p:nvCxnSpPr>
          <p:cNvPr id="16" name="직선 화살표 연결선 75"/>
          <p:cNvCxnSpPr>
            <a:cxnSpLocks noChangeShapeType="1"/>
          </p:cNvCxnSpPr>
          <p:nvPr/>
        </p:nvCxnSpPr>
        <p:spPr bwMode="auto">
          <a:xfrm flipH="1">
            <a:off x="3599632" y="1561029"/>
            <a:ext cx="239018" cy="593766"/>
          </a:xfrm>
          <a:prstGeom prst="straightConnector1">
            <a:avLst/>
          </a:prstGeom>
          <a:noFill/>
          <a:ln w="9525" algn="ctr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7" name="직선 화살표 연결선 75"/>
          <p:cNvCxnSpPr>
            <a:cxnSpLocks noChangeShapeType="1"/>
          </p:cNvCxnSpPr>
          <p:nvPr/>
        </p:nvCxnSpPr>
        <p:spPr bwMode="auto">
          <a:xfrm flipH="1" flipV="1">
            <a:off x="3841988" y="2158654"/>
            <a:ext cx="375676" cy="51669"/>
          </a:xfrm>
          <a:prstGeom prst="straightConnector1">
            <a:avLst/>
          </a:prstGeom>
          <a:noFill/>
          <a:ln w="9525" algn="ctr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cxnSp>
        <p:nvCxnSpPr>
          <p:cNvPr id="18" name="직선 화살표 연결선 75"/>
          <p:cNvCxnSpPr>
            <a:cxnSpLocks noChangeShapeType="1"/>
          </p:cNvCxnSpPr>
          <p:nvPr/>
        </p:nvCxnSpPr>
        <p:spPr bwMode="auto">
          <a:xfrm flipV="1">
            <a:off x="765350" y="2223833"/>
            <a:ext cx="223865" cy="439918"/>
          </a:xfrm>
          <a:prstGeom prst="straightConnector1">
            <a:avLst/>
          </a:prstGeom>
          <a:noFill/>
          <a:ln w="9525" algn="ctr">
            <a:solidFill>
              <a:srgbClr val="FF6600"/>
            </a:solidFill>
            <a:round/>
            <a:headEnd/>
            <a:tailEnd type="triangle" w="med" len="lg"/>
          </a:ln>
          <a:extLst>
            <a:ext uri="{909E8E84-426E-40DD-AFC4-6F175D3DCCD1}">
              <a14:hiddenFill xmlns:a14="http://schemas.microsoft.com/office/drawing/2010/main">
                <a:noFill/>
              </a14:hiddenFill>
            </a:ext>
          </a:extLst>
        </p:spPr>
      </p:cxn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en-US" altLang="ko-KR" sz="2000" b="1" dirty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4Zone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</a:t>
            </a:r>
            <a:r>
              <a:rPr lang="en-US" altLang="ko-KR" sz="2000" b="1" dirty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제품 사양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29" name="부제목 2"/>
          <p:cNvSpPr txBox="1">
            <a:spLocks/>
          </p:cNvSpPr>
          <p:nvPr/>
        </p:nvSpPr>
        <p:spPr>
          <a:xfrm>
            <a:off x="179512" y="548680"/>
            <a:ext cx="7056784" cy="432048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1600" dirty="0" smtClean="0">
                <a:latin typeface="현대하모니 M" pitchFamily="18" charset="-127"/>
                <a:ea typeface="현대하모니 M" pitchFamily="18" charset="-127"/>
              </a:rPr>
              <a:t>■ </a:t>
            </a:r>
            <a:r>
              <a:rPr lang="ko-KR" altLang="en-US" sz="1600" dirty="0" smtClean="0">
                <a:latin typeface="현대하모니 M" pitchFamily="18" charset="-127"/>
                <a:ea typeface="현대하모니 M" pitchFamily="18" charset="-127"/>
              </a:rPr>
              <a:t>제품 사양</a:t>
            </a:r>
            <a:endParaRPr lang="en-US" altLang="ko-KR" sz="16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sp>
        <p:nvSpPr>
          <p:cNvPr id="32" name="TextBox 31"/>
          <p:cNvSpPr txBox="1"/>
          <p:nvPr/>
        </p:nvSpPr>
        <p:spPr>
          <a:xfrm>
            <a:off x="2483768" y="3885716"/>
            <a:ext cx="381642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내용 검토 후 추가 또는 수정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128900550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74" name="개체 73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690212462"/>
              </p:ext>
            </p:extLst>
          </p:nvPr>
        </p:nvGraphicFramePr>
        <p:xfrm>
          <a:off x="-14396" y="1037742"/>
          <a:ext cx="2698616" cy="137129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6" name="프로덕트" r:id="rId3" imgW="4579200" imgH="2325600" progId="CATIA.Product">
                  <p:link updateAutomatic="1"/>
                </p:oleObj>
              </mc:Choice>
              <mc:Fallback>
                <p:oleObj name="프로덕트" r:id="rId3" imgW="4579200" imgH="2325600" progId="CATIA.Product">
                  <p:link updateAutomatic="1"/>
                  <p:pic>
                    <p:nvPicPr>
                      <p:cNvPr id="2" name="개체 1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4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-14396" y="1037742"/>
                        <a:ext cx="2698616" cy="1371290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24" name="부제목 2"/>
          <p:cNvSpPr txBox="1">
            <a:spLocks/>
          </p:cNvSpPr>
          <p:nvPr/>
        </p:nvSpPr>
        <p:spPr>
          <a:xfrm>
            <a:off x="179512" y="548680"/>
            <a:ext cx="7056784" cy="432048"/>
          </a:xfrm>
          <a:prstGeom prst="rect">
            <a:avLst/>
          </a:prstGeom>
        </p:spPr>
        <p:txBody>
          <a:bodyPr anchor="ctr"/>
          <a:lstStyle/>
          <a:p>
            <a:pPr defTabSz="933450" fontAlgn="base">
              <a:lnSpc>
                <a:spcPct val="15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altLang="ko-KR" sz="1600" dirty="0" smtClean="0">
                <a:latin typeface="현대하모니 M" pitchFamily="18" charset="-127"/>
                <a:ea typeface="현대하모니 M" pitchFamily="18" charset="-127"/>
              </a:rPr>
              <a:t>■ </a:t>
            </a:r>
            <a:r>
              <a:rPr lang="ko-KR" altLang="en-US" sz="1600" dirty="0" smtClean="0">
                <a:latin typeface="현대하모니 M" pitchFamily="18" charset="-127"/>
                <a:ea typeface="현대하모니 M" pitchFamily="18" charset="-127"/>
              </a:rPr>
              <a:t>제품 사양</a:t>
            </a:r>
            <a:endParaRPr lang="en-US" altLang="ko-KR" sz="1600" dirty="0" smtClean="0">
              <a:latin typeface="현대하모니 M" pitchFamily="18" charset="-127"/>
              <a:ea typeface="현대하모니 M" pitchFamily="18" charset="-127"/>
            </a:endParaRPr>
          </a:p>
        </p:txBody>
      </p:sp>
      <p:graphicFrame>
        <p:nvGraphicFramePr>
          <p:cNvPr id="25" name="표 2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40633814"/>
              </p:ext>
            </p:extLst>
          </p:nvPr>
        </p:nvGraphicFramePr>
        <p:xfrm>
          <a:off x="4355976" y="667304"/>
          <a:ext cx="4671700" cy="5858039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792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5430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14781">
                  <a:extLst>
                    <a:ext uri="{9D8B030D-6E8A-4147-A177-3AD203B41FA5}">
                      <a16:colId xmlns:a16="http://schemas.microsoft.com/office/drawing/2014/main" val="4125957655"/>
                    </a:ext>
                  </a:extLst>
                </a:gridCol>
                <a:gridCol w="566605">
                  <a:extLst>
                    <a:ext uri="{9D8B030D-6E8A-4147-A177-3AD203B41FA5}">
                      <a16:colId xmlns:a16="http://schemas.microsoft.com/office/drawing/2014/main" val="3591981296"/>
                    </a:ext>
                  </a:extLst>
                </a:gridCol>
                <a:gridCol w="1447992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00729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32840"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900" b="1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Item</a:t>
                      </a:r>
                      <a:endParaRPr lang="ko-KR" altLang="en-US" sz="9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/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General Specification</a:t>
                      </a:r>
                      <a:endParaRPr lang="ko-KR" altLang="en-US" sz="9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900" b="1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Remark</a:t>
                      </a:r>
                      <a:endParaRPr lang="ko-KR" altLang="en-US" sz="900" b="1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32840">
                <a:tc rowSpan="15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Part</a:t>
                      </a:r>
                    </a:p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Specification</a:t>
                      </a:r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Core</a:t>
                      </a:r>
                      <a:r>
                        <a:rPr lang="ko-KR" altLang="en-US" sz="800" b="0" baseline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Size(mm)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??L</a:t>
                      </a:r>
                      <a:r>
                        <a:rPr lang="en-US" altLang="ko-KR" sz="800" b="0" baseline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x ??W</a:t>
                      </a:r>
                      <a:r>
                        <a:rPr lang="en-US" altLang="ko-KR" sz="800" b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x </a:t>
                      </a:r>
                      <a:r>
                        <a:rPr lang="en-US" altLang="ko-KR" sz="800" b="0" dirty="0" smtClean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??T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Without sponge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98701549"/>
                  </a:ext>
                </a:extLst>
              </a:tr>
              <a:tr h="332840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9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solidFill>
                            <a:sysClr val="windowText" lastClr="000000"/>
                          </a:solidFill>
                          <a:latin typeface="+mn-ea"/>
                          <a:ea typeface="+mn-ea"/>
                        </a:rPr>
                        <a:t>Control Size(mm)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??L x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 ??W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 x ??T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605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Nominal Power 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8,000 W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(+10% /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-0%)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(654V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, 300kg/h, 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℃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4Zone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67297320"/>
                  </a:ext>
                </a:extLst>
              </a:tr>
              <a:tr h="332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Pressure drop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MAX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 ??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Pa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@300kg/h, 0</a:t>
                      </a:r>
                      <a:r>
                        <a:rPr lang="ko-KR" altLang="en-US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℃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Tx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69426386"/>
                  </a:ext>
                </a:extLst>
              </a:tr>
              <a:tr h="332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4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Voltage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HV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Nominal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654 V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Tx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803518535"/>
                  </a:ext>
                </a:extLst>
              </a:tr>
              <a:tr h="332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Range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240V </a:t>
                      </a: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~ </a:t>
                      </a:r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900V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Tx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06234463"/>
                  </a:ext>
                </a:extLst>
              </a:tr>
              <a:tr h="332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algn="l" latinLnBrk="1"/>
                      <a:endParaRPr lang="en-US" altLang="ko-KR" sz="9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LV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Nominal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12V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Tx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83083374"/>
                  </a:ext>
                </a:extLst>
              </a:tr>
              <a:tr h="332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Range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8V ~ 18V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Tx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406195428"/>
                  </a:ext>
                </a:extLst>
              </a:tr>
              <a:tr h="415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Operating guarantee temp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-40°C to 85°C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>
                        <a:buFontTx/>
                        <a:buNone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Performance guarantee temp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-40°C to 85°C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1529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Storage guarantee temp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-40°C to 105°C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32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dirty="0">
                          <a:latin typeface="+mn-ea"/>
                          <a:ea typeface="+mn-ea"/>
                        </a:rPr>
                        <a:t>Communication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High Speed CAN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332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Weight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Max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 ?? kg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3"/>
                  </a:ext>
                </a:extLst>
              </a:tr>
              <a:tr h="33284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Ingress Protection Degree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IP67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 dirty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-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535306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gridSpan="3"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Noise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 dB</a:t>
                      </a:r>
                      <a:endParaRPr lang="en-US" altLang="ko-KR" sz="800" b="0" kern="120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800" b="0" kern="120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Max</a:t>
                      </a: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 32dB @ Duty 20% (50s)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  <a:p>
                      <a:pPr algn="l" latinLnBrk="1"/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                 @ Duty 50% (20s)</a:t>
                      </a: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ES </a:t>
                      </a:r>
                      <a:r>
                        <a:rPr lang="ko-KR" altLang="en-US" sz="800" b="0" kern="1200" baseline="0" dirty="0" smtClean="0">
                          <a:solidFill>
                            <a:schemeClr val="tx1"/>
                          </a:solidFill>
                          <a:latin typeface="+mn-ea"/>
                          <a:ea typeface="+mn-ea"/>
                          <a:cs typeface="Tahoma" pitchFamily="34" charset="0"/>
                          <a:sym typeface="Wingdings" panose="05000000000000000000" pitchFamily="2" charset="2"/>
                        </a:rPr>
                        <a:t>개정 예정 사항</a:t>
                      </a:r>
                      <a:endParaRPr lang="en-US" altLang="ko-KR" sz="800" b="0" kern="1200" baseline="0" dirty="0">
                        <a:solidFill>
                          <a:schemeClr val="tx1"/>
                        </a:solidFill>
                        <a:latin typeface="+mn-ea"/>
                        <a:ea typeface="+mn-ea"/>
                        <a:cs typeface="Tahoma" pitchFamily="34" charset="0"/>
                        <a:sym typeface="Wingdings" panose="05000000000000000000" pitchFamily="2" charset="2"/>
                      </a:endParaRPr>
                    </a:p>
                  </a:txBody>
                  <a:tcPr marL="36000" marR="36000" marT="36000" marB="3600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620622520"/>
                  </a:ext>
                </a:extLst>
              </a:tr>
            </a:tbl>
          </a:graphicData>
        </a:graphic>
      </p:graphicFrame>
      <p:sp>
        <p:nvSpPr>
          <p:cNvPr id="62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en-US" altLang="ko-KR" sz="2000" b="1" dirty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4Zone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제품 제원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72" name="개체 71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3882914444"/>
              </p:ext>
            </p:extLst>
          </p:nvPr>
        </p:nvGraphicFramePr>
        <p:xfrm>
          <a:off x="3007574" y="2731365"/>
          <a:ext cx="1276394" cy="3184849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7" name="프로덕트" r:id="rId3" imgW="990000" imgH="2469600" progId="CATIA.Product">
                  <p:link updateAutomatic="1"/>
                </p:oleObj>
              </mc:Choice>
              <mc:Fallback>
                <p:oleObj name="프로덕트" r:id="rId3" imgW="990000" imgH="2469600" progId="CATIA.Product">
                  <p:link updateAutomatic="1"/>
                  <p:pic>
                    <p:nvPicPr>
                      <p:cNvPr id="17" name="개체 16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5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007574" y="2731365"/>
                        <a:ext cx="1276394" cy="3184849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73" name="개체 72"/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969171455"/>
              </p:ext>
            </p:extLst>
          </p:nvPr>
        </p:nvGraphicFramePr>
        <p:xfrm>
          <a:off x="382887" y="2544018"/>
          <a:ext cx="2164891" cy="3372196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478" name="프로덕트" r:id="rId3" imgW="1663200" imgH="2592000" progId="CATIA.Product">
                  <p:link updateAutomatic="1"/>
                </p:oleObj>
              </mc:Choice>
              <mc:Fallback>
                <p:oleObj name="프로덕트" r:id="rId3" imgW="1663200" imgH="2592000" progId="CATIA.Product">
                  <p:link updateAutomatic="1"/>
                  <p:pic>
                    <p:nvPicPr>
                      <p:cNvPr id="4" name="개체 3"/>
                      <p:cNvPicPr>
                        <a:picLocks noChangeAspect="1" noChangeArrowheads="1"/>
                      </p:cNvPicPr>
                      <p:nvPr/>
                    </p:nvPicPr>
                    <p:blipFill>
                      <a:blip r:embed="rId6">
                        <a:extLst>
                          <a:ext uri="{28A0092B-C50C-407E-A947-70E740481C1C}">
                            <a14:useLocalDpi xmlns:a14="http://schemas.microsoft.com/office/drawing/2010/main" val="0"/>
                          </a:ext>
                        </a:extLst>
                      </a:blip>
                      <a:srcRect/>
                      <a:stretch>
                        <a:fillRect/>
                      </a:stretch>
                    </p:blipFill>
                    <p:spPr bwMode="auto">
                      <a:xfrm>
                        <a:off x="382887" y="2544018"/>
                        <a:ext cx="2164891" cy="3372196"/>
                      </a:xfrm>
                      <a:prstGeom prst="rect">
                        <a:avLst/>
                      </a:prstGeom>
                      <a:noFill/>
                      <a:extLst>
                        <a:ext uri="{909E8E84-426E-40DD-AFC4-6F175D3DCCD1}">
                          <a14:hiddenFill xmlns:a14="http://schemas.microsoft.com/office/drawing/2010/main">
                            <a:solidFill>
                              <a:srgbClr val="FFFFFF"/>
                            </a:solidFill>
                          </a14:hiddenFill>
                        </a:ext>
                      </a:extLst>
                    </p:spPr>
                  </p:pic>
                </p:oleObj>
              </mc:Fallback>
            </mc:AlternateContent>
          </a:graphicData>
        </a:graphic>
      </p:graphicFrame>
      <p:cxnSp>
        <p:nvCxnSpPr>
          <p:cNvPr id="75" name="직선 연결선 74"/>
          <p:cNvCxnSpPr/>
          <p:nvPr/>
        </p:nvCxnSpPr>
        <p:spPr bwMode="auto">
          <a:xfrm>
            <a:off x="2349170" y="999371"/>
            <a:ext cx="0" cy="900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6" name="직선 연결선 75"/>
          <p:cNvCxnSpPr/>
          <p:nvPr/>
        </p:nvCxnSpPr>
        <p:spPr bwMode="auto">
          <a:xfrm>
            <a:off x="360694" y="980728"/>
            <a:ext cx="0" cy="900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7" name="직선 연결선 76"/>
          <p:cNvCxnSpPr/>
          <p:nvPr/>
        </p:nvCxnSpPr>
        <p:spPr bwMode="auto">
          <a:xfrm flipH="1" flipV="1">
            <a:off x="370675" y="1105528"/>
            <a:ext cx="1968516" cy="667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78" name="직선 연결선 77"/>
          <p:cNvCxnSpPr/>
          <p:nvPr/>
        </p:nvCxnSpPr>
        <p:spPr bwMode="auto">
          <a:xfrm flipH="1">
            <a:off x="1374742" y="1340768"/>
            <a:ext cx="1656184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79" name="직선 연결선 78"/>
          <p:cNvCxnSpPr/>
          <p:nvPr/>
        </p:nvCxnSpPr>
        <p:spPr bwMode="auto">
          <a:xfrm flipH="1">
            <a:off x="1747233" y="2208455"/>
            <a:ext cx="1333972" cy="9726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0" name="직선 연결선 79"/>
          <p:cNvCxnSpPr/>
          <p:nvPr/>
        </p:nvCxnSpPr>
        <p:spPr bwMode="auto">
          <a:xfrm>
            <a:off x="2963588" y="1348697"/>
            <a:ext cx="0" cy="85975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81" name="TextBox 80"/>
          <p:cNvSpPr txBox="1"/>
          <p:nvPr/>
        </p:nvSpPr>
        <p:spPr>
          <a:xfrm rot="16200000">
            <a:off x="2649896" y="1667105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??</a:t>
            </a:r>
            <a:endParaRPr lang="ko-KR" altLang="en-US" sz="1000" dirty="0" smtClean="0">
              <a:latin typeface="+mn-ea"/>
            </a:endParaRPr>
          </a:p>
        </p:txBody>
      </p:sp>
      <p:sp>
        <p:nvSpPr>
          <p:cNvPr id="82" name="TextBox 81"/>
          <p:cNvSpPr txBox="1"/>
          <p:nvPr/>
        </p:nvSpPr>
        <p:spPr>
          <a:xfrm rot="16200000">
            <a:off x="2536588" y="2982977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??</a:t>
            </a:r>
            <a:endParaRPr lang="ko-KR" altLang="en-US" sz="1000" dirty="0" smtClean="0">
              <a:latin typeface="+mn-ea"/>
            </a:endParaRPr>
          </a:p>
        </p:txBody>
      </p:sp>
      <p:cxnSp>
        <p:nvCxnSpPr>
          <p:cNvPr id="83" name="직선 연결선 82"/>
          <p:cNvCxnSpPr/>
          <p:nvPr/>
        </p:nvCxnSpPr>
        <p:spPr bwMode="auto">
          <a:xfrm flipH="1">
            <a:off x="641413" y="3320802"/>
            <a:ext cx="2366137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4" name="직선 연결선 83"/>
          <p:cNvCxnSpPr/>
          <p:nvPr/>
        </p:nvCxnSpPr>
        <p:spPr bwMode="auto">
          <a:xfrm flipH="1">
            <a:off x="2442075" y="2876302"/>
            <a:ext cx="565475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5" name="직선 연결선 84"/>
          <p:cNvCxnSpPr/>
          <p:nvPr/>
        </p:nvCxnSpPr>
        <p:spPr bwMode="auto">
          <a:xfrm>
            <a:off x="2878165" y="2876302"/>
            <a:ext cx="0" cy="4445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cxnSp>
        <p:nvCxnSpPr>
          <p:cNvPr id="86" name="직선 연결선 85"/>
          <p:cNvCxnSpPr/>
          <p:nvPr/>
        </p:nvCxnSpPr>
        <p:spPr bwMode="auto">
          <a:xfrm flipH="1">
            <a:off x="702732" y="5733256"/>
            <a:ext cx="2124000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87" name="직선 연결선 86"/>
          <p:cNvCxnSpPr/>
          <p:nvPr/>
        </p:nvCxnSpPr>
        <p:spPr bwMode="auto">
          <a:xfrm flipH="1">
            <a:off x="2692645" y="3354054"/>
            <a:ext cx="11033" cy="2379202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88" name="TextBox 87"/>
          <p:cNvSpPr txBox="1"/>
          <p:nvPr/>
        </p:nvSpPr>
        <p:spPr>
          <a:xfrm rot="16200000">
            <a:off x="2402501" y="4471382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??</a:t>
            </a:r>
            <a:endParaRPr lang="ko-KR" altLang="en-US" sz="1000" dirty="0" smtClean="0">
              <a:latin typeface="+mn-ea"/>
            </a:endParaRPr>
          </a:p>
        </p:txBody>
      </p:sp>
      <p:cxnSp>
        <p:nvCxnSpPr>
          <p:cNvPr id="89" name="직선 연결선 88"/>
          <p:cNvCxnSpPr/>
          <p:nvPr/>
        </p:nvCxnSpPr>
        <p:spPr bwMode="auto">
          <a:xfrm flipH="1">
            <a:off x="2230093" y="5513988"/>
            <a:ext cx="3476" cy="74872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0" name="직선 연결선 89"/>
          <p:cNvCxnSpPr/>
          <p:nvPr/>
        </p:nvCxnSpPr>
        <p:spPr bwMode="auto">
          <a:xfrm flipH="1">
            <a:off x="625088" y="5513988"/>
            <a:ext cx="896" cy="748724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1" name="직선 연결선 90"/>
          <p:cNvCxnSpPr/>
          <p:nvPr/>
        </p:nvCxnSpPr>
        <p:spPr bwMode="auto">
          <a:xfrm flipH="1">
            <a:off x="645918" y="6193213"/>
            <a:ext cx="1556916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92" name="TextBox 91"/>
          <p:cNvSpPr txBox="1"/>
          <p:nvPr/>
        </p:nvSpPr>
        <p:spPr>
          <a:xfrm>
            <a:off x="1259632" y="5916214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??</a:t>
            </a:r>
            <a:endParaRPr lang="ko-KR" altLang="en-US" sz="1000" dirty="0" smtClean="0">
              <a:latin typeface="+mn-ea"/>
            </a:endParaRPr>
          </a:p>
        </p:txBody>
      </p:sp>
      <p:cxnSp>
        <p:nvCxnSpPr>
          <p:cNvPr id="93" name="직선 연결선 92"/>
          <p:cNvCxnSpPr/>
          <p:nvPr/>
        </p:nvCxnSpPr>
        <p:spPr bwMode="auto">
          <a:xfrm>
            <a:off x="3637218" y="4581127"/>
            <a:ext cx="0" cy="1800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4" name="직선 연결선 93"/>
          <p:cNvCxnSpPr/>
          <p:nvPr/>
        </p:nvCxnSpPr>
        <p:spPr bwMode="auto">
          <a:xfrm>
            <a:off x="3967161" y="4581127"/>
            <a:ext cx="0" cy="180000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cxnSp>
        <p:nvCxnSpPr>
          <p:cNvPr id="95" name="직선 연결선 94"/>
          <p:cNvCxnSpPr/>
          <p:nvPr/>
        </p:nvCxnSpPr>
        <p:spPr bwMode="auto">
          <a:xfrm flipH="1">
            <a:off x="3647247" y="6262712"/>
            <a:ext cx="319914" cy="998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arrow" w="med" len="med"/>
            <a:tailEnd type="arrow" w="med" len="med"/>
          </a:ln>
          <a:effectLst/>
        </p:spPr>
      </p:cxnSp>
      <p:sp>
        <p:nvSpPr>
          <p:cNvPr id="96" name="TextBox 95"/>
          <p:cNvSpPr txBox="1"/>
          <p:nvPr/>
        </p:nvSpPr>
        <p:spPr>
          <a:xfrm>
            <a:off x="3230837" y="5987871"/>
            <a:ext cx="290464" cy="2308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900" dirty="0" smtClean="0">
                <a:latin typeface="+mn-ea"/>
              </a:rPr>
              <a:t>??</a:t>
            </a:r>
            <a:endParaRPr lang="ko-KR" altLang="en-US" sz="900" dirty="0" smtClean="0">
              <a:latin typeface="+mn-ea"/>
            </a:endParaRPr>
          </a:p>
        </p:txBody>
      </p:sp>
      <p:cxnSp>
        <p:nvCxnSpPr>
          <p:cNvPr id="97" name="직선 연결선 96"/>
          <p:cNvCxnSpPr/>
          <p:nvPr/>
        </p:nvCxnSpPr>
        <p:spPr bwMode="auto">
          <a:xfrm flipH="1">
            <a:off x="3207734" y="6262712"/>
            <a:ext cx="500598" cy="0"/>
          </a:xfrm>
          <a:prstGeom prst="line">
            <a:avLst/>
          </a:prstGeom>
          <a:noFill/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</p:cxnSp>
      <p:sp>
        <p:nvSpPr>
          <p:cNvPr id="33" name="TextBox 32"/>
          <p:cNvSpPr txBox="1"/>
          <p:nvPr/>
        </p:nvSpPr>
        <p:spPr>
          <a:xfrm>
            <a:off x="1101690" y="895326"/>
            <a:ext cx="303288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000" dirty="0" smtClean="0">
                <a:latin typeface="+mn-ea"/>
              </a:rPr>
              <a:t>??</a:t>
            </a:r>
            <a:endParaRPr lang="ko-KR" altLang="en-US" sz="1000" dirty="0" smtClean="0">
              <a:latin typeface="+mn-ea"/>
            </a:endParaRPr>
          </a:p>
        </p:txBody>
      </p:sp>
      <p:sp>
        <p:nvSpPr>
          <p:cNvPr id="34" name="TextBox 33"/>
          <p:cNvSpPr txBox="1"/>
          <p:nvPr/>
        </p:nvSpPr>
        <p:spPr>
          <a:xfrm>
            <a:off x="2483768" y="3885716"/>
            <a:ext cx="381642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ko-KR" altLang="en-US" dirty="0" smtClean="0"/>
              <a:t>내용 추가 또는 수정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22074621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62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en-US" altLang="ko-KR" sz="2000" b="1" dirty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4Zone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시스템 구성도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33" name="Group 10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1580296"/>
              </p:ext>
            </p:extLst>
          </p:nvPr>
        </p:nvGraphicFramePr>
        <p:xfrm>
          <a:off x="173971" y="692696"/>
          <a:ext cx="8862525" cy="5875610"/>
        </p:xfrm>
        <a:graphic>
          <a:graphicData uri="http://schemas.openxmlformats.org/drawingml/2006/table">
            <a:tbl>
              <a:tblPr/>
              <a:tblGrid>
                <a:gridCol w="36000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1203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98123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94404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188201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720121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431531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시스템적 부품구조 및 작동방법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NO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작동 순서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작동원리 및 기능정의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ko-KR" altLang="en-US" sz="10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요구품질 정의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중요도</a:t>
                      </a: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6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상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중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</a:t>
                      </a:r>
                      <a:r>
                        <a:rPr kumimoji="1" lang="ko-KR" altLang="en-US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하</a:t>
                      </a:r>
                      <a:r>
                        <a:rPr kumimoji="1" lang="en-US" altLang="ko-KR" sz="10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58833">
                <a:tc rowSpan="7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1" i="0" u="none" strike="noStrike" cap="none" normalizeH="0" baseline="0" dirty="0">
                        <a:ln>
                          <a:noFill/>
                        </a:ln>
                        <a:solidFill>
                          <a:schemeClr val="accent2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CONTROLLER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운전자 온도 조절장치 작동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en-US" altLang="ko-KR" sz="1050" baseline="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58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ATCU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사용자 온도에 따른 신호 전달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ko-KR" altLang="en-US" sz="1050" dirty="0" err="1" smtClean="0">
                          <a:latin typeface="+mn-ea"/>
                          <a:ea typeface="+mn-ea"/>
                        </a:rPr>
                        <a:t>동작별</a:t>
                      </a:r>
                      <a:r>
                        <a:rPr lang="ko-KR" altLang="en-US" sz="1050" dirty="0" smtClean="0">
                          <a:latin typeface="+mn-ea"/>
                          <a:ea typeface="+mn-ea"/>
                        </a:rPr>
                        <a:t> 신호</a:t>
                      </a:r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58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HVAC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요구 </a:t>
                      </a:r>
                      <a:r>
                        <a:rPr kumimoji="1" lang="ko-KR" altLang="en-US" sz="105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풍량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및 풍향에 따른 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MODE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제어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MODE</a:t>
                      </a:r>
                      <a:r>
                        <a:rPr lang="en-US" altLang="ko-KR" sz="105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50" baseline="0" dirty="0" smtClean="0">
                          <a:latin typeface="+mn-ea"/>
                          <a:ea typeface="+mn-ea"/>
                        </a:rPr>
                        <a:t>별 작동</a:t>
                      </a:r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58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339966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EV AIR HEATER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ATCU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신호 입력 후 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PTC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작동</a:t>
                      </a:r>
                      <a:endParaRPr kumimoji="1" lang="en-US" altLang="ko-KR" sz="105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5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(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안전 기능 제어 개발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)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ko-KR" altLang="en-US" sz="1050" dirty="0" smtClean="0">
                          <a:latin typeface="+mn-ea"/>
                          <a:ea typeface="+mn-ea"/>
                        </a:rPr>
                        <a:t>실내 난방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58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339966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PWM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제어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입력 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DUTY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에 따른 성능 제어</a:t>
                      </a:r>
                      <a:endParaRPr kumimoji="1" lang="en-US" altLang="ko-KR" sz="105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및 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ATCU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신호 전달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en-US" altLang="ko-KR" sz="1050" dirty="0" smtClean="0">
                          <a:latin typeface="+mn-ea"/>
                          <a:ea typeface="+mn-ea"/>
                        </a:rPr>
                        <a:t>PID</a:t>
                      </a:r>
                      <a:r>
                        <a:rPr lang="en-US" altLang="ko-KR" sz="1050" baseline="0" dirty="0" smtClean="0"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1050" baseline="0" dirty="0" smtClean="0">
                          <a:latin typeface="+mn-ea"/>
                          <a:ea typeface="+mn-ea"/>
                        </a:rPr>
                        <a:t>제어</a:t>
                      </a: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상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9050" cap="flat" cmpd="sng" algn="ctr">
                      <a:solidFill>
                        <a:srgbClr val="0000FF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58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ATCU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ATCU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작동에 따른 </a:t>
                      </a: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DUTY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지령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r>
                        <a:rPr lang="ko-KR" altLang="en-US" sz="1050" dirty="0" err="1" smtClean="0">
                          <a:latin typeface="+mn-ea"/>
                          <a:ea typeface="+mn-ea"/>
                        </a:rPr>
                        <a:t>동작별</a:t>
                      </a:r>
                      <a:r>
                        <a:rPr lang="ko-KR" altLang="en-US" sz="1050" dirty="0" smtClean="0">
                          <a:latin typeface="+mn-ea"/>
                          <a:ea typeface="+mn-ea"/>
                        </a:rPr>
                        <a:t> 신호</a:t>
                      </a:r>
                      <a:endParaRPr lang="en-US" altLang="ko-KR" sz="105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중</a:t>
                      </a:r>
                      <a:endParaRPr kumimoji="1" lang="ko-KR" altLang="en-US" sz="105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4588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8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1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FF0000"/>
                          </a:solidFill>
                          <a:effectLst/>
                          <a:latin typeface="+mn-ea"/>
                          <a:ea typeface="+mn-ea"/>
                        </a:rPr>
                        <a:t>5</a:t>
                      </a:r>
                      <a:endParaRPr kumimoji="1" lang="en-US" altLang="ko-KR" sz="1100" b="0" i="0" u="none" strike="noStrike" cap="none" normalizeH="0" baseline="0" dirty="0">
                        <a:ln>
                          <a:noFill/>
                        </a:ln>
                        <a:solidFill>
                          <a:srgbClr val="FF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PWM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제어</a:t>
                      </a:r>
                      <a:endParaRPr kumimoji="1" lang="en-US" altLang="ko-KR" sz="1050" b="0" i="0" u="none" strike="noStrike" cap="none" normalizeH="0" baseline="0" dirty="0" smtClean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8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ATCU </a:t>
                      </a:r>
                      <a:r>
                        <a:rPr kumimoji="1" lang="ko-KR" altLang="en-US" sz="105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n-ea"/>
                          <a:ea typeface="+mn-ea"/>
                        </a:rPr>
                        <a:t>신호 전달</a:t>
                      </a:r>
                      <a:endParaRPr kumimoji="1" lang="en-US" altLang="ko-KR" sz="105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3600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rgbClr val="FFFFFF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ko-KR" altLang="en-US" sz="1050" dirty="0">
                        <a:latin typeface="+mn-ea"/>
                        <a:ea typeface="+mn-ea"/>
                      </a:endParaRPr>
                    </a:p>
                  </a:txBody>
                  <a:tcPr marL="0" marR="0" marT="0" marB="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algn="ctr">
                        <a:lnSpc>
                          <a:spcPct val="80000"/>
                        </a:lnSpc>
                      </a:pPr>
                      <a:endParaRPr lang="ko-KR" altLang="en-US" sz="1100" dirty="0">
                        <a:latin typeface="현대하모니 L" pitchFamily="18" charset="-127"/>
                        <a:ea typeface="현대하모니 L" pitchFamily="18" charset="-127"/>
                      </a:endParaRPr>
                    </a:p>
                  </a:txBody>
                  <a:tcPr marL="0" marR="0" marT="0" marB="0" anchor="ctr" horzOverflow="overflow">
                    <a:lnL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6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2232248">
                <a:tc gridSpan="6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3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[</a:t>
                      </a: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작동원리 및 </a:t>
                      </a:r>
                      <a:r>
                        <a:rPr kumimoji="1" lang="ko-KR" altLang="en-US" sz="14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부품특성</a:t>
                      </a:r>
                      <a:r>
                        <a:rPr kumimoji="1" lang="en-US" altLang="ko-KR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]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0" i="0" u="none" strike="noStrike" cap="none" normalizeH="0" baseline="0" dirty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  </a:t>
                      </a:r>
                      <a:r>
                        <a:rPr lang="ko-KR" altLang="en-US" sz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</a:t>
                      </a:r>
                      <a:r>
                        <a:rPr lang="en-US" altLang="ko-KR" sz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CONTROLLER ON </a:t>
                      </a:r>
                      <a:r>
                        <a:rPr lang="ko-KR" altLang="en-US" sz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→ </a:t>
                      </a:r>
                      <a:r>
                        <a:rPr lang="en-US" altLang="ko-KR" sz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ATCU</a:t>
                      </a:r>
                      <a:r>
                        <a:rPr lang="ko-KR" altLang="en-US" sz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신호 전달</a:t>
                      </a:r>
                      <a:r>
                        <a:rPr lang="ko-KR" altLang="en-US" sz="120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→ </a:t>
                      </a:r>
                      <a:r>
                        <a:rPr lang="en-US" altLang="ko-KR" sz="120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HVAC MODE </a:t>
                      </a:r>
                      <a:r>
                        <a:rPr lang="ko-KR" altLang="en-US" sz="1200" baseline="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제어 →</a:t>
                      </a:r>
                      <a:r>
                        <a:rPr lang="ko-KR" altLang="en-US" sz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 입력 신호에 따른 </a:t>
                      </a:r>
                      <a:r>
                        <a:rPr lang="en-US" altLang="ko-KR" sz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PTC HEATER </a:t>
                      </a:r>
                      <a:r>
                        <a:rPr lang="ko-KR" altLang="en-US" sz="1200" dirty="0" smtClean="0">
                          <a:solidFill>
                            <a:srgbClr val="000000"/>
                          </a:solidFill>
                          <a:latin typeface="+mn-ea"/>
                          <a:ea typeface="+mn-ea"/>
                        </a:rPr>
                        <a:t>작동 → 차량 실내 난방</a:t>
                      </a:r>
                      <a:endParaRPr lang="ko-KR" altLang="ko-KR" sz="1200" dirty="0" smtClean="0">
                        <a:solidFill>
                          <a:srgbClr val="000000"/>
                        </a:solidFill>
                        <a:latin typeface="+mn-ea"/>
                        <a:ea typeface="+mn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ko-KR" sz="12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0" marR="0" marT="0" marB="0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sp>
        <p:nvSpPr>
          <p:cNvPr id="34" name="Rectangle 2"/>
          <p:cNvSpPr>
            <a:spLocks noChangeArrowheads="1"/>
          </p:cNvSpPr>
          <p:nvPr/>
        </p:nvSpPr>
        <p:spPr bwMode="auto">
          <a:xfrm>
            <a:off x="169652" y="4888470"/>
            <a:ext cx="1420591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400" dirty="0">
                <a:solidFill>
                  <a:srgbClr val="000000"/>
                </a:solidFill>
                <a:latin typeface="+mn-ea"/>
                <a:ea typeface="+mn-ea"/>
              </a:rPr>
              <a:t>▣ 작동 흐름도</a:t>
            </a:r>
            <a:endParaRPr lang="en-US" altLang="ko-KR" sz="1400" dirty="0">
              <a:solidFill>
                <a:srgbClr val="808080"/>
              </a:solidFill>
              <a:latin typeface="+mn-ea"/>
              <a:ea typeface="+mn-ea"/>
            </a:endParaRPr>
          </a:p>
        </p:txBody>
      </p:sp>
      <p:sp>
        <p:nvSpPr>
          <p:cNvPr id="35" name="Rectangle 2"/>
          <p:cNvSpPr>
            <a:spLocks noChangeArrowheads="1"/>
          </p:cNvSpPr>
          <p:nvPr/>
        </p:nvSpPr>
        <p:spPr bwMode="auto">
          <a:xfrm>
            <a:off x="169207" y="1122910"/>
            <a:ext cx="3248025" cy="388937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ctr"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r>
              <a:rPr lang="ko-KR" altLang="en-US" sz="1400" dirty="0">
                <a:solidFill>
                  <a:srgbClr val="000000"/>
                </a:solidFill>
                <a:latin typeface="+mn-ea"/>
                <a:ea typeface="+mn-ea"/>
              </a:rPr>
              <a:t>▣ </a:t>
            </a:r>
            <a:r>
              <a:rPr lang="en-US" altLang="ko-KR" sz="1400" dirty="0" smtClean="0">
                <a:solidFill>
                  <a:srgbClr val="000000"/>
                </a:solidFill>
                <a:latin typeface="+mn-ea"/>
                <a:ea typeface="+mn-ea"/>
              </a:rPr>
              <a:t>EV AIR HEATER</a:t>
            </a:r>
            <a:r>
              <a:rPr lang="ko-KR" altLang="en-US" sz="1400" dirty="0" smtClean="0">
                <a:solidFill>
                  <a:srgbClr val="000000"/>
                </a:solidFill>
                <a:latin typeface="+mn-ea"/>
                <a:ea typeface="+mn-ea"/>
              </a:rPr>
              <a:t> </a:t>
            </a:r>
            <a:r>
              <a:rPr lang="ko-KR" altLang="en-US" sz="1400" dirty="0">
                <a:solidFill>
                  <a:srgbClr val="000000"/>
                </a:solidFill>
                <a:latin typeface="+mn-ea"/>
                <a:ea typeface="+mn-ea"/>
              </a:rPr>
              <a:t>시스템 기능 분석  </a:t>
            </a:r>
            <a:endParaRPr lang="en-US" altLang="ko-KR" sz="1400" dirty="0">
              <a:solidFill>
                <a:srgbClr val="808080"/>
              </a:solidFill>
              <a:latin typeface="+mn-ea"/>
              <a:ea typeface="+mn-ea"/>
            </a:endParaRPr>
          </a:p>
        </p:txBody>
      </p:sp>
      <p:cxnSp>
        <p:nvCxnSpPr>
          <p:cNvPr id="36" name="직선 화살표 연결선 35"/>
          <p:cNvCxnSpPr/>
          <p:nvPr/>
        </p:nvCxnSpPr>
        <p:spPr bwMode="auto">
          <a:xfrm>
            <a:off x="4637753" y="2835201"/>
            <a:ext cx="0" cy="18000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stealth"/>
          </a:ln>
          <a:effectLst/>
        </p:spPr>
      </p:cxnSp>
      <p:cxnSp>
        <p:nvCxnSpPr>
          <p:cNvPr id="37" name="직선 화살표 연결선 36"/>
          <p:cNvCxnSpPr/>
          <p:nvPr/>
        </p:nvCxnSpPr>
        <p:spPr bwMode="auto">
          <a:xfrm>
            <a:off x="4637753" y="3359796"/>
            <a:ext cx="0" cy="18000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stealth"/>
          </a:ln>
          <a:effectLst/>
        </p:spPr>
      </p:cxnSp>
      <p:cxnSp>
        <p:nvCxnSpPr>
          <p:cNvPr id="38" name="직선 화살표 연결선 37"/>
          <p:cNvCxnSpPr/>
          <p:nvPr/>
        </p:nvCxnSpPr>
        <p:spPr bwMode="auto">
          <a:xfrm>
            <a:off x="4637753" y="3756600"/>
            <a:ext cx="0" cy="18000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FF0000"/>
            </a:solidFill>
            <a:prstDash val="sysDot"/>
            <a:round/>
            <a:headEnd type="none" w="med" len="med"/>
            <a:tailEnd type="stealth"/>
          </a:ln>
          <a:effectLst/>
        </p:spPr>
      </p:cxnSp>
      <p:cxnSp>
        <p:nvCxnSpPr>
          <p:cNvPr id="39" name="직선 화살표 연결선 38"/>
          <p:cNvCxnSpPr/>
          <p:nvPr/>
        </p:nvCxnSpPr>
        <p:spPr bwMode="auto">
          <a:xfrm>
            <a:off x="4637753" y="1497262"/>
            <a:ext cx="0" cy="18000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00B050"/>
            </a:solidFill>
            <a:prstDash val="sysDot"/>
            <a:round/>
            <a:headEnd type="none" w="med" len="med"/>
            <a:tailEnd type="stealth"/>
          </a:ln>
          <a:effectLst/>
        </p:spPr>
      </p:cxnSp>
      <p:cxnSp>
        <p:nvCxnSpPr>
          <p:cNvPr id="40" name="직선 화살표 연결선 39"/>
          <p:cNvCxnSpPr/>
          <p:nvPr/>
        </p:nvCxnSpPr>
        <p:spPr bwMode="auto">
          <a:xfrm>
            <a:off x="4637753" y="1939573"/>
            <a:ext cx="0" cy="18000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00B050"/>
            </a:solidFill>
            <a:prstDash val="sysDot"/>
            <a:round/>
            <a:headEnd type="none" w="med" len="med"/>
            <a:tailEnd type="stealth"/>
          </a:ln>
          <a:effectLst/>
        </p:spPr>
      </p:cxnSp>
      <p:pic>
        <p:nvPicPr>
          <p:cNvPr id="42" name="그림 4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4393" y="1544194"/>
            <a:ext cx="1752846" cy="2571610"/>
          </a:xfrm>
          <a:prstGeom prst="rect">
            <a:avLst/>
          </a:prstGeom>
        </p:spPr>
      </p:pic>
      <p:sp>
        <p:nvSpPr>
          <p:cNvPr id="44" name="아래로 구부러진 화살표 43"/>
          <p:cNvSpPr/>
          <p:nvPr/>
        </p:nvSpPr>
        <p:spPr>
          <a:xfrm>
            <a:off x="3813354" y="3742739"/>
            <a:ext cx="252000" cy="108000"/>
          </a:xfrm>
          <a:prstGeom prst="curvedDown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45" name="위로 구부러진 화살표 44"/>
          <p:cNvSpPr/>
          <p:nvPr/>
        </p:nvSpPr>
        <p:spPr>
          <a:xfrm flipH="1">
            <a:off x="3804474" y="3892224"/>
            <a:ext cx="252000" cy="108000"/>
          </a:xfrm>
          <a:prstGeom prst="curvedUpArrow">
            <a:avLst/>
          </a:prstGeom>
          <a:solidFill>
            <a:srgbClr val="FF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>
              <a:solidFill>
                <a:schemeClr val="tx1"/>
              </a:solidFill>
              <a:latin typeface="+mn-ea"/>
            </a:endParaRPr>
          </a:p>
        </p:txBody>
      </p:sp>
      <p:sp>
        <p:nvSpPr>
          <p:cNvPr id="46" name="모서리가 둥근 직사각형 45"/>
          <p:cNvSpPr/>
          <p:nvPr/>
        </p:nvSpPr>
        <p:spPr bwMode="auto">
          <a:xfrm>
            <a:off x="292708" y="5649826"/>
            <a:ext cx="1316078" cy="517760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 smtClean="0">
                <a:solidFill>
                  <a:srgbClr val="000000"/>
                </a:solidFill>
                <a:latin typeface="+mn-ea"/>
              </a:rPr>
              <a:t>CONTROLLER ON</a:t>
            </a:r>
            <a:endParaRPr kumimoji="1" lang="ko-KR" altLang="en-US" sz="11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7" name="모서리가 둥근 직사각형 46"/>
          <p:cNvSpPr/>
          <p:nvPr/>
        </p:nvSpPr>
        <p:spPr bwMode="auto">
          <a:xfrm>
            <a:off x="2040302" y="5806170"/>
            <a:ext cx="1440000" cy="208216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200" dirty="0" smtClean="0">
                <a:solidFill>
                  <a:srgbClr val="000000"/>
                </a:solidFill>
                <a:latin typeface="+mn-ea"/>
              </a:rPr>
              <a:t>ATCU</a:t>
            </a:r>
            <a:endParaRPr kumimoji="1" lang="ko-KR" altLang="en-US" sz="1200" dirty="0">
              <a:solidFill>
                <a:srgbClr val="000000"/>
              </a:solidFill>
              <a:latin typeface="+mn-ea"/>
            </a:endParaRPr>
          </a:p>
        </p:txBody>
      </p:sp>
      <p:sp>
        <p:nvSpPr>
          <p:cNvPr id="48" name="모서리가 둥근 직사각형 47"/>
          <p:cNvSpPr/>
          <p:nvPr/>
        </p:nvSpPr>
        <p:spPr bwMode="auto">
          <a:xfrm>
            <a:off x="4320929" y="5544790"/>
            <a:ext cx="1440000" cy="208216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 smtClean="0">
                <a:solidFill>
                  <a:srgbClr val="000000"/>
                </a:solidFill>
                <a:latin typeface="+mn-ea"/>
              </a:rPr>
              <a:t>HVAC</a:t>
            </a:r>
            <a:endParaRPr kumimoji="1" lang="ko-KR" altLang="en-US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49" name="직선 화살표 연결선 48"/>
          <p:cNvCxnSpPr/>
          <p:nvPr/>
        </p:nvCxnSpPr>
        <p:spPr bwMode="auto">
          <a:xfrm>
            <a:off x="1604654" y="5902658"/>
            <a:ext cx="435648" cy="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0000FF"/>
            </a:solidFill>
            <a:prstDash val="sysDot"/>
            <a:round/>
            <a:headEnd type="none" w="med" len="med"/>
            <a:tailEnd type="stealth"/>
          </a:ln>
          <a:effectLst/>
        </p:spPr>
      </p:cxnSp>
      <p:cxnSp>
        <p:nvCxnSpPr>
          <p:cNvPr id="50" name="직선 화살표 연결선 49"/>
          <p:cNvCxnSpPr>
            <a:stCxn id="47" idx="3"/>
            <a:endCxn id="48" idx="1"/>
          </p:cNvCxnSpPr>
          <p:nvPr/>
        </p:nvCxnSpPr>
        <p:spPr bwMode="auto">
          <a:xfrm flipV="1">
            <a:off x="3480302" y="5648898"/>
            <a:ext cx="840627" cy="26138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0000FF"/>
            </a:solidFill>
            <a:prstDash val="sysDot"/>
            <a:round/>
            <a:headEnd type="stealth" w="med" len="med"/>
            <a:tailEnd type="stealth"/>
          </a:ln>
          <a:effectLst/>
        </p:spPr>
      </p:cxnSp>
      <p:sp>
        <p:nvSpPr>
          <p:cNvPr id="51" name="TextBox 50"/>
          <p:cNvSpPr txBox="1"/>
          <p:nvPr/>
        </p:nvSpPr>
        <p:spPr>
          <a:xfrm>
            <a:off x="315232" y="5488703"/>
            <a:ext cx="140029" cy="138499"/>
          </a:xfrm>
          <a:prstGeom prst="rect">
            <a:avLst/>
          </a:prstGeom>
          <a:solidFill>
            <a:srgbClr val="FFCCFF"/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none" lIns="36000" tIns="0" rIns="3600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ts val="600"/>
              </a:spcBef>
              <a:buClr>
                <a:srgbClr val="000000"/>
              </a:buClr>
              <a:defRPr/>
            </a:pPr>
            <a:r>
              <a:rPr lang="en-US" altLang="ko-KR" sz="900" b="1" dirty="0">
                <a:solidFill>
                  <a:srgbClr val="000000"/>
                </a:solidFill>
                <a:latin typeface="+mn-ea"/>
                <a:ea typeface="+mn-ea"/>
              </a:rPr>
              <a:t>1</a:t>
            </a:r>
            <a:endParaRPr lang="ko-KR" altLang="en-US" sz="900" b="1" dirty="0">
              <a:solidFill>
                <a:srgbClr val="000000"/>
              </a:solidFill>
              <a:latin typeface="+mn-ea"/>
              <a:ea typeface="+mn-ea"/>
            </a:endParaRPr>
          </a:p>
        </p:txBody>
      </p:sp>
      <p:sp>
        <p:nvSpPr>
          <p:cNvPr id="52" name="TextBox 51"/>
          <p:cNvSpPr txBox="1"/>
          <p:nvPr/>
        </p:nvSpPr>
        <p:spPr>
          <a:xfrm>
            <a:off x="2069501" y="5614507"/>
            <a:ext cx="140029" cy="138499"/>
          </a:xfrm>
          <a:prstGeom prst="rect">
            <a:avLst/>
          </a:prstGeom>
          <a:solidFill>
            <a:srgbClr val="FFCCFF"/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none" lIns="36000" tIns="0" rIns="3600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ts val="600"/>
              </a:spcBef>
              <a:buClr>
                <a:srgbClr val="000000"/>
              </a:buClr>
              <a:defRPr/>
            </a:pPr>
            <a:r>
              <a:rPr lang="en-US" altLang="ko-KR" sz="900" b="1" dirty="0">
                <a:solidFill>
                  <a:srgbClr val="00B050"/>
                </a:solidFill>
                <a:latin typeface="+mn-ea"/>
                <a:ea typeface="+mn-ea"/>
              </a:rPr>
              <a:t>2</a:t>
            </a:r>
            <a:endParaRPr lang="ko-KR" altLang="en-US" sz="900" b="1" dirty="0">
              <a:solidFill>
                <a:srgbClr val="00B050"/>
              </a:solidFill>
              <a:latin typeface="+mn-ea"/>
              <a:ea typeface="+mn-ea"/>
            </a:endParaRPr>
          </a:p>
        </p:txBody>
      </p:sp>
      <p:sp>
        <p:nvSpPr>
          <p:cNvPr id="53" name="TextBox 52"/>
          <p:cNvSpPr txBox="1"/>
          <p:nvPr/>
        </p:nvSpPr>
        <p:spPr>
          <a:xfrm>
            <a:off x="3712192" y="5823832"/>
            <a:ext cx="140029" cy="138499"/>
          </a:xfrm>
          <a:prstGeom prst="rect">
            <a:avLst/>
          </a:prstGeom>
          <a:solidFill>
            <a:srgbClr val="FFCCFF"/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none" lIns="36000" tIns="0" rIns="3600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ts val="600"/>
              </a:spcBef>
              <a:buClr>
                <a:srgbClr val="000000"/>
              </a:buClr>
              <a:defRPr/>
            </a:pPr>
            <a:r>
              <a:rPr lang="en-US" altLang="ko-KR" sz="900" b="1" dirty="0">
                <a:solidFill>
                  <a:srgbClr val="00B050"/>
                </a:solidFill>
                <a:latin typeface="+mn-ea"/>
                <a:ea typeface="+mn-ea"/>
              </a:rPr>
              <a:t>3</a:t>
            </a:r>
            <a:endParaRPr lang="ko-KR" altLang="en-US" sz="900" b="1" dirty="0">
              <a:solidFill>
                <a:srgbClr val="00B050"/>
              </a:solidFill>
              <a:latin typeface="+mn-ea"/>
              <a:ea typeface="+mn-ea"/>
            </a:endParaRPr>
          </a:p>
        </p:txBody>
      </p:sp>
      <p:sp>
        <p:nvSpPr>
          <p:cNvPr id="54" name="TextBox 53"/>
          <p:cNvSpPr txBox="1"/>
          <p:nvPr/>
        </p:nvSpPr>
        <p:spPr>
          <a:xfrm>
            <a:off x="4320929" y="5823832"/>
            <a:ext cx="140029" cy="138499"/>
          </a:xfrm>
          <a:prstGeom prst="rect">
            <a:avLst/>
          </a:prstGeom>
          <a:solidFill>
            <a:srgbClr val="FFCCFF"/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none" lIns="36000" tIns="0" rIns="3600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ts val="600"/>
              </a:spcBef>
              <a:buClr>
                <a:srgbClr val="000000"/>
              </a:buClr>
              <a:defRPr/>
            </a:pPr>
            <a:r>
              <a:rPr lang="en-US" altLang="ko-KR" sz="900" b="1" dirty="0">
                <a:solidFill>
                  <a:srgbClr val="00B050"/>
                </a:solidFill>
                <a:latin typeface="+mn-ea"/>
                <a:ea typeface="+mn-ea"/>
              </a:rPr>
              <a:t>4</a:t>
            </a:r>
            <a:endParaRPr lang="ko-KR" altLang="en-US" sz="900" b="1" dirty="0">
              <a:solidFill>
                <a:srgbClr val="00B050"/>
              </a:solidFill>
              <a:latin typeface="+mn-ea"/>
              <a:ea typeface="+mn-ea"/>
            </a:endParaRPr>
          </a:p>
        </p:txBody>
      </p:sp>
      <p:sp>
        <p:nvSpPr>
          <p:cNvPr id="56" name="모서리가 둥근 직사각형 55"/>
          <p:cNvSpPr/>
          <p:nvPr/>
        </p:nvSpPr>
        <p:spPr bwMode="auto">
          <a:xfrm>
            <a:off x="7432447" y="5798287"/>
            <a:ext cx="1476164" cy="208216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 smtClean="0">
                <a:solidFill>
                  <a:srgbClr val="000000"/>
                </a:solidFill>
                <a:latin typeface="+mn-ea"/>
              </a:rPr>
              <a:t>PWM </a:t>
            </a:r>
            <a:r>
              <a:rPr kumimoji="1" lang="ko-KR" altLang="en-US" sz="1100" dirty="0" smtClean="0">
                <a:solidFill>
                  <a:srgbClr val="000000"/>
                </a:solidFill>
                <a:latin typeface="+mn-ea"/>
              </a:rPr>
              <a:t>제어</a:t>
            </a:r>
            <a:endParaRPr kumimoji="1" lang="ko-KR" altLang="en-US" sz="1100" dirty="0">
              <a:solidFill>
                <a:srgbClr val="000000"/>
              </a:solidFill>
              <a:latin typeface="+mn-ea"/>
            </a:endParaRPr>
          </a:p>
        </p:txBody>
      </p:sp>
      <p:cxnSp>
        <p:nvCxnSpPr>
          <p:cNvPr id="57" name="직선 화살표 연결선 56"/>
          <p:cNvCxnSpPr/>
          <p:nvPr/>
        </p:nvCxnSpPr>
        <p:spPr bwMode="auto">
          <a:xfrm flipV="1">
            <a:off x="5818909" y="5976851"/>
            <a:ext cx="1612669" cy="272227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0000FF"/>
            </a:solidFill>
            <a:prstDash val="sysDot"/>
            <a:round/>
            <a:headEnd type="stealth" w="med" len="med"/>
            <a:tailEnd type="stealth"/>
          </a:ln>
          <a:effectLst/>
        </p:spPr>
      </p:cxnSp>
      <p:sp>
        <p:nvSpPr>
          <p:cNvPr id="58" name="TextBox 57"/>
          <p:cNvSpPr txBox="1"/>
          <p:nvPr/>
        </p:nvSpPr>
        <p:spPr>
          <a:xfrm>
            <a:off x="7441289" y="5630559"/>
            <a:ext cx="140029" cy="138499"/>
          </a:xfrm>
          <a:prstGeom prst="rect">
            <a:avLst/>
          </a:prstGeom>
          <a:solidFill>
            <a:srgbClr val="FFCCFF"/>
          </a:solidFill>
          <a:ln>
            <a:solidFill>
              <a:schemeClr val="tx2">
                <a:lumMod val="75000"/>
              </a:schemeClr>
            </a:solidFill>
          </a:ln>
        </p:spPr>
        <p:txBody>
          <a:bodyPr wrap="none" lIns="36000" tIns="0" rIns="36000" bIns="0">
            <a:spAutoFit/>
          </a:bodyPr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>
              <a:spcBef>
                <a:spcPts val="600"/>
              </a:spcBef>
              <a:buClr>
                <a:srgbClr val="000000"/>
              </a:buClr>
              <a:defRPr/>
            </a:pPr>
            <a:r>
              <a:rPr lang="en-US" altLang="ko-KR" sz="900" b="1" dirty="0">
                <a:solidFill>
                  <a:srgbClr val="00B050"/>
                </a:solidFill>
                <a:latin typeface="+mn-ea"/>
                <a:ea typeface="+mn-ea"/>
              </a:rPr>
              <a:t>5</a:t>
            </a:r>
            <a:endParaRPr lang="ko-KR" altLang="en-US" sz="900" b="1" dirty="0">
              <a:solidFill>
                <a:srgbClr val="00B050"/>
              </a:solidFill>
              <a:latin typeface="+mn-ea"/>
              <a:ea typeface="+mn-ea"/>
            </a:endParaRPr>
          </a:p>
        </p:txBody>
      </p:sp>
      <p:cxnSp>
        <p:nvCxnSpPr>
          <p:cNvPr id="59" name="꺾인 연결선 58"/>
          <p:cNvCxnSpPr>
            <a:stCxn id="47" idx="2"/>
            <a:endCxn id="56" idx="2"/>
          </p:cNvCxnSpPr>
          <p:nvPr/>
        </p:nvCxnSpPr>
        <p:spPr>
          <a:xfrm rot="5400000" flipH="1" flipV="1">
            <a:off x="5461473" y="3305331"/>
            <a:ext cx="7883" cy="5410227"/>
          </a:xfrm>
          <a:prstGeom prst="bentConnector3">
            <a:avLst>
              <a:gd name="adj1" fmla="val -6103247"/>
            </a:avLst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FF0000"/>
            </a:solidFill>
            <a:prstDash val="sysDot"/>
            <a:round/>
            <a:headEnd type="stealth" w="med" len="med"/>
            <a:tailEnd type="oval"/>
          </a:ln>
          <a:effectLst/>
        </p:spPr>
      </p:cxnSp>
      <p:cxnSp>
        <p:nvCxnSpPr>
          <p:cNvPr id="60" name="꺾인 연결선 59"/>
          <p:cNvCxnSpPr>
            <a:stCxn id="47" idx="0"/>
            <a:endCxn id="56" idx="0"/>
          </p:cNvCxnSpPr>
          <p:nvPr/>
        </p:nvCxnSpPr>
        <p:spPr>
          <a:xfrm rot="5400000" flipH="1" flipV="1">
            <a:off x="5461474" y="3097116"/>
            <a:ext cx="7883" cy="5410227"/>
          </a:xfrm>
          <a:prstGeom prst="bentConnector3">
            <a:avLst>
              <a:gd name="adj1" fmla="val 4969669"/>
            </a:avLst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00B050"/>
            </a:solidFill>
            <a:prstDash val="sysDot"/>
            <a:round/>
            <a:headEnd type="oval" w="med" len="med"/>
            <a:tailEnd type="stealth"/>
          </a:ln>
          <a:effectLst/>
        </p:spPr>
      </p:cxnSp>
      <p:sp>
        <p:nvSpPr>
          <p:cNvPr id="61" name="모서리가 둥근 직사각형 60"/>
          <p:cNvSpPr/>
          <p:nvPr/>
        </p:nvSpPr>
        <p:spPr bwMode="auto">
          <a:xfrm>
            <a:off x="4320929" y="6131946"/>
            <a:ext cx="1476164" cy="234264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chemeClr val="tx1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 smtClean="0">
                <a:solidFill>
                  <a:srgbClr val="FF3300"/>
                </a:solidFill>
                <a:latin typeface="+mn-ea"/>
              </a:rPr>
              <a:t>EV AIR HEATER</a:t>
            </a:r>
          </a:p>
        </p:txBody>
      </p:sp>
      <p:cxnSp>
        <p:nvCxnSpPr>
          <p:cNvPr id="63" name="직선 화살표 연결선 62"/>
          <p:cNvCxnSpPr>
            <a:stCxn id="47" idx="3"/>
            <a:endCxn id="61" idx="1"/>
          </p:cNvCxnSpPr>
          <p:nvPr/>
        </p:nvCxnSpPr>
        <p:spPr bwMode="auto">
          <a:xfrm>
            <a:off x="3480302" y="5910278"/>
            <a:ext cx="840627" cy="338800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0000FF"/>
            </a:solidFill>
            <a:prstDash val="sysDot"/>
            <a:round/>
            <a:headEnd type="stealth" w="med" len="med"/>
            <a:tailEnd type="stealth"/>
          </a:ln>
          <a:effectLst/>
        </p:spPr>
      </p:cxnSp>
      <p:sp>
        <p:nvSpPr>
          <p:cNvPr id="65" name="모서리가 둥근 직사각형 64"/>
          <p:cNvSpPr/>
          <p:nvPr/>
        </p:nvSpPr>
        <p:spPr bwMode="auto">
          <a:xfrm>
            <a:off x="5877967" y="5673597"/>
            <a:ext cx="1476164" cy="208216"/>
          </a:xfrm>
          <a:prstGeom prst="roundRect">
            <a:avLst/>
          </a:prstGeom>
          <a:solidFill>
            <a:schemeClr val="bg1"/>
          </a:solidFill>
          <a:ln w="9525" cap="flat" cmpd="sng" algn="ctr">
            <a:solidFill>
              <a:srgbClr val="0000FF"/>
            </a:solidFill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36000" tIns="36000" rIns="36000" bIns="36000" numCol="1" rtlCol="0" anchor="ctr" anchorCtr="0" compatLnSpc="1">
            <a:prstTxWarp prst="textNoShape">
              <a:avLst/>
            </a:prstTxWarp>
            <a:noAutofit/>
          </a:bodyPr>
          <a:lstStyle/>
          <a:p>
            <a:pPr algn="ctr" fontAlgn="base" latinLnBrk="0">
              <a:spcBef>
                <a:spcPct val="0"/>
              </a:spcBef>
              <a:spcAft>
                <a:spcPct val="0"/>
              </a:spcAft>
            </a:pPr>
            <a:r>
              <a:rPr kumimoji="1" lang="en-US" altLang="ko-KR" sz="1100" dirty="0" smtClean="0">
                <a:solidFill>
                  <a:srgbClr val="FF0000"/>
                </a:solidFill>
                <a:latin typeface="+mn-ea"/>
              </a:rPr>
              <a:t>PTC </a:t>
            </a:r>
            <a:r>
              <a:rPr kumimoji="1" lang="ko-KR" altLang="en-US" sz="1100" dirty="0" smtClean="0">
                <a:solidFill>
                  <a:srgbClr val="FF0000"/>
                </a:solidFill>
                <a:latin typeface="+mn-ea"/>
              </a:rPr>
              <a:t>제어</a:t>
            </a:r>
            <a:endParaRPr kumimoji="1" lang="ko-KR" altLang="en-US" sz="1100" dirty="0">
              <a:solidFill>
                <a:srgbClr val="FF0000"/>
              </a:solidFill>
              <a:latin typeface="+mn-ea"/>
            </a:endParaRPr>
          </a:p>
        </p:txBody>
      </p:sp>
      <p:cxnSp>
        <p:nvCxnSpPr>
          <p:cNvPr id="68" name="직선 화살표 연결선 67"/>
          <p:cNvCxnSpPr/>
          <p:nvPr/>
        </p:nvCxnSpPr>
        <p:spPr bwMode="auto">
          <a:xfrm flipV="1">
            <a:off x="5818909" y="5877099"/>
            <a:ext cx="764771" cy="290487"/>
          </a:xfrm>
          <a:prstGeom prst="straightConnector1">
            <a:avLst/>
          </a:prstGeom>
          <a:gradFill rotWithShape="0">
            <a:gsLst>
              <a:gs pos="0">
                <a:schemeClr val="accent1"/>
              </a:gs>
              <a:gs pos="50000">
                <a:schemeClr val="bg1"/>
              </a:gs>
              <a:gs pos="100000">
                <a:schemeClr val="accent1"/>
              </a:gs>
            </a:gsLst>
            <a:lin ang="0" scaled="1"/>
          </a:gradFill>
          <a:ln w="28575" cap="flat" cmpd="sng" algn="ctr">
            <a:solidFill>
              <a:srgbClr val="0000FF"/>
            </a:solidFill>
            <a:prstDash val="sysDot"/>
            <a:round/>
            <a:headEnd type="stealth" w="med" len="med"/>
            <a:tailEnd type="stealth"/>
          </a:ln>
          <a:effectLst/>
        </p:spPr>
      </p:cxnSp>
      <p:sp>
        <p:nvSpPr>
          <p:cNvPr id="11" name="직사각형 10"/>
          <p:cNvSpPr/>
          <p:nvPr/>
        </p:nvSpPr>
        <p:spPr>
          <a:xfrm>
            <a:off x="4275842" y="5472514"/>
            <a:ext cx="3105860" cy="980822"/>
          </a:xfrm>
          <a:prstGeom prst="rect">
            <a:avLst/>
          </a:prstGeom>
          <a:noFill/>
          <a:ln w="12700">
            <a:solidFill>
              <a:srgbClr val="0000FF"/>
            </a:solidFill>
          </a:ln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061411202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en-US" altLang="ko-KR" sz="2000" b="1" dirty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4Zone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요구 </a:t>
            </a:r>
            <a:r>
              <a:rPr lang="en-US" altLang="ko-KR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SPEC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8" name="Group 120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666793647"/>
              </p:ext>
            </p:extLst>
          </p:nvPr>
        </p:nvGraphicFramePr>
        <p:xfrm>
          <a:off x="110068" y="811969"/>
          <a:ext cx="4932731" cy="5916307"/>
        </p:xfrm>
        <a:graphic>
          <a:graphicData uri="http://schemas.openxmlformats.org/drawingml/2006/table">
            <a:tbl>
              <a:tblPr/>
              <a:tblGrid>
                <a:gridCol w="1800647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56084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76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37247"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ko-KR" altLang="en-US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요구품질 </a:t>
                      </a:r>
                      <a:r>
                        <a:rPr kumimoji="1" lang="en-US" altLang="ko-KR" sz="1400" b="1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– </a:t>
                      </a:r>
                      <a:r>
                        <a:rPr kumimoji="1" lang="ko-KR" altLang="en-US" sz="1400" b="1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컴플리트</a:t>
                      </a:r>
                      <a:endParaRPr kumimoji="1" lang="en-US" altLang="ko-KR" sz="1400" b="1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54001" marR="54001" marT="36004" marB="36004" anchor="ctr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1" lang="en-US" altLang="ko-KR" sz="14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6</a:t>
                      </a:r>
                      <a:r>
                        <a:rPr kumimoji="1" lang="ko-KR" altLang="en-US" sz="1400" b="0" i="0" u="none" strike="noStrike" kern="1200" cap="none" normalizeH="0" baseline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  <a:cs typeface="+mn-cs"/>
                        </a:rPr>
                        <a:t>항목</a:t>
                      </a:r>
                      <a:endParaRPr kumimoji="1" lang="en-US" altLang="ko-KR" sz="14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  <a:cs typeface="+mn-cs"/>
                      </a:endParaRPr>
                    </a:p>
                  </a:txBody>
                  <a:tcPr marL="54001" marR="54001" marT="36004" marB="36004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noFill/>
                  </a:tcPr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4001" marR="54001" marT="36004" marB="36004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90986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charset="0"/>
                        <a:buNone/>
                        <a:tabLst/>
                      </a:pPr>
                      <a:endParaRPr kumimoji="0" lang="en-US" altLang="ko-KR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endParaRPr kumimoji="1" lang="ko-KR" altLang="en-US" sz="800" b="0" i="1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4001" marR="54001" marT="36004" marB="36004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569195">
                <a:tc gridSpan="3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■ 사용환경</a:t>
                      </a:r>
                      <a:endParaRPr kumimoji="1" lang="en-US" altLang="ko-KR" sz="900" b="0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-40℃ </a:t>
                      </a: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~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85℃</a:t>
                      </a:r>
                      <a:r>
                        <a:rPr kumimoji="1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사용 조건에서 정상 작동할 것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2.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고온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,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다습 환경에서 정상 작동 할 것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ko-KR" altLang="en-US" sz="9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■</a:t>
                      </a:r>
                      <a:r>
                        <a:rPr kumimoji="1" lang="en-US" altLang="ko-KR" sz="900" b="1" i="0" u="sng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1" lang="ko-KR" altLang="en-US" sz="900" b="1" i="0" u="sng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과거차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실패 사례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1.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타사 제품 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HVAC </a:t>
                      </a: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열변형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endParaRPr kumimoji="0" lang="en-US" altLang="ko-KR" sz="9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2.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당사 </a:t>
                      </a:r>
                      <a:r>
                        <a:rPr kumimoji="0" lang="en-US" altLang="ko-KR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Mva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PTC HEATER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소음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3.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불쾌한 냄새 방출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4.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IEB </a:t>
                      </a:r>
                      <a:r>
                        <a:rPr kumimoji="0" lang="ko-KR" altLang="en-US" sz="9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선행개발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문제점 개선 이력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ㄴ 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HVAC </a:t>
                      </a: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열변형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(R</a:t>
                      </a: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로직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및 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STONE TC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규제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  <a:defRPr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ㄴ 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PTC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소음 개선 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개별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FIN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적용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endParaRPr kumimoji="0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2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0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    </a:t>
                      </a:r>
                      <a:r>
                        <a:rPr kumimoji="0" lang="ko-KR" altLang="en-US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ㄴ 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냄새 개선 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kumimoji="0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페록사이드</a:t>
                      </a:r>
                      <a:r>
                        <a:rPr kumimoji="0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미 사용</a:t>
                      </a:r>
                      <a:r>
                        <a:rPr kumimoji="0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endParaRPr kumimoji="1" lang="en-US" altLang="ko-KR" sz="900" b="1" i="0" u="sng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■</a:t>
                      </a:r>
                      <a:r>
                        <a:rPr kumimoji="1" lang="en-US" altLang="ko-KR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</a:t>
                      </a:r>
                      <a:r>
                        <a:rPr kumimoji="1" lang="ko-KR" altLang="en-US" sz="900" b="1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경계품질 </a:t>
                      </a:r>
                      <a:r>
                        <a:rPr kumimoji="1" lang="en-US" altLang="ko-KR" sz="9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(</a:t>
                      </a:r>
                      <a:r>
                        <a:rPr kumimoji="1" lang="ko-KR" altLang="en-US" sz="9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상대부품에 요구되는 품질항목</a:t>
                      </a:r>
                      <a:r>
                        <a:rPr kumimoji="1" lang="en-US" altLang="ko-KR" sz="900" b="0" i="0" u="sng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1. 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HVAC </a:t>
                      </a:r>
                      <a:r>
                        <a:rPr kumimoji="1" lang="ko-KR" altLang="en-US" sz="9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열변형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없을 것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. (STONE TC 160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℃ 이하 사용</a:t>
                      </a: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Wingdings" pitchFamily="2" charset="2"/>
                        <a:buNone/>
                        <a:tabLst/>
                      </a:pPr>
                      <a:r>
                        <a:rPr kumimoji="1" lang="en-US" altLang="ko-KR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 2. HVAC MOUNTING </a:t>
                      </a:r>
                      <a:r>
                        <a:rPr kumimoji="1" lang="ko-KR" altLang="en-US" sz="9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현대하모니 L" panose="02020603020101020101" pitchFamily="18" charset="-127"/>
                          <a:ea typeface="현대하모니 L" panose="02020603020101020101" pitchFamily="18" charset="-127"/>
                        </a:rPr>
                        <a:t>부 강성 보강</a:t>
                      </a:r>
                      <a:endParaRPr kumimoji="1" lang="en-US" altLang="ko-KR" sz="9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54001" marR="54001" marT="36004" marB="36004" horzOverflow="overflow">
                    <a:lnL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>
                      <a:noFill/>
                    </a:lnTlToBr>
                    <a:lnBlToTr>
                      <a:noFill/>
                    </a:lnBlToTr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</a:tbl>
          </a:graphicData>
        </a:graphic>
      </p:graphicFrame>
      <p:sp>
        <p:nvSpPr>
          <p:cNvPr id="9" name="Rectangle 2"/>
          <p:cNvSpPr>
            <a:spLocks noChangeArrowheads="1"/>
          </p:cNvSpPr>
          <p:nvPr/>
        </p:nvSpPr>
        <p:spPr bwMode="auto">
          <a:xfrm>
            <a:off x="152931" y="1510788"/>
            <a:ext cx="3679826" cy="2308324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anchor="t">
            <a:spAutoFit/>
          </a:bodyPr>
          <a:lstStyle>
            <a:lvl1pPr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 eaLnBrk="0" hangingPunct="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pPr eaLnBrk="1" hangingPunct="1">
              <a:defRPr/>
            </a:pP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1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.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성능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 </a:t>
            </a:r>
            <a:r>
              <a:rPr lang="ko-KR" altLang="en-US" sz="900" dirty="0" err="1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8.0kW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급 </a:t>
            </a:r>
            <a:r>
              <a:rPr lang="ko-KR" altLang="en-US" sz="900" dirty="0" err="1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난방성능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확보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 </a:t>
            </a:r>
            <a:r>
              <a:rPr lang="ko-KR" altLang="en-US" sz="900" dirty="0" err="1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보호로직을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적용한 온도 안전성 확보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AL TUBE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를 적용한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내구 성능 확보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LASER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용접을 적용한 </a:t>
            </a:r>
            <a:r>
              <a:rPr lang="ko-KR" altLang="en-US" sz="900" dirty="0" err="1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리크성능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확보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2.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강도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충격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진동 등 기계적 악의 환경에서의 성능 확보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3.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환경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 </a:t>
            </a:r>
            <a:r>
              <a:rPr lang="ko-KR" altLang="en-US" sz="900" dirty="0" err="1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열변화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간 성능 확보 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(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저온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고온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, </a:t>
            </a:r>
            <a:r>
              <a:rPr lang="ko-KR" altLang="en-US" sz="900" dirty="0" err="1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열충격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)</a:t>
            </a: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 </a:t>
            </a:r>
            <a:r>
              <a:rPr lang="ko-KR" altLang="en-US" sz="900" dirty="0" err="1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수밀성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확보 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(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습도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,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방수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침수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)</a:t>
            </a: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4.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내구 품질 확보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5.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작동 소음 품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질 확보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(</a:t>
            </a:r>
            <a:r>
              <a:rPr lang="en-US" altLang="ko-KR" sz="900" dirty="0" err="1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Mva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r>
              <a:rPr lang="ko-KR" altLang="en-US" sz="900" dirty="0" err="1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분할핀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적용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)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6.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차량 장착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, 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조립 인터페이스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MG’T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3POINT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적용으로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HVAC </a:t>
            </a:r>
            <a:r>
              <a:rPr lang="ko-KR" altLang="en-US" sz="900" dirty="0" err="1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결합성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확보</a:t>
            </a:r>
            <a:endParaRPr lang="en-US" altLang="ko-KR" sz="900" dirty="0" smtClean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</a:t>
            </a:r>
            <a:r>
              <a:rPr lang="ko-KR" altLang="en-US" sz="900" dirty="0" err="1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ㄴ커넥터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r>
              <a:rPr lang="ko-KR" altLang="en-US" sz="900" dirty="0" err="1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매칭성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(</a:t>
            </a:r>
            <a:r>
              <a:rPr lang="ko-KR" altLang="en-US" sz="900" dirty="0" err="1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조립성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, </a:t>
            </a:r>
            <a:r>
              <a:rPr lang="ko-KR" altLang="en-US" sz="900" dirty="0" err="1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작업성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)</a:t>
            </a:r>
            <a:r>
              <a:rPr lang="ko-KR" altLang="en-US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확보</a:t>
            </a:r>
            <a:r>
              <a:rPr lang="en-US" altLang="ko-KR" sz="900" dirty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</a:t>
            </a:r>
            <a:endParaRPr lang="en-US" altLang="ko-KR" sz="900" dirty="0" smtClean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  <a:p>
            <a:pPr eaLnBrk="1" hangingPunct="1">
              <a:defRPr/>
            </a:pP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  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ㄴ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CAN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통신에 따른 </a:t>
            </a:r>
            <a:r>
              <a:rPr lang="en-US" altLang="ko-KR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ATCU 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신호 </a:t>
            </a:r>
            <a:r>
              <a:rPr lang="ko-KR" altLang="en-US" sz="900" dirty="0" err="1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매칭성</a:t>
            </a:r>
            <a:r>
              <a:rPr lang="ko-KR" altLang="en-US" sz="900" dirty="0" smtClean="0">
                <a:solidFill>
                  <a:srgbClr val="000000"/>
                </a:solidFill>
                <a:latin typeface="+mn-lt"/>
                <a:ea typeface="현대하모니 L" pitchFamily="18" charset="-127"/>
              </a:rPr>
              <a:t> 확보</a:t>
            </a:r>
            <a:endParaRPr lang="en-US" altLang="ko-KR" sz="900" dirty="0">
              <a:solidFill>
                <a:srgbClr val="000000"/>
              </a:solidFill>
              <a:latin typeface="+mn-lt"/>
              <a:ea typeface="현대하모니 L" pitchFamily="18" charset="-127"/>
            </a:endParaRPr>
          </a:p>
        </p:txBody>
      </p:sp>
      <p:sp>
        <p:nvSpPr>
          <p:cNvPr id="10" name="그림 2"/>
          <p:cNvSpPr>
            <a:spLocks noChangeAspect="1"/>
          </p:cNvSpPr>
          <p:nvPr/>
        </p:nvSpPr>
        <p:spPr bwMode="auto">
          <a:xfrm>
            <a:off x="3710519" y="4672466"/>
            <a:ext cx="1752600" cy="1597025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/>
          <a:lstStyle>
            <a:lvl1pPr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1pPr>
            <a:lvl2pPr marL="742950" indent="-28575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2pPr>
            <a:lvl3pPr marL="11430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3pPr>
            <a:lvl4pPr marL="16002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4pPr>
            <a:lvl5pPr marL="2057400" indent="-228600"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5pPr>
            <a:lvl6pPr marL="25146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6pPr>
            <a:lvl7pPr marL="29718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7pPr>
            <a:lvl8pPr marL="34290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8pPr>
            <a:lvl9pPr marL="3886200" indent="-228600" eaLnBrk="0" fontAlgn="base" hangingPunct="0">
              <a:spcBef>
                <a:spcPct val="0"/>
              </a:spcBef>
              <a:spcAft>
                <a:spcPct val="0"/>
              </a:spcAft>
              <a:defRPr kumimoji="1">
                <a:solidFill>
                  <a:schemeClr val="tx1"/>
                </a:solidFill>
                <a:latin typeface="굴림" pitchFamily="50" charset="-127"/>
                <a:ea typeface="굴림" pitchFamily="50" charset="-127"/>
              </a:defRPr>
            </a:lvl9pPr>
          </a:lstStyle>
          <a:p>
            <a:endParaRPr lang="ko-KR" altLang="en-US">
              <a:solidFill>
                <a:srgbClr val="000000"/>
              </a:solidFill>
              <a:latin typeface="+mn-lt"/>
            </a:endParaRPr>
          </a:p>
        </p:txBody>
      </p:sp>
      <p:pic>
        <p:nvPicPr>
          <p:cNvPr id="11" name="그림 10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24354" y="918489"/>
            <a:ext cx="1735678" cy="2510511"/>
          </a:xfrm>
          <a:prstGeom prst="rect">
            <a:avLst/>
          </a:prstGeom>
        </p:spPr>
      </p:pic>
      <p:graphicFrame>
        <p:nvGraphicFramePr>
          <p:cNvPr id="12" name="표 1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22748462"/>
              </p:ext>
            </p:extLst>
          </p:nvPr>
        </p:nvGraphicFramePr>
        <p:xfrm>
          <a:off x="5076056" y="811969"/>
          <a:ext cx="3960812" cy="5902113"/>
        </p:xfrm>
        <a:graphic>
          <a:graphicData uri="http://schemas.openxmlformats.org/drawingml/2006/table">
            <a:tbl>
              <a:tblPr firstRow="1" bandRow="1">
                <a:tableStyleId>{2D5ABB26-0587-4C30-8999-92F81FD0307C}</a:tableStyleId>
              </a:tblPr>
              <a:tblGrid>
                <a:gridCol w="368448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3516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864034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016224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360488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</a:tblGrid>
              <a:tr h="241725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기본</a:t>
                      </a:r>
                      <a:endParaRPr lang="en-US" altLang="ko-KR" sz="7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항목</a:t>
                      </a: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시험 규격</a:t>
                      </a: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주요 내용</a:t>
                      </a: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소요</a:t>
                      </a:r>
                      <a:endParaRPr lang="en-US" altLang="ko-KR" sz="700" b="1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  <a:p>
                      <a:pPr algn="ctr" latinLnBrk="1"/>
                      <a:r>
                        <a:rPr lang="ko-KR" altLang="en-US" sz="7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일정</a:t>
                      </a: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2607">
                <a:tc rowSpan="6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ES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rowSpan="4"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ES97110-03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(HV PTC ES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시험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※ 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기타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ES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ES91500-02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ES90000-01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ES90000-02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ES90000-03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ES90000-04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4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● 일반 기능시험</a:t>
                      </a:r>
                      <a:endParaRPr kumimoji="1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-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환경조건 및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정격전압에서 성능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5.5kW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만족 할 것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 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● 절연저항 시험</a:t>
                      </a:r>
                      <a:endParaRPr kumimoji="1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- </a:t>
                      </a:r>
                      <a:r>
                        <a:rPr kumimoji="1" lang="en-US" altLang="ko-KR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Vmax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인가 후 절연저항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10MΩ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이상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만족 할 것</a:t>
                      </a:r>
                      <a:endParaRPr kumimoji="1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  <a:r>
                        <a:rPr kumimoji="1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내전압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시험</a:t>
                      </a:r>
                      <a:endParaRPr kumimoji="1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- 4,300V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인가 후 </a:t>
                      </a:r>
                      <a:r>
                        <a:rPr kumimoji="1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허용전류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0.5mA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만족 할 것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● </a:t>
                      </a:r>
                      <a:r>
                        <a:rPr kumimoji="1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발열부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온도 분포</a:t>
                      </a:r>
                      <a:endParaRPr kumimoji="1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-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좌우 온도 편차 평균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2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℃ 이내 일 것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● 무풍 및 저온 </a:t>
                      </a:r>
                      <a:r>
                        <a:rPr kumimoji="1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작동시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온도측정 시험</a:t>
                      </a:r>
                      <a:endParaRPr kumimoji="1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- FIN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 ROD : 150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℃ 이하 </a:t>
                      </a:r>
                      <a:r>
                        <a:rPr kumimoji="1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일것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- </a:t>
                      </a:r>
                      <a:r>
                        <a:rPr kumimoji="1" lang="en-US" altLang="ko-KR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Tair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: 120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℃ 이하 </a:t>
                      </a:r>
                      <a:r>
                        <a:rPr kumimoji="1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일것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.</a:t>
                      </a:r>
                    </a:p>
                  </a:txBody>
                  <a:tcPr marL="18005" marR="18005" marT="19016" marB="19016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5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2278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MOUNTING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강도 시험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정하중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10kgf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가한 후 변형 파손 확인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●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진동 시험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주파수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: 2000CPM / 4.4G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시험 후 </a:t>
                      </a:r>
                      <a:endParaRPr kumimoji="0" lang="en-US" altLang="ko-KR" sz="700" b="0" i="0" u="none" strike="noStrike" cap="none" normalizeH="0" baseline="0" dirty="0" smtClean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             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성능 변화율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5%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이하 일 것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9511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저온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 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고온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 </a:t>
                      </a:r>
                      <a:r>
                        <a:rPr kumimoji="0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열충격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시험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/>
                      </a:r>
                      <a:b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</a:b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- -40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℃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x72hr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85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℃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x72hr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 -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40~80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℃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6cycle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   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등 환경 시험 후 성능 만족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습도 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방수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/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먼지 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시험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-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습도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방수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먼지 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등 시험 후 성능 만족</a:t>
                      </a:r>
                    </a:p>
                  </a:txBody>
                  <a:tcPr marL="18005" marR="18005" marT="19016" marB="19016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3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0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작동 내구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시험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상온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저온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상온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,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저온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45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 내구 후 성능 만족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45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7133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ES90700-00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6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ES95480-00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고속 </a:t>
                      </a: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Local CAN 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통신 </a:t>
                      </a: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단품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시험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45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</a:p>
                  </a:txBody>
                  <a:tcPr marL="18005" marR="18005" marT="19016" marB="19016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45082277"/>
                  </a:ext>
                </a:extLst>
              </a:tr>
              <a:tr h="347133"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kumimoji="0" lang="ko-KR" altLang="en-US" sz="10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18005" marR="18005" marT="18003" marB="18003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ES96200-10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(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전자파 면역 시험</a:t>
                      </a: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)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ES90000-04</a:t>
                      </a: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en-US" altLang="ko-KR" sz="6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(</a:t>
                      </a:r>
                      <a:r>
                        <a:rPr kumimoji="1" lang="ko-KR" altLang="en-US" sz="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무연 </a:t>
                      </a:r>
                      <a:r>
                        <a:rPr kumimoji="1" lang="ko-KR" altLang="en-US" sz="6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솔더링</a:t>
                      </a:r>
                      <a:r>
                        <a:rPr kumimoji="1" lang="ko-KR" altLang="en-US" sz="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환경 신뢰성 시험</a:t>
                      </a:r>
                      <a:r>
                        <a:rPr kumimoji="1" lang="en-US" altLang="ko-KR" sz="6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)</a:t>
                      </a:r>
                      <a:endParaRPr kumimoji="0" lang="en-US" altLang="ko-KR" sz="6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EMI/EMS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검증 시험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솔더링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전장품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열충격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내구</a:t>
                      </a: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/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고온 고습 내구 평가</a:t>
                      </a:r>
                      <a:endParaRPr kumimoji="1" lang="en-US" altLang="ko-KR" sz="700" b="0" i="0" u="none" strike="noStrike" kern="1200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  <a:cs typeface="+mn-cs"/>
                      </a:endParaRPr>
                    </a:p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2000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1" lang="en-US" altLang="ko-KR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- 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각 해당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시험별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요구 </a:t>
                      </a:r>
                      <a:r>
                        <a:rPr kumimoji="1" lang="ko-KR" altLang="en-US" sz="700" b="0" i="0" u="none" strike="noStrike" kern="1200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스펙</a:t>
                      </a:r>
                      <a:r>
                        <a:rPr kumimoji="1" lang="ko-KR" altLang="en-US" sz="700" b="0" i="0" u="none" strike="noStrike" kern="1200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  <a:cs typeface="+mn-cs"/>
                        </a:rPr>
                        <a:t> 만족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120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일</a:t>
                      </a:r>
                    </a:p>
                  </a:txBody>
                  <a:tcPr marL="18005" marR="18005" marT="19016" marB="19016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160382">
                <a:tc rowSpan="5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en-US" altLang="ko-KR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MS</a:t>
                      </a:r>
                      <a:endParaRPr kumimoji="0" lang="ko-KR" altLang="en-US" sz="800" b="1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MS184-01</a:t>
                      </a: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무연솔더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페이스트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5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1603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MS184-02</a:t>
                      </a: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ko-KR" altLang="en-US" sz="700" b="0" i="0" u="none" strike="noStrike" cap="none" normalizeH="0" baseline="0" dirty="0" err="1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무연솔더</a:t>
                      </a:r>
                      <a:r>
                        <a:rPr kumimoji="0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와이어</a:t>
                      </a: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160382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MS 300-08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0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연소성</a:t>
                      </a:r>
                      <a:r>
                        <a:rPr kumimoji="0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시험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  <a:tr h="160382">
                <a:tc vMerge="1">
                  <a:txBody>
                    <a:bodyPr/>
                    <a:lstStyle/>
                    <a:p>
                      <a:pPr algn="ctr" latinLnBrk="1"/>
                      <a:endParaRPr lang="ko-KR" altLang="en-US" sz="1000" b="1" dirty="0"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18005" marR="18005" marT="18003" marB="18003" anchor="ctr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MS 300- 58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차량 실내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VOCs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시험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>
                      <a:lvl1pPr eaLnBrk="0" hangingPunct="0">
                        <a:spcBef>
                          <a:spcPct val="20000"/>
                        </a:spcBef>
                        <a:buFont typeface="Arial" pitchFamily="34" charset="0"/>
                        <a:defRPr sz="28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1pPr>
                      <a:lvl2pPr marL="742950" indent="-285750" eaLnBrk="0" hangingPunct="0">
                        <a:spcBef>
                          <a:spcPct val="20000"/>
                        </a:spcBef>
                        <a:buFont typeface="Arial" pitchFamily="34" charset="0"/>
                        <a:defRPr sz="24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2pPr>
                      <a:lvl3pPr marL="11430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 sz="2000"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3pPr>
                      <a:lvl4pPr marL="16002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4pPr>
                      <a:lvl5pPr marL="2057400" indent="-228600" eaLnBrk="0" hangingPunct="0">
                        <a:spcBef>
                          <a:spcPct val="20000"/>
                        </a:spcBef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5pPr>
                      <a:lvl6pPr marL="25146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6pPr>
                      <a:lvl7pPr marL="29718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7pPr>
                      <a:lvl8pPr marL="34290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8pPr>
                      <a:lvl9pPr marL="3886200" indent="-228600" eaLnBrk="0" fontAlgn="base" hangingPunct="0">
                        <a:spcBef>
                          <a:spcPct val="20000"/>
                        </a:spcBef>
                        <a:spcAft>
                          <a:spcPct val="0"/>
                        </a:spcAft>
                        <a:buFont typeface="Arial" pitchFamily="34" charset="0"/>
                        <a:defRPr>
                          <a:solidFill>
                            <a:schemeClr val="tx1"/>
                          </a:solidFill>
                          <a:latin typeface="맑은 고딕" pitchFamily="50" charset="-127"/>
                          <a:ea typeface="맑은 고딕" pitchFamily="50" charset="-127"/>
                        </a:defRPr>
                      </a:lvl9pPr>
                    </a:lstStyle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18005" marR="18005" marT="19020" marB="19020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110866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ctr" latinLnBrk="1" hangingPunct="1">
                        <a:lnSpc>
                          <a:spcPct val="15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MS201-02</a:t>
                      </a: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자동차 부품 및 재료의 유해물질 사용 금지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  <a:tr h="160382"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auto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ko-KR" altLang="en-US" sz="800" b="1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법규</a:t>
                      </a: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ECE-R-100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고전원장치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관련 요구사항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: 35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항목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rowSpan="2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r>
                        <a:rPr kumimoji="0" lang="en-US" altLang="ko-KR" sz="700" b="0" i="0" u="none" strike="noStrike" cap="none" normalizeH="0" baseline="0" dirty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-</a:t>
                      </a: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9016" marB="19016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1"/>
                  </a:ext>
                </a:extLst>
              </a:tr>
              <a:tr h="80191"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  <a:defRPr/>
                      </a:pPr>
                      <a:r>
                        <a:rPr kumimoji="0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LV123</a:t>
                      </a:r>
                      <a:endParaRPr kumimoji="0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l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Char char="•"/>
                        <a:tabLst/>
                      </a:pP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고전원장치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 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관련 요구사항 </a:t>
                      </a:r>
                      <a:r>
                        <a:rPr kumimoji="1" lang="en-US" altLang="ko-KR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: 50</a:t>
                      </a:r>
                      <a:r>
                        <a:rPr kumimoji="1" lang="ko-KR" altLang="en-US" sz="7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latin typeface="+mj-ea"/>
                          <a:ea typeface="+mj-ea"/>
                        </a:rPr>
                        <a:t>항목</a:t>
                      </a:r>
                      <a:endParaRPr kumimoji="1" lang="en-US" altLang="ko-KR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8522" marB="18522" anchor="ctr" horzOverflow="overflow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vMerge="1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ct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itchFamily="34" charset="0"/>
                        <a:buNone/>
                        <a:tabLst/>
                      </a:pPr>
                      <a:endParaRPr kumimoji="0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현대하모니 L" panose="02020603020101020101" pitchFamily="18" charset="-127"/>
                        <a:ea typeface="현대하모니 L" panose="02020603020101020101" pitchFamily="18" charset="-127"/>
                      </a:endParaRPr>
                    </a:p>
                  </a:txBody>
                  <a:tcPr marL="18005" marR="18005" marT="19016" marB="19016" anchor="ctr" horzOverflow="overflow">
                    <a:lnL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9525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bg1">
                          <a:lumMod val="7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2"/>
                  </a:ext>
                </a:extLst>
              </a:tr>
              <a:tr h="186294">
                <a:tc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latin typeface="+mj-ea"/>
                          <a:ea typeface="+mj-ea"/>
                        </a:rPr>
                        <a:t>품질</a:t>
                      </a:r>
                      <a:r>
                        <a:rPr lang="en-US" altLang="ko-KR" sz="800" b="1" dirty="0">
                          <a:latin typeface="+mj-ea"/>
                          <a:ea typeface="+mj-ea"/>
                        </a:rPr>
                        <a:t/>
                      </a:r>
                      <a:br>
                        <a:rPr lang="en-US" altLang="ko-KR" sz="800" b="1" dirty="0">
                          <a:latin typeface="+mj-ea"/>
                          <a:ea typeface="+mj-ea"/>
                        </a:rPr>
                      </a:br>
                      <a:r>
                        <a:rPr lang="ko-KR" altLang="en-US" sz="800" b="1" dirty="0">
                          <a:latin typeface="+mj-ea"/>
                          <a:ea typeface="+mj-ea"/>
                        </a:rPr>
                        <a:t>표준</a:t>
                      </a:r>
                      <a:endParaRPr lang="en-US" altLang="ko-KR" sz="800" b="1" dirty="0"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noFill/>
                  </a:tcPr>
                </a:tc>
                <a:tc gridSpan="2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Char char="•"/>
                      </a:pPr>
                      <a:r>
                        <a:rPr kumimoji="0" lang="en-US" altLang="ko-KR" sz="700" b="0" i="0" u="none" strike="noStrike" kern="1200" cap="none" spc="0" normalizeH="0" baseline="0" noProof="0">
                          <a:ln>
                            <a:noFill/>
                          </a:ln>
                          <a:solidFill>
                            <a:schemeClr val="tx1"/>
                          </a:solidFill>
                          <a:effectLst/>
                          <a:uLnTx/>
                          <a:uFillTx/>
                          <a:latin typeface="+mj-ea"/>
                          <a:ea typeface="+mj-ea"/>
                        </a:rPr>
                        <a:t> Q-Standard</a:t>
                      </a:r>
                      <a:endParaRPr kumimoji="1" lang="ko-KR" altLang="en-US" sz="700" b="0" i="0" u="none" strike="noStrike" cap="none" normalizeH="0" baseline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 typeface="Arial" panose="020B0604020202020204" pitchFamily="34" charset="0"/>
                        <a:buNone/>
                        <a:tabLst/>
                      </a:pPr>
                      <a:endParaRPr kumimoji="0" lang="en-US" altLang="ko-KR" sz="700" b="0" i="0" u="none" strike="noStrike" kern="1200" cap="none" spc="0" normalizeH="0" baseline="0" noProof="0" dirty="0">
                        <a:ln>
                          <a:noFill/>
                        </a:ln>
                        <a:solidFill>
                          <a:schemeClr val="tx1"/>
                        </a:solidFill>
                        <a:effectLst/>
                        <a:uLnTx/>
                        <a:uFillTx/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latinLnBrk="1"/>
                      <a:r>
                        <a:rPr lang="en-US" altLang="ko-KR" sz="700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-</a:t>
                      </a:r>
                      <a:endParaRPr lang="ko-KR" altLang="en-US" sz="7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4"/>
                  </a:ext>
                </a:extLst>
              </a:tr>
              <a:tr h="303158">
                <a:tc gridSpan="2">
                  <a:txBody>
                    <a:bodyPr/>
                    <a:lstStyle/>
                    <a:p>
                      <a:pPr algn="ctr" latinLnBrk="1"/>
                      <a:r>
                        <a:rPr lang="ko-KR" altLang="en-US" sz="800" b="1" dirty="0">
                          <a:solidFill>
                            <a:schemeClr val="tx1"/>
                          </a:solidFill>
                          <a:latin typeface="+mj-ea"/>
                          <a:ea typeface="+mj-ea"/>
                        </a:rPr>
                        <a:t>적용차종</a:t>
                      </a: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40000"/>
                        <a:lumOff val="6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indent="0" algn="l" latinLnBrk="1">
                        <a:buFont typeface="Arial" panose="020B0604020202020204" pitchFamily="34" charset="0"/>
                        <a:buNone/>
                      </a:pPr>
                      <a:endParaRPr kumimoji="1" lang="ko-KR" altLang="en-US" sz="9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현대하모니 M" pitchFamily="18" charset="-127"/>
                        <a:ea typeface="현대하모니 M" pitchFamily="18" charset="-127"/>
                      </a:endParaRPr>
                    </a:p>
                  </a:txBody>
                  <a:tcPr marL="18005" marR="18005" marT="18001" marB="18001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95000"/>
                          <a:lumOff val="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marL="0" marR="0" lvl="0" indent="0" algn="ctr" defTabSz="914400" rtl="0" eaLnBrk="1" fontAlgn="base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ct val="0"/>
                        </a:spcAft>
                        <a:buClrTx/>
                        <a:buSzTx/>
                        <a:buFontTx/>
                        <a:buNone/>
                        <a:tabLst/>
                      </a:pPr>
                      <a:r>
                        <a:rPr kumimoji="1" lang="en-US" altLang="ko-KR" sz="800" b="0" i="0" u="none" strike="noStrike" cap="none" normalizeH="0" baseline="0" dirty="0" err="1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MVa</a:t>
                      </a:r>
                      <a:r>
                        <a:rPr kumimoji="1" lang="en-US" altLang="ko-KR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 FRONT 800V HEATER </a:t>
                      </a:r>
                      <a:r>
                        <a:rPr kumimoji="1" lang="ko-KR" altLang="en-US" sz="800" b="0" i="0" u="none" strike="noStrike" cap="none" normalizeH="0" baseline="0" dirty="0" smtClean="0">
                          <a:ln>
                            <a:noFill/>
                          </a:ln>
                          <a:solidFill>
                            <a:srgbClr val="000000"/>
                          </a:solidFill>
                          <a:effectLst/>
                          <a:latin typeface="+mj-ea"/>
                          <a:ea typeface="+mj-ea"/>
                        </a:rPr>
                        <a:t>기반 개발</a:t>
                      </a:r>
                      <a:endParaRPr kumimoji="1" lang="en-US" altLang="ko-KR" sz="800" b="0" i="0" u="none" strike="noStrike" cap="none" normalizeH="0" baseline="0" dirty="0">
                        <a:ln>
                          <a:noFill/>
                        </a:ln>
                        <a:solidFill>
                          <a:srgbClr val="000000"/>
                        </a:solidFill>
                        <a:effectLst/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800" dirty="0">
                        <a:solidFill>
                          <a:schemeClr val="tx1"/>
                        </a:solidFill>
                        <a:latin typeface="+mj-ea"/>
                        <a:ea typeface="+mj-ea"/>
                      </a:endParaRPr>
                    </a:p>
                  </a:txBody>
                  <a:tcPr marL="18005" marR="18005" marT="17991" marB="17991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latinLnBrk="1"/>
                      <a:endParaRPr lang="ko-KR" altLang="en-US" sz="1000" dirty="0">
                        <a:latin typeface="현대하모니 M" panose="02020603020101020101" pitchFamily="18" charset="-127"/>
                        <a:ea typeface="현대하모니 M" panose="02020603020101020101" pitchFamily="18" charset="-127"/>
                      </a:endParaRPr>
                    </a:p>
                  </a:txBody>
                  <a:tcPr marL="18005" marR="18005" marT="18001" marB="18001" anchor="ctr">
                    <a:lnL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>
                          <a:lumMod val="65000"/>
                          <a:lumOff val="35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15"/>
                  </a:ext>
                </a:extLst>
              </a:tr>
            </a:tbl>
          </a:graphicData>
        </a:graphic>
      </p:graphicFrame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08468" y="542552"/>
            <a:ext cx="8217991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en-US" altLang="ko-KR" sz="1050" b="1" dirty="0" smtClean="0">
                <a:ea typeface="현대하모니 B" panose="02020603020101020101" pitchFamily="18" charset="-127"/>
                <a:cs typeface="Arial" panose="020B0604020202020204" pitchFamily="34" charset="0"/>
              </a:rPr>
              <a:t>1. </a:t>
            </a:r>
            <a:r>
              <a:rPr lang="ko-KR" altLang="en-US" sz="1050" b="1" dirty="0" smtClean="0">
                <a:ea typeface="현대하모니 B" panose="02020603020101020101" pitchFamily="18" charset="-127"/>
                <a:cs typeface="Arial" panose="020B0604020202020204" pitchFamily="34" charset="0"/>
              </a:rPr>
              <a:t>요구 품질 및 </a:t>
            </a:r>
            <a:r>
              <a:rPr lang="en-US" altLang="ko-KR" sz="1050" b="1" dirty="0" smtClean="0">
                <a:ea typeface="현대하모니 B" panose="02020603020101020101" pitchFamily="18" charset="-127"/>
                <a:cs typeface="Arial" panose="020B0604020202020204" pitchFamily="34" charset="0"/>
              </a:rPr>
              <a:t>MS/ES </a:t>
            </a:r>
            <a:r>
              <a:rPr lang="ko-KR" altLang="en-US" sz="1050" b="1" dirty="0" smtClean="0">
                <a:ea typeface="현대하모니 B" panose="02020603020101020101" pitchFamily="18" charset="-127"/>
                <a:cs typeface="Arial" panose="020B0604020202020204" pitchFamily="34" charset="0"/>
              </a:rPr>
              <a:t>검토 항목</a:t>
            </a:r>
            <a:endParaRPr lang="en-US" altLang="ko-KR" sz="1050" b="1" dirty="0" smtClean="0"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4" name="TextBox 13"/>
          <p:cNvSpPr txBox="1"/>
          <p:nvPr/>
        </p:nvSpPr>
        <p:spPr>
          <a:xfrm>
            <a:off x="1763688" y="3885716"/>
            <a:ext cx="453650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Mechanical/HW/SW </a:t>
            </a:r>
            <a:r>
              <a:rPr lang="ko-KR" altLang="en-US" dirty="0" smtClean="0"/>
              <a:t>내용 작성 또는 수정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050556467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7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</a:t>
            </a:r>
            <a:r>
              <a:rPr lang="ko-KR" altLang="en-US" sz="2000" b="1" dirty="0" err="1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초격차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 신기술 투자비 </a:t>
            </a:r>
            <a:r>
              <a:rPr lang="en-US" altLang="ko-KR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(</a:t>
            </a: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예상 비용</a:t>
            </a:r>
            <a:r>
              <a:rPr lang="en-US" altLang="ko-KR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)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sp>
        <p:nvSpPr>
          <p:cNvPr id="13" name="Text Box 2"/>
          <p:cNvSpPr txBox="1">
            <a:spLocks noChangeArrowheads="1"/>
          </p:cNvSpPr>
          <p:nvPr/>
        </p:nvSpPr>
        <p:spPr bwMode="auto">
          <a:xfrm>
            <a:off x="108468" y="575804"/>
            <a:ext cx="8217991" cy="253916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en-US" altLang="ko-KR" sz="1050" b="1" dirty="0" smtClean="0">
                <a:ea typeface="현대하모니 B" panose="02020603020101020101" pitchFamily="18" charset="-127"/>
                <a:cs typeface="Arial" panose="020B0604020202020204" pitchFamily="34" charset="0"/>
              </a:rPr>
              <a:t>1. Mock up </a:t>
            </a:r>
            <a:r>
              <a:rPr lang="ko-KR" altLang="en-US" sz="1050" b="1" dirty="0" smtClean="0">
                <a:ea typeface="현대하모니 B" panose="02020603020101020101" pitchFamily="18" charset="-127"/>
                <a:cs typeface="Arial" panose="020B0604020202020204" pitchFamily="34" charset="0"/>
              </a:rPr>
              <a:t>제작 비용 </a:t>
            </a:r>
            <a:r>
              <a:rPr lang="en-US" altLang="ko-KR" sz="1050" b="1" dirty="0" smtClean="0">
                <a:ea typeface="현대하모니 B" panose="02020603020101020101" pitchFamily="18" charset="-127"/>
                <a:cs typeface="Arial" panose="020B0604020202020204" pitchFamily="34" charset="0"/>
              </a:rPr>
              <a:t>(</a:t>
            </a:r>
            <a:r>
              <a:rPr lang="ko-KR" altLang="en-US" sz="1050" b="1" dirty="0" err="1" smtClean="0">
                <a:ea typeface="현대하모니 B" panose="02020603020101020101" pitchFamily="18" charset="-127"/>
                <a:cs typeface="Arial" panose="020B0604020202020204" pitchFamily="34" charset="0"/>
              </a:rPr>
              <a:t>금형제작</a:t>
            </a:r>
            <a:r>
              <a:rPr lang="ko-KR" altLang="en-US" sz="1050" b="1" dirty="0" smtClean="0">
                <a:ea typeface="현대하모니 B" panose="02020603020101020101" pitchFamily="18" charset="-127"/>
                <a:cs typeface="Arial" panose="020B0604020202020204" pitchFamily="34" charset="0"/>
              </a:rPr>
              <a:t> 비용 대체</a:t>
            </a:r>
            <a:r>
              <a:rPr lang="en-US" altLang="ko-KR" sz="1050" b="1" dirty="0">
                <a:ea typeface="현대하모니 B" panose="02020603020101020101" pitchFamily="18" charset="-127"/>
                <a:cs typeface="Arial" panose="020B0604020202020204" pitchFamily="34" charset="0"/>
              </a:rPr>
              <a:t>)</a:t>
            </a:r>
            <a:endParaRPr lang="en-US" altLang="ko-KR" sz="1050" b="1" dirty="0" smtClean="0"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14" name="표 1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24792916"/>
              </p:ext>
            </p:extLst>
          </p:nvPr>
        </p:nvGraphicFramePr>
        <p:xfrm>
          <a:off x="166634" y="858526"/>
          <a:ext cx="8633592" cy="936000"/>
        </p:xfrm>
        <a:graphic>
          <a:graphicData uri="http://schemas.openxmlformats.org/drawingml/2006/table">
            <a:tbl>
              <a:tblPr/>
              <a:tblGrid>
                <a:gridCol w="328987">
                  <a:extLst>
                    <a:ext uri="{9D8B030D-6E8A-4147-A177-3AD203B41FA5}">
                      <a16:colId xmlns:a16="http://schemas.microsoft.com/office/drawing/2014/main" val="1874035362"/>
                    </a:ext>
                  </a:extLst>
                </a:gridCol>
                <a:gridCol w="1628107">
                  <a:extLst>
                    <a:ext uri="{9D8B030D-6E8A-4147-A177-3AD203B41FA5}">
                      <a16:colId xmlns:a16="http://schemas.microsoft.com/office/drawing/2014/main" val="3016343987"/>
                    </a:ext>
                  </a:extLst>
                </a:gridCol>
                <a:gridCol w="1440160">
                  <a:extLst>
                    <a:ext uri="{9D8B030D-6E8A-4147-A177-3AD203B41FA5}">
                      <a16:colId xmlns:a16="http://schemas.microsoft.com/office/drawing/2014/main" val="1612736662"/>
                    </a:ext>
                  </a:extLst>
                </a:gridCol>
                <a:gridCol w="648072">
                  <a:extLst>
                    <a:ext uri="{9D8B030D-6E8A-4147-A177-3AD203B41FA5}">
                      <a16:colId xmlns:a16="http://schemas.microsoft.com/office/drawing/2014/main" val="1354367357"/>
                    </a:ext>
                  </a:extLst>
                </a:gridCol>
                <a:gridCol w="864096">
                  <a:extLst>
                    <a:ext uri="{9D8B030D-6E8A-4147-A177-3AD203B41FA5}">
                      <a16:colId xmlns:a16="http://schemas.microsoft.com/office/drawing/2014/main" val="3507538130"/>
                    </a:ext>
                  </a:extLst>
                </a:gridCol>
                <a:gridCol w="1008112">
                  <a:extLst>
                    <a:ext uri="{9D8B030D-6E8A-4147-A177-3AD203B41FA5}">
                      <a16:colId xmlns:a16="http://schemas.microsoft.com/office/drawing/2014/main" val="199893255"/>
                    </a:ext>
                  </a:extLst>
                </a:gridCol>
                <a:gridCol w="2716058">
                  <a:extLst>
                    <a:ext uri="{9D8B030D-6E8A-4147-A177-3AD203B41FA5}">
                      <a16:colId xmlns:a16="http://schemas.microsoft.com/office/drawing/2014/main" val="3021894912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품  명</a:t>
                      </a: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재  질</a:t>
                      </a: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수 량</a:t>
                      </a: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개당 단가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</a:t>
                      </a:r>
                      <a:endParaRPr lang="en-US" altLang="ko-KR" sz="800" b="1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27075583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COVER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PBT-GF30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\300,000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\1,500,000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088532609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2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UPPER HOUSING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AL6061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altLang="ko-KR" sz="8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5</a:t>
                      </a:r>
                      <a:endParaRPr lang="en-US" altLang="ko-KR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algn="ctr" defTabSz="914400" rtl="0" eaLnBrk="1" fontAlgn="ctr" latinLnBrk="1" hangingPunct="1"/>
                      <a:r>
                        <a:rPr lang="en-US" sz="8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  <a:cs typeface="+mn-cs"/>
                        </a:rPr>
                        <a:t>\700,000</a:t>
                      </a:r>
                      <a:endParaRPr 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\3,500,000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u="none" strike="noStrike" kern="1200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  <a:cs typeface="+mn-cs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736360197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LOWER</a:t>
                      </a:r>
                      <a:r>
                        <a:rPr lang="en-US" sz="800" b="0" i="0" u="none" strike="noStrike" baseline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HOUSING</a:t>
                      </a:r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PBT-GF30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5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kern="120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  <a:cs typeface="+mn-cs"/>
                        </a:rPr>
                        <a:t>\300,000</a:t>
                      </a:r>
                      <a:endParaRPr lang="en-US" altLang="ko-KR" sz="800" b="0" i="0" u="none" strike="noStrike" kern="1200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  <a:cs typeface="+mn-cs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\1,500,000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ko-KR" altLang="en-US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2913782"/>
                  </a:ext>
                </a:extLst>
              </a:tr>
              <a:tr h="180000">
                <a:tc gridSpan="5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합계 금액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 fontAlgn="ctr"/>
                      <a:endParaRPr 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3175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00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9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\6,500,000</a:t>
                      </a:r>
                      <a:endParaRPr lang="en-US" altLang="ko-KR" sz="9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9525" marR="9525" marT="9525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319" marR="5319" marT="531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29128"/>
                  </a:ext>
                </a:extLst>
              </a:tr>
            </a:tbl>
          </a:graphicData>
        </a:graphic>
      </p:graphicFrame>
      <p:graphicFrame>
        <p:nvGraphicFramePr>
          <p:cNvPr id="16" name="표 1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2357981"/>
              </p:ext>
            </p:extLst>
          </p:nvPr>
        </p:nvGraphicFramePr>
        <p:xfrm>
          <a:off x="166634" y="2186845"/>
          <a:ext cx="8614146" cy="1353048"/>
        </p:xfrm>
        <a:graphic>
          <a:graphicData uri="http://schemas.openxmlformats.org/drawingml/2006/table">
            <a:tbl>
              <a:tblPr/>
              <a:tblGrid>
                <a:gridCol w="409889">
                  <a:extLst>
                    <a:ext uri="{9D8B030D-6E8A-4147-A177-3AD203B41FA5}">
                      <a16:colId xmlns:a16="http://schemas.microsoft.com/office/drawing/2014/main" val="323434901"/>
                    </a:ext>
                  </a:extLst>
                </a:gridCol>
                <a:gridCol w="3430772">
                  <a:extLst>
                    <a:ext uri="{9D8B030D-6E8A-4147-A177-3AD203B41FA5}">
                      <a16:colId xmlns:a16="http://schemas.microsoft.com/office/drawing/2014/main" val="2068645260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1663044608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4258027661"/>
                    </a:ext>
                  </a:extLst>
                </a:gridCol>
                <a:gridCol w="1101485">
                  <a:extLst>
                    <a:ext uri="{9D8B030D-6E8A-4147-A177-3AD203B41FA5}">
                      <a16:colId xmlns:a16="http://schemas.microsoft.com/office/drawing/2014/main" val="455711617"/>
                    </a:ext>
                  </a:extLst>
                </a:gridCol>
              </a:tblGrid>
              <a:tr h="303603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 험 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시험</a:t>
                      </a:r>
                      <a:r>
                        <a:rPr lang="ko-KR" altLang="en-US" sz="800" b="1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기관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시험 비용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280838"/>
                  </a:ext>
                </a:extLst>
              </a:tr>
              <a:tr h="2098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ES97110-03</a:t>
                      </a:r>
                      <a:r>
                        <a:rPr 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공기 </a:t>
                      </a:r>
                      <a:r>
                        <a:rPr lang="ko-KR" altLang="en-US" sz="800" b="0" i="0" u="none" strike="noStrike" baseline="0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가열식</a:t>
                      </a:r>
                      <a:r>
                        <a:rPr 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피티씨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히터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앗세이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신뢰성시험팀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&amp;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외부시험소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\15,000,000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(JIG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포함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337132"/>
                  </a:ext>
                </a:extLst>
              </a:tr>
              <a:tr h="2098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HALT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시험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외부시험소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\10,000,000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741905"/>
                  </a:ext>
                </a:extLst>
              </a:tr>
              <a:tr h="2098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ES90000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-01,02,04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외부시험소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\40,000,000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83165788"/>
                  </a:ext>
                </a:extLst>
              </a:tr>
              <a:tr h="209889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4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+mn-ea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+mn-ea"/>
                          <a:ea typeface="+mn-ea"/>
                        </a:rPr>
                        <a:t> ES96200-10</a:t>
                      </a: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외부시험소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\60,000,000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1348006"/>
                  </a:ext>
                </a:extLst>
              </a:tr>
              <a:tr h="209889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 금액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\125,000,000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845501"/>
                  </a:ext>
                </a:extLst>
              </a:tr>
            </a:tbl>
          </a:graphicData>
        </a:graphic>
      </p:graphicFrame>
      <p:sp>
        <p:nvSpPr>
          <p:cNvPr id="19" name="Text Box 2"/>
          <p:cNvSpPr txBox="1">
            <a:spLocks noChangeArrowheads="1"/>
          </p:cNvSpPr>
          <p:nvPr/>
        </p:nvSpPr>
        <p:spPr bwMode="auto">
          <a:xfrm>
            <a:off x="108468" y="1823332"/>
            <a:ext cx="8217991" cy="334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50" b="1">
                <a:ea typeface="현대하모니 B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 dirty="0" smtClean="0"/>
              <a:t>2</a:t>
            </a:r>
            <a:r>
              <a:rPr lang="en-US" altLang="ko-KR" dirty="0"/>
              <a:t>. </a:t>
            </a:r>
            <a:r>
              <a:rPr lang="ko-KR" altLang="en-US" dirty="0"/>
              <a:t>신뢰성 시험 비용</a:t>
            </a:r>
          </a:p>
        </p:txBody>
      </p:sp>
      <p:sp>
        <p:nvSpPr>
          <p:cNvPr id="21" name="Text Box 2"/>
          <p:cNvSpPr txBox="1">
            <a:spLocks noChangeArrowheads="1"/>
          </p:cNvSpPr>
          <p:nvPr/>
        </p:nvSpPr>
        <p:spPr bwMode="auto">
          <a:xfrm>
            <a:off x="108468" y="3568699"/>
            <a:ext cx="8217991" cy="33470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50" b="1">
                <a:ea typeface="현대하모니 B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 dirty="0"/>
              <a:t>3</a:t>
            </a:r>
            <a:r>
              <a:rPr lang="en-US" altLang="ko-KR" dirty="0" smtClean="0"/>
              <a:t>. </a:t>
            </a:r>
            <a:r>
              <a:rPr lang="ko-KR" altLang="en-US" dirty="0" smtClean="0"/>
              <a:t>설비 및 기타 투자비용 </a:t>
            </a:r>
            <a:endParaRPr lang="ko-KR" altLang="en-US" dirty="0"/>
          </a:p>
        </p:txBody>
      </p:sp>
      <p:graphicFrame>
        <p:nvGraphicFramePr>
          <p:cNvPr id="22" name="표 2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64056704"/>
              </p:ext>
            </p:extLst>
          </p:nvPr>
        </p:nvGraphicFramePr>
        <p:xfrm>
          <a:off x="166634" y="3932212"/>
          <a:ext cx="8614146" cy="936000"/>
        </p:xfrm>
        <a:graphic>
          <a:graphicData uri="http://schemas.openxmlformats.org/drawingml/2006/table">
            <a:tbl>
              <a:tblPr/>
              <a:tblGrid>
                <a:gridCol w="409889">
                  <a:extLst>
                    <a:ext uri="{9D8B030D-6E8A-4147-A177-3AD203B41FA5}">
                      <a16:colId xmlns:a16="http://schemas.microsoft.com/office/drawing/2014/main" val="323434901"/>
                    </a:ext>
                  </a:extLst>
                </a:gridCol>
                <a:gridCol w="3430772">
                  <a:extLst>
                    <a:ext uri="{9D8B030D-6E8A-4147-A177-3AD203B41FA5}">
                      <a16:colId xmlns:a16="http://schemas.microsoft.com/office/drawing/2014/main" val="2068645260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1663044608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4258027661"/>
                    </a:ext>
                  </a:extLst>
                </a:gridCol>
                <a:gridCol w="1101485">
                  <a:extLst>
                    <a:ext uri="{9D8B030D-6E8A-4147-A177-3AD203B41FA5}">
                      <a16:colId xmlns:a16="http://schemas.microsoft.com/office/drawing/2014/main" val="45571161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업체명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시험 비용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28083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SHEATH HEATER SAMPLE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비용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HEAT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 WELL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\10,000,000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(JIG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제작 포함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337132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JIG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및 설비 투자 비용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HEAT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WELL &amp; WOORY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\10,000,000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99741905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해외 출장 비용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(SAMPLE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제작 및 업체 미팅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)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WOORY</a:t>
                      </a: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 18,000,000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(3</a:t>
                      </a:r>
                      <a:r>
                        <a:rPr lang="ko-KR" altLang="en-US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명 기준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)</a:t>
                      </a:r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945274559"/>
                  </a:ext>
                </a:extLst>
              </a:tr>
              <a:tr h="180000">
                <a:tc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합계 금액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 hMerge="1">
                  <a:txBody>
                    <a:bodyPr/>
                    <a:lstStyle/>
                    <a:p>
                      <a:pPr marL="0" marR="0" indent="0" algn="ctr" defTabSz="914400" rtl="0" eaLnBrk="1" fontAlgn="ctr" latinLnBrk="1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\38,000,000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6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306845501"/>
                  </a:ext>
                </a:extLst>
              </a:tr>
            </a:tbl>
          </a:graphicData>
        </a:graphic>
      </p:graphicFrame>
      <p:sp>
        <p:nvSpPr>
          <p:cNvPr id="23" name="Text Box 2"/>
          <p:cNvSpPr txBox="1">
            <a:spLocks noChangeArrowheads="1"/>
          </p:cNvSpPr>
          <p:nvPr/>
        </p:nvSpPr>
        <p:spPr bwMode="auto">
          <a:xfrm>
            <a:off x="108468" y="4897018"/>
            <a:ext cx="8217991" cy="303481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50" b="1">
                <a:ea typeface="현대하모니 B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en-US" altLang="ko-KR" dirty="0" smtClean="0"/>
              <a:t>4. H/W. S/W </a:t>
            </a:r>
            <a:r>
              <a:rPr lang="ko-KR" altLang="en-US" dirty="0" smtClean="0"/>
              <a:t>투자 비용</a:t>
            </a:r>
            <a:r>
              <a:rPr lang="en-US" altLang="ko-KR" dirty="0" smtClean="0"/>
              <a:t> </a:t>
            </a:r>
            <a:endParaRPr lang="ko-KR" altLang="en-US" dirty="0"/>
          </a:p>
        </p:txBody>
      </p:sp>
      <p:graphicFrame>
        <p:nvGraphicFramePr>
          <p:cNvPr id="24" name="표 2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86877880"/>
              </p:ext>
            </p:extLst>
          </p:nvPr>
        </p:nvGraphicFramePr>
        <p:xfrm>
          <a:off x="166634" y="5229304"/>
          <a:ext cx="8614146" cy="396000"/>
        </p:xfrm>
        <a:graphic>
          <a:graphicData uri="http://schemas.openxmlformats.org/drawingml/2006/table">
            <a:tbl>
              <a:tblPr/>
              <a:tblGrid>
                <a:gridCol w="409889">
                  <a:extLst>
                    <a:ext uri="{9D8B030D-6E8A-4147-A177-3AD203B41FA5}">
                      <a16:colId xmlns:a16="http://schemas.microsoft.com/office/drawing/2014/main" val="323434901"/>
                    </a:ext>
                  </a:extLst>
                </a:gridCol>
                <a:gridCol w="3430772">
                  <a:extLst>
                    <a:ext uri="{9D8B030D-6E8A-4147-A177-3AD203B41FA5}">
                      <a16:colId xmlns:a16="http://schemas.microsoft.com/office/drawing/2014/main" val="2068645260"/>
                    </a:ext>
                  </a:extLst>
                </a:gridCol>
                <a:gridCol w="1548000">
                  <a:extLst>
                    <a:ext uri="{9D8B030D-6E8A-4147-A177-3AD203B41FA5}">
                      <a16:colId xmlns:a16="http://schemas.microsoft.com/office/drawing/2014/main" val="1663044608"/>
                    </a:ext>
                  </a:extLst>
                </a:gridCol>
                <a:gridCol w="2124000">
                  <a:extLst>
                    <a:ext uri="{9D8B030D-6E8A-4147-A177-3AD203B41FA5}">
                      <a16:colId xmlns:a16="http://schemas.microsoft.com/office/drawing/2014/main" val="4258027661"/>
                    </a:ext>
                  </a:extLst>
                </a:gridCol>
                <a:gridCol w="1101485">
                  <a:extLst>
                    <a:ext uri="{9D8B030D-6E8A-4147-A177-3AD203B41FA5}">
                      <a16:colId xmlns:a16="http://schemas.microsoft.com/office/drawing/2014/main" val="455711617"/>
                    </a:ext>
                  </a:extLst>
                </a:gridCol>
              </a:tblGrid>
              <a:tr h="216000"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순번</a:t>
                      </a: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내용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업체명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시험 비용</a:t>
                      </a:r>
                      <a:endParaRPr lang="ko-KR" altLang="en-US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1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  <a:endParaRPr lang="en-US" altLang="ko-KR" sz="800" b="1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48280838"/>
                  </a:ext>
                </a:extLst>
              </a:tr>
              <a:tr h="18000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l" fontAlgn="ctr"/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ARTWORK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및 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PCB</a:t>
                      </a:r>
                      <a:r>
                        <a:rPr lang="en-US" altLang="ko-KR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 ASS’Y </a:t>
                      </a:r>
                      <a:r>
                        <a:rPr lang="ko-KR" altLang="en-US" sz="800" b="0" i="0" u="none" strike="noStrike" baseline="0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+mn-ea"/>
                        </a:rPr>
                        <a:t>제작 비용</a:t>
                      </a:r>
                      <a:endParaRPr lang="en-US" altLang="ko-KR" sz="800" b="0" i="0" u="none" strike="noStrike" dirty="0" smtClean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+mn-ea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일렉스</a:t>
                      </a:r>
                      <a:r>
                        <a:rPr lang="en-US" altLang="ko-KR" sz="8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, </a:t>
                      </a:r>
                      <a:r>
                        <a:rPr lang="ko-KR" altLang="en-US" sz="800" b="0" i="0" u="none" strike="noStrike" dirty="0" err="1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한샘디지텍</a:t>
                      </a:r>
                      <a:endParaRPr lang="en-US" altLang="ko-KR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800" b="1" i="0" u="none" strike="noStrike" dirty="0" smtClean="0">
                          <a:solidFill>
                            <a:srgbClr val="0000FF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\10,000,000</a:t>
                      </a:r>
                      <a:endParaRPr lang="en-US" sz="800" b="1" i="0" u="none" strike="noStrike" dirty="0">
                        <a:solidFill>
                          <a:srgbClr val="0000FF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8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5799" marR="5799" marT="5799" marB="0" anchor="ctr">
                    <a:lnL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chemeClr val="bg1">
                          <a:lumMod val="50000"/>
                        </a:schemeClr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bg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05337132"/>
                  </a:ext>
                </a:extLst>
              </a:tr>
            </a:tbl>
          </a:graphicData>
        </a:graphic>
      </p:graphicFrame>
      <p:sp>
        <p:nvSpPr>
          <p:cNvPr id="12" name="Text Box 2"/>
          <p:cNvSpPr txBox="1">
            <a:spLocks noChangeArrowheads="1"/>
          </p:cNvSpPr>
          <p:nvPr/>
        </p:nvSpPr>
        <p:spPr bwMode="auto">
          <a:xfrm>
            <a:off x="297197" y="5778647"/>
            <a:ext cx="8217991" cy="415498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>
            <a:defPPr>
              <a:defRPr lang="ko-KR"/>
            </a:defPPr>
            <a:lvl1pPr>
              <a:lnSpc>
                <a:spcPct val="150000"/>
              </a:lnSpc>
              <a:defRPr sz="1050" b="1">
                <a:ea typeface="현대하모니 B" panose="02020603020101020101" pitchFamily="18" charset="-127"/>
                <a:cs typeface="Arial" panose="020B0604020202020204" pitchFamily="34" charset="0"/>
              </a:defRPr>
            </a:lvl1pPr>
          </a:lstStyle>
          <a:p>
            <a:r>
              <a:rPr lang="ko-KR" altLang="en-US" sz="1400" u="sng" dirty="0" smtClean="0">
                <a:solidFill>
                  <a:srgbClr val="0000FF"/>
                </a:solidFill>
              </a:rPr>
              <a:t>▶ 투자비 총 합계 </a:t>
            </a:r>
            <a:r>
              <a:rPr lang="en-US" altLang="ko-KR" sz="1400" u="sng" dirty="0" smtClean="0">
                <a:solidFill>
                  <a:srgbClr val="0000FF"/>
                </a:solidFill>
              </a:rPr>
              <a:t>: \179,500,000</a:t>
            </a:r>
            <a:r>
              <a:rPr lang="ko-KR" altLang="en-US" sz="1400" u="sng" dirty="0" smtClean="0">
                <a:solidFill>
                  <a:srgbClr val="0000FF"/>
                </a:solidFill>
              </a:rPr>
              <a:t>원 </a:t>
            </a:r>
            <a:r>
              <a:rPr lang="en-US" altLang="ko-KR" sz="1400" u="sng" dirty="0" smtClean="0">
                <a:solidFill>
                  <a:srgbClr val="0000FF"/>
                </a:solidFill>
              </a:rPr>
              <a:t>(</a:t>
            </a:r>
            <a:r>
              <a:rPr lang="ko-KR" altLang="en-US" sz="1400" u="sng" dirty="0" smtClean="0">
                <a:solidFill>
                  <a:srgbClr val="0000FF"/>
                </a:solidFill>
              </a:rPr>
              <a:t>약 </a:t>
            </a:r>
            <a:r>
              <a:rPr lang="en-US" altLang="ko-KR" sz="1400" u="sng" dirty="0" smtClean="0">
                <a:solidFill>
                  <a:srgbClr val="0000FF"/>
                </a:solidFill>
              </a:rPr>
              <a:t>1.8</a:t>
            </a:r>
            <a:r>
              <a:rPr lang="ko-KR" altLang="en-US" sz="1400" u="sng" dirty="0" smtClean="0">
                <a:solidFill>
                  <a:srgbClr val="0000FF"/>
                </a:solidFill>
              </a:rPr>
              <a:t>억</a:t>
            </a:r>
            <a:r>
              <a:rPr lang="en-US" altLang="ko-KR" sz="1400" u="sng" dirty="0" smtClean="0">
                <a:solidFill>
                  <a:srgbClr val="0000FF"/>
                </a:solidFill>
              </a:rPr>
              <a:t>)</a:t>
            </a:r>
            <a:endParaRPr lang="ko-KR" altLang="en-US" sz="1400" u="sng" dirty="0">
              <a:solidFill>
                <a:srgbClr val="0000FF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411760" y="3562880"/>
            <a:ext cx="3816424" cy="369332"/>
          </a:xfrm>
          <a:prstGeom prst="rect">
            <a:avLst/>
          </a:prstGeom>
          <a:solidFill>
            <a:srgbClr val="FFFF00"/>
          </a:solidFill>
        </p:spPr>
        <p:txBody>
          <a:bodyPr wrap="square" rtlCol="0">
            <a:spAutoFit/>
          </a:bodyPr>
          <a:lstStyle/>
          <a:p>
            <a:r>
              <a:rPr lang="en-US" altLang="ko-KR" dirty="0" smtClean="0"/>
              <a:t>Mechanical/HW/SW </a:t>
            </a:r>
            <a:r>
              <a:rPr lang="ko-KR" altLang="en-US" dirty="0" smtClean="0"/>
              <a:t>내용 작성</a:t>
            </a:r>
            <a:endParaRPr lang="ko-KR" altLang="en-US" dirty="0"/>
          </a:p>
        </p:txBody>
      </p:sp>
    </p:spTree>
    <p:extLst>
      <p:ext uri="{BB962C8B-B14F-4D97-AF65-F5344CB8AC3E}">
        <p14:creationId xmlns:p14="http://schemas.microsoft.com/office/powerpoint/2010/main" val="2112557306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/>
          <p:cNvSpPr txBox="1"/>
          <p:nvPr/>
        </p:nvSpPr>
        <p:spPr>
          <a:xfrm>
            <a:off x="5628064" y="116632"/>
            <a:ext cx="3480440" cy="338554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ko-KR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“ 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생각을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바꾸고</a:t>
            </a:r>
            <a:r>
              <a:rPr lang="ko-KR" altLang="en-US" sz="1600" smtClean="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연구소를 </a:t>
            </a:r>
            <a:r>
              <a:rPr lang="ko-KR" altLang="en-US" sz="1600" smtClean="0">
                <a:solidFill>
                  <a:srgbClr val="FF000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다시 만든다</a:t>
            </a:r>
            <a:r>
              <a:rPr lang="en-US" altLang="ko-KR" sz="1600">
                <a:solidFill>
                  <a:srgbClr val="002060"/>
                </a:solidFill>
                <a:latin typeface="현대하모니 B" panose="02020603020101020101" pitchFamily="18" charset="-127"/>
                <a:ea typeface="현대하모니 B" panose="02020603020101020101" pitchFamily="18" charset="-127"/>
              </a:rPr>
              <a:t> ”</a:t>
            </a:r>
            <a:endParaRPr lang="ko-KR" altLang="en-US" sz="1600">
              <a:solidFill>
                <a:srgbClr val="002060"/>
              </a:solidFill>
              <a:latin typeface="현대하모니 B" panose="02020603020101020101" pitchFamily="18" charset="-127"/>
              <a:ea typeface="현대하모니 B" panose="02020603020101020101" pitchFamily="18" charset="-127"/>
            </a:endParaRPr>
          </a:p>
        </p:txBody>
      </p:sp>
      <p:sp>
        <p:nvSpPr>
          <p:cNvPr id="4" name="Text Box 2"/>
          <p:cNvSpPr txBox="1">
            <a:spLocks noChangeArrowheads="1"/>
          </p:cNvSpPr>
          <p:nvPr/>
        </p:nvSpPr>
        <p:spPr bwMode="auto">
          <a:xfrm>
            <a:off x="60435" y="34741"/>
            <a:ext cx="8217991" cy="40011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  <p:txBody>
          <a:bodyPr wrap="square" lIns="18000" anchor="ctr" anchorCtr="0">
            <a:spAutoFit/>
          </a:bodyPr>
          <a:lstStyle/>
          <a:p>
            <a:pPr latinLnBrk="0">
              <a:defRPr/>
            </a:pPr>
            <a:r>
              <a:rPr lang="ko-KR" altLang="en-US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■ 세부 진행 현황 </a:t>
            </a:r>
            <a:r>
              <a:rPr lang="en-US" altLang="ko-KR" sz="2000" b="1" dirty="0" smtClean="0">
                <a:latin typeface="현대하모니 B" panose="02020603020101020101" pitchFamily="18" charset="-127"/>
                <a:ea typeface="현대하모니 B" panose="02020603020101020101" pitchFamily="18" charset="-127"/>
                <a:cs typeface="Arial" panose="020B0604020202020204" pitchFamily="34" charset="0"/>
              </a:rPr>
              <a:t>LIST</a:t>
            </a:r>
            <a:endParaRPr lang="en-US" altLang="ko-KR" sz="2000" b="1" dirty="0">
              <a:latin typeface="현대하모니 B" panose="02020603020101020101" pitchFamily="18" charset="-127"/>
              <a:ea typeface="현대하모니 B" panose="02020603020101020101" pitchFamily="18" charset="-127"/>
              <a:cs typeface="Arial" panose="020B0604020202020204" pitchFamily="34" charset="0"/>
            </a:endParaRPr>
          </a:p>
        </p:txBody>
      </p:sp>
      <p:graphicFrame>
        <p:nvGraphicFramePr>
          <p:cNvPr id="82" name="표 8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823136609"/>
              </p:ext>
            </p:extLst>
          </p:nvPr>
        </p:nvGraphicFramePr>
        <p:xfrm>
          <a:off x="94545" y="662528"/>
          <a:ext cx="8983516" cy="5863620"/>
        </p:xfrm>
        <a:graphic>
          <a:graphicData uri="http://schemas.openxmlformats.org/drawingml/2006/table">
            <a:tbl>
              <a:tblPr/>
              <a:tblGrid>
                <a:gridCol w="222285">
                  <a:extLst>
                    <a:ext uri="{9D8B030D-6E8A-4147-A177-3AD203B41FA5}">
                      <a16:colId xmlns:a16="http://schemas.microsoft.com/office/drawing/2014/main" val="2008111482"/>
                    </a:ext>
                  </a:extLst>
                </a:gridCol>
                <a:gridCol w="818132">
                  <a:extLst>
                    <a:ext uri="{9D8B030D-6E8A-4147-A177-3AD203B41FA5}">
                      <a16:colId xmlns:a16="http://schemas.microsoft.com/office/drawing/2014/main" val="4039242413"/>
                    </a:ext>
                  </a:extLst>
                </a:gridCol>
                <a:gridCol w="2055927">
                  <a:extLst>
                    <a:ext uri="{9D8B030D-6E8A-4147-A177-3AD203B41FA5}">
                      <a16:colId xmlns:a16="http://schemas.microsoft.com/office/drawing/2014/main" val="2671064380"/>
                    </a:ext>
                  </a:extLst>
                </a:gridCol>
                <a:gridCol w="2520280">
                  <a:extLst>
                    <a:ext uri="{9D8B030D-6E8A-4147-A177-3AD203B41FA5}">
                      <a16:colId xmlns:a16="http://schemas.microsoft.com/office/drawing/2014/main" val="2051776316"/>
                    </a:ext>
                  </a:extLst>
                </a:gridCol>
                <a:gridCol w="598723">
                  <a:extLst>
                    <a:ext uri="{9D8B030D-6E8A-4147-A177-3AD203B41FA5}">
                      <a16:colId xmlns:a16="http://schemas.microsoft.com/office/drawing/2014/main" val="627558689"/>
                    </a:ext>
                  </a:extLst>
                </a:gridCol>
                <a:gridCol w="598723">
                  <a:extLst>
                    <a:ext uri="{9D8B030D-6E8A-4147-A177-3AD203B41FA5}">
                      <a16:colId xmlns:a16="http://schemas.microsoft.com/office/drawing/2014/main" val="1753768764"/>
                    </a:ext>
                  </a:extLst>
                </a:gridCol>
                <a:gridCol w="598723">
                  <a:extLst>
                    <a:ext uri="{9D8B030D-6E8A-4147-A177-3AD203B41FA5}">
                      <a16:colId xmlns:a16="http://schemas.microsoft.com/office/drawing/2014/main" val="3555270163"/>
                    </a:ext>
                  </a:extLst>
                </a:gridCol>
                <a:gridCol w="598723">
                  <a:extLst>
                    <a:ext uri="{9D8B030D-6E8A-4147-A177-3AD203B41FA5}">
                      <a16:colId xmlns:a16="http://schemas.microsoft.com/office/drawing/2014/main" val="1085563169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161815393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3023797080"/>
                    </a:ext>
                  </a:extLst>
                </a:gridCol>
                <a:gridCol w="324000">
                  <a:extLst>
                    <a:ext uri="{9D8B030D-6E8A-4147-A177-3AD203B41FA5}">
                      <a16:colId xmlns:a16="http://schemas.microsoft.com/office/drawing/2014/main" val="2113321841"/>
                    </a:ext>
                  </a:extLst>
                </a:gridCol>
              </a:tblGrid>
              <a:tr h="176820"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No.</a:t>
                      </a: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개발 내용</a:t>
                      </a: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업무 계획</a:t>
                      </a:r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세부 진행 사항</a:t>
                      </a: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Plan</a:t>
                      </a: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gridSpan="2"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Act</a:t>
                      </a: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gridSpan="3">
                  <a:txBody>
                    <a:bodyPr/>
                    <a:lstStyle/>
                    <a:p>
                      <a:pPr algn="ctr" fontAlgn="ctr"/>
                      <a:r>
                        <a:rPr lang="ko-KR" alt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비고</a:t>
                      </a: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rowSpan="2"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71502831"/>
                  </a:ext>
                </a:extLst>
              </a:tr>
              <a:tr h="176820">
                <a:tc vMerge="1">
                  <a:txBody>
                    <a:bodyPr/>
                    <a:lstStyle/>
                    <a:p>
                      <a:pPr latinLnBrk="1"/>
                      <a:endParaRPr lang="ko-KR" altLang="en-US" dirty="0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Start</a:t>
                      </a: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</a:t>
                      </a: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Start</a:t>
                      </a: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US" sz="700" b="1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End</a:t>
                      </a: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 gridSpan="3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 v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134817429"/>
                  </a:ext>
                </a:extLst>
              </a:tr>
              <a:tr h="20538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1</a:t>
                      </a: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25400" cap="flat" cmpd="dbl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pPr latinLnBrk="1"/>
                      <a:endParaRPr lang="ko-KR" alt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49098237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2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209226404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25535434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r>
                        <a:rPr lang="en-US" altLang="ko-KR" sz="700" b="0" i="0" u="none" strike="noStrike" dirty="0" smtClean="0">
                          <a:solidFill>
                            <a:srgbClr val="000000"/>
                          </a:solidFill>
                          <a:effectLst/>
                          <a:latin typeface="맑은 고딕" panose="020B0503020000020004" pitchFamily="50" charset="-127"/>
                          <a:ea typeface="맑은 고딕" panose="020B0503020000020004" pitchFamily="50" charset="-127"/>
                        </a:rPr>
                        <a:t>3</a:t>
                      </a:r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gridSpan="3"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 hMerge="1"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47305108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678320725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930453792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23355713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73468344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838090142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389818979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08100002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14088754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222050612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51553121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11581989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353840726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04750320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988283098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960974322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580175947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370651175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927662466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162677908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632546825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808645500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728309626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87070565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04287652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726985294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614006539"/>
                  </a:ext>
                </a:extLst>
              </a:tr>
              <a:tr h="176820"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ko-KR" altLang="en-US" sz="700" b="0" i="0" u="none" strike="noStrike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endParaRPr lang="en-US" altLang="ko-KR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7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>
                      <a:noFill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l" fontAlgn="ctr"/>
                      <a:endParaRPr lang="ko-KR" altLang="en-US" sz="300" b="0" i="0" u="none" strike="noStrike" dirty="0">
                        <a:solidFill>
                          <a:srgbClr val="000000"/>
                        </a:solidFill>
                        <a:effectLst/>
                        <a:latin typeface="맑은 고딕" panose="020B0503020000020004" pitchFamily="50" charset="-127"/>
                        <a:ea typeface="맑은 고딕" panose="020B0503020000020004" pitchFamily="50" charset="-127"/>
                      </a:endParaRPr>
                    </a:p>
                  </a:txBody>
                  <a:tcPr marL="2809" marR="2809" marT="2809" marB="0" anchor="ctr">
                    <a:lnL>
                      <a:noFill/>
                    </a:lnL>
                    <a:lnR w="1270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2829939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4052055511"/>
      </p:ext>
    </p:extLst>
  </p:cSld>
  <p:clrMapOvr>
    <a:masterClrMapping/>
  </p:clrMapOvr>
  <p:transition>
    <p:fade thruBlk="1"/>
  </p:transition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제안서 템플릿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맑은 고딕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2">
          <a:schemeClr val="accent6"/>
        </a:lnRef>
        <a:fillRef idx="1">
          <a:schemeClr val="lt1"/>
        </a:fillRef>
        <a:effectRef idx="0">
          <a:schemeClr val="accent6"/>
        </a:effectRef>
        <a:fontRef idx="minor">
          <a:schemeClr val="dk1"/>
        </a:fontRef>
      </a:style>
    </a:spDef>
    <a:lnDef>
      <a:spPr bwMode="auto">
        <a:xfrm>
          <a:off x="0" y="0"/>
          <a:ext cx="1" cy="1"/>
        </a:xfrm>
        <a:custGeom>
          <a:avLst/>
          <a:gdLst/>
          <a:ahLst/>
          <a:cxnLst/>
          <a:rect l="0" t="0" r="0" b="0"/>
          <a:pathLst/>
        </a:custGeom>
        <a:noFill/>
        <a:ln w="9525" cap="flat" cmpd="sng" algn="ctr">
          <a:noFill/>
          <a:prstDash val="solid"/>
          <a:round/>
          <a:headEnd type="none" w="med" len="med"/>
          <a:tailEnd type="none" w="med" len="med"/>
        </a:ln>
        <a:effectLst/>
      </a:spPr>
      <a:bodyPr vert="horz" wrap="square" lIns="91440" tIns="45720" rIns="91440" bIns="45720" numCol="1" anchor="t" anchorCtr="0" compatLnSpc="1">
        <a:prstTxWarp prst="textNoShape">
          <a:avLst/>
        </a:prstTxWarp>
        <a:spAutoFit/>
      </a:bodyPr>
      <a:lstStyle>
        <a:defPPr marL="0" marR="0" indent="0" algn="ctr" defTabSz="914400" rtl="0" eaLnBrk="1" fontAlgn="base" latinLnBrk="0" hangingPunct="1">
          <a:lnSpc>
            <a:spcPct val="100000"/>
          </a:lnSpc>
          <a:spcBef>
            <a:spcPct val="0"/>
          </a:spcBef>
          <a:spcAft>
            <a:spcPct val="0"/>
          </a:spcAft>
          <a:buClrTx/>
          <a:buSzTx/>
          <a:buFontTx/>
          <a:buNone/>
          <a:tabLst/>
          <a:defRPr kumimoji="0" lang="en-US" sz="1100" b="0" i="0" u="none" strike="noStrike" cap="none" normalizeH="0" baseline="0" smtClean="0">
            <a:ln>
              <a:noFill/>
            </a:ln>
            <a:solidFill>
              <a:schemeClr val="bg1"/>
            </a:solidFill>
            <a:effectLst/>
            <a:latin typeface="Verdana" pitchFamily="34" charset="0"/>
            <a:ea typeface="굴림" pitchFamily="50" charset="-127"/>
          </a:defRPr>
        </a:defPPr>
      </a:lstStyle>
    </a:lnDef>
  </a:objectDefaults>
  <a:extraClrSchemeLst>
    <a:extraClrScheme>
      <a:clrScheme name="제안서 템플릿 1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02AAE"/>
        </a:accent1>
        <a:accent2>
          <a:srgbClr val="CC5D36"/>
        </a:accent2>
        <a:accent3>
          <a:srgbClr val="FFFFFF"/>
        </a:accent3>
        <a:accent4>
          <a:srgbClr val="2A2A2A"/>
        </a:accent4>
        <a:accent5>
          <a:srgbClr val="ABACD3"/>
        </a:accent5>
        <a:accent6>
          <a:srgbClr val="B95330"/>
        </a:accent6>
        <a:hlink>
          <a:srgbClr val="1F7CD1"/>
        </a:hlink>
        <a:folHlink>
          <a:srgbClr val="6544CE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2">
        <a:dk1>
          <a:srgbClr val="333333"/>
        </a:dk1>
        <a:lt1>
          <a:srgbClr val="FFFFFF"/>
        </a:lt1>
        <a:dk2>
          <a:srgbClr val="FFFFFF"/>
        </a:dk2>
        <a:lt2>
          <a:srgbClr val="B2B2B2"/>
        </a:lt2>
        <a:accent1>
          <a:srgbClr val="2C8EC4"/>
        </a:accent1>
        <a:accent2>
          <a:srgbClr val="CFBE6B"/>
        </a:accent2>
        <a:accent3>
          <a:srgbClr val="FFFFFF"/>
        </a:accent3>
        <a:accent4>
          <a:srgbClr val="2A2A2A"/>
        </a:accent4>
        <a:accent5>
          <a:srgbClr val="ACC6DE"/>
        </a:accent5>
        <a:accent6>
          <a:srgbClr val="BBAC60"/>
        </a:accent6>
        <a:hlink>
          <a:srgbClr val="7047D7"/>
        </a:hlink>
        <a:folHlink>
          <a:srgbClr val="185A9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제안서 템플릿 3">
        <a:dk1>
          <a:srgbClr val="4D4D4D"/>
        </a:dk1>
        <a:lt1>
          <a:srgbClr val="FFFFFF"/>
        </a:lt1>
        <a:dk2>
          <a:srgbClr val="FFFFFF"/>
        </a:dk2>
        <a:lt2>
          <a:srgbClr val="B2B2B2"/>
        </a:lt2>
        <a:accent1>
          <a:srgbClr val="058089"/>
        </a:accent1>
        <a:accent2>
          <a:srgbClr val="99CC00"/>
        </a:accent2>
        <a:accent3>
          <a:srgbClr val="FFFFFF"/>
        </a:accent3>
        <a:accent4>
          <a:srgbClr val="404040"/>
        </a:accent4>
        <a:accent5>
          <a:srgbClr val="AAC0C4"/>
        </a:accent5>
        <a:accent6>
          <a:srgbClr val="8AB900"/>
        </a:accent6>
        <a:hlink>
          <a:srgbClr val="2CA9D0"/>
        </a:hlink>
        <a:folHlink>
          <a:srgbClr val="4841D9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테마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맑은 고딕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48593</TotalTime>
  <Words>2238</Words>
  <Application>Microsoft Office PowerPoint</Application>
  <PresentationFormat>화면 슬라이드 쇼(4:3)</PresentationFormat>
  <Paragraphs>756</Paragraphs>
  <Slides>14</Slides>
  <Notes>3</Notes>
  <HiddenSlides>0</HiddenSlides>
  <MMClips>0</MMClips>
  <ScaleCrop>false</ScaleCrop>
  <HeadingPairs>
    <vt:vector size="8" baseType="variant">
      <vt:variant>
        <vt:lpstr>사용한 글꼴</vt:lpstr>
      </vt:variant>
      <vt:variant>
        <vt:i4>10</vt:i4>
      </vt:variant>
      <vt:variant>
        <vt:lpstr>테마</vt:lpstr>
      </vt:variant>
      <vt:variant>
        <vt:i4>1</vt:i4>
      </vt:variant>
      <vt:variant>
        <vt:lpstr>연결</vt:lpstr>
      </vt:variant>
      <vt:variant>
        <vt:i4>3</vt:i4>
      </vt:variant>
      <vt:variant>
        <vt:lpstr>슬라이드 제목</vt:lpstr>
      </vt:variant>
      <vt:variant>
        <vt:i4>14</vt:i4>
      </vt:variant>
    </vt:vector>
  </HeadingPairs>
  <TitlesOfParts>
    <vt:vector size="28" baseType="lpstr">
      <vt:lpstr>굴림</vt:lpstr>
      <vt:lpstr>맑은 고딕</vt:lpstr>
      <vt:lpstr>현대하모니 B</vt:lpstr>
      <vt:lpstr>현대하모니 L</vt:lpstr>
      <vt:lpstr>현대하모니 M</vt:lpstr>
      <vt:lpstr>Arial</vt:lpstr>
      <vt:lpstr>Lucida Sans Unicode</vt:lpstr>
      <vt:lpstr>Tahoma</vt:lpstr>
      <vt:lpstr>Verdana</vt:lpstr>
      <vt:lpstr>Wingdings</vt:lpstr>
      <vt:lpstr>제안서 템플릿</vt:lpstr>
      <vt:lpstr>file:///C:\Users\user\Desktop\두견\3D-3\01_NEa%20PE_PTC%20HEATER%20ASSY_230216.CATProduct</vt:lpstr>
      <vt:lpstr>file:///C:\Users\user\Desktop\두견\3D-3\01_NEa%20PE_PTC%20HEATER%20ASSY_230216.CATProduct</vt:lpstr>
      <vt:lpstr>file:///C:\Users\user\Desktop\두견\3D-3\01_NEa%20PE_PTC%20HEATER%20ASSY_230216.CATProduct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슬라이드 1</dc:title>
  <dc:creator>Simon Jun</dc:creator>
  <cp:lastModifiedBy>Woory</cp:lastModifiedBy>
  <cp:revision>5052</cp:revision>
  <cp:lastPrinted>2024-04-29T08:56:20Z</cp:lastPrinted>
  <dcterms:created xsi:type="dcterms:W3CDTF">2019-10-24T04:42:23Z</dcterms:created>
  <dcterms:modified xsi:type="dcterms:W3CDTF">2026-04-08T13:24:45Z</dcterms:modified>
</cp:coreProperties>
</file>