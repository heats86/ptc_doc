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1" r:id="rId1"/>
  </p:sldMasterIdLst>
  <p:notesMasterIdLst>
    <p:notesMasterId r:id="rId3"/>
  </p:notesMasterIdLst>
  <p:handoutMasterIdLst>
    <p:handoutMasterId r:id="rId4"/>
  </p:handoutMasterIdLst>
  <p:sldIdLst>
    <p:sldId id="445" r:id="rId2"/>
  </p:sldIdLst>
  <p:sldSz cx="9144000" cy="6858000" type="screen4x3"/>
  <p:notesSz cx="6802438" cy="99345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1">
          <p15:clr>
            <a:srgbClr val="A4A3A4"/>
          </p15:clr>
        </p15:guide>
        <p15:guide id="2" orient="horz" pos="2069">
          <p15:clr>
            <a:srgbClr val="A4A3A4"/>
          </p15:clr>
        </p15:guide>
        <p15:guide id="3" orient="horz" pos="2976">
          <p15:clr>
            <a:srgbClr val="A4A3A4"/>
          </p15:clr>
        </p15:guide>
        <p15:guide id="4" pos="975">
          <p15:clr>
            <a:srgbClr val="A4A3A4"/>
          </p15:clr>
        </p15:guide>
        <p15:guide id="6" pos="4150">
          <p15:clr>
            <a:srgbClr val="A4A3A4"/>
          </p15:clr>
        </p15:guide>
        <p15:guide id="7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FF3300"/>
    <a:srgbClr val="FF99FF"/>
    <a:srgbClr val="FF33CC"/>
    <a:srgbClr val="FF3399"/>
    <a:srgbClr val="CCCCFF"/>
    <a:srgbClr val="3399FF"/>
    <a:srgbClr val="99CCFF"/>
    <a:srgbClr val="B6C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560" autoAdjust="0"/>
  </p:normalViewPr>
  <p:slideViewPr>
    <p:cSldViewPr snapToObjects="1">
      <p:cViewPr varScale="1">
        <p:scale>
          <a:sx n="111" d="100"/>
          <a:sy n="111" d="100"/>
        </p:scale>
        <p:origin x="1596" y="102"/>
      </p:cViewPr>
      <p:guideLst>
        <p:guide orient="horz" pos="1071"/>
        <p:guide orient="horz" pos="2069"/>
        <p:guide orient="horz" pos="2976"/>
        <p:guide pos="975"/>
        <p:guide pos="415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723" cy="49845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3141" y="0"/>
            <a:ext cx="2947723" cy="49845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7889-A84F-49D1-BD5A-0C9403740ED6}" type="datetimeFigureOut">
              <a:rPr lang="ko-KR" altLang="en-US" smtClean="0"/>
              <a:t>2025-07-14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23"/>
            <a:ext cx="2947723" cy="4984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3141" y="9436123"/>
            <a:ext cx="2947723" cy="4984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CC8F6-5469-4F2F-A461-25A096C9479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028876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723" cy="49845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3141" y="0"/>
            <a:ext cx="2947723" cy="49845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102FC6-FE94-47A7-84EE-A54FBD2777CB}" type="datetimeFigureOut">
              <a:rPr lang="ko-KR" altLang="en-US" smtClean="0"/>
              <a:t>2025-07-14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244" y="4781014"/>
            <a:ext cx="5441950" cy="39117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23"/>
            <a:ext cx="2947723" cy="4984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3141" y="9436123"/>
            <a:ext cx="2947723" cy="4984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94E65-097A-4CA0-B953-83BB7887CD7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814105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6"/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7" name="Freeform 38"/>
          <p:cNvSpPr>
            <a:spLocks/>
          </p:cNvSpPr>
          <p:nvPr userDrawn="1"/>
        </p:nvSpPr>
        <p:spPr bwMode="gray">
          <a:xfrm>
            <a:off x="0" y="3284984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8" name="Freeform 44"/>
          <p:cNvSpPr>
            <a:spLocks/>
          </p:cNvSpPr>
          <p:nvPr userDrawn="1"/>
        </p:nvSpPr>
        <p:spPr bwMode="gray">
          <a:xfrm>
            <a:off x="1908175" y="2276475"/>
            <a:ext cx="7240588" cy="1008509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pic>
        <p:nvPicPr>
          <p:cNvPr id="19" name="Picture 46"/>
          <p:cNvPicPr>
            <a:picLocks noChangeAspect="1" noChangeArrowheads="1"/>
          </p:cNvPicPr>
          <p:nvPr userDrawn="1"/>
        </p:nvPicPr>
        <p:blipFill>
          <a:blip r:embed="rId2" cstate="print"/>
          <a:srcRect l="36575" b="-2045"/>
          <a:stretch>
            <a:fillRect/>
          </a:stretch>
        </p:blipFill>
        <p:spPr bwMode="auto">
          <a:xfrm>
            <a:off x="252413" y="2655217"/>
            <a:ext cx="14986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388" y="2348880"/>
            <a:ext cx="1728316" cy="297581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323528" y="6604084"/>
            <a:ext cx="676875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900" dirty="0" smtClean="0">
                <a:solidFill>
                  <a:schemeClr val="bg1">
                    <a:lumMod val="65000"/>
                  </a:schemeClr>
                </a:solidFill>
                <a:latin typeface="Arial" charset="0"/>
                <a:cs typeface="Arial" charset="0"/>
              </a:rPr>
              <a:t>The information contained in this document may be privileged and confidential and thus protected from disclosure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13"/>
          <a:srcRect l="26775" t="20591" r="33426" b="72507"/>
          <a:stretch/>
        </p:blipFill>
        <p:spPr>
          <a:xfrm>
            <a:off x="7766135" y="6585166"/>
            <a:ext cx="1368152" cy="266957"/>
          </a:xfrm>
          <a:prstGeom prst="rect">
            <a:avLst/>
          </a:prstGeom>
        </p:spPr>
      </p:pic>
      <p:sp>
        <p:nvSpPr>
          <p:cNvPr id="7" name="Rectangle 36"/>
          <p:cNvSpPr>
            <a:spLocks noChangeArrowheads="1"/>
          </p:cNvSpPr>
          <p:nvPr userDrawn="1"/>
        </p:nvSpPr>
        <p:spPr bwMode="white">
          <a:xfrm>
            <a:off x="0" y="480312"/>
            <a:ext cx="543464" cy="60384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lang="ko-KR" altLang="en-US" dirty="0">
              <a:solidFill>
                <a:prstClr val="black"/>
              </a:solidFill>
              <a:latin typeface="Lucida Sans Unicode"/>
            </a:endParaRPr>
          </a:p>
        </p:txBody>
      </p:sp>
      <p:sp>
        <p:nvSpPr>
          <p:cNvPr id="8" name="Rectangle 36"/>
          <p:cNvSpPr>
            <a:spLocks noChangeArrowheads="1"/>
          </p:cNvSpPr>
          <p:nvPr userDrawn="1"/>
        </p:nvSpPr>
        <p:spPr bwMode="white">
          <a:xfrm>
            <a:off x="628650" y="480313"/>
            <a:ext cx="8515350" cy="603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9858" y="6516798"/>
            <a:ext cx="6768752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</a:pPr>
            <a:r>
              <a:rPr lang="ko-KR" altLang="en-US" sz="800" dirty="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lang="en-US" altLang="ko-KR" sz="800" dirty="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altLang="en-US" sz="800" dirty="0" smtClean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100"/>
              </a:lnSpc>
            </a:pPr>
            <a:r>
              <a:rPr lang="en-US" altLang="en-US" sz="800" dirty="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lang="ko-KR" altLang="en-US" sz="8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1"/>
          </a:solidFill>
          <a:latin typeface="+mj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4046" y="572982"/>
            <a:ext cx="4507852" cy="276999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t">
            <a:spAutoFit/>
          </a:bodyPr>
          <a:lstStyle/>
          <a:p>
            <a:r>
              <a:rPr lang="ko-KR" altLang="en-US" sz="1200" b="1" dirty="0" smtClean="0">
                <a:latin typeface="+mn-ea"/>
                <a:cs typeface="Arial" panose="020B0604020202020204" pitchFamily="34" charset="0"/>
              </a:rPr>
              <a:t>▣ 과거차 문제점 </a:t>
            </a:r>
            <a:r>
              <a:rPr lang="en-US" altLang="ko-KR" sz="1200" b="1" smtClean="0">
                <a:latin typeface="+mn-ea"/>
                <a:cs typeface="Arial" panose="020B0604020202020204" pitchFamily="34" charset="0"/>
              </a:rPr>
              <a:t>( S/W</a:t>
            </a:r>
            <a:r>
              <a:rPr lang="ko-KR" altLang="en-US" sz="1200" b="1" dirty="0" smtClean="0"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200" b="1" dirty="0" smtClean="0">
                <a:latin typeface="+mn-ea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179512" y="890249"/>
            <a:ext cx="8964488" cy="5602842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67300" y="898704"/>
            <a:ext cx="4507852" cy="246221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t">
            <a:spAutoFit/>
          </a:bodyPr>
          <a:lstStyle/>
          <a:p>
            <a:r>
              <a:rPr lang="ko-KR" altLang="en-US" sz="1000" b="1" dirty="0" smtClean="0">
                <a:latin typeface="+mn-ea"/>
                <a:cs typeface="Arial" panose="020B0604020202020204" pitchFamily="34" charset="0"/>
              </a:rPr>
              <a:t>□ 현상 </a:t>
            </a:r>
            <a:r>
              <a:rPr lang="en-US" altLang="ko-KR" sz="1000" b="1" dirty="0" smtClean="0">
                <a:latin typeface="+mn-ea"/>
                <a:cs typeface="Arial" panose="020B0604020202020204" pitchFamily="34" charset="0"/>
              </a:rPr>
              <a:t>:</a:t>
            </a:r>
            <a:r>
              <a:rPr lang="en-US" altLang="ko-KR" sz="1000" dirty="0" smtClean="0"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000" dirty="0" smtClean="0">
                <a:latin typeface="+mn-ea"/>
                <a:cs typeface="Arial" panose="020B0604020202020204" pitchFamily="34" charset="0"/>
              </a:rPr>
              <a:t>아래 상세 참조</a:t>
            </a:r>
            <a:endParaRPr lang="en-US" altLang="ko-KR" sz="1000" dirty="0" smtClean="0">
              <a:latin typeface="+mn-ea"/>
              <a:cs typeface="Arial" panose="020B0604020202020204" pitchFamily="34" charset="0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696879"/>
              </p:ext>
            </p:extLst>
          </p:nvPr>
        </p:nvGraphicFramePr>
        <p:xfrm>
          <a:off x="179512" y="1153378"/>
          <a:ext cx="8784977" cy="46580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0387">
                  <a:extLst>
                    <a:ext uri="{9D8B030D-6E8A-4147-A177-3AD203B41FA5}">
                      <a16:colId xmlns:a16="http://schemas.microsoft.com/office/drawing/2014/main" val="1362705316"/>
                    </a:ext>
                  </a:extLst>
                </a:gridCol>
                <a:gridCol w="643629">
                  <a:extLst>
                    <a:ext uri="{9D8B030D-6E8A-4147-A177-3AD203B41FA5}">
                      <a16:colId xmlns:a16="http://schemas.microsoft.com/office/drawing/2014/main" val="2069003397"/>
                    </a:ext>
                  </a:extLst>
                </a:gridCol>
                <a:gridCol w="1208232">
                  <a:extLst>
                    <a:ext uri="{9D8B030D-6E8A-4147-A177-3AD203B41FA5}">
                      <a16:colId xmlns:a16="http://schemas.microsoft.com/office/drawing/2014/main" val="3073199437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1055902446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1534646138"/>
                    </a:ext>
                  </a:extLst>
                </a:gridCol>
                <a:gridCol w="972772">
                  <a:extLst>
                    <a:ext uri="{9D8B030D-6E8A-4147-A177-3AD203B41FA5}">
                      <a16:colId xmlns:a16="http://schemas.microsoft.com/office/drawing/2014/main" val="3846267397"/>
                    </a:ext>
                  </a:extLst>
                </a:gridCol>
                <a:gridCol w="323373">
                  <a:extLst>
                    <a:ext uri="{9D8B030D-6E8A-4147-A177-3AD203B41FA5}">
                      <a16:colId xmlns:a16="http://schemas.microsoft.com/office/drawing/2014/main" val="3748027500"/>
                    </a:ext>
                  </a:extLst>
                </a:gridCol>
              </a:tblGrid>
              <a:tr h="2923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</a:t>
                      </a:r>
                      <a:r>
                        <a:rPr lang="ko-KR" altLang="en-US" sz="1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주요 인자 </a:t>
                      </a:r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발생부</a:t>
                      </a:r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문제점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발생원인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개선</a:t>
                      </a:r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적용 여부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664752"/>
                  </a:ext>
                </a:extLst>
              </a:tr>
              <a:tr h="95061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ko-KR" altLang="en-US" sz="8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로직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normalizeH="0" baseline="0" dirty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IGBT </a:t>
                      </a:r>
                      <a:r>
                        <a:rPr lang="ko-KR" altLang="en-US" sz="800" b="0" normalizeH="0" baseline="0" dirty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소자</a:t>
                      </a:r>
                      <a:endParaRPr lang="ko-KR" altLang="en-US" sz="800" b="0" normalizeH="0" baseline="0" dirty="0">
                        <a:solidFill>
                          <a:schemeClr val="tx1"/>
                        </a:solidFill>
                        <a:latin typeface="+mn-ea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급속충전 후 간헐적 </a:t>
                      </a:r>
                      <a:r>
                        <a:rPr lang="en-US" altLang="ko-KR" sz="80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IGBT DTC </a:t>
                      </a:r>
                      <a:r>
                        <a:rPr lang="ko-KR" altLang="en-US" sz="80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발생</a:t>
                      </a:r>
                      <a:endParaRPr lang="ko-KR" altLang="en-US" sz="800" b="0" normalizeH="0" baseline="0" dirty="0">
                        <a:solidFill>
                          <a:schemeClr val="tx1"/>
                        </a:solidFill>
                        <a:latin typeface="+mn-ea"/>
                        <a:ea typeface="현대하모니 L" panose="02020603020101020101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normalizeH="0" baseline="0" dirty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[</a:t>
                      </a:r>
                      <a:r>
                        <a:rPr lang="ko-KR" altLang="en-US" sz="800" b="0" normalizeH="0" baseline="0" dirty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설계</a:t>
                      </a:r>
                      <a:r>
                        <a:rPr lang="en-US" altLang="ko-KR" sz="800" b="0" normalizeH="0" baseline="0" dirty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현대하모니 L" panose="02020603020101020101"/>
                          <a:sym typeface="Wingdings" panose="05000000000000000000" pitchFamily="2" charset="2"/>
                        </a:rPr>
                        <a:t>충전 후 입력전압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현대하모니 L" panose="02020603020101020101"/>
                          <a:sym typeface="Wingdings" panose="05000000000000000000" pitchFamily="2" charset="2"/>
                        </a:rPr>
                        <a:t>(HV) 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현대하모니 L" panose="02020603020101020101"/>
                          <a:sym typeface="Wingdings" panose="05000000000000000000" pitchFamily="2" charset="2"/>
                        </a:rPr>
                        <a:t>감소 시 충전 전압 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현대하모니 L" panose="02020603020101020101"/>
                          <a:sym typeface="Wingdings" panose="05000000000000000000" pitchFamily="2" charset="2"/>
                        </a:rPr>
                        <a:t>&amp; PTC 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현대하모니 L" panose="02020603020101020101"/>
                          <a:sym typeface="Wingdings" panose="05000000000000000000" pitchFamily="2" charset="2"/>
                        </a:rPr>
                        <a:t>인식 전압 간 차이로 인한 </a:t>
                      </a: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현대하모니 L" panose="02020603020101020101"/>
                          <a:sym typeface="Wingdings" panose="05000000000000000000" pitchFamily="2" charset="2"/>
                        </a:rPr>
                        <a:t>가성불량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현대하모니 L" panose="02020603020101020101"/>
                          <a:sym typeface="Wingdings" panose="05000000000000000000" pitchFamily="2" charset="2"/>
                        </a:rPr>
                        <a:t> 발생</a:t>
                      </a:r>
                      <a:endParaRPr kumimoji="0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현대하모니 L" panose="02020603020101020101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normalizeH="0" baseline="0" dirty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[</a:t>
                      </a:r>
                      <a:r>
                        <a:rPr lang="ko-KR" altLang="en-US" sz="800" normalizeH="0" baseline="0" dirty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대책</a:t>
                      </a:r>
                      <a:r>
                        <a:rPr lang="en-US" altLang="ko-KR" sz="800" normalizeH="0" baseline="0" dirty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normalizeH="0" baseline="0" dirty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IGBT </a:t>
                      </a:r>
                      <a:r>
                        <a:rPr lang="ko-KR" altLang="en-US" sz="800" normalizeH="0" baseline="0" dirty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검사 </a:t>
                      </a:r>
                      <a:r>
                        <a:rPr lang="ko-KR" altLang="en-US" sz="800" normalizeH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유예시간</a:t>
                      </a:r>
                      <a:r>
                        <a:rPr lang="en-US" altLang="ko-KR" sz="800" normalizeH="0" baseline="0" dirty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(delay)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normalizeH="0" baseline="0" dirty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 : 250ms -&gt; </a:t>
                      </a:r>
                      <a:r>
                        <a:rPr lang="en-US" altLang="ko-KR" sz="80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1,000ms </a:t>
                      </a:r>
                      <a:r>
                        <a:rPr lang="ko-KR" altLang="en-US" sz="80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적용</a:t>
                      </a:r>
                      <a:endParaRPr lang="en-US" altLang="ko-KR" sz="800" normalizeH="0" baseline="0" dirty="0" smtClean="0">
                        <a:solidFill>
                          <a:schemeClr val="tx1"/>
                        </a:solidFill>
                        <a:latin typeface="+mn-ea"/>
                        <a:ea typeface="현대하모니 L" panose="02020603020101020101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○</a:t>
                      </a:r>
                      <a:endParaRPr lang="en-US" altLang="ko-KR" sz="800" b="0" normalizeH="0" baseline="0" smtClean="0">
                        <a:solidFill>
                          <a:schemeClr val="tx1"/>
                        </a:solidFill>
                        <a:latin typeface="+mn-ea"/>
                        <a:ea typeface="현대하모니 L" panose="02020603020101020101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50000"/>
                        </a:lnSpc>
                      </a:pP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289025"/>
                  </a:ext>
                </a:extLst>
              </a:tr>
              <a:tr h="672591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로직</a:t>
                      </a:r>
                      <a:endParaRPr lang="en-US" altLang="ko-KR" sz="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로컬 </a:t>
                      </a:r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CAN </a:t>
                      </a: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통신</a:t>
                      </a:r>
                      <a:endParaRPr lang="ko-KR" altLang="en-US" sz="800" b="0" normalizeH="0" baseline="0" dirty="0">
                        <a:solidFill>
                          <a:schemeClr val="tx1"/>
                        </a:solidFill>
                        <a:latin typeface="+mn-ea"/>
                        <a:ea typeface="현대하모니 L" panose="02020603020101020101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PTC </a:t>
                      </a: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입력 듀티 </a:t>
                      </a:r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50%</a:t>
                      </a: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이상 명령조건에서 </a:t>
                      </a:r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PTC OFF</a:t>
                      </a: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됨</a:t>
                      </a:r>
                      <a:endParaRPr lang="ko-KR" altLang="en-US" sz="800" b="0" normalizeH="0" baseline="0" dirty="0">
                        <a:solidFill>
                          <a:schemeClr val="tx1"/>
                        </a:solidFill>
                        <a:latin typeface="+mn-ea"/>
                        <a:ea typeface="현대하모니 L" panose="02020603020101020101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[</a:t>
                      </a: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설계</a:t>
                      </a:r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]</a:t>
                      </a:r>
                    </a:p>
                    <a:p>
                      <a:pPr algn="l" latinLnBrk="1"/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CAN Spec</a:t>
                      </a: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의 </a:t>
                      </a:r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Conversion rule </a:t>
                      </a: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미반영으로 인한 신호 오인식 </a:t>
                      </a:r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(VALUE </a:t>
                      </a: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값 에러 처리</a:t>
                      </a:r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[</a:t>
                      </a:r>
                      <a:r>
                        <a:rPr lang="ko-KR" altLang="en-US" sz="80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대책</a:t>
                      </a:r>
                      <a:r>
                        <a:rPr lang="en-US" altLang="ko-KR" sz="80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현대하모니 L" panose="02020603020101020101"/>
                          <a:cs typeface="+mn-cs"/>
                        </a:rPr>
                        <a:t>입력 듀티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현대하모니 L" panose="02020603020101020101"/>
                          <a:cs typeface="+mn-cs"/>
                        </a:rPr>
                        <a:t>50%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현대하모니 L" panose="02020603020101020101"/>
                          <a:cs typeface="+mn-cs"/>
                        </a:rPr>
                        <a:t>이상 명령 조건에서 정상 동작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현대하모니 L" panose="02020603020101020101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현대하모니 L" panose="02020603020101020101"/>
                          <a:cs typeface="+mn-cs"/>
                        </a:rPr>
                        <a:t>개선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현대하모니 L" panose="02020603020101020101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현대하모니 L" panose="02020603020101020101"/>
                          <a:cs typeface="+mn-cs"/>
                        </a:rPr>
                        <a:t>됨을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현대하모니 L" panose="02020603020101020101"/>
                          <a:cs typeface="+mn-cs"/>
                        </a:rPr>
                        <a:t>S/W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현대하모니 L" panose="02020603020101020101"/>
                          <a:cs typeface="+mn-cs"/>
                        </a:rPr>
                        <a:t>로직 검증을 통해 확인</a:t>
                      </a:r>
                      <a:endParaRPr kumimoji="0" lang="en-US" altLang="ko-KR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현대하모니 L" panose="02020603020101020101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○</a:t>
                      </a:r>
                      <a:endParaRPr lang="en-US" altLang="ko-KR" sz="800" b="0" normalizeH="0" baseline="0" smtClean="0">
                        <a:solidFill>
                          <a:schemeClr val="tx1"/>
                        </a:solidFill>
                        <a:latin typeface="+mn-ea"/>
                        <a:ea typeface="현대하모니 L" panose="02020603020101020101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50000"/>
                        </a:lnSpc>
                      </a:pP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5678"/>
                  </a:ext>
                </a:extLst>
              </a:tr>
              <a:tr h="71372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로직</a:t>
                      </a:r>
                      <a:endParaRPr lang="en-US" altLang="ko-KR" sz="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PCB </a:t>
                      </a: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과열 보호 로직</a:t>
                      </a:r>
                      <a:endParaRPr lang="ko-KR" altLang="en-US" sz="800" b="0" normalizeH="0" baseline="0" dirty="0">
                        <a:solidFill>
                          <a:schemeClr val="tx1"/>
                        </a:solidFill>
                        <a:latin typeface="+mn-ea"/>
                        <a:ea typeface="현대하모니 L" panose="02020603020101020101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MAX </a:t>
                      </a: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난방 평가 중 </a:t>
                      </a:r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PTC OFF </a:t>
                      </a: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발생</a:t>
                      </a:r>
                      <a:endParaRPr lang="en-US" altLang="ko-KR" sz="800" b="0" normalizeH="0" baseline="0" smtClean="0">
                        <a:solidFill>
                          <a:schemeClr val="tx1"/>
                        </a:solidFill>
                        <a:latin typeface="+mn-ea"/>
                        <a:ea typeface="현대하모니 L" panose="02020603020101020101"/>
                      </a:endParaRPr>
                    </a:p>
                    <a:p>
                      <a:pPr algn="l" latinLnBrk="1"/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(PTC Temp sensor Fault Flag </a:t>
                      </a: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발생</a:t>
                      </a:r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)</a:t>
                      </a:r>
                      <a:endParaRPr lang="ko-KR" altLang="en-US" sz="800" b="0" normalizeH="0" baseline="0" dirty="0">
                        <a:solidFill>
                          <a:schemeClr val="tx1"/>
                        </a:solidFill>
                        <a:latin typeface="+mn-ea"/>
                        <a:ea typeface="현대하모니 L" panose="02020603020101020101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[</a:t>
                      </a: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설계</a:t>
                      </a:r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]</a:t>
                      </a:r>
                    </a:p>
                    <a:p>
                      <a:pPr algn="l" latinLnBrk="1"/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PCB CUT OFF </a:t>
                      </a: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설정치 </a:t>
                      </a:r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SW</a:t>
                      </a: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오류</a:t>
                      </a:r>
                      <a:endParaRPr lang="en-US" altLang="ko-KR" sz="800" b="0" normalizeH="0" baseline="0" smtClean="0">
                        <a:solidFill>
                          <a:schemeClr val="tx1"/>
                        </a:solidFill>
                        <a:latin typeface="+mn-ea"/>
                        <a:ea typeface="현대하모니 L" panose="02020603020101020101"/>
                      </a:endParaRPr>
                    </a:p>
                    <a:p>
                      <a:pPr algn="l" latinLnBrk="1"/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(</a:t>
                      </a: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사양 </a:t>
                      </a:r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: 105</a:t>
                      </a: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도에서 </a:t>
                      </a:r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Failsafety </a:t>
                      </a: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진입 </a:t>
                      </a:r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/ </a:t>
                      </a: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부품 </a:t>
                      </a:r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: 63</a:t>
                      </a: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도에서 </a:t>
                      </a:r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Failsafety </a:t>
                      </a: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진입</a:t>
                      </a:r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[</a:t>
                      </a:r>
                      <a:r>
                        <a:rPr lang="ko-KR" altLang="en-US" sz="80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대책</a:t>
                      </a:r>
                      <a:r>
                        <a:rPr lang="en-US" altLang="ko-KR" sz="80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PCB CUT OFF 105</a:t>
                      </a: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℃ 설정</a:t>
                      </a:r>
                      <a:endParaRPr kumimoji="0" lang="en-US" altLang="ko-KR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현대하모니 L" panose="02020603020101020101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○</a:t>
                      </a:r>
                      <a:endParaRPr lang="en-US" altLang="ko-KR" sz="800" b="0" normalizeH="0" baseline="0" smtClean="0">
                        <a:solidFill>
                          <a:schemeClr val="tx1"/>
                        </a:solidFill>
                        <a:latin typeface="+mn-ea"/>
                        <a:ea typeface="현대하모니 L" panose="02020603020101020101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50000"/>
                        </a:lnSpc>
                      </a:pP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785515"/>
                  </a:ext>
                </a:extLst>
              </a:tr>
              <a:tr h="61084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로직</a:t>
                      </a:r>
                      <a:endParaRPr lang="en-US" altLang="ko-KR" sz="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IGBT PWM </a:t>
                      </a: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제어 로직</a:t>
                      </a:r>
                      <a:endParaRPr lang="ko-KR" altLang="en-US" sz="800" b="0" normalizeH="0" baseline="0" dirty="0">
                        <a:solidFill>
                          <a:schemeClr val="tx1"/>
                        </a:solidFill>
                        <a:latin typeface="+mn-ea"/>
                        <a:ea typeface="현대하모니 L" panose="02020603020101020101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PTC </a:t>
                      </a:r>
                      <a:r>
                        <a:rPr lang="ko-KR" altLang="en-US" sz="800" b="0" normalizeH="0" baseline="0" dirty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히터 과전류 </a:t>
                      </a:r>
                      <a:r>
                        <a:rPr lang="en-US" altLang="ko-KR" sz="800" b="0" normalizeH="0" baseline="0" dirty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Fault </a:t>
                      </a:r>
                      <a:r>
                        <a:rPr lang="ko-KR" altLang="en-US" sz="800" b="0" normalizeH="0" baseline="0" dirty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발생</a:t>
                      </a:r>
                      <a:endParaRPr lang="en-US" altLang="ko-KR" sz="800" b="0" normalizeH="0" baseline="0" dirty="0" smtClean="0">
                        <a:solidFill>
                          <a:schemeClr val="tx1"/>
                        </a:solidFill>
                        <a:latin typeface="+mn-ea"/>
                        <a:ea typeface="현대하모니 L" panose="02020603020101020101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normalizeH="0" baseline="0" dirty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-. Target Duty </a:t>
                      </a:r>
                      <a:r>
                        <a:rPr lang="ko-KR" altLang="en-US" sz="800" b="0" normalizeH="0" baseline="0" dirty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급속히 가변 시 </a:t>
                      </a:r>
                      <a:r>
                        <a:rPr lang="en-US" altLang="ko-KR" sz="800" b="0" normalizeH="0" baseline="0" dirty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IGBT Full Turn-On </a:t>
                      </a:r>
                      <a:r>
                        <a:rPr lang="ko-KR" altLang="en-US" sz="800" b="0" normalizeH="0" baseline="0" dirty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발생</a:t>
                      </a:r>
                      <a:endParaRPr lang="en-US" altLang="ko-KR" sz="800" b="0" normalizeH="0" baseline="0" dirty="0" smtClean="0">
                        <a:solidFill>
                          <a:schemeClr val="tx1"/>
                        </a:solidFill>
                        <a:latin typeface="+mn-ea"/>
                        <a:ea typeface="현대하모니 L" panose="02020603020101020101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à"/>
                      </a:pPr>
                      <a:r>
                        <a:rPr lang="ko-KR" altLang="en-US" sz="800" b="0" normalizeH="0" baseline="0" dirty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  <a:sym typeface="Wingdings" panose="05000000000000000000" pitchFamily="2" charset="2"/>
                        </a:rPr>
                        <a:t>돌입</a:t>
                      </a:r>
                      <a:r>
                        <a:rPr lang="en-US" altLang="ko-KR" sz="800" b="0" normalizeH="0" baseline="0" dirty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800" b="0" normalizeH="0" baseline="0" dirty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  <a:sym typeface="Wingdings" panose="05000000000000000000" pitchFamily="2" charset="2"/>
                        </a:rPr>
                        <a:t>전류에 의한 과전류 검출</a:t>
                      </a:r>
                      <a:endParaRPr lang="en-US" altLang="ko-KR" sz="800" b="0" normalizeH="0" baseline="0" dirty="0" smtClean="0">
                        <a:solidFill>
                          <a:schemeClr val="tx1"/>
                        </a:solidFill>
                        <a:latin typeface="+mn-ea"/>
                        <a:ea typeface="현대하모니 L" panose="02020603020101020101"/>
                        <a:sym typeface="Wingdings" panose="05000000000000000000" pitchFamily="2" charset="2"/>
                      </a:endParaRPr>
                    </a:p>
                    <a:p>
                      <a:pPr marL="0" indent="0" algn="l" latinLnBrk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800" b="0" normalizeH="0" baseline="0" dirty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  <a:sym typeface="Wingdings" panose="05000000000000000000" pitchFamily="2" charset="2"/>
                        </a:rPr>
                        <a:t>-. PWM Duty </a:t>
                      </a:r>
                      <a:r>
                        <a:rPr lang="ko-KR" altLang="en-US" sz="800" b="0" normalizeH="0" baseline="0" dirty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  <a:sym typeface="Wingdings" panose="05000000000000000000" pitchFamily="2" charset="2"/>
                        </a:rPr>
                        <a:t>연산 시 변수 </a:t>
                      </a:r>
                      <a:r>
                        <a:rPr lang="en-US" altLang="ko-KR" sz="800" b="0" normalizeH="0" baseline="0" dirty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  <a:sym typeface="Wingdings" panose="05000000000000000000" pitchFamily="2" charset="2"/>
                        </a:rPr>
                        <a:t>Under </a:t>
                      </a:r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  <a:sym typeface="Wingdings" panose="05000000000000000000" pitchFamily="2" charset="2"/>
                        </a:rPr>
                        <a:t>Flow </a:t>
                      </a: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  <a:sym typeface="Wingdings" panose="05000000000000000000" pitchFamily="2" charset="2"/>
                        </a:rPr>
                        <a:t>발생</a:t>
                      </a:r>
                      <a:endParaRPr lang="en-US" altLang="ko-KR" sz="800" b="0" normalizeH="0" baseline="0" smtClean="0">
                        <a:solidFill>
                          <a:schemeClr val="tx1"/>
                        </a:solidFill>
                        <a:latin typeface="+mn-ea"/>
                        <a:ea typeface="현대하모니 L" panose="02020603020101020101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[</a:t>
                      </a:r>
                      <a:r>
                        <a:rPr lang="ko-KR" altLang="en-US" sz="80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대책</a:t>
                      </a:r>
                      <a:r>
                        <a:rPr lang="en-US" altLang="ko-KR" sz="80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S/W </a:t>
                      </a: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로직 검토 및 제품 상태 검증 평가</a:t>
                      </a:r>
                      <a:endParaRPr lang="en-US" altLang="ko-KR" sz="800" b="0" normalizeH="0" baseline="0" smtClean="0">
                        <a:solidFill>
                          <a:schemeClr val="tx1"/>
                        </a:solidFill>
                        <a:latin typeface="+mn-ea"/>
                        <a:ea typeface="현대하모니 L" panose="02020603020101020101"/>
                      </a:endParaRPr>
                    </a:p>
                    <a:p>
                      <a:pPr algn="l" latinLnBrk="1"/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(</a:t>
                      </a: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목표 전력 </a:t>
                      </a:r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15</a:t>
                      </a: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초 이내 도달 하도록 </a:t>
                      </a:r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Soft-Start </a:t>
                      </a: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로직 적용</a:t>
                      </a:r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)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○</a:t>
                      </a:r>
                      <a:endParaRPr lang="en-US" altLang="ko-KR" sz="800" b="0" normalizeH="0" baseline="0" smtClean="0">
                        <a:solidFill>
                          <a:schemeClr val="tx1"/>
                        </a:solidFill>
                        <a:latin typeface="+mn-ea"/>
                        <a:ea typeface="현대하모니 L" panose="02020603020101020101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50000"/>
                        </a:lnSpc>
                      </a:pP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667089"/>
                  </a:ext>
                </a:extLst>
              </a:tr>
              <a:tr h="435959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로직</a:t>
                      </a:r>
                      <a:endParaRPr lang="en-US" altLang="ko-KR" sz="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IGBT PWM </a:t>
                      </a: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제어 로직</a:t>
                      </a:r>
                      <a:endParaRPr lang="ko-KR" altLang="en-US" sz="800" b="0" normalizeH="0" baseline="0" dirty="0">
                        <a:solidFill>
                          <a:schemeClr val="tx1"/>
                        </a:solidFill>
                        <a:latin typeface="+mn-ea"/>
                        <a:ea typeface="현대하모니 L" panose="02020603020101020101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MVa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현대하모니 L" panose="02020603020101020101"/>
                          <a:sym typeface="Wingdings" pitchFamily="2" charset="2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현대하모니 L" panose="02020603020101020101"/>
                          <a:sym typeface="Wingdings" pitchFamily="2" charset="2"/>
                        </a:rPr>
                        <a:t>리어 </a:t>
                      </a:r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PTC Duty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현대하모니 L" panose="02020603020101020101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0% </a:t>
                      </a:r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  <a:sym typeface="Wingdings" panose="05000000000000000000" pitchFamily="2" charset="2"/>
                        </a:rPr>
                        <a:t> 51%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현대하모니 L" panose="02020603020101020101"/>
                          <a:sym typeface="Wingdings" pitchFamily="2" charset="2"/>
                        </a:rPr>
                        <a:t>헌팅 함에 따라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현대하모니 L" panose="02020603020101020101"/>
                          <a:sym typeface="Wingdings" pitchFamily="2" charset="2"/>
                        </a:rPr>
                        <a:t> </a:t>
                      </a:r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3</a:t>
                      </a: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열 </a:t>
                      </a:r>
                      <a:r>
                        <a:rPr lang="en-US" altLang="ko-KR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FLT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현대하모니 L" panose="02020603020101020101"/>
                          <a:sym typeface="Wingdings" pitchFamily="2" charset="2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현대하모니 L" panose="02020603020101020101"/>
                          <a:sym typeface="Wingdings" pitchFamily="2" charset="2"/>
                        </a:rPr>
                        <a:t>토출온 변화 과다</a:t>
                      </a:r>
                      <a:endParaRPr lang="ko-KR" altLang="en-US" sz="800" b="0" normalizeH="0" baseline="0" dirty="0">
                        <a:solidFill>
                          <a:schemeClr val="tx1"/>
                        </a:solidFill>
                        <a:latin typeface="+mn-ea"/>
                        <a:ea typeface="현대하모니 L" panose="02020603020101020101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1" lang="en-US" altLang="ko-KR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현대하모니 L" panose="02020603020101020101"/>
                          <a:cs typeface="+mn-cs"/>
                        </a:rPr>
                        <a:t>Duty </a:t>
                      </a:r>
                      <a:r>
                        <a:rPr kumimoji="1" lang="ko-KR" altLang="en-US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현대하모니 L" panose="02020603020101020101"/>
                          <a:cs typeface="+mn-cs"/>
                        </a:rPr>
                        <a:t>변경 시 </a:t>
                      </a:r>
                      <a:r>
                        <a:rPr kumimoji="1" lang="en-US" altLang="ko-KR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현대하모니 L" panose="02020603020101020101"/>
                          <a:cs typeface="+mn-cs"/>
                        </a:rPr>
                        <a:t>Sampling Interval 100ms</a:t>
                      </a:r>
                      <a:r>
                        <a:rPr kumimoji="1" lang="ko-KR" altLang="en-US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현대하모니 L" panose="02020603020101020101"/>
                          <a:cs typeface="+mn-cs"/>
                        </a:rPr>
                        <a:t> 으로 반응속도 저하로 인한 오실레이션 발생</a:t>
                      </a:r>
                      <a:endParaRPr kumimoji="1" lang="en-US" altLang="ko-KR" sz="8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현대하모니 L" panose="02020603020101020101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[</a:t>
                      </a:r>
                      <a:r>
                        <a:rPr lang="ko-KR" altLang="en-US" sz="80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대책</a:t>
                      </a:r>
                      <a:r>
                        <a:rPr lang="en-US" altLang="ko-KR" sz="80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현대하모니 L" panose="02020603020101020101"/>
                          <a:cs typeface="+mn-cs"/>
                        </a:rPr>
                        <a:t>Duty </a:t>
                      </a:r>
                      <a:r>
                        <a:rPr kumimoji="1" lang="ko-KR" altLang="en-US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현대하모니 L" panose="02020603020101020101"/>
                          <a:cs typeface="+mn-cs"/>
                        </a:rPr>
                        <a:t>변경시 </a:t>
                      </a:r>
                      <a:r>
                        <a:rPr kumimoji="1" lang="en-US" altLang="ko-KR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현대하모니 L" panose="02020603020101020101"/>
                          <a:cs typeface="+mn-cs"/>
                        </a:rPr>
                        <a:t>Sampling Interval 10ms </a:t>
                      </a:r>
                      <a:r>
                        <a:rPr kumimoji="1" lang="ko-KR" altLang="en-US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현대하모니 L" panose="02020603020101020101"/>
                          <a:cs typeface="+mn-cs"/>
                        </a:rPr>
                        <a:t>적용</a:t>
                      </a:r>
                      <a:endParaRPr kumimoji="1" lang="en-US" altLang="ko-KR" sz="8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현대하모니 L" panose="02020603020101020101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normalizeH="0" baseline="0" smtClean="0">
                          <a:solidFill>
                            <a:schemeClr val="tx1"/>
                          </a:solidFill>
                          <a:latin typeface="+mn-ea"/>
                          <a:ea typeface="현대하모니 L" panose="02020603020101020101"/>
                        </a:rPr>
                        <a:t>○</a:t>
                      </a:r>
                      <a:endParaRPr lang="en-US" altLang="ko-KR" sz="800" b="0" normalizeH="0" baseline="0" smtClean="0">
                        <a:solidFill>
                          <a:schemeClr val="tx1"/>
                        </a:solidFill>
                        <a:latin typeface="+mn-ea"/>
                        <a:ea typeface="현대하모니 L" panose="02020603020101020101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50000"/>
                        </a:lnSpc>
                      </a:pP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532520"/>
                  </a:ext>
                </a:extLst>
              </a:tr>
              <a:tr h="47624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50000"/>
                        </a:lnSpc>
                      </a:pP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normalizeH="0" baseline="0" dirty="0">
                        <a:solidFill>
                          <a:schemeClr val="tx1"/>
                        </a:solidFill>
                        <a:latin typeface="+mn-ea"/>
                        <a:ea typeface="현대하모니 L" panose="02020603020101020101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normalizeH="0" baseline="0" dirty="0">
                        <a:solidFill>
                          <a:schemeClr val="tx1"/>
                        </a:solidFill>
                        <a:latin typeface="+mn-ea"/>
                        <a:ea typeface="현대하모니 L" panose="02020603020101020101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normalizeH="0" baseline="0" dirty="0">
                        <a:solidFill>
                          <a:schemeClr val="tx1"/>
                        </a:solidFill>
                        <a:latin typeface="+mn-ea"/>
                        <a:ea typeface="현대하모니 L" panose="02020603020101020101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normalizeH="0" baseline="0" smtClean="0">
                        <a:solidFill>
                          <a:schemeClr val="tx1"/>
                        </a:solidFill>
                        <a:latin typeface="+mn-ea"/>
                        <a:ea typeface="현대하모니 L" panose="02020603020101020101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50000"/>
                        </a:lnSpc>
                      </a:pP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7497652"/>
                  </a:ext>
                </a:extLst>
              </a:tr>
            </a:tbl>
          </a:graphicData>
        </a:graphic>
      </p:graphicFrame>
      <p:graphicFrame>
        <p:nvGraphicFramePr>
          <p:cNvPr id="7" name="개체 6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9349104"/>
              </p:ext>
            </p:extLst>
          </p:nvPr>
        </p:nvGraphicFramePr>
        <p:xfrm>
          <a:off x="8662988" y="5013176"/>
          <a:ext cx="3016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" name="프레젠테이션" showAsIcon="1" r:id="rId3" imgW="380880" imgH="771480" progId="PowerPoint.Show.12">
                  <p:embed/>
                </p:oleObj>
              </mc:Choice>
              <mc:Fallback>
                <p:oleObj name="프레젠테이션" showAsIcon="1" r:id="rId3" imgW="380880" imgH="771480" progId="PowerPoint.Show.12">
                  <p:embed/>
                  <p:pic>
                    <p:nvPicPr>
                      <p:cNvPr id="4" name="개체 3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662988" y="5013176"/>
                        <a:ext cx="301625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개체 7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8347936"/>
              </p:ext>
            </p:extLst>
          </p:nvPr>
        </p:nvGraphicFramePr>
        <p:xfrm>
          <a:off x="8661400" y="1803400"/>
          <a:ext cx="303213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" name="프레젠테이션" showAsIcon="1" r:id="rId5" imgW="380880" imgH="771480" progId="PowerPoint.Show.12">
                  <p:embed/>
                </p:oleObj>
              </mc:Choice>
              <mc:Fallback>
                <p:oleObj name="프레젠테이션" showAsIcon="1" r:id="rId5" imgW="380880" imgH="771480" progId="PowerPoint.Show.12">
                  <p:embed/>
                  <p:pic>
                    <p:nvPicPr>
                      <p:cNvPr id="2" name="개체 1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661400" y="1803400"/>
                        <a:ext cx="303213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직사각형 8"/>
          <p:cNvSpPr/>
          <p:nvPr/>
        </p:nvSpPr>
        <p:spPr>
          <a:xfrm>
            <a:off x="7852503" y="118575"/>
            <a:ext cx="1060913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100" dirty="0" smtClean="0">
                <a:solidFill>
                  <a:srgbClr val="FF0000"/>
                </a:solidFill>
              </a:rPr>
              <a:t>대   외   비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324794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1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4" charset="0"/>
            <a:ea typeface="굴림" pitchFamily="50" charset="-127"/>
          </a:defRPr>
        </a:defPPr>
      </a:lstStyle>
    </a:lnDef>
  </a:objectDefaults>
  <a:extraClrSchemeLst>
    <a:extraClrScheme>
      <a:clrScheme name="제안서 템플릿 1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02AAE"/>
        </a:accent1>
        <a:accent2>
          <a:srgbClr val="CC5D36"/>
        </a:accent2>
        <a:accent3>
          <a:srgbClr val="FFFFFF"/>
        </a:accent3>
        <a:accent4>
          <a:srgbClr val="2A2A2A"/>
        </a:accent4>
        <a:accent5>
          <a:srgbClr val="ABACD3"/>
        </a:accent5>
        <a:accent6>
          <a:srgbClr val="B95330"/>
        </a:accent6>
        <a:hlink>
          <a:srgbClr val="1F7CD1"/>
        </a:hlink>
        <a:folHlink>
          <a:srgbClr val="6544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2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C8EC4"/>
        </a:accent1>
        <a:accent2>
          <a:srgbClr val="CFBE6B"/>
        </a:accent2>
        <a:accent3>
          <a:srgbClr val="FFFFFF"/>
        </a:accent3>
        <a:accent4>
          <a:srgbClr val="2A2A2A"/>
        </a:accent4>
        <a:accent5>
          <a:srgbClr val="ACC6DE"/>
        </a:accent5>
        <a:accent6>
          <a:srgbClr val="BBAC60"/>
        </a:accent6>
        <a:hlink>
          <a:srgbClr val="7047D7"/>
        </a:hlink>
        <a:folHlink>
          <a:srgbClr val="185A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3">
        <a:dk1>
          <a:srgbClr val="4D4D4D"/>
        </a:dk1>
        <a:lt1>
          <a:srgbClr val="FFFFFF"/>
        </a:lt1>
        <a:dk2>
          <a:srgbClr val="FFFFFF"/>
        </a:dk2>
        <a:lt2>
          <a:srgbClr val="B2B2B2"/>
        </a:lt2>
        <a:accent1>
          <a:srgbClr val="058089"/>
        </a:accent1>
        <a:accent2>
          <a:srgbClr val="99CC00"/>
        </a:accent2>
        <a:accent3>
          <a:srgbClr val="FFFFFF"/>
        </a:accent3>
        <a:accent4>
          <a:srgbClr val="404040"/>
        </a:accent4>
        <a:accent5>
          <a:srgbClr val="AAC0C4"/>
        </a:accent5>
        <a:accent6>
          <a:srgbClr val="8AB900"/>
        </a:accent6>
        <a:hlink>
          <a:srgbClr val="2CA9D0"/>
        </a:hlink>
        <a:folHlink>
          <a:srgbClr val="4841D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31962</TotalTime>
  <Words>293</Words>
  <Application>Microsoft Office PowerPoint</Application>
  <PresentationFormat>화면 슬라이드 쇼(4:3)</PresentationFormat>
  <Paragraphs>60</Paragraphs>
  <Slides>1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굴림</vt:lpstr>
      <vt:lpstr>맑은 고딕</vt:lpstr>
      <vt:lpstr>현대하모니 L</vt:lpstr>
      <vt:lpstr>Arial</vt:lpstr>
      <vt:lpstr>Lucida Sans Unicode</vt:lpstr>
      <vt:lpstr>Verdana</vt:lpstr>
      <vt:lpstr>Wingdings</vt:lpstr>
      <vt:lpstr>제안서 템플릿</vt:lpstr>
      <vt:lpstr>프레젠테이션</vt:lpstr>
      <vt:lpstr>Microsoft 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Windows 사용자</cp:lastModifiedBy>
  <cp:revision>3667</cp:revision>
  <cp:lastPrinted>2020-03-27T01:05:18Z</cp:lastPrinted>
  <dcterms:created xsi:type="dcterms:W3CDTF">2019-10-24T04:42:23Z</dcterms:created>
  <dcterms:modified xsi:type="dcterms:W3CDTF">2025-07-14T04:24:51Z</dcterms:modified>
</cp:coreProperties>
</file>