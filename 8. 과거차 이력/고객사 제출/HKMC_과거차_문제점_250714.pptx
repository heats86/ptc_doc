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1" r:id="rId1"/>
  </p:sldMasterIdLst>
  <p:notesMasterIdLst>
    <p:notesMasterId r:id="rId3"/>
  </p:notesMasterIdLst>
  <p:handoutMasterIdLst>
    <p:handoutMasterId r:id="rId4"/>
  </p:handoutMasterIdLst>
  <p:sldIdLst>
    <p:sldId id="445" r:id="rId2"/>
  </p:sldIdLst>
  <p:sldSz cx="9144000" cy="6858000" type="screen4x3"/>
  <p:notesSz cx="6802438" cy="99345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1">
          <p15:clr>
            <a:srgbClr val="A4A3A4"/>
          </p15:clr>
        </p15:guide>
        <p15:guide id="2" orient="horz" pos="2069">
          <p15:clr>
            <a:srgbClr val="A4A3A4"/>
          </p15:clr>
        </p15:guide>
        <p15:guide id="3" orient="horz" pos="2976">
          <p15:clr>
            <a:srgbClr val="A4A3A4"/>
          </p15:clr>
        </p15:guide>
        <p15:guide id="4" pos="975">
          <p15:clr>
            <a:srgbClr val="A4A3A4"/>
          </p15:clr>
        </p15:guide>
        <p15:guide id="6" pos="4150">
          <p15:clr>
            <a:srgbClr val="A4A3A4"/>
          </p15:clr>
        </p15:guide>
        <p15:guide id="7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3300"/>
    <a:srgbClr val="FF99FF"/>
    <a:srgbClr val="FF33CC"/>
    <a:srgbClr val="FF3399"/>
    <a:srgbClr val="CCCCFF"/>
    <a:srgbClr val="3399FF"/>
    <a:srgbClr val="99CCFF"/>
    <a:srgbClr val="B6C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60" autoAdjust="0"/>
  </p:normalViewPr>
  <p:slideViewPr>
    <p:cSldViewPr snapToObjects="1">
      <p:cViewPr varScale="1">
        <p:scale>
          <a:sx n="114" d="100"/>
          <a:sy n="114" d="100"/>
        </p:scale>
        <p:origin x="1506" y="102"/>
      </p:cViewPr>
      <p:guideLst>
        <p:guide orient="horz" pos="1071"/>
        <p:guide orient="horz" pos="2069"/>
        <p:guide orient="horz" pos="2976"/>
        <p:guide pos="975"/>
        <p:guide pos="415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3141" y="0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7889-A84F-49D1-BD5A-0C9403740ED6}" type="datetimeFigureOut">
              <a:rPr lang="ko-KR" altLang="en-US" smtClean="0"/>
              <a:t>2026-04-14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23"/>
            <a:ext cx="2947723" cy="49845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3141" y="9436123"/>
            <a:ext cx="2947723" cy="49845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ACC8F6-5469-4F2F-A461-25A096C9479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028876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45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102FC6-FE94-47A7-84EE-A54FBD2777CB}" type="datetimeFigureOut">
              <a:rPr lang="ko-KR" altLang="en-US" smtClean="0"/>
              <a:t>2026-04-14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244" y="4781014"/>
            <a:ext cx="5441950" cy="39117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23"/>
            <a:ext cx="2947723" cy="49845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3141" y="9436123"/>
            <a:ext cx="2947723" cy="49845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94E65-097A-4CA0-B953-83BB7887CD7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1410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36"/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100" dirty="0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17" name="Freeform 38"/>
          <p:cNvSpPr>
            <a:spLocks/>
          </p:cNvSpPr>
          <p:nvPr userDrawn="1"/>
        </p:nvSpPr>
        <p:spPr bwMode="gray">
          <a:xfrm>
            <a:off x="0" y="3284984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100" dirty="0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18" name="Freeform 44"/>
          <p:cNvSpPr>
            <a:spLocks/>
          </p:cNvSpPr>
          <p:nvPr userDrawn="1"/>
        </p:nvSpPr>
        <p:spPr bwMode="gray">
          <a:xfrm>
            <a:off x="1908175" y="2276475"/>
            <a:ext cx="7240588" cy="1008509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endParaRPr lang="ko-KR" altLang="en-US" sz="1100" dirty="0">
              <a:solidFill>
                <a:srgbClr val="FFFFFF"/>
              </a:solidFill>
              <a:ea typeface="굴림" pitchFamily="50" charset="-127"/>
            </a:endParaRPr>
          </a:p>
        </p:txBody>
      </p:sp>
      <p:pic>
        <p:nvPicPr>
          <p:cNvPr id="19" name="Picture 46"/>
          <p:cNvPicPr>
            <a:picLocks noChangeAspect="1" noChangeArrowheads="1"/>
          </p:cNvPicPr>
          <p:nvPr userDrawn="1"/>
        </p:nvPicPr>
        <p:blipFill>
          <a:blip r:embed="rId2" cstate="print"/>
          <a:srcRect l="36575" b="-2045"/>
          <a:stretch>
            <a:fillRect/>
          </a:stretch>
        </p:blipFill>
        <p:spPr bwMode="auto">
          <a:xfrm>
            <a:off x="252413" y="2655217"/>
            <a:ext cx="1498600" cy="528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1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9388" y="2348880"/>
            <a:ext cx="1728316" cy="297581"/>
          </a:xfrm>
          <a:prstGeom prst="rect">
            <a:avLst/>
          </a:prstGeom>
          <a:noFill/>
          <a:ln w="1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323528" y="6604084"/>
            <a:ext cx="676875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900" dirty="0" smtClean="0">
                <a:solidFill>
                  <a:schemeClr val="bg1">
                    <a:lumMod val="65000"/>
                  </a:schemeClr>
                </a:solidFill>
                <a:latin typeface="Arial" charset="0"/>
                <a:cs typeface="Arial" charset="0"/>
              </a:rPr>
              <a:t>The information contained in this document may be privileged and confidential and thus protected from disclosure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13"/>
          <a:srcRect l="26775" t="20591" r="33426" b="72507"/>
          <a:stretch/>
        </p:blipFill>
        <p:spPr>
          <a:xfrm>
            <a:off x="7766135" y="6585166"/>
            <a:ext cx="1368152" cy="266957"/>
          </a:xfrm>
          <a:prstGeom prst="rect">
            <a:avLst/>
          </a:prstGeom>
        </p:spPr>
      </p:pic>
      <p:sp>
        <p:nvSpPr>
          <p:cNvPr id="7" name="Rectangle 36"/>
          <p:cNvSpPr>
            <a:spLocks noChangeArrowheads="1"/>
          </p:cNvSpPr>
          <p:nvPr userDrawn="1"/>
        </p:nvSpPr>
        <p:spPr bwMode="white">
          <a:xfrm>
            <a:off x="0" y="480312"/>
            <a:ext cx="543464" cy="60384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lang="ko-KR" altLang="en-US" dirty="0">
              <a:solidFill>
                <a:prstClr val="black"/>
              </a:solidFill>
              <a:latin typeface="Lucida Sans Unicode"/>
            </a:endParaRPr>
          </a:p>
        </p:txBody>
      </p:sp>
      <p:sp>
        <p:nvSpPr>
          <p:cNvPr id="8" name="Rectangle 36"/>
          <p:cNvSpPr>
            <a:spLocks noChangeArrowheads="1"/>
          </p:cNvSpPr>
          <p:nvPr userDrawn="1"/>
        </p:nvSpPr>
        <p:spPr bwMode="white">
          <a:xfrm>
            <a:off x="628650" y="480313"/>
            <a:ext cx="8515350" cy="6038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fontAlgn="base" latinLnBrk="0" hangingPunct="1">
              <a:spcBef>
                <a:spcPct val="0"/>
              </a:spcBef>
              <a:spcAft>
                <a:spcPct val="0"/>
              </a:spcAft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9858" y="6516798"/>
            <a:ext cx="6768752" cy="3744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</a:pPr>
            <a:r>
              <a:rPr lang="ko-KR" altLang="en-US" sz="800" dirty="0" smtClean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lang="en-US" altLang="ko-KR" sz="800" dirty="0" smtClean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US" altLang="en-US" sz="800" dirty="0" smtClean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100"/>
              </a:lnSpc>
            </a:pPr>
            <a:r>
              <a:rPr lang="en-US" altLang="en-US" sz="800" dirty="0" smtClean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lang="ko-KR" altLang="en-US" sz="8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/>
      </p:par>
    </p:tnLst>
  </p:timing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800">
          <a:solidFill>
            <a:schemeClr val="tx1"/>
          </a:solidFill>
          <a:latin typeface="+mj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44046" y="572982"/>
            <a:ext cx="4507852" cy="276999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t">
            <a:spAutoFit/>
          </a:bodyPr>
          <a:lstStyle/>
          <a:p>
            <a:r>
              <a:rPr lang="ko-KR" altLang="en-US" sz="1200" b="1" dirty="0" smtClean="0">
                <a:latin typeface="+mn-ea"/>
                <a:cs typeface="Arial" panose="020B0604020202020204" pitchFamily="34" charset="0"/>
              </a:rPr>
              <a:t>▣ 과거차 문제점 </a:t>
            </a:r>
            <a:r>
              <a:rPr lang="en-US" altLang="ko-KR" sz="1200" b="1" dirty="0" smtClean="0">
                <a:latin typeface="+mn-ea"/>
                <a:cs typeface="Arial" panose="020B0604020202020204" pitchFamily="34" charset="0"/>
              </a:rPr>
              <a:t>(S/W)</a:t>
            </a:r>
            <a:endParaRPr lang="en-US" altLang="ko-KR" sz="1200" b="1" dirty="0" smtClean="0">
              <a:latin typeface="+mn-ea"/>
              <a:cs typeface="Arial" panose="020B0604020202020204" pitchFamily="34" charset="0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84078" y="890249"/>
            <a:ext cx="8969196" cy="4987023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/>
          <p:cNvSpPr txBox="1"/>
          <p:nvPr/>
        </p:nvSpPr>
        <p:spPr>
          <a:xfrm>
            <a:off x="67300" y="898704"/>
            <a:ext cx="4507852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t">
            <a:spAutoFit/>
          </a:bodyPr>
          <a:lstStyle/>
          <a:p>
            <a:r>
              <a:rPr lang="ko-KR" altLang="en-US" sz="1000" b="1" dirty="0" smtClean="0">
                <a:latin typeface="+mn-ea"/>
                <a:cs typeface="Arial" panose="020B0604020202020204" pitchFamily="34" charset="0"/>
              </a:rPr>
              <a:t>□ 현상 </a:t>
            </a:r>
            <a:r>
              <a:rPr lang="en-US" altLang="ko-KR" sz="1000" b="1" dirty="0" smtClean="0">
                <a:latin typeface="+mn-ea"/>
                <a:cs typeface="Arial" panose="020B0604020202020204" pitchFamily="34" charset="0"/>
              </a:rPr>
              <a:t>:</a:t>
            </a:r>
            <a:r>
              <a:rPr lang="en-US" altLang="ko-KR" sz="1000" dirty="0" smtClean="0">
                <a:latin typeface="+mn-ea"/>
                <a:cs typeface="Arial" panose="020B0604020202020204" pitchFamily="34" charset="0"/>
              </a:rPr>
              <a:t> </a:t>
            </a:r>
            <a:r>
              <a:rPr lang="ko-KR" altLang="en-US" sz="1000" dirty="0" smtClean="0">
                <a:latin typeface="+mn-ea"/>
                <a:cs typeface="Arial" panose="020B0604020202020204" pitchFamily="34" charset="0"/>
              </a:rPr>
              <a:t>아래 상세 참조</a:t>
            </a:r>
            <a:endParaRPr lang="en-US" altLang="ko-KR" sz="1000" dirty="0" smtClean="0">
              <a:latin typeface="+mn-ea"/>
              <a:cs typeface="Arial" panose="020B0604020202020204" pitchFamily="34" charset="0"/>
            </a:endParaRP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696879"/>
              </p:ext>
            </p:extLst>
          </p:nvPr>
        </p:nvGraphicFramePr>
        <p:xfrm>
          <a:off x="179512" y="1153378"/>
          <a:ext cx="8784977" cy="46580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0387">
                  <a:extLst>
                    <a:ext uri="{9D8B030D-6E8A-4147-A177-3AD203B41FA5}">
                      <a16:colId xmlns:a16="http://schemas.microsoft.com/office/drawing/2014/main" val="1362705316"/>
                    </a:ext>
                  </a:extLst>
                </a:gridCol>
                <a:gridCol w="643629">
                  <a:extLst>
                    <a:ext uri="{9D8B030D-6E8A-4147-A177-3AD203B41FA5}">
                      <a16:colId xmlns:a16="http://schemas.microsoft.com/office/drawing/2014/main" val="2069003397"/>
                    </a:ext>
                  </a:extLst>
                </a:gridCol>
                <a:gridCol w="1208232">
                  <a:extLst>
                    <a:ext uri="{9D8B030D-6E8A-4147-A177-3AD203B41FA5}">
                      <a16:colId xmlns:a16="http://schemas.microsoft.com/office/drawing/2014/main" val="3073199437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055902446"/>
                    </a:ext>
                  </a:extLst>
                </a:gridCol>
                <a:gridCol w="3528392">
                  <a:extLst>
                    <a:ext uri="{9D8B030D-6E8A-4147-A177-3AD203B41FA5}">
                      <a16:colId xmlns:a16="http://schemas.microsoft.com/office/drawing/2014/main" val="1534646138"/>
                    </a:ext>
                  </a:extLst>
                </a:gridCol>
                <a:gridCol w="972772">
                  <a:extLst>
                    <a:ext uri="{9D8B030D-6E8A-4147-A177-3AD203B41FA5}">
                      <a16:colId xmlns:a16="http://schemas.microsoft.com/office/drawing/2014/main" val="3846267397"/>
                    </a:ext>
                  </a:extLst>
                </a:gridCol>
                <a:gridCol w="323373">
                  <a:extLst>
                    <a:ext uri="{9D8B030D-6E8A-4147-A177-3AD203B41FA5}">
                      <a16:colId xmlns:a16="http://schemas.microsoft.com/office/drawing/2014/main" val="3748027500"/>
                    </a:ext>
                  </a:extLst>
                </a:gridCol>
              </a:tblGrid>
              <a:tr h="29238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u="none" strike="noStrike" dirty="0">
                          <a:effectLst/>
                          <a:latin typeface="+mn-ea"/>
                          <a:ea typeface="+mn-ea"/>
                        </a:rPr>
                        <a:t>No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</a:t>
                      </a:r>
                      <a:r>
                        <a:rPr lang="ko-KR" altLang="en-US" sz="1000" b="1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  </a:t>
                      </a:r>
                      <a:r>
                        <a:rPr lang="ko-KR" altLang="en-US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주요 인자 </a:t>
                      </a:r>
                      <a:r>
                        <a:rPr lang="en-US" altLang="ko-KR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발생부</a:t>
                      </a:r>
                      <a:r>
                        <a:rPr lang="en-US" altLang="ko-KR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u="none" strike="noStrike" dirty="0">
                          <a:effectLst/>
                          <a:latin typeface="+mn-ea"/>
                          <a:ea typeface="+mn-ea"/>
                        </a:rPr>
                        <a:t>문제점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u="none" strike="noStrike" dirty="0">
                          <a:effectLst/>
                          <a:latin typeface="+mn-ea"/>
                          <a:ea typeface="+mn-ea"/>
                        </a:rPr>
                        <a:t>발생원인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i="0" u="none" strike="noStrike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개선</a:t>
                      </a:r>
                      <a:r>
                        <a:rPr lang="en-US" altLang="ko-KR" sz="1000" b="1" i="0" u="none" strike="noStrike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000" b="1" i="0" u="none" strike="noStrike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 여부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1" u="none" strike="noStrike" dirty="0">
                          <a:effectLst/>
                          <a:latin typeface="+mn-ea"/>
                          <a:ea typeface="+mn-ea"/>
                        </a:rPr>
                        <a:t>비고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664752"/>
                  </a:ext>
                </a:extLst>
              </a:tr>
              <a:tr h="95061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r>
                        <a:rPr lang="ko-KR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로직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소자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급속충전 후 간헐적 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DTC 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발생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설계</a:t>
                      </a: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충전 후 입력전압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(HV)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감소 시 충전 전압 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&amp; PTC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인식 전압 간 차이로 인한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가성불량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 발생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현대하모니 L" panose="02020603020101020101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대책</a:t>
                      </a:r>
                      <a:r>
                        <a:rPr lang="en-US" altLang="ko-KR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</a:t>
                      </a:r>
                      <a:r>
                        <a:rPr lang="ko-KR" altLang="en-US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검사 </a:t>
                      </a:r>
                      <a:r>
                        <a:rPr lang="ko-KR" altLang="en-US" sz="800" normalizeH="0" baseline="0" dirty="0" err="1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유예시간</a:t>
                      </a:r>
                      <a:r>
                        <a:rPr lang="en-US" altLang="ko-KR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(delay)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 : 250ms -&gt; 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1,000ms 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적용</a:t>
                      </a:r>
                      <a:endParaRPr lang="en-US" altLang="ko-KR" sz="800" normalizeH="0" baseline="0" dirty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○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289025"/>
                  </a:ext>
                </a:extLst>
              </a:tr>
              <a:tr h="672591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</a:t>
                      </a:r>
                      <a:endParaRPr lang="en-US" altLang="ko-K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로컬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CAN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통신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PTC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입력 듀티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50%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이상 명령조건에서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PTC OFF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됨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설계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CAN Spec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의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Conversion rule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미반영으로 인한 신호 오인식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(VALUE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값 에러 처리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대책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입력 듀티 </a:t>
                      </a: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50% </a:t>
                      </a: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이상 명령 조건에서 정상 동작 </a:t>
                      </a: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개선</a:t>
                      </a: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됨을 </a:t>
                      </a: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S/W </a:t>
                      </a: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ea"/>
                          <a:ea typeface="현대하모니 L" panose="02020603020101020101"/>
                          <a:cs typeface="+mn-cs"/>
                        </a:rPr>
                        <a:t>로직 검증을 통해 확인</a:t>
                      </a:r>
                      <a:endParaRPr kumimoji="0" lang="en-US" altLang="ko-KR" sz="8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ea"/>
                        <a:ea typeface="현대하모니 L" panose="02020603020101020101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○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5678"/>
                  </a:ext>
                </a:extLst>
              </a:tr>
              <a:tr h="713727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</a:t>
                      </a:r>
                      <a:endParaRPr lang="en-US" altLang="ko-K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PCB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과열 보호 로직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MAX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난방 평가 중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PTC OFF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발생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(PTC Temp sensor Fault Flag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발생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)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설계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PCB CUT OFF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설정치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SW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오류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(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사양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: 105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도에서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Failsafety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진입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/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부품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: 63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도에서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Failsafety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진입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대책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PCB CUT OFF 105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℃ 설정</a:t>
                      </a:r>
                      <a:endParaRPr kumimoji="0" lang="en-US" altLang="ko-KR" sz="8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현대하모니 L" panose="02020603020101020101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○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5785515"/>
                  </a:ext>
                </a:extLst>
              </a:tr>
              <a:tr h="610847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</a:t>
                      </a:r>
                      <a:endParaRPr lang="en-US" altLang="ko-K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PWM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제어 로직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PTC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히터 과전류 </a:t>
                      </a: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Fault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발생</a:t>
                      </a:r>
                      <a:endParaRPr lang="en-US" altLang="ko-KR" sz="800" b="0" normalizeH="0" baseline="0" dirty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-. Target Duty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급속히 가변 시 </a:t>
                      </a: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Full Turn-On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발생</a:t>
                      </a:r>
                      <a:endParaRPr lang="en-US" altLang="ko-KR" sz="800" b="0" normalizeH="0" baseline="0" dirty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  <a:p>
                      <a:pPr marL="171450" indent="-171450" algn="l" latinLnBrk="1">
                        <a:buFont typeface="Wingdings" panose="05000000000000000000" pitchFamily="2" charset="2"/>
                        <a:buChar char="à"/>
                      </a:pP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돌입</a:t>
                      </a: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전류에 의한 과전류 검출</a:t>
                      </a:r>
                      <a:endParaRPr lang="en-US" altLang="ko-KR" sz="800" b="0" normalizeH="0" baseline="0" dirty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  <a:sym typeface="Wingdings" panose="05000000000000000000" pitchFamily="2" charset="2"/>
                      </a:endParaRPr>
                    </a:p>
                    <a:p>
                      <a:pPr marL="0" indent="0" algn="l" latinLnBrk="1">
                        <a:buFont typeface="Wingdings" panose="05000000000000000000" pitchFamily="2" charset="2"/>
                        <a:buNone/>
                      </a:pP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-. PWM Duty </a:t>
                      </a:r>
                      <a:r>
                        <a:rPr lang="ko-KR" altLang="en-US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연산 시 변수 </a:t>
                      </a:r>
                      <a:r>
                        <a:rPr lang="en-US" altLang="ko-KR" sz="800" b="0" normalizeH="0" baseline="0" dirty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Under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Flow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발생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대책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S/W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 검토 및 제품 상태 검증 평가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(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목표 전력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15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초 이내 도달 하도록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Soft-Start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 적용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)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○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5667089"/>
                  </a:ext>
                </a:extLst>
              </a:tr>
              <a:tr h="435959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r>
                        <a:rPr lang="en-US" altLang="ko-KR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로직</a:t>
                      </a:r>
                      <a:endParaRPr lang="en-US" altLang="ko-K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IGBT PWM 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제어 로직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MVa</a:t>
                      </a:r>
                      <a:r>
                        <a:rPr kumimoji="1" lang="en-US" altLang="ko-KR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 </a:t>
                      </a:r>
                      <a:r>
                        <a:rPr kumimoji="1" lang="ko-KR" altLang="en-US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리어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PTC Duty</a:t>
                      </a:r>
                      <a:endParaRPr kumimoji="1" lang="en-US" altLang="ko-KR" sz="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현대하모니 L" panose="02020603020101020101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0%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  <a:sym typeface="Wingdings" panose="05000000000000000000" pitchFamily="2" charset="2"/>
                        </a:rPr>
                        <a:t> 51% </a:t>
                      </a:r>
                      <a:r>
                        <a:rPr kumimoji="1" lang="ko-KR" altLang="en-US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헌팅 함에 따라</a:t>
                      </a:r>
                      <a:r>
                        <a:rPr kumimoji="1" lang="en-US" altLang="ko-KR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3</a:t>
                      </a: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열 </a:t>
                      </a:r>
                      <a:r>
                        <a:rPr lang="en-US" altLang="ko-KR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FLT</a:t>
                      </a:r>
                      <a:r>
                        <a:rPr kumimoji="1" lang="en-US" altLang="ko-KR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 </a:t>
                      </a:r>
                      <a:r>
                        <a:rPr kumimoji="1" lang="ko-KR" altLang="en-US" sz="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sym typeface="Wingdings" pitchFamily="2" charset="2"/>
                        </a:rPr>
                        <a:t>토출온 변화 과다</a:t>
                      </a: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1" lang="en-US" altLang="ko-KR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Duty </a:t>
                      </a:r>
                      <a:r>
                        <a:rPr kumimoji="1" lang="ko-KR" altLang="en-US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변경 시 </a:t>
                      </a:r>
                      <a:r>
                        <a:rPr kumimoji="1" lang="en-US" altLang="ko-KR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Sampling Interval 100ms</a:t>
                      </a:r>
                      <a:r>
                        <a:rPr kumimoji="1" lang="ko-KR" altLang="en-US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 으로 반응속도 저하로 인한 오실레이션 발생</a:t>
                      </a:r>
                      <a:endParaRPr kumimoji="1" lang="en-US" altLang="ko-KR" sz="8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현대하모니 L" panose="02020603020101020101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[</a:t>
                      </a:r>
                      <a:r>
                        <a:rPr lang="ko-KR" altLang="en-US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대책</a:t>
                      </a:r>
                      <a:r>
                        <a:rPr lang="en-US" altLang="ko-KR" sz="80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]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Duty </a:t>
                      </a:r>
                      <a:r>
                        <a:rPr kumimoji="1" lang="ko-KR" altLang="en-US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변경시 </a:t>
                      </a:r>
                      <a:r>
                        <a:rPr kumimoji="1" lang="en-US" altLang="ko-KR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Sampling Interval 10ms </a:t>
                      </a:r>
                      <a:r>
                        <a:rPr kumimoji="1" lang="ko-KR" altLang="en-US" sz="8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현대하모니 L" panose="02020603020101020101"/>
                          <a:cs typeface="+mn-cs"/>
                        </a:rPr>
                        <a:t>적용</a:t>
                      </a:r>
                      <a:endParaRPr kumimoji="1" lang="en-US" altLang="ko-KR" sz="8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현대하모니 L" panose="02020603020101020101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normalizeH="0" baseline="0" smtClean="0">
                          <a:solidFill>
                            <a:schemeClr val="tx1"/>
                          </a:solidFill>
                          <a:latin typeface="+mn-ea"/>
                          <a:ea typeface="현대하모니 L" panose="02020603020101020101"/>
                        </a:rPr>
                        <a:t>○</a:t>
                      </a: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532520"/>
                  </a:ext>
                </a:extLst>
              </a:tr>
              <a:tr h="476247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normalizeH="0" baseline="0" dirty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normalizeH="0" baseline="0" smtClean="0">
                        <a:solidFill>
                          <a:schemeClr val="tx1"/>
                        </a:solidFill>
                        <a:latin typeface="+mn-ea"/>
                        <a:ea typeface="현대하모니 L" panose="02020603020101020101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lnSpc>
                          <a:spcPct val="150000"/>
                        </a:lnSpc>
                      </a:pP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497652"/>
                  </a:ext>
                </a:extLst>
              </a:tr>
            </a:tbl>
          </a:graphicData>
        </a:graphic>
      </p:graphicFrame>
      <p:graphicFrame>
        <p:nvGraphicFramePr>
          <p:cNvPr id="7" name="개체 6">
            <a:hlinkClick r:id="" action="ppaction://ole?verb=0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895435"/>
              </p:ext>
            </p:extLst>
          </p:nvPr>
        </p:nvGraphicFramePr>
        <p:xfrm>
          <a:off x="8662988" y="5013176"/>
          <a:ext cx="301625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6" name="프레젠테이션" showAsIcon="1" r:id="rId3" imgW="380880" imgH="771480" progId="PowerPoint.Show.12">
                  <p:embed/>
                </p:oleObj>
              </mc:Choice>
              <mc:Fallback>
                <p:oleObj name="프레젠테이션" showAsIcon="1" r:id="rId3" imgW="380880" imgH="771480" progId="PowerPoint.Show.12">
                  <p:embed/>
                  <p:pic>
                    <p:nvPicPr>
                      <p:cNvPr id="4" name="개체 3">
                        <a:hlinkClick r:id="" action="ppaction://ole?verb=0"/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662988" y="5013176"/>
                        <a:ext cx="301625" cy="609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개체 7">
            <a:hlinkClick r:id="" action="ppaction://ole?verb=0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4746909"/>
              </p:ext>
            </p:extLst>
          </p:nvPr>
        </p:nvGraphicFramePr>
        <p:xfrm>
          <a:off x="8662988" y="1803400"/>
          <a:ext cx="30162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7" name="프레젠테이션" showAsIcon="1" r:id="rId5" imgW="380880" imgH="771480" progId="PowerPoint.Show.12">
                  <p:embed/>
                </p:oleObj>
              </mc:Choice>
              <mc:Fallback>
                <p:oleObj name="프레젠테이션" showAsIcon="1" r:id="rId5" imgW="380880" imgH="771480" progId="PowerPoint.Show.12">
                  <p:embed/>
                  <p:pic>
                    <p:nvPicPr>
                      <p:cNvPr id="2" name="개체 1">
                        <a:hlinkClick r:id="" action="ppaction://ole?verb=0"/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662988" y="1803400"/>
                        <a:ext cx="301625" cy="596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직사각형 8"/>
          <p:cNvSpPr/>
          <p:nvPr/>
        </p:nvSpPr>
        <p:spPr>
          <a:xfrm>
            <a:off x="7852503" y="118575"/>
            <a:ext cx="1060913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dirty="0" smtClean="0">
                <a:solidFill>
                  <a:srgbClr val="FF0000"/>
                </a:solidFill>
              </a:rPr>
              <a:t>대   외   비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3247945"/>
      </p:ext>
    </p:extLst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1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  <a:ea typeface="굴림" pitchFamily="50" charset="-127"/>
          </a:defRPr>
        </a:defPPr>
      </a:lstStyle>
    </a:lnDef>
  </a:objectDefaults>
  <a:extraClrSchemeLst>
    <a:extraClrScheme>
      <a:clrScheme name="제안서 템플릿 1">
        <a:dk1>
          <a:srgbClr val="333333"/>
        </a:dk1>
        <a:lt1>
          <a:srgbClr val="FFFFFF"/>
        </a:lt1>
        <a:dk2>
          <a:srgbClr val="FFFFFF"/>
        </a:dk2>
        <a:lt2>
          <a:srgbClr val="B2B2B2"/>
        </a:lt2>
        <a:accent1>
          <a:srgbClr val="202AAE"/>
        </a:accent1>
        <a:accent2>
          <a:srgbClr val="CC5D36"/>
        </a:accent2>
        <a:accent3>
          <a:srgbClr val="FFFFFF"/>
        </a:accent3>
        <a:accent4>
          <a:srgbClr val="2A2A2A"/>
        </a:accent4>
        <a:accent5>
          <a:srgbClr val="ABACD3"/>
        </a:accent5>
        <a:accent6>
          <a:srgbClr val="B95330"/>
        </a:accent6>
        <a:hlink>
          <a:srgbClr val="1F7CD1"/>
        </a:hlink>
        <a:folHlink>
          <a:srgbClr val="6544C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제안서 템플릿 2">
        <a:dk1>
          <a:srgbClr val="333333"/>
        </a:dk1>
        <a:lt1>
          <a:srgbClr val="FFFFFF"/>
        </a:lt1>
        <a:dk2>
          <a:srgbClr val="FFFFFF"/>
        </a:dk2>
        <a:lt2>
          <a:srgbClr val="B2B2B2"/>
        </a:lt2>
        <a:accent1>
          <a:srgbClr val="2C8EC4"/>
        </a:accent1>
        <a:accent2>
          <a:srgbClr val="CFBE6B"/>
        </a:accent2>
        <a:accent3>
          <a:srgbClr val="FFFFFF"/>
        </a:accent3>
        <a:accent4>
          <a:srgbClr val="2A2A2A"/>
        </a:accent4>
        <a:accent5>
          <a:srgbClr val="ACC6DE"/>
        </a:accent5>
        <a:accent6>
          <a:srgbClr val="BBAC60"/>
        </a:accent6>
        <a:hlink>
          <a:srgbClr val="7047D7"/>
        </a:hlink>
        <a:folHlink>
          <a:srgbClr val="185A9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제안서 템플릿 3">
        <a:dk1>
          <a:srgbClr val="4D4D4D"/>
        </a:dk1>
        <a:lt1>
          <a:srgbClr val="FFFFFF"/>
        </a:lt1>
        <a:dk2>
          <a:srgbClr val="FFFFFF"/>
        </a:dk2>
        <a:lt2>
          <a:srgbClr val="B2B2B2"/>
        </a:lt2>
        <a:accent1>
          <a:srgbClr val="058089"/>
        </a:accent1>
        <a:accent2>
          <a:srgbClr val="99CC00"/>
        </a:accent2>
        <a:accent3>
          <a:srgbClr val="FFFFFF"/>
        </a:accent3>
        <a:accent4>
          <a:srgbClr val="404040"/>
        </a:accent4>
        <a:accent5>
          <a:srgbClr val="AAC0C4"/>
        </a:accent5>
        <a:accent6>
          <a:srgbClr val="8AB900"/>
        </a:accent6>
        <a:hlink>
          <a:srgbClr val="2CA9D0"/>
        </a:hlink>
        <a:folHlink>
          <a:srgbClr val="4841D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32046</TotalTime>
  <Words>293</Words>
  <Application>Microsoft Office PowerPoint</Application>
  <PresentationFormat>화면 슬라이드 쇼(4:3)</PresentationFormat>
  <Paragraphs>60</Paragraphs>
  <Slides>1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10" baseType="lpstr">
      <vt:lpstr>굴림</vt:lpstr>
      <vt:lpstr>맑은 고딕</vt:lpstr>
      <vt:lpstr>현대하모니 L</vt:lpstr>
      <vt:lpstr>Arial</vt:lpstr>
      <vt:lpstr>Lucida Sans Unicode</vt:lpstr>
      <vt:lpstr>Verdana</vt:lpstr>
      <vt:lpstr>Wingdings</vt:lpstr>
      <vt:lpstr>제안서 템플릿</vt:lpstr>
      <vt:lpstr>Microsoft 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Woory</cp:lastModifiedBy>
  <cp:revision>3670</cp:revision>
  <cp:lastPrinted>2020-03-27T01:05:18Z</cp:lastPrinted>
  <dcterms:created xsi:type="dcterms:W3CDTF">2019-10-24T04:42:23Z</dcterms:created>
  <dcterms:modified xsi:type="dcterms:W3CDTF">2026-04-14T01:09:40Z</dcterms:modified>
</cp:coreProperties>
</file>