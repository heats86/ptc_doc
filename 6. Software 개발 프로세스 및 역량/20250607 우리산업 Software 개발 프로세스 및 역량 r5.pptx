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2"/>
  </p:notesMasterIdLst>
  <p:handoutMasterIdLst>
    <p:handoutMasterId r:id="rId13"/>
  </p:handoutMasterIdLst>
  <p:sldIdLst>
    <p:sldId id="376" r:id="rId2"/>
    <p:sldId id="375" r:id="rId3"/>
    <p:sldId id="372" r:id="rId4"/>
    <p:sldId id="384" r:id="rId5"/>
    <p:sldId id="383" r:id="rId6"/>
    <p:sldId id="380" r:id="rId7"/>
    <p:sldId id="381" r:id="rId8"/>
    <p:sldId id="382" r:id="rId9"/>
    <p:sldId id="378" r:id="rId10"/>
    <p:sldId id="374" r:id="rId11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3333FF"/>
    <a:srgbClr val="292929"/>
    <a:srgbClr val="FFCCC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93" autoAdjust="0"/>
    <p:restoredTop sz="96366" autoAdjust="0"/>
  </p:normalViewPr>
  <p:slideViewPr>
    <p:cSldViewPr>
      <p:cViewPr varScale="1">
        <p:scale>
          <a:sx n="111" d="100"/>
          <a:sy n="111" d="100"/>
        </p:scale>
        <p:origin x="1842" y="7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45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A0A09-F79E-4E1C-94EF-A9CDB14FAB86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45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516A5-FCA7-4019-9F45-ACFE87C558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176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00F085-D220-4030-9252-85FF14D74ECA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CD7A53-7C0D-41B0-9B33-B25E1C149B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156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06083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텍스트 개체 틀 17"/>
          <p:cNvSpPr>
            <a:spLocks noGrp="1"/>
          </p:cNvSpPr>
          <p:nvPr>
            <p:ph type="body" sz="quarter" idx="11"/>
          </p:nvPr>
        </p:nvSpPr>
        <p:spPr>
          <a:xfrm>
            <a:off x="261104" y="1052736"/>
            <a:ext cx="8621712" cy="215994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200"/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2"/>
          </p:nvPr>
        </p:nvSpPr>
        <p:spPr>
          <a:xfrm>
            <a:off x="260350" y="620688"/>
            <a:ext cx="8622466" cy="36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4" name="제목 2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19364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909940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655925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89343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7993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49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090703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32099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4146902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1574774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27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504" y="116632"/>
            <a:ext cx="8784976" cy="360511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DCE45-C522-4B4E-ACAF-B03B54DE6B3F}" type="datetimeFigureOut">
              <a:rPr lang="ko-KR" altLang="en-US" smtClean="0"/>
              <a:t>2025-06-18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9E013-E273-469B-BDC2-80CD8EE9E0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377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15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 userDrawn="1"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ucida Sans Unicode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Rectangle 36"/>
          <p:cNvSpPr>
            <a:spLocks noChangeArrowheads="1"/>
          </p:cNvSpPr>
          <p:nvPr userDrawn="1"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굴림" charset="-127"/>
              <a:cs typeface="+mn-cs"/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1" hangingPunct="1">
              <a:lnSpc>
                <a:spcPts val="11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9" name="Rectangle 27"/>
          <p:cNvSpPr>
            <a:spLocks noChangeArrowheads="1"/>
          </p:cNvSpPr>
          <p:nvPr userDrawn="1"/>
        </p:nvSpPr>
        <p:spPr bwMode="auto">
          <a:xfrm>
            <a:off x="6732612" y="6575678"/>
            <a:ext cx="720000" cy="28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t>P.</a:t>
            </a:r>
            <a:fld id="{11AA4A1D-7CD0-4031-A480-D0E2C071605E}" type="slidenum"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맑은 고딕"/>
                <a:ea typeface="굴림" pitchFamily="50" charset="-127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1200" b="1" i="0" u="none" strike="noStrike" kern="1200" cap="none" spc="0" normalizeH="0" baseline="0" noProof="0" dirty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맑은 고딕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0572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1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microsoft.com/office/2007/relationships/hdphoto" Target="../media/hdphoto1.wdp"/><Relationship Id="rId10" Type="http://schemas.openxmlformats.org/officeDocument/2006/relationships/image" Target="../media/image9.png"/><Relationship Id="rId4" Type="http://schemas.openxmlformats.org/officeDocument/2006/relationships/image" Target="../media/image6.pn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23.png"/><Relationship Id="rId20" Type="http://schemas.openxmlformats.org/officeDocument/2006/relationships/image" Target="../media/image10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microsoft.com/office/2007/relationships/hdphoto" Target="../media/hdphoto4.wdp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19" Type="http://schemas.openxmlformats.org/officeDocument/2006/relationships/oleObject" Target="../embeddings/oleObject1.bin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555776" y="2561123"/>
            <a:ext cx="511256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3200" b="1" dirty="0" smtClean="0">
                <a:solidFill>
                  <a:schemeClr val="bg1"/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S/W </a:t>
            </a:r>
            <a:r>
              <a:rPr lang="ko-KR" altLang="en-US" sz="3200" b="1" dirty="0" smtClean="0">
                <a:solidFill>
                  <a:schemeClr val="bg1"/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개발 프로세스 및 역량</a:t>
            </a:r>
            <a:endParaRPr lang="en-US" altLang="ko-KR" sz="3200" b="1" dirty="0">
              <a:solidFill>
                <a:schemeClr val="bg1"/>
              </a:solidFill>
              <a:latin typeface="+mj-lt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3550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5539075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제품별 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S/W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 현황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pic>
        <p:nvPicPr>
          <p:cNvPr id="35" name="그림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040" y="1484784"/>
            <a:ext cx="6627528" cy="3275515"/>
          </a:xfrm>
          <a:prstGeom prst="rect">
            <a:avLst/>
          </a:prstGeom>
        </p:spPr>
      </p:pic>
      <p:pic>
        <p:nvPicPr>
          <p:cNvPr id="36" name="그림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263" y="4344062"/>
            <a:ext cx="1144481" cy="940802"/>
          </a:xfrm>
          <a:prstGeom prst="rect">
            <a:avLst/>
          </a:prstGeom>
        </p:spPr>
      </p:pic>
      <p:pic>
        <p:nvPicPr>
          <p:cNvPr id="38" name="그림 3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488" b="88415" l="5469" r="98438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3042" y="4647533"/>
            <a:ext cx="1219370" cy="1562318"/>
          </a:xfrm>
          <a:prstGeom prst="rect">
            <a:avLst/>
          </a:prstGeom>
        </p:spPr>
      </p:pic>
      <p:pic>
        <p:nvPicPr>
          <p:cNvPr id="46" name="그림 4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3867" y="1018561"/>
            <a:ext cx="1296144" cy="1394075"/>
          </a:xfrm>
          <a:prstGeom prst="rect">
            <a:avLst/>
          </a:prstGeom>
        </p:spPr>
      </p:pic>
      <p:pic>
        <p:nvPicPr>
          <p:cNvPr id="47" name="그림 46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0" b="100000" l="797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5856" y="3818239"/>
            <a:ext cx="1262542" cy="1187091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673858" y="5993827"/>
            <a:ext cx="1077737" cy="2160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latinLnBrk="0"/>
            <a:r>
              <a:rPr lang="en-US" altLang="ko-KR" sz="1000" b="1" kern="0" dirty="0" smtClean="0"/>
              <a:t>TMM </a:t>
            </a:r>
            <a:r>
              <a:rPr lang="ko-KR" altLang="en-US" sz="1000" b="1" kern="0" dirty="0" err="1" smtClean="0"/>
              <a:t>통합제어기</a:t>
            </a:r>
            <a:endParaRPr lang="ko-KR" altLang="en-US" sz="1000" b="1" kern="0" dirty="0" smtClean="0"/>
          </a:p>
        </p:txBody>
      </p:sp>
      <p:sp>
        <p:nvSpPr>
          <p:cNvPr id="118" name="TextBox 117"/>
          <p:cNvSpPr txBox="1"/>
          <p:nvPr/>
        </p:nvSpPr>
        <p:spPr>
          <a:xfrm>
            <a:off x="1876852" y="2906517"/>
            <a:ext cx="1077737" cy="2160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latinLnBrk="0"/>
            <a:r>
              <a:rPr lang="en-US" altLang="ko-KR" sz="1000" b="1" kern="0" dirty="0" smtClean="0"/>
              <a:t>PTC Heater</a:t>
            </a:r>
            <a:endParaRPr lang="ko-KR" altLang="en-US" sz="1000" b="1" kern="0" dirty="0" smtClean="0"/>
          </a:p>
        </p:txBody>
      </p:sp>
      <p:sp>
        <p:nvSpPr>
          <p:cNvPr id="119" name="TextBox 118"/>
          <p:cNvSpPr txBox="1"/>
          <p:nvPr/>
        </p:nvSpPr>
        <p:spPr>
          <a:xfrm>
            <a:off x="3457067" y="1916832"/>
            <a:ext cx="1077737" cy="2160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latinLnBrk="0"/>
            <a:r>
              <a:rPr lang="en-US" altLang="ko-KR" sz="1000" b="1" kern="0" dirty="0" smtClean="0"/>
              <a:t>Control Head</a:t>
            </a:r>
            <a:endParaRPr lang="ko-KR" altLang="en-US" sz="1000" b="1" kern="0" dirty="0" smtClean="0"/>
          </a:p>
        </p:txBody>
      </p:sp>
      <p:pic>
        <p:nvPicPr>
          <p:cNvPr id="49" name="그림 4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37830" y="4876370"/>
            <a:ext cx="2292060" cy="1001385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3962519" y="5993826"/>
            <a:ext cx="1077737" cy="2160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latinLnBrk="0"/>
            <a:r>
              <a:rPr lang="en-US" altLang="ko-KR" sz="1000" b="1" kern="0" dirty="0" smtClean="0"/>
              <a:t>COD Heater</a:t>
            </a:r>
            <a:endParaRPr lang="ko-KR" altLang="en-US" sz="1000" b="1" kern="0" dirty="0" smtClean="0"/>
          </a:p>
        </p:txBody>
      </p:sp>
      <p:sp>
        <p:nvSpPr>
          <p:cNvPr id="121" name="TextBox 120"/>
          <p:cNvSpPr txBox="1"/>
          <p:nvPr/>
        </p:nvSpPr>
        <p:spPr>
          <a:xfrm>
            <a:off x="596121" y="4933316"/>
            <a:ext cx="1077737" cy="2160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latinLnBrk="0"/>
            <a:r>
              <a:rPr lang="en-US" altLang="ko-KR" sz="1000" b="1" kern="0" dirty="0" smtClean="0"/>
              <a:t>TMM </a:t>
            </a:r>
            <a:r>
              <a:rPr lang="ko-KR" altLang="en-US" sz="1000" b="1" kern="0" dirty="0" err="1" smtClean="0"/>
              <a:t>냉각수밸브</a:t>
            </a:r>
            <a:endParaRPr lang="ko-KR" altLang="en-US" sz="1000" b="1" kern="0" dirty="0" smtClean="0"/>
          </a:p>
        </p:txBody>
      </p:sp>
      <p:sp>
        <p:nvSpPr>
          <p:cNvPr id="122" name="TextBox 121"/>
          <p:cNvSpPr txBox="1"/>
          <p:nvPr/>
        </p:nvSpPr>
        <p:spPr>
          <a:xfrm>
            <a:off x="6336254" y="5300532"/>
            <a:ext cx="1242588" cy="216024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 latinLnBrk="0"/>
            <a:r>
              <a:rPr lang="en-US" altLang="ko-KR" sz="1000" b="1" kern="0" dirty="0" smtClean="0"/>
              <a:t>Coolant Heater</a:t>
            </a:r>
            <a:endParaRPr lang="ko-KR" altLang="en-US" sz="1000" b="1" kern="0" dirty="0" smtClean="0"/>
          </a:p>
        </p:txBody>
      </p:sp>
      <p:cxnSp>
        <p:nvCxnSpPr>
          <p:cNvPr id="124" name="직선 연결선 123"/>
          <p:cNvCxnSpPr/>
          <p:nvPr/>
        </p:nvCxnSpPr>
        <p:spPr bwMode="auto">
          <a:xfrm>
            <a:off x="3995935" y="2302795"/>
            <a:ext cx="72009" cy="1006964"/>
          </a:xfrm>
          <a:prstGeom prst="line">
            <a:avLst/>
          </a:prstGeom>
          <a:noFill/>
          <a:ln w="19050" cap="flat" cmpd="sng" algn="ctr">
            <a:solidFill>
              <a:srgbClr val="3333FF"/>
            </a:solidFill>
            <a:prstDash val="sys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26" name="직선 연결선 125"/>
          <p:cNvCxnSpPr>
            <a:endCxn id="49" idx="0"/>
          </p:cNvCxnSpPr>
          <p:nvPr/>
        </p:nvCxnSpPr>
        <p:spPr bwMode="auto">
          <a:xfrm>
            <a:off x="3463593" y="3744934"/>
            <a:ext cx="920267" cy="1131436"/>
          </a:xfrm>
          <a:prstGeom prst="line">
            <a:avLst/>
          </a:prstGeom>
          <a:noFill/>
          <a:ln w="19050" cap="flat" cmpd="sng" algn="ctr">
            <a:solidFill>
              <a:srgbClr val="3333FF"/>
            </a:solidFill>
            <a:prstDash val="sys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28" name="직선 연결선 127"/>
          <p:cNvCxnSpPr/>
          <p:nvPr/>
        </p:nvCxnSpPr>
        <p:spPr bwMode="auto">
          <a:xfrm flipH="1">
            <a:off x="1835696" y="3454031"/>
            <a:ext cx="1548171" cy="798586"/>
          </a:xfrm>
          <a:prstGeom prst="line">
            <a:avLst/>
          </a:prstGeom>
          <a:noFill/>
          <a:ln w="19050" cap="flat" cmpd="sng" algn="ctr">
            <a:solidFill>
              <a:srgbClr val="3333FF"/>
            </a:solidFill>
            <a:prstDash val="sys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31" name="직선 연결선 130"/>
          <p:cNvCxnSpPr/>
          <p:nvPr/>
        </p:nvCxnSpPr>
        <p:spPr bwMode="auto">
          <a:xfrm flipH="1">
            <a:off x="2483769" y="3570102"/>
            <a:ext cx="933475" cy="1422339"/>
          </a:xfrm>
          <a:prstGeom prst="line">
            <a:avLst/>
          </a:prstGeom>
          <a:noFill/>
          <a:ln w="19050" cap="flat" cmpd="sng" algn="ctr">
            <a:solidFill>
              <a:srgbClr val="3333FF"/>
            </a:solidFill>
            <a:prstDash val="sysDash"/>
            <a:round/>
            <a:headEnd type="oval" w="med" len="med"/>
            <a:tailEnd type="oval" w="med" len="med"/>
          </a:ln>
          <a:effectLst/>
        </p:spPr>
      </p:cxnSp>
      <p:cxnSp>
        <p:nvCxnSpPr>
          <p:cNvPr id="133" name="직선 연결선 132"/>
          <p:cNvCxnSpPr/>
          <p:nvPr/>
        </p:nvCxnSpPr>
        <p:spPr bwMode="auto">
          <a:xfrm>
            <a:off x="3635896" y="3770510"/>
            <a:ext cx="2909186" cy="969258"/>
          </a:xfrm>
          <a:prstGeom prst="line">
            <a:avLst/>
          </a:prstGeom>
          <a:noFill/>
          <a:ln w="19050" cap="flat" cmpd="sng" algn="ctr">
            <a:solidFill>
              <a:srgbClr val="3333FF"/>
            </a:solidFill>
            <a:prstDash val="sysDash"/>
            <a:round/>
            <a:headEnd type="oval" w="med" len="med"/>
            <a:tailEnd type="oval" w="med" len="med"/>
          </a:ln>
          <a:effectLst/>
        </p:spPr>
      </p:cxnSp>
      <p:sp>
        <p:nvSpPr>
          <p:cNvPr id="136" name="TextBox 135"/>
          <p:cNvSpPr txBox="1"/>
          <p:nvPr/>
        </p:nvSpPr>
        <p:spPr>
          <a:xfrm>
            <a:off x="4680011" y="758314"/>
            <a:ext cx="1368152" cy="771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3333FF"/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Firmware</a:t>
            </a:r>
            <a:endParaRPr lang="en-US" altLang="ko-KR" sz="1200" kern="0" dirty="0"/>
          </a:p>
          <a:p>
            <a:pPr latinLnBrk="0">
              <a:spcBef>
                <a:spcPts val="400"/>
              </a:spcBef>
            </a:pPr>
            <a:r>
              <a:rPr lang="en-US" altLang="ko-KR" sz="1200" kern="0" dirty="0" err="1" smtClean="0"/>
              <a:t>Autosar</a:t>
            </a:r>
            <a:r>
              <a:rPr lang="en-US" altLang="ko-KR" sz="1200" kern="0" dirty="0" smtClean="0"/>
              <a:t> Platform</a:t>
            </a:r>
          </a:p>
          <a:p>
            <a:pPr latinLnBrk="0">
              <a:spcBef>
                <a:spcPts val="400"/>
              </a:spcBef>
            </a:pPr>
            <a:r>
              <a:rPr lang="ko-KR" altLang="en-US" sz="1200" kern="0" dirty="0" smtClean="0"/>
              <a:t>사이버보안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19402" y="1498500"/>
            <a:ext cx="926641" cy="9943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3333FF"/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Firmware</a:t>
            </a:r>
            <a:endParaRPr lang="en-US" altLang="ko-KR" sz="1200" kern="0" dirty="0"/>
          </a:p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FUSA</a:t>
            </a:r>
          </a:p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ASPICE</a:t>
            </a:r>
          </a:p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SPQA</a:t>
            </a:r>
            <a:endParaRPr lang="ko-KR" altLang="en-US" sz="1200" kern="0" dirty="0" smtClean="0"/>
          </a:p>
        </p:txBody>
      </p:sp>
      <p:sp>
        <p:nvSpPr>
          <p:cNvPr id="138" name="TextBox 137"/>
          <p:cNvSpPr txBox="1"/>
          <p:nvPr/>
        </p:nvSpPr>
        <p:spPr>
          <a:xfrm>
            <a:off x="7546476" y="5026975"/>
            <a:ext cx="926641" cy="771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3333FF"/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Firmware</a:t>
            </a:r>
            <a:endParaRPr lang="en-US" altLang="ko-KR" sz="1200" kern="0" dirty="0"/>
          </a:p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FUSA</a:t>
            </a:r>
          </a:p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ASPICE</a:t>
            </a:r>
            <a:endParaRPr lang="ko-KR" altLang="en-US" sz="1200" kern="0" dirty="0" smtClean="0"/>
          </a:p>
        </p:txBody>
      </p:sp>
      <p:sp>
        <p:nvSpPr>
          <p:cNvPr id="139" name="TextBox 138"/>
          <p:cNvSpPr txBox="1"/>
          <p:nvPr/>
        </p:nvSpPr>
        <p:spPr>
          <a:xfrm>
            <a:off x="5409613" y="5608171"/>
            <a:ext cx="926641" cy="7713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3333FF"/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Firmware</a:t>
            </a:r>
            <a:endParaRPr lang="en-US" altLang="ko-KR" sz="1200" kern="0" dirty="0"/>
          </a:p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FUSA</a:t>
            </a:r>
          </a:p>
          <a:p>
            <a:pPr latinLnBrk="0">
              <a:spcBef>
                <a:spcPts val="400"/>
              </a:spcBef>
            </a:pPr>
            <a:r>
              <a:rPr lang="en-US" altLang="ko-KR" sz="1200" kern="0" dirty="0" smtClean="0"/>
              <a:t>ASPICE</a:t>
            </a:r>
            <a:endParaRPr lang="ko-KR" altLang="en-US" sz="1200" kern="0" dirty="0" smtClean="0"/>
          </a:p>
        </p:txBody>
      </p:sp>
    </p:spTree>
    <p:extLst>
      <p:ext uri="{BB962C8B-B14F-4D97-AF65-F5344CB8AC3E}">
        <p14:creationId xmlns:p14="http://schemas.microsoft.com/office/powerpoint/2010/main" val="196393002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2600429" y="1340768"/>
            <a:ext cx="1647710" cy="252028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S/W </a:t>
            </a:r>
            <a:r>
              <a:rPr lang="ko-KR" altLang="en-US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총괄</a:t>
            </a:r>
            <a:endParaRPr kumimoji="0" lang="ko-KR" altLang="en-US" sz="1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+mj-lt"/>
              <a:ea typeface="현대산스 Head" panose="020B0600000101010101" pitchFamily="50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67544" y="1948300"/>
            <a:ext cx="1656184" cy="252028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Control S/W</a:t>
            </a:r>
            <a:r>
              <a:rPr lang="ko-KR" altLang="en-US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팀</a:t>
            </a:r>
            <a:endParaRPr kumimoji="0" lang="ko-KR" altLang="en-US" sz="1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+mj-lt"/>
              <a:ea typeface="현대산스 Head" panose="020B0600000101010101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600429" y="1955390"/>
            <a:ext cx="1647710" cy="252028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PTC S/W</a:t>
            </a:r>
            <a:r>
              <a:rPr lang="ko-KR" altLang="en-US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팀</a:t>
            </a:r>
            <a:endParaRPr kumimoji="0" lang="ko-KR" altLang="en-US" sz="1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+mj-lt"/>
              <a:ea typeface="현대산스 Head" panose="020B0600000101010101" pitchFamily="50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727548" y="1956977"/>
            <a:ext cx="1650418" cy="252028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TFT </a:t>
            </a:r>
            <a:r>
              <a:rPr lang="ko-KR" altLang="en-US" sz="1300" noProof="0" dirty="0" err="1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판넬팀</a:t>
            </a:r>
            <a:endParaRPr kumimoji="0" lang="ko-KR" altLang="en-US" sz="1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+mj-lt"/>
              <a:ea typeface="현대산스 Head" panose="020B0600000101010101" pitchFamily="50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6791133" y="1955390"/>
            <a:ext cx="1643026" cy="252028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noProof="0" dirty="0" err="1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로직팀</a:t>
            </a:r>
            <a:r>
              <a:rPr lang="en-US" altLang="ko-KR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(</a:t>
            </a:r>
            <a:r>
              <a:rPr lang="ko-KR" altLang="en-US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검증</a:t>
            </a:r>
            <a:r>
              <a:rPr lang="en-US" altLang="ko-KR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)</a:t>
            </a:r>
            <a:r>
              <a:rPr lang="ko-KR" altLang="en-US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팀</a:t>
            </a:r>
            <a:endParaRPr kumimoji="0" lang="ko-KR" altLang="en-US" sz="1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+mj-lt"/>
              <a:ea typeface="현대산스 Head" panose="020B0600000101010101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467544" y="2418709"/>
          <a:ext cx="1656184" cy="388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9140186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19420106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8591561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직급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S/W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경력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76844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상무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김용준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27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37116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수석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김지만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16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43274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책임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강석범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584287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책임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방승주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35779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책임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박영준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97853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선임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오상민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16868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선임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주충만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85304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박정철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736061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박태순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20882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한구웅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67401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이진석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33788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오의택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58536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박형원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30510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충원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김재학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06773"/>
                  </a:ext>
                </a:extLst>
              </a:tr>
            </a:tbl>
          </a:graphicData>
        </a:graphic>
      </p:graphicFrame>
      <p:graphicFrame>
        <p:nvGraphicFramePr>
          <p:cNvPr id="106" name="표 105"/>
          <p:cNvGraphicFramePr>
            <a:graphicFrameLocks noGrp="1"/>
          </p:cNvGraphicFramePr>
          <p:nvPr/>
        </p:nvGraphicFramePr>
        <p:xfrm>
          <a:off x="2600429" y="2418709"/>
          <a:ext cx="1650418" cy="3888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91401861"/>
                    </a:ext>
                  </a:extLst>
                </a:gridCol>
                <a:gridCol w="642306">
                  <a:extLst>
                    <a:ext uri="{9D8B030D-6E8A-4147-A177-3AD203B41FA5}">
                      <a16:colId xmlns:a16="http://schemas.microsoft.com/office/drawing/2014/main" val="419420106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8591561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직급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S/W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경력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76844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수석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오우진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37116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수석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오세영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43274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수석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김영준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19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584287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</a:rPr>
                        <a:t>Banna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35779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</a:rPr>
                        <a:t>Manjesh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97853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</a:rPr>
                        <a:t>Ijaz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16868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</a:rPr>
                        <a:t>Vignesh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85304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강민구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736061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조현진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920882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임제훈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267401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정셕현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33788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김진겸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958536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충원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김강일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530510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충원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이승호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006773"/>
                  </a:ext>
                </a:extLst>
              </a:tr>
            </a:tbl>
          </a:graphicData>
        </a:graphic>
      </p:graphicFrame>
      <p:graphicFrame>
        <p:nvGraphicFramePr>
          <p:cNvPr id="107" name="표 106"/>
          <p:cNvGraphicFramePr>
            <a:graphicFrameLocks noGrp="1"/>
          </p:cNvGraphicFramePr>
          <p:nvPr/>
        </p:nvGraphicFramePr>
        <p:xfrm>
          <a:off x="4727548" y="2420301"/>
          <a:ext cx="1650418" cy="1296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91401861"/>
                    </a:ext>
                  </a:extLst>
                </a:gridCol>
                <a:gridCol w="642306">
                  <a:extLst>
                    <a:ext uri="{9D8B030D-6E8A-4147-A177-3AD203B41FA5}">
                      <a16:colId xmlns:a16="http://schemas.microsoft.com/office/drawing/2014/main" val="419420106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8591561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직급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S/W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경력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76844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수석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허성우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37116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책임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김승경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43274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선임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이현진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584287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이정현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35779"/>
                  </a:ext>
                </a:extLst>
              </a:tr>
            </a:tbl>
          </a:graphicData>
        </a:graphic>
      </p:graphicFrame>
      <p:sp>
        <p:nvSpPr>
          <p:cNvPr id="108" name="직사각형 107"/>
          <p:cNvSpPr/>
          <p:nvPr/>
        </p:nvSpPr>
        <p:spPr>
          <a:xfrm>
            <a:off x="6791133" y="1374596"/>
            <a:ext cx="1647710" cy="252028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전자제어 </a:t>
            </a:r>
            <a:r>
              <a:rPr lang="en-US" altLang="ko-KR" sz="120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H/W</a:t>
            </a:r>
            <a:r>
              <a:rPr lang="ko-KR" altLang="en-US" sz="1200" dirty="0" err="1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설계실</a:t>
            </a:r>
            <a:endParaRPr kumimoji="0" lang="ko-KR" alt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+mj-lt"/>
              <a:ea typeface="현대산스 Head" panose="020B0600000101010101" pitchFamily="50" charset="-127"/>
            </a:endParaRPr>
          </a:p>
        </p:txBody>
      </p:sp>
      <p:graphicFrame>
        <p:nvGraphicFramePr>
          <p:cNvPr id="109" name="표 108"/>
          <p:cNvGraphicFramePr>
            <a:graphicFrameLocks noGrp="1"/>
          </p:cNvGraphicFramePr>
          <p:nvPr/>
        </p:nvGraphicFramePr>
        <p:xfrm>
          <a:off x="6783741" y="2418709"/>
          <a:ext cx="1650418" cy="2073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91401861"/>
                    </a:ext>
                  </a:extLst>
                </a:gridCol>
                <a:gridCol w="642306">
                  <a:extLst>
                    <a:ext uri="{9D8B030D-6E8A-4147-A177-3AD203B41FA5}">
                      <a16:colId xmlns:a16="http://schemas.microsoft.com/office/drawing/2014/main" val="419420106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8591561"/>
                    </a:ext>
                  </a:extLst>
                </a:gridCol>
              </a:tblGrid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직급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S/W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경력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76844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수석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이성훈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37116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책임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송호종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432743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선임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강상범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584287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전임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강현식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35779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김성훈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978535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문정수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216868"/>
                  </a:ext>
                </a:extLst>
              </a:tr>
              <a:tr h="2592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연구원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이재성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853045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100131" y="1984668"/>
            <a:ext cx="368857" cy="23831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atinLnBrk="0"/>
            <a:r>
              <a:rPr lang="en-US" altLang="ko-KR" sz="1000" kern="0" dirty="0" smtClean="0"/>
              <a:t>14</a:t>
            </a:r>
            <a:endParaRPr lang="ko-KR" altLang="en-US" sz="1000" kern="0" dirty="0" smtClean="0"/>
          </a:p>
        </p:txBody>
      </p:sp>
      <p:sp>
        <p:nvSpPr>
          <p:cNvPr id="110" name="TextBox 109"/>
          <p:cNvSpPr txBox="1"/>
          <p:nvPr/>
        </p:nvSpPr>
        <p:spPr>
          <a:xfrm>
            <a:off x="4195151" y="1969104"/>
            <a:ext cx="368857" cy="23831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atinLnBrk="0"/>
            <a:r>
              <a:rPr lang="en-US" altLang="ko-KR" sz="1000" kern="0" dirty="0" smtClean="0"/>
              <a:t>14</a:t>
            </a:r>
            <a:endParaRPr lang="ko-KR" altLang="en-US" sz="1000" kern="0" dirty="0" smtClean="0"/>
          </a:p>
        </p:txBody>
      </p:sp>
      <p:sp>
        <p:nvSpPr>
          <p:cNvPr id="111" name="TextBox 110"/>
          <p:cNvSpPr txBox="1"/>
          <p:nvPr/>
        </p:nvSpPr>
        <p:spPr>
          <a:xfrm>
            <a:off x="6322270" y="1969104"/>
            <a:ext cx="368857" cy="23831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atinLnBrk="0"/>
            <a:r>
              <a:rPr lang="en-US" altLang="ko-KR" sz="1000" kern="0" dirty="0" smtClean="0"/>
              <a:t>4</a:t>
            </a:r>
            <a:endParaRPr lang="ko-KR" altLang="en-US" sz="1000" kern="0" dirty="0" smtClean="0"/>
          </a:p>
        </p:txBody>
      </p:sp>
      <p:sp>
        <p:nvSpPr>
          <p:cNvPr id="112" name="TextBox 111"/>
          <p:cNvSpPr txBox="1"/>
          <p:nvPr/>
        </p:nvSpPr>
        <p:spPr>
          <a:xfrm>
            <a:off x="8434159" y="1969104"/>
            <a:ext cx="368857" cy="23831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atinLnBrk="0"/>
            <a:r>
              <a:rPr lang="en-US" altLang="ko-KR" sz="1000" kern="0" dirty="0"/>
              <a:t>7</a:t>
            </a:r>
            <a:endParaRPr lang="ko-KR" altLang="en-US" sz="1000" kern="0" dirty="0" smtClean="0"/>
          </a:p>
        </p:txBody>
      </p:sp>
      <p:sp>
        <p:nvSpPr>
          <p:cNvPr id="113" name="직사각형 112"/>
          <p:cNvSpPr/>
          <p:nvPr/>
        </p:nvSpPr>
        <p:spPr>
          <a:xfrm>
            <a:off x="4585800" y="710042"/>
            <a:ext cx="1647710" cy="252028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noProof="0" dirty="0" err="1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전장개발</a:t>
            </a:r>
            <a:r>
              <a:rPr lang="en-US" altLang="ko-KR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1</a:t>
            </a:r>
            <a:r>
              <a:rPr lang="ko-KR" altLang="en-US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부문</a:t>
            </a:r>
            <a:endParaRPr kumimoji="0" lang="ko-KR" altLang="en-US" sz="1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+mj-lt"/>
              <a:ea typeface="현대산스 Head" panose="020B0600000101010101" pitchFamily="50" charset="-127"/>
            </a:endParaRPr>
          </a:p>
        </p:txBody>
      </p:sp>
      <p:cxnSp>
        <p:nvCxnSpPr>
          <p:cNvPr id="19" name="꺾인 연결선 18"/>
          <p:cNvCxnSpPr>
            <a:stCxn id="113" idx="2"/>
            <a:endCxn id="100" idx="0"/>
          </p:cNvCxnSpPr>
          <p:nvPr/>
        </p:nvCxnSpPr>
        <p:spPr bwMode="auto">
          <a:xfrm rot="5400000">
            <a:off x="4227621" y="158734"/>
            <a:ext cx="378698" cy="1985371"/>
          </a:xfrm>
          <a:prstGeom prst="bentConnector3">
            <a:avLst>
              <a:gd name="adj1" fmla="val 54556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4" name="꺾인 연결선 113"/>
          <p:cNvCxnSpPr>
            <a:stCxn id="113" idx="2"/>
            <a:endCxn id="108" idx="0"/>
          </p:cNvCxnSpPr>
          <p:nvPr/>
        </p:nvCxnSpPr>
        <p:spPr bwMode="auto">
          <a:xfrm rot="16200000" flipH="1">
            <a:off x="6306058" y="65666"/>
            <a:ext cx="412526" cy="220533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5" name="꺾인 연결선 114"/>
          <p:cNvCxnSpPr>
            <a:stCxn id="100" idx="2"/>
            <a:endCxn id="101" idx="0"/>
          </p:cNvCxnSpPr>
          <p:nvPr/>
        </p:nvCxnSpPr>
        <p:spPr bwMode="auto">
          <a:xfrm rot="5400000">
            <a:off x="2182208" y="706224"/>
            <a:ext cx="355504" cy="2128648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꺾인 연결선 115"/>
          <p:cNvCxnSpPr>
            <a:stCxn id="100" idx="2"/>
            <a:endCxn id="104" idx="0"/>
          </p:cNvCxnSpPr>
          <p:nvPr/>
        </p:nvCxnSpPr>
        <p:spPr bwMode="auto">
          <a:xfrm rot="16200000" flipH="1">
            <a:off x="4306430" y="710649"/>
            <a:ext cx="364181" cy="212847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7" name="꺾인 연결선 116"/>
          <p:cNvCxnSpPr>
            <a:stCxn id="108" idx="2"/>
            <a:endCxn id="105" idx="0"/>
          </p:cNvCxnSpPr>
          <p:nvPr/>
        </p:nvCxnSpPr>
        <p:spPr bwMode="auto">
          <a:xfrm rot="5400000">
            <a:off x="7449434" y="1789836"/>
            <a:ext cx="328766" cy="2342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85053" y="44624"/>
            <a:ext cx="1650644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S/W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조직</a:t>
            </a:r>
            <a:endParaRPr lang="en-US" altLang="ko-KR" sz="2215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4727548" y="4221088"/>
            <a:ext cx="1650418" cy="252028"/>
          </a:xfrm>
          <a:prstGeom prst="rect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30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ASPICE</a:t>
            </a:r>
            <a:r>
              <a:rPr lang="en-US" altLang="ko-KR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 </a:t>
            </a:r>
            <a:r>
              <a:rPr lang="ko-KR" altLang="en-US" sz="1300" noProof="0" dirty="0" smtClean="0">
                <a:solidFill>
                  <a:prstClr val="black"/>
                </a:solidFill>
                <a:latin typeface="+mj-lt"/>
                <a:ea typeface="현대산스 Head" panose="020B0600000101010101" pitchFamily="50" charset="-127"/>
              </a:rPr>
              <a:t>팀</a:t>
            </a:r>
            <a:endParaRPr kumimoji="0" lang="ko-KR" altLang="en-US" sz="13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+mj-lt"/>
              <a:ea typeface="현대산스 Head" panose="020B0600000101010101" pitchFamily="50" charset="-127"/>
            </a:endParaRPr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893701"/>
              </p:ext>
            </p:extLst>
          </p:nvPr>
        </p:nvGraphicFramePr>
        <p:xfrm>
          <a:off x="4721782" y="4581125"/>
          <a:ext cx="1650418" cy="17260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048">
                  <a:extLst>
                    <a:ext uri="{9D8B030D-6E8A-4147-A177-3AD203B41FA5}">
                      <a16:colId xmlns:a16="http://schemas.microsoft.com/office/drawing/2014/main" val="391401861"/>
                    </a:ext>
                  </a:extLst>
                </a:gridCol>
                <a:gridCol w="642306">
                  <a:extLst>
                    <a:ext uri="{9D8B030D-6E8A-4147-A177-3AD203B41FA5}">
                      <a16:colId xmlns:a16="http://schemas.microsoft.com/office/drawing/2014/main" val="419420106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48591561"/>
                    </a:ext>
                  </a:extLst>
                </a:gridCol>
              </a:tblGrid>
              <a:tr h="246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직급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이름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S/W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경력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768445"/>
                  </a:ext>
                </a:extLst>
              </a:tr>
              <a:tr h="246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수석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정재영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15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937116"/>
                  </a:ext>
                </a:extLst>
              </a:tr>
              <a:tr h="246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책임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최승찬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432743"/>
                  </a:ext>
                </a:extLst>
              </a:tr>
              <a:tr h="246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책임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err="1" smtClean="0">
                          <a:solidFill>
                            <a:schemeClr val="tx1"/>
                          </a:solidFill>
                        </a:rPr>
                        <a:t>박고안나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년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4584287"/>
                  </a:ext>
                </a:extLst>
              </a:tr>
              <a:tr h="246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충원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6835779"/>
                  </a:ext>
                </a:extLst>
              </a:tr>
              <a:tr h="246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충원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551759"/>
                  </a:ext>
                </a:extLst>
              </a:tr>
              <a:tr h="2465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 smtClean="0">
                          <a:solidFill>
                            <a:schemeClr val="tx1"/>
                          </a:solidFill>
                        </a:rPr>
                        <a:t>충원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368767"/>
                  </a:ext>
                </a:extLst>
              </a:tr>
            </a:tbl>
          </a:graphicData>
        </a:graphic>
      </p:graphicFrame>
      <p:cxnSp>
        <p:nvCxnSpPr>
          <p:cNvPr id="4" name="꺾인 연결선 3"/>
          <p:cNvCxnSpPr>
            <a:endCxn id="25" idx="0"/>
          </p:cNvCxnSpPr>
          <p:nvPr/>
        </p:nvCxnSpPr>
        <p:spPr bwMode="auto">
          <a:xfrm rot="16200000" flipH="1">
            <a:off x="3802238" y="2470569"/>
            <a:ext cx="2448272" cy="1052765"/>
          </a:xfrm>
          <a:prstGeom prst="bentConnector3">
            <a:avLst>
              <a:gd name="adj1" fmla="val 88053"/>
            </a:avLst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6363383" y="4270806"/>
            <a:ext cx="368857" cy="23831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atinLnBrk="0"/>
            <a:r>
              <a:rPr lang="en-US" altLang="ko-KR" sz="1000" kern="0" dirty="0"/>
              <a:t>3</a:t>
            </a:r>
            <a:endParaRPr lang="ko-KR" altLang="en-US" sz="1000" kern="0" dirty="0" smtClean="0"/>
          </a:p>
        </p:txBody>
      </p:sp>
    </p:spTree>
    <p:extLst>
      <p:ext uri="{BB962C8B-B14F-4D97-AF65-F5344CB8AC3E}">
        <p14:creationId xmlns:p14="http://schemas.microsoft.com/office/powerpoint/2010/main" val="21521565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marL="0" marR="0" lvl="0" indent="0" algn="r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8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kumimoji="0" lang="ko-KR" altLang="en-US" sz="1662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24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2946787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15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S/W </a:t>
            </a:r>
            <a:r>
              <a:rPr kumimoji="0" lang="ko-KR" altLang="en-US" sz="2215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개발 사용 </a:t>
            </a:r>
            <a:r>
              <a:rPr kumimoji="0" lang="en-US" altLang="ko-KR" sz="2215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Tools</a:t>
            </a:r>
            <a:endParaRPr kumimoji="0" lang="en-US" altLang="ko-KR" sz="2215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현대하모니 B" panose="02020603020101020101" pitchFamily="18" charset="-127"/>
              <a:cs typeface="+mn-cs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1340768"/>
            <a:ext cx="6249272" cy="412490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171" b="98829" l="1389" r="97454">
                        <a14:foregroundMark x1="34491" y1="64169" x2="64352" y2="37002"/>
                        <a14:foregroundMark x1="28241" y1="51288" x2="57870" y2="31148"/>
                        <a14:foregroundMark x1="44444" y1="68618" x2="63426" y2="49649"/>
                        <a14:foregroundMark x1="71065" y1="60422" x2="70602" y2="5082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08206" y="2420888"/>
            <a:ext cx="1384172" cy="1368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063002" y="2492896"/>
            <a:ext cx="1074580" cy="28803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ALM Tools</a:t>
            </a: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8666" y="1700808"/>
            <a:ext cx="1114296" cy="751288"/>
          </a:xfrm>
          <a:prstGeom prst="rect">
            <a:avLst/>
          </a:prstGeom>
          <a:ln>
            <a:solidFill>
              <a:schemeClr val="accent6">
                <a:lumMod val="75000"/>
              </a:schemeClr>
            </a:solidFill>
          </a:ln>
        </p:spPr>
      </p:pic>
      <p:grpSp>
        <p:nvGrpSpPr>
          <p:cNvPr id="21" name="그룹 20"/>
          <p:cNvGrpSpPr/>
          <p:nvPr/>
        </p:nvGrpSpPr>
        <p:grpSpPr>
          <a:xfrm>
            <a:off x="6477543" y="4264090"/>
            <a:ext cx="1323377" cy="549030"/>
            <a:chOff x="6804248" y="3717032"/>
            <a:chExt cx="1323377" cy="549030"/>
          </a:xfrm>
        </p:grpSpPr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04248" y="3939646"/>
              <a:ext cx="1323377" cy="326416"/>
            </a:xfrm>
            <a:prstGeom prst="rect">
              <a:avLst/>
            </a:prstGeom>
          </p:spPr>
        </p:pic>
        <p:sp>
          <p:nvSpPr>
            <p:cNvPr id="10" name="TextBox 9"/>
            <p:cNvSpPr txBox="1"/>
            <p:nvPr/>
          </p:nvSpPr>
          <p:spPr>
            <a:xfrm>
              <a:off x="6819877" y="3717032"/>
              <a:ext cx="1307748" cy="2226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vert="horz" wrap="square" lIns="91440" tIns="45720" rIns="91440" bIns="45720" rtlCol="0">
              <a:normAutofit fontScale="5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동적</a:t>
              </a:r>
              <a:r>
                <a:rPr kumimoji="0" lang="en-US" altLang="ko-KR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8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erlin Sans FB Demi" panose="020E0802020502020306" pitchFamily="34" charset="0"/>
                  <a:ea typeface="맑은 고딕" panose="020B0503020000020004" pitchFamily="50" charset="-127"/>
                  <a:cs typeface="+mn-cs"/>
                </a:rPr>
                <a:t>정적 검증</a:t>
              </a:r>
              <a:endParaRPr kumimoji="0" lang="ko-KR" alt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3" name="그림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24928" y="2922598"/>
            <a:ext cx="624213" cy="43439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06685" y="2965868"/>
            <a:ext cx="479728" cy="39112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306574" y="2656197"/>
            <a:ext cx="1153858" cy="2226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CANoe</a:t>
            </a:r>
            <a:r>
              <a:rPr kumimoji="0" lang="en-US" altLang="ko-KR" sz="18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en-US" altLang="ko-KR" sz="18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CANape</a:t>
            </a:r>
            <a:endParaRPr kumimoji="0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5773818" y="5382162"/>
            <a:ext cx="886414" cy="783141"/>
            <a:chOff x="4679755" y="5355540"/>
            <a:chExt cx="886414" cy="783141"/>
          </a:xfrm>
        </p:grpSpPr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4679755" y="5578154"/>
              <a:ext cx="886414" cy="560527"/>
            </a:xfrm>
            <a:prstGeom prst="rect">
              <a:avLst/>
            </a:prstGeom>
          </p:spPr>
        </p:pic>
        <p:sp>
          <p:nvSpPr>
            <p:cNvPr id="38" name="TextBox 37"/>
            <p:cNvSpPr txBox="1"/>
            <p:nvPr/>
          </p:nvSpPr>
          <p:spPr>
            <a:xfrm>
              <a:off x="4679755" y="5355540"/>
              <a:ext cx="886414" cy="22261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txBody>
            <a:bodyPr vert="horz" wrap="square" lIns="91440" tIns="45720" rIns="91440" bIns="4572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/>
                  <a:ea typeface="맑은 고딕" panose="020B0503020000020004" pitchFamily="50" charset="-127"/>
                  <a:cs typeface="+mn-cs"/>
                </a:rPr>
                <a:t>Trace 32</a:t>
              </a:r>
              <a:endParaRPr kumimoji="0" lang="ko-KR" altLang="en-US" sz="1050" b="1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pic>
        <p:nvPicPr>
          <p:cNvPr id="16" name="그림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67987" y="5402748"/>
            <a:ext cx="1325922" cy="762556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6777" y="5429254"/>
            <a:ext cx="1407052" cy="736049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57004" y="3503233"/>
            <a:ext cx="1117792" cy="65834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6" name="TextBox 45"/>
          <p:cNvSpPr txBox="1"/>
          <p:nvPr/>
        </p:nvSpPr>
        <p:spPr>
          <a:xfrm>
            <a:off x="4033710" y="1728304"/>
            <a:ext cx="1074580" cy="28803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S-</a:t>
            </a: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형상관리</a:t>
            </a: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9724" y="4880819"/>
            <a:ext cx="1166176" cy="445567"/>
          </a:xfrm>
          <a:prstGeom prst="rect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60722" y="2182013"/>
            <a:ext cx="1170750" cy="37887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49" name="TextBox 48"/>
          <p:cNvSpPr txBox="1"/>
          <p:nvPr/>
        </p:nvSpPr>
        <p:spPr>
          <a:xfrm>
            <a:off x="7451658" y="1956562"/>
            <a:ext cx="1179813" cy="21819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오픈소스검증</a:t>
            </a:r>
            <a:endParaRPr kumimoji="0" lang="ko-KR" altLang="en-US" sz="11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09669" y="4880819"/>
            <a:ext cx="1152202" cy="43987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83640" y="4729619"/>
            <a:ext cx="2005888" cy="43895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6549" y="4229272"/>
            <a:ext cx="1075931" cy="592399"/>
          </a:xfrm>
          <a:prstGeom prst="rect">
            <a:avLst/>
          </a:prstGeom>
        </p:spPr>
      </p:pic>
      <p:graphicFrame>
        <p:nvGraphicFramePr>
          <p:cNvPr id="27" name="개체 26">
            <a:hlinkClick r:id="" action="ppaction://ole?verb=0"/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6625491"/>
              </p:ext>
            </p:extLst>
          </p:nvPr>
        </p:nvGraphicFramePr>
        <p:xfrm>
          <a:off x="4475814" y="3829840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프레젠테이션" showAsIcon="1" r:id="rId19" imgW="380880" imgH="771480" progId="PowerPoint.Show.12">
                  <p:embed/>
                </p:oleObj>
              </mc:Choice>
              <mc:Fallback>
                <p:oleObj name="프레젠테이션" showAsIcon="1" r:id="rId19" imgW="380880" imgH="771480" progId="PowerPoint.Show.12">
                  <p:embed/>
                  <p:pic>
                    <p:nvPicPr>
                      <p:cNvPr id="27" name="개체 26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475814" y="3829840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321568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397397"/>
              </p:ext>
            </p:extLst>
          </p:nvPr>
        </p:nvGraphicFramePr>
        <p:xfrm>
          <a:off x="210017" y="764704"/>
          <a:ext cx="8772135" cy="5688632"/>
        </p:xfrm>
        <a:graphic>
          <a:graphicData uri="http://schemas.openxmlformats.org/drawingml/2006/table">
            <a:tbl>
              <a:tblPr/>
              <a:tblGrid>
                <a:gridCol w="792089">
                  <a:extLst>
                    <a:ext uri="{9D8B030D-6E8A-4147-A177-3AD203B41FA5}">
                      <a16:colId xmlns:a16="http://schemas.microsoft.com/office/drawing/2014/main" val="3983745922"/>
                    </a:ext>
                  </a:extLst>
                </a:gridCol>
                <a:gridCol w="7980046">
                  <a:extLst>
                    <a:ext uri="{9D8B030D-6E8A-4147-A177-3AD203B41FA5}">
                      <a16:colId xmlns:a16="http://schemas.microsoft.com/office/drawing/2014/main" val="715843320"/>
                    </a:ext>
                  </a:extLst>
                </a:gridCol>
              </a:tblGrid>
              <a:tr h="79208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j-lt"/>
                          <a:ea typeface="현대산스 Head" panose="020B0600000101010101" pitchFamily="50" charset="-127"/>
                        </a:rPr>
                        <a:t>HKMC</a:t>
                      </a:r>
                      <a:endParaRPr lang="ko-KR" altLang="en-US" sz="14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33231" marR="33231" marT="33231" marB="33231" anchor="ctr">
                    <a:lnL w="9525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2991922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>
                          <a:latin typeface="+mj-lt"/>
                          <a:ea typeface="현대산스 Head" panose="020B0600000101010101" pitchFamily="50" charset="-127"/>
                        </a:rPr>
                        <a:t>고객사</a:t>
                      </a:r>
                      <a:endParaRPr lang="ko-KR" altLang="en-US" sz="14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33231" marR="33231" marT="33231" marB="3323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2633307"/>
                  </a:ext>
                </a:extLst>
              </a:tr>
              <a:tr h="29523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smtClean="0">
                          <a:latin typeface="+mj-lt"/>
                          <a:ea typeface="현대산스 Head" panose="020B0600000101010101" pitchFamily="50" charset="-127"/>
                        </a:rPr>
                        <a:t>프로세스</a:t>
                      </a:r>
                      <a:endParaRPr lang="en-US" altLang="ko-KR" sz="1400" dirty="0" smtClean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33231" marR="33231" marT="33231" marB="3323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aseline="0" dirty="0" smtClean="0"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2599305"/>
                  </a:ext>
                </a:extLst>
              </a:tr>
              <a:tr h="122413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>
                          <a:latin typeface="+mj-lt"/>
                          <a:ea typeface="현대산스 Head" panose="020B0600000101010101" pitchFamily="50" charset="-127"/>
                        </a:rPr>
                        <a:t>주요사양</a:t>
                      </a:r>
                      <a:endParaRPr lang="ko-KR" altLang="en-US" sz="14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33231" marR="33231" marT="33231" marB="3323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dirty="0" smtClean="0">
                          <a:latin typeface="+mj-lt"/>
                          <a:ea typeface="현대산스 Head" panose="020B0600000101010101" pitchFamily="50" charset="-127"/>
                        </a:rPr>
                        <a:t>PTC</a:t>
                      </a:r>
                      <a:r>
                        <a:rPr lang="en-US" altLang="ko-KR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 : FUSA ASIL B, ASPICE CL2 </a:t>
                      </a:r>
                      <a:r>
                        <a:rPr lang="ko-KR" altLang="en-US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인증</a:t>
                      </a:r>
                      <a:r>
                        <a:rPr lang="en-US" altLang="ko-KR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, </a:t>
                      </a:r>
                      <a:r>
                        <a:rPr lang="ko-KR" altLang="en-US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사이버보안</a:t>
                      </a:r>
                      <a:endParaRPr lang="en-US" altLang="ko-KR" sz="1200" baseline="0" dirty="0" smtClean="0">
                        <a:latin typeface="+mj-lt"/>
                        <a:ea typeface="현대산스 Head" panose="020B0600000101010101" pitchFamily="50" charset="-127"/>
                      </a:endParaRP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ATC : </a:t>
                      </a:r>
                      <a:r>
                        <a:rPr lang="en-US" altLang="ko-KR" sz="1200" baseline="0" dirty="0" err="1" smtClean="0">
                          <a:latin typeface="+mj-lt"/>
                          <a:ea typeface="현대산스 Head" panose="020B0600000101010101" pitchFamily="50" charset="-127"/>
                        </a:rPr>
                        <a:t>Autosar</a:t>
                      </a:r>
                      <a:r>
                        <a:rPr lang="en-US" altLang="ko-KR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플랫폼 적용</a:t>
                      </a:r>
                      <a:r>
                        <a:rPr lang="en-US" altLang="ko-KR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, OTA, </a:t>
                      </a:r>
                      <a:r>
                        <a:rPr lang="ko-KR" altLang="en-US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사이버보안</a:t>
                      </a:r>
                      <a:endParaRPr lang="en-US" altLang="ko-KR" sz="1200" baseline="0" dirty="0" smtClean="0">
                        <a:latin typeface="+mj-lt"/>
                        <a:ea typeface="현대산스 Head" panose="020B0600000101010101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406820"/>
                  </a:ext>
                </a:extLst>
              </a:tr>
            </a:tbl>
          </a:graphicData>
        </a:graphic>
      </p:graphicFrame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marL="0" marR="0" lvl="0" indent="0" algn="r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8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kumimoji="0" lang="ko-KR" altLang="en-US" sz="1662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6619196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15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PTC S/W </a:t>
            </a:r>
            <a:r>
              <a:rPr kumimoji="0" lang="ko-KR" altLang="en-US" sz="2215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개발 프로세스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(Proto 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단계 상세내용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)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현대하모니 B" panose="02020603020101020101" pitchFamily="18" charset="-127"/>
              <a:cs typeface="+mn-cs"/>
            </a:endParaRPr>
          </a:p>
        </p:txBody>
      </p:sp>
      <p:cxnSp>
        <p:nvCxnSpPr>
          <p:cNvPr id="15" name="직선 연결선 14"/>
          <p:cNvCxnSpPr/>
          <p:nvPr/>
        </p:nvCxnSpPr>
        <p:spPr bwMode="auto">
          <a:xfrm>
            <a:off x="1390612" y="1092966"/>
            <a:ext cx="7285844" cy="0"/>
          </a:xfrm>
          <a:prstGeom prst="line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타원 15"/>
          <p:cNvSpPr/>
          <p:nvPr/>
        </p:nvSpPr>
        <p:spPr>
          <a:xfrm>
            <a:off x="1272647" y="1033811"/>
            <a:ext cx="144016" cy="144017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marL="0" marR="0" lvl="0" indent="0" algn="ctr" defTabSz="120015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/>
          <p:cNvSpPr/>
          <p:nvPr/>
        </p:nvSpPr>
        <p:spPr>
          <a:xfrm>
            <a:off x="2182700" y="1020958"/>
            <a:ext cx="144016" cy="144017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marL="0" marR="0" lvl="0" indent="0" algn="ctr" defTabSz="120015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모서리가 둥근 직사각형 17"/>
          <p:cNvSpPr/>
          <p:nvPr/>
        </p:nvSpPr>
        <p:spPr>
          <a:xfrm>
            <a:off x="2843808" y="966683"/>
            <a:ext cx="4968552" cy="274526"/>
          </a:xfrm>
          <a:prstGeom prst="roundRect">
            <a:avLst>
              <a:gd name="adj" fmla="val 955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00" sy="1000" algn="ctr" rotWithShape="0">
              <a:prstClr val="black"/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산스 Head" panose="020B0600000101010101" pitchFamily="50" charset="-127"/>
                <a:ea typeface="현대산스 Head" panose="020B0600000101010101" pitchFamily="50" charset="-127"/>
                <a:cs typeface="+mn-cs"/>
              </a:rPr>
              <a:t>PROTO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 panose="020B0600000101010101" pitchFamily="50" charset="-127"/>
              <a:ea typeface="현대산스 Head" panose="020B0600000101010101" pitchFamily="50" charset="-127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4615" y="1238751"/>
            <a:ext cx="720080" cy="21602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모델고정</a:t>
            </a:r>
            <a:endParaRPr kumimoji="0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894668" y="1244837"/>
            <a:ext cx="720080" cy="21602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ALL </a:t>
            </a:r>
            <a:r>
              <a:rPr kumimoji="0" lang="ko-KR" altLang="en-US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도면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3001" y="1268760"/>
            <a:ext cx="651487" cy="21602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M/Car</a:t>
            </a:r>
            <a:endParaRPr kumimoji="0" lang="ko-KR" altLang="en-US" sz="1000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8564453" y="1020959"/>
            <a:ext cx="144016" cy="144017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marL="0" marR="0" lvl="0" indent="0" algn="ctr" defTabSz="120015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7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87624" y="1772816"/>
            <a:ext cx="1139092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S/W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사양서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배포</a:t>
            </a:r>
          </a:p>
        </p:txBody>
      </p:sp>
      <p:cxnSp>
        <p:nvCxnSpPr>
          <p:cNvPr id="4" name="직선 화살표 연결선 3"/>
          <p:cNvCxnSpPr/>
          <p:nvPr/>
        </p:nvCxnSpPr>
        <p:spPr bwMode="auto">
          <a:xfrm>
            <a:off x="1475656" y="1988840"/>
            <a:ext cx="914400" cy="914400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1" name="TextBox 60"/>
          <p:cNvSpPr txBox="1"/>
          <p:nvPr/>
        </p:nvSpPr>
        <p:spPr>
          <a:xfrm>
            <a:off x="2233113" y="3313003"/>
            <a:ext cx="1479715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아키텍쳐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및 </a:t>
            </a: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단위설계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954006" y="3842635"/>
            <a:ext cx="1479715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CODE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설계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75070" y="4365104"/>
            <a:ext cx="1479715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CODE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리뷰</a:t>
            </a: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32748" y="4362938"/>
            <a:ext cx="1479715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정적분석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724128" y="3842635"/>
            <a:ext cx="1479715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동적분석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46164" y="3316014"/>
            <a:ext cx="1479715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로직검증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196741" y="2753621"/>
            <a:ext cx="1479715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ES 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검증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567852" y="2752036"/>
            <a:ext cx="1239543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S/W</a:t>
            </a:r>
            <a:r>
              <a:rPr kumimoji="0" lang="ko-KR" altLang="en-US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사양서 리뷰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14570" y="1772816"/>
            <a:ext cx="1139092" cy="21602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vert="horz" wrap="square" lIns="91440" tIns="45720" rIns="91440" bIns="4572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고객검증</a:t>
            </a:r>
            <a:endParaRPr kumimoji="0" lang="ko-KR" altLang="en-US" sz="10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7" name="꺾인 연결선 6"/>
          <p:cNvCxnSpPr>
            <a:stCxn id="2" idx="2"/>
            <a:endCxn id="70" idx="0"/>
          </p:cNvCxnSpPr>
          <p:nvPr/>
        </p:nvCxnSpPr>
        <p:spPr bwMode="auto">
          <a:xfrm rot="16200000" flipH="1">
            <a:off x="1590799" y="2155211"/>
            <a:ext cx="763196" cy="430454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79" name="꺾인 연결선 78"/>
          <p:cNvCxnSpPr>
            <a:stCxn id="70" idx="2"/>
            <a:endCxn id="61" idx="0"/>
          </p:cNvCxnSpPr>
          <p:nvPr/>
        </p:nvCxnSpPr>
        <p:spPr bwMode="auto">
          <a:xfrm rot="16200000" flipH="1">
            <a:off x="2407826" y="2747857"/>
            <a:ext cx="344943" cy="78534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3" name="꺾인 연결선 82"/>
          <p:cNvCxnSpPr>
            <a:stCxn id="61" idx="2"/>
            <a:endCxn id="62" idx="0"/>
          </p:cNvCxnSpPr>
          <p:nvPr/>
        </p:nvCxnSpPr>
        <p:spPr bwMode="auto">
          <a:xfrm rot="16200000" flipH="1">
            <a:off x="3176613" y="3325384"/>
            <a:ext cx="313608" cy="720893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4" name="꺾인 연결선 83"/>
          <p:cNvCxnSpPr>
            <a:stCxn id="62" idx="2"/>
            <a:endCxn id="63" idx="0"/>
          </p:cNvCxnSpPr>
          <p:nvPr/>
        </p:nvCxnSpPr>
        <p:spPr bwMode="auto">
          <a:xfrm rot="16200000" flipH="1">
            <a:off x="3801174" y="3951349"/>
            <a:ext cx="306445" cy="521064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직선 화살표 연결선 38"/>
          <p:cNvCxnSpPr>
            <a:stCxn id="63" idx="3"/>
            <a:endCxn id="64" idx="1"/>
          </p:cNvCxnSpPr>
          <p:nvPr/>
        </p:nvCxnSpPr>
        <p:spPr bwMode="auto">
          <a:xfrm flipV="1">
            <a:off x="4954785" y="4470950"/>
            <a:ext cx="277963" cy="2166"/>
          </a:xfrm>
          <a:prstGeom prst="straightConnector1">
            <a:avLst/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7" name="꺾인 연결선 86"/>
          <p:cNvCxnSpPr>
            <a:stCxn id="64" idx="0"/>
            <a:endCxn id="65" idx="2"/>
          </p:cNvCxnSpPr>
          <p:nvPr/>
        </p:nvCxnSpPr>
        <p:spPr bwMode="auto">
          <a:xfrm rot="5400000" flipH="1" flipV="1">
            <a:off x="6066157" y="3965109"/>
            <a:ext cx="304279" cy="491380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0" name="꺾인 연결선 89"/>
          <p:cNvCxnSpPr>
            <a:stCxn id="65" idx="0"/>
            <a:endCxn id="67" idx="2"/>
          </p:cNvCxnSpPr>
          <p:nvPr/>
        </p:nvCxnSpPr>
        <p:spPr bwMode="auto">
          <a:xfrm rot="5400000" flipH="1" flipV="1">
            <a:off x="6669706" y="3326319"/>
            <a:ext cx="310597" cy="722036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2" name="꺾인 연결선 101"/>
          <p:cNvCxnSpPr>
            <a:stCxn id="67" idx="0"/>
            <a:endCxn id="68" idx="2"/>
          </p:cNvCxnSpPr>
          <p:nvPr/>
        </p:nvCxnSpPr>
        <p:spPr bwMode="auto">
          <a:xfrm rot="5400000" flipH="1" flipV="1">
            <a:off x="7388126" y="2767542"/>
            <a:ext cx="346369" cy="75057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3" name="꺾인 연결선 102"/>
          <p:cNvCxnSpPr>
            <a:stCxn id="68" idx="0"/>
            <a:endCxn id="71" idx="2"/>
          </p:cNvCxnSpPr>
          <p:nvPr/>
        </p:nvCxnSpPr>
        <p:spPr bwMode="auto">
          <a:xfrm rot="5400000" flipH="1" flipV="1">
            <a:off x="7727967" y="2197473"/>
            <a:ext cx="764781" cy="347517"/>
          </a:xfrm>
          <a:prstGeom prst="bentConnector3">
            <a:avLst>
              <a:gd name="adj1" fmla="val 50000"/>
            </a:avLst>
          </a:prstGeom>
          <a:noFill/>
          <a:ln w="2857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28623508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표 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817873"/>
              </p:ext>
            </p:extLst>
          </p:nvPr>
        </p:nvGraphicFramePr>
        <p:xfrm>
          <a:off x="210017" y="836712"/>
          <a:ext cx="8772135" cy="5616624"/>
        </p:xfrm>
        <a:graphic>
          <a:graphicData uri="http://schemas.openxmlformats.org/drawingml/2006/table">
            <a:tbl>
              <a:tblPr/>
              <a:tblGrid>
                <a:gridCol w="792089">
                  <a:extLst>
                    <a:ext uri="{9D8B030D-6E8A-4147-A177-3AD203B41FA5}">
                      <a16:colId xmlns:a16="http://schemas.microsoft.com/office/drawing/2014/main" val="3983745922"/>
                    </a:ext>
                  </a:extLst>
                </a:gridCol>
                <a:gridCol w="1049614">
                  <a:extLst>
                    <a:ext uri="{9D8B030D-6E8A-4147-A177-3AD203B41FA5}">
                      <a16:colId xmlns:a16="http://schemas.microsoft.com/office/drawing/2014/main" val="715843320"/>
                    </a:ext>
                  </a:extLst>
                </a:gridCol>
                <a:gridCol w="6930432">
                  <a:extLst>
                    <a:ext uri="{9D8B030D-6E8A-4147-A177-3AD203B41FA5}">
                      <a16:colId xmlns:a16="http://schemas.microsoft.com/office/drawing/2014/main" val="1255328770"/>
                    </a:ext>
                  </a:extLst>
                </a:gridCol>
              </a:tblGrid>
              <a:tr h="67365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j-lt"/>
                          <a:ea typeface="현대산스 Head" panose="020B0600000101010101" pitchFamily="50" charset="-127"/>
                        </a:rPr>
                        <a:t>HKMC</a:t>
                      </a:r>
                      <a:endParaRPr lang="ko-KR" altLang="en-US" sz="14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33231" marR="33231" marT="33231" marB="33231" anchor="ctr">
                    <a:lnL w="9525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2991922"/>
                  </a:ext>
                </a:extLst>
              </a:tr>
              <a:tr h="406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>
                          <a:latin typeface="+mj-lt"/>
                          <a:ea typeface="현대산스 Head" panose="020B0600000101010101" pitchFamily="50" charset="-127"/>
                        </a:rPr>
                        <a:t>고객사</a:t>
                      </a:r>
                      <a:endParaRPr lang="ko-KR" altLang="en-US" sz="14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33231" marR="33231" marT="33231" marB="3323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en-US" altLang="ko-KR" sz="1100" smtClean="0">
                          <a:latin typeface="현대산스 Head" panose="020B0600000101010101" pitchFamily="50" charset="-127"/>
                          <a:ea typeface="현대산스 Head" panose="020B0600000101010101" pitchFamily="50" charset="-127"/>
                        </a:rPr>
                        <a:t>HYUNDAI / KIA</a:t>
                      </a:r>
                      <a:endParaRPr lang="ko-KR" altLang="en-US" sz="1100" dirty="0"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2633307"/>
                  </a:ext>
                </a:extLst>
              </a:tr>
              <a:tr h="38884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 smtClean="0">
                          <a:latin typeface="+mj-lt"/>
                          <a:ea typeface="현대산스 Head" panose="020B0600000101010101" pitchFamily="50" charset="-127"/>
                        </a:rPr>
                        <a:t>PTC</a:t>
                      </a:r>
                      <a:endParaRPr lang="ko-KR" altLang="en-US" sz="14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33231" marR="33231" marT="33231" marB="3323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>
                        <a:latin typeface="현대산스 Head" panose="020B0600000101010101" pitchFamily="50" charset="-127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2599305"/>
                  </a:ext>
                </a:extLst>
              </a:tr>
              <a:tr h="32403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 smtClean="0">
                          <a:latin typeface="+mj-lt"/>
                          <a:ea typeface="현대산스 Head" panose="020B0600000101010101" pitchFamily="50" charset="-127"/>
                        </a:rPr>
                        <a:t>대상차종</a:t>
                      </a:r>
                      <a:endParaRPr lang="ko-KR" altLang="en-US" sz="14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33231" marR="33231" marT="33231" marB="3323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err="1" smtClean="0">
                          <a:latin typeface="+mj-lt"/>
                          <a:ea typeface="현대산스 Head" panose="020B0600000101010101" pitchFamily="50" charset="-127"/>
                        </a:rPr>
                        <a:t>인증완료</a:t>
                      </a:r>
                      <a:endParaRPr lang="ko-KR" altLang="en-US" sz="12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>
                          <a:latin typeface="+mj-lt"/>
                          <a:ea typeface="현대산스 Head" panose="020B0600000101010101" pitchFamily="50" charset="-127"/>
                        </a:rPr>
                        <a:t>MEa</a:t>
                      </a:r>
                      <a:r>
                        <a:rPr lang="en-US" altLang="ko-KR" sz="1200" dirty="0" smtClean="0">
                          <a:latin typeface="+mj-lt"/>
                          <a:ea typeface="현대산스 Head" panose="020B0600000101010101" pitchFamily="50" charset="-127"/>
                        </a:rPr>
                        <a:t> SPQA, MMA(</a:t>
                      </a:r>
                      <a:r>
                        <a:rPr lang="ko-KR" altLang="en-US" sz="1200" dirty="0" smtClean="0">
                          <a:latin typeface="+mj-lt"/>
                          <a:ea typeface="현대산스 Head" panose="020B0600000101010101" pitchFamily="50" charset="-127"/>
                        </a:rPr>
                        <a:t>벤츠</a:t>
                      </a:r>
                      <a:r>
                        <a:rPr lang="en-US" altLang="ko-KR" sz="1200" dirty="0" smtClean="0">
                          <a:latin typeface="+mj-lt"/>
                          <a:ea typeface="현대산스 Head" panose="020B0600000101010101" pitchFamily="50" charset="-127"/>
                        </a:rPr>
                        <a:t>)</a:t>
                      </a:r>
                      <a:r>
                        <a:rPr lang="en-US" altLang="ko-KR" sz="1200" baseline="0" dirty="0" smtClean="0">
                          <a:latin typeface="+mj-lt"/>
                          <a:ea typeface="현대산스 Head" panose="020B0600000101010101" pitchFamily="50" charset="-127"/>
                        </a:rPr>
                        <a:t> FUSA CL2</a:t>
                      </a:r>
                      <a:endParaRPr lang="ko-KR" altLang="en-US" sz="12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406820"/>
                  </a:ext>
                </a:extLst>
              </a:tr>
              <a:tr h="3240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 smtClean="0">
                          <a:latin typeface="+mj-lt"/>
                          <a:ea typeface="현대산스 Head" panose="020B0600000101010101" pitchFamily="50" charset="-127"/>
                        </a:rPr>
                        <a:t>인증 진행중</a:t>
                      </a:r>
                      <a:endParaRPr lang="ko-KR" altLang="en-US" sz="1200" dirty="0">
                        <a:latin typeface="+mj-lt"/>
                        <a:ea typeface="현대산스 Head" panose="020B0600000101010101" pitchFamily="50" charset="-127"/>
                      </a:endParaRPr>
                    </a:p>
                  </a:txBody>
                  <a:tcPr marL="84406" marR="84406" marT="42203" marB="42203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현대산스 Head" panose="020B0600000101010101" pitchFamily="50" charset="-127"/>
                          <a:cs typeface="+mn-cs"/>
                        </a:rPr>
                        <a:t>QV ASPICE-CL0, MBEAM(</a:t>
                      </a:r>
                      <a:r>
                        <a:rPr lang="ko-KR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현대산스 Head" panose="020B0600000101010101" pitchFamily="50" charset="-127"/>
                          <a:cs typeface="+mn-cs"/>
                        </a:rPr>
                        <a:t>벤츠</a:t>
                      </a: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+mn-lt"/>
                          <a:ea typeface="현대산스 Head" panose="020B0600000101010101" pitchFamily="50" charset="-127"/>
                          <a:cs typeface="+mn-cs"/>
                        </a:rPr>
                        <a:t>)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산스 Head" panose="020B0600000101010101" pitchFamily="50" charset="-127"/>
                          <a:cs typeface="+mn-cs"/>
                        </a:rPr>
                        <a:t> CL2</a:t>
                      </a:r>
                      <a:endParaRPr lang="ko-KR" alt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현대산스 Head" panose="020B0600000101010101" pitchFamily="50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8672865"/>
                  </a:ext>
                </a:extLst>
              </a:tr>
            </a:tbl>
          </a:graphicData>
        </a:graphic>
      </p:graphicFrame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algn="r" defTabSz="844083">
              <a:defRPr/>
            </a:pPr>
            <a:r>
              <a:rPr lang="en-US" altLang="ko-KR" sz="1108" b="1" dirty="0">
                <a:solidFill>
                  <a:srgbClr val="1F497D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lang="ko-KR" altLang="en-US" sz="1662" b="1" dirty="0">
              <a:solidFill>
                <a:srgbClr val="1F497D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31000" y="78977"/>
            <a:ext cx="6619196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ASPICE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프로세스 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80958" y="3298975"/>
            <a:ext cx="2016224" cy="93610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latinLnBrk="0"/>
            <a:endParaRPr lang="ko-KR" altLang="en-US" kern="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6549957" y="5949280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endParaRPr lang="ko-KR" altLang="en-US" kern="0" dirty="0" smtClean="0"/>
          </a:p>
        </p:txBody>
      </p:sp>
      <p:cxnSp>
        <p:nvCxnSpPr>
          <p:cNvPr id="21" name="직선 연결선 20"/>
          <p:cNvCxnSpPr/>
          <p:nvPr/>
        </p:nvCxnSpPr>
        <p:spPr bwMode="auto">
          <a:xfrm>
            <a:off x="1390612" y="1092966"/>
            <a:ext cx="7285844" cy="0"/>
          </a:xfrm>
          <a:prstGeom prst="line">
            <a:avLst/>
          </a:prstGeom>
          <a:noFill/>
          <a:ln w="2857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타원 23"/>
          <p:cNvSpPr/>
          <p:nvPr/>
        </p:nvSpPr>
        <p:spPr>
          <a:xfrm>
            <a:off x="1272647" y="1033811"/>
            <a:ext cx="144016" cy="144017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  <p:sp>
        <p:nvSpPr>
          <p:cNvPr id="25" name="타원 24"/>
          <p:cNvSpPr/>
          <p:nvPr/>
        </p:nvSpPr>
        <p:spPr>
          <a:xfrm>
            <a:off x="2182700" y="1020958"/>
            <a:ext cx="144016" cy="144017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2843808" y="966683"/>
            <a:ext cx="4968552" cy="274526"/>
          </a:xfrm>
          <a:prstGeom prst="roundRect">
            <a:avLst>
              <a:gd name="adj" fmla="val 955"/>
            </a:avLst>
          </a:prstGeom>
          <a:solidFill>
            <a:schemeClr val="accent5">
              <a:lumMod val="60000"/>
              <a:lumOff val="40000"/>
            </a:schemeClr>
          </a:solidFill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63500" sx="1000" sy="1000" algn="ctr" rotWithShape="0">
              <a:prstClr val="black"/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noProof="0" dirty="0" smtClean="0">
                <a:solidFill>
                  <a:prstClr val="black"/>
                </a:solidFill>
                <a:latin typeface="현대산스 Head" panose="020B0600000101010101" pitchFamily="50" charset="-127"/>
                <a:ea typeface="현대산스 Head" panose="020B0600000101010101" pitchFamily="50" charset="-127"/>
              </a:rPr>
              <a:t>PROTO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산스 Head" panose="020B0600000101010101" pitchFamily="50" charset="-127"/>
              <a:ea typeface="현대산스 Head" panose="020B0600000101010101" pitchFamily="50" charset="-127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4615" y="1238751"/>
            <a:ext cx="720080" cy="21602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atinLnBrk="0"/>
            <a:r>
              <a:rPr lang="ko-KR" altLang="en-US" sz="1000" b="1" kern="0" smtClean="0"/>
              <a:t>모델고정</a:t>
            </a:r>
            <a:endParaRPr lang="ko-KR" altLang="en-US" sz="1000" b="1" kern="0" dirty="0" smtClean="0"/>
          </a:p>
        </p:txBody>
      </p:sp>
      <p:sp>
        <p:nvSpPr>
          <p:cNvPr id="33" name="TextBox 32"/>
          <p:cNvSpPr txBox="1"/>
          <p:nvPr/>
        </p:nvSpPr>
        <p:spPr>
          <a:xfrm>
            <a:off x="1894668" y="1244837"/>
            <a:ext cx="720080" cy="21602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latinLnBrk="0"/>
            <a:r>
              <a:rPr lang="en-US" altLang="ko-KR" sz="1000" b="1" kern="0" dirty="0" smtClean="0"/>
              <a:t>ALL </a:t>
            </a:r>
            <a:r>
              <a:rPr lang="ko-KR" altLang="en-US" sz="1000" b="1" kern="0" dirty="0" smtClean="0"/>
              <a:t>도면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3001" y="1268760"/>
            <a:ext cx="651487" cy="21602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 latinLnBrk="0"/>
            <a:r>
              <a:rPr lang="en-US" altLang="ko-KR" sz="1000" b="1" kern="0" dirty="0" smtClean="0"/>
              <a:t>M/Car</a:t>
            </a:r>
            <a:endParaRPr lang="ko-KR" altLang="en-US" sz="1000" b="1" kern="0" dirty="0" smtClean="0"/>
          </a:p>
        </p:txBody>
      </p:sp>
      <p:sp>
        <p:nvSpPr>
          <p:cNvPr id="35" name="타원 34"/>
          <p:cNvSpPr/>
          <p:nvPr/>
        </p:nvSpPr>
        <p:spPr>
          <a:xfrm>
            <a:off x="8564453" y="1020959"/>
            <a:ext cx="144016" cy="144017"/>
          </a:xfrm>
          <a:prstGeom prst="ellipse">
            <a:avLst/>
          </a:prstGeom>
          <a:solidFill>
            <a:srgbClr val="0070C0"/>
          </a:solidFill>
          <a:ln w="952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618" y="2060295"/>
            <a:ext cx="7401958" cy="3600953"/>
          </a:xfrm>
          <a:prstGeom prst="rect">
            <a:avLst/>
          </a:prstGeom>
        </p:spPr>
      </p:pic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94996285"/>
              </p:ext>
            </p:extLst>
          </p:nvPr>
        </p:nvGraphicFramePr>
        <p:xfrm>
          <a:off x="3707904" y="3388010"/>
          <a:ext cx="144000" cy="14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" name="문서" showAsIcon="1" r:id="rId4" imgW="380880" imgH="771480" progId="Word.Document.12">
                  <p:embed/>
                </p:oleObj>
              </mc:Choice>
              <mc:Fallback>
                <p:oleObj name="문서" showAsIcon="1" r:id="rId4" imgW="380880" imgH="771480" progId="Word.Document.12">
                  <p:embed/>
                  <p:pic>
                    <p:nvPicPr>
                      <p:cNvPr id="5" name="개체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 b="55890"/>
                      <a:stretch>
                        <a:fillRect/>
                      </a:stretch>
                    </p:blipFill>
                    <p:spPr bwMode="auto">
                      <a:xfrm>
                        <a:off x="3707904" y="3388010"/>
                        <a:ext cx="144000" cy="144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92092304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6619196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P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TC S/W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개발 실적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(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차종 및 인증 현황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)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29106" y="620688"/>
            <a:ext cx="496507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3345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▣ </a:t>
            </a:r>
            <a:r>
              <a:rPr lang="en-US" altLang="ko-KR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Woory</a:t>
            </a:r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 HV Coolant Heater Technical Road Map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730457" y="1757534"/>
          <a:ext cx="7586010" cy="43197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601">
                  <a:extLst>
                    <a:ext uri="{9D8B030D-6E8A-4147-A177-3AD203B41FA5}">
                      <a16:colId xmlns:a16="http://schemas.microsoft.com/office/drawing/2014/main" val="1553947238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49983320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381510497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737871571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769899999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739738891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145689922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3180421529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064684979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902982406"/>
                    </a:ext>
                  </a:extLst>
                </a:gridCol>
              </a:tblGrid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3060559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1217114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3463503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992600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674777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7916891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9714305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2530001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746390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4487033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9301983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941224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8259368"/>
                  </a:ext>
                </a:extLst>
              </a:tr>
            </a:tbl>
          </a:graphicData>
        </a:graphic>
      </p:graphicFrame>
      <p:cxnSp>
        <p:nvCxnSpPr>
          <p:cNvPr id="6" name="직선 연결선 5"/>
          <p:cNvCxnSpPr/>
          <p:nvPr/>
        </p:nvCxnSpPr>
        <p:spPr bwMode="auto">
          <a:xfrm>
            <a:off x="730700" y="1613207"/>
            <a:ext cx="0" cy="4556819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직선 연결선 6"/>
          <p:cNvCxnSpPr/>
          <p:nvPr/>
        </p:nvCxnSpPr>
        <p:spPr bwMode="auto">
          <a:xfrm flipH="1">
            <a:off x="632764" y="6074280"/>
            <a:ext cx="8213408" cy="2972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8" name="직선 연결선 112"/>
          <p:cNvCxnSpPr>
            <a:cxnSpLocks noChangeShapeType="1"/>
          </p:cNvCxnSpPr>
          <p:nvPr/>
        </p:nvCxnSpPr>
        <p:spPr bwMode="auto">
          <a:xfrm>
            <a:off x="1492638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" name="직선 연결선 112"/>
          <p:cNvCxnSpPr>
            <a:cxnSpLocks noChangeShapeType="1"/>
          </p:cNvCxnSpPr>
          <p:nvPr/>
        </p:nvCxnSpPr>
        <p:spPr bwMode="auto">
          <a:xfrm>
            <a:off x="2245453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연결선 112"/>
          <p:cNvCxnSpPr>
            <a:cxnSpLocks noChangeShapeType="1"/>
          </p:cNvCxnSpPr>
          <p:nvPr/>
        </p:nvCxnSpPr>
        <p:spPr bwMode="auto">
          <a:xfrm>
            <a:off x="3004619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직선 연결선 112"/>
          <p:cNvCxnSpPr>
            <a:cxnSpLocks noChangeShapeType="1"/>
          </p:cNvCxnSpPr>
          <p:nvPr/>
        </p:nvCxnSpPr>
        <p:spPr bwMode="auto">
          <a:xfrm>
            <a:off x="3765248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직선 연결선 112"/>
          <p:cNvCxnSpPr>
            <a:cxnSpLocks noChangeShapeType="1"/>
          </p:cNvCxnSpPr>
          <p:nvPr/>
        </p:nvCxnSpPr>
        <p:spPr bwMode="auto">
          <a:xfrm>
            <a:off x="4521497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직선 연결선 112"/>
          <p:cNvCxnSpPr>
            <a:cxnSpLocks noChangeShapeType="1"/>
          </p:cNvCxnSpPr>
          <p:nvPr/>
        </p:nvCxnSpPr>
        <p:spPr bwMode="auto">
          <a:xfrm>
            <a:off x="5280621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직선 연결선 112"/>
          <p:cNvCxnSpPr>
            <a:cxnSpLocks noChangeShapeType="1"/>
          </p:cNvCxnSpPr>
          <p:nvPr/>
        </p:nvCxnSpPr>
        <p:spPr bwMode="auto">
          <a:xfrm>
            <a:off x="6039746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" name="직선 연결선 112"/>
          <p:cNvCxnSpPr>
            <a:cxnSpLocks noChangeShapeType="1"/>
          </p:cNvCxnSpPr>
          <p:nvPr/>
        </p:nvCxnSpPr>
        <p:spPr bwMode="auto">
          <a:xfrm>
            <a:off x="6798870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112"/>
          <p:cNvCxnSpPr>
            <a:cxnSpLocks noChangeShapeType="1"/>
          </p:cNvCxnSpPr>
          <p:nvPr/>
        </p:nvCxnSpPr>
        <p:spPr bwMode="auto">
          <a:xfrm>
            <a:off x="7555119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99"/>
          <p:cNvCxnSpPr>
            <a:cxnSpLocks noChangeShapeType="1"/>
          </p:cNvCxnSpPr>
          <p:nvPr/>
        </p:nvCxnSpPr>
        <p:spPr bwMode="auto">
          <a:xfrm>
            <a:off x="725819" y="5739282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직사각형 34"/>
          <p:cNvSpPr>
            <a:spLocks noChangeArrowheads="1"/>
          </p:cNvSpPr>
          <p:nvPr/>
        </p:nvSpPr>
        <p:spPr bwMode="auto">
          <a:xfrm>
            <a:off x="1204320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2017Y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9" name="직사각형 34"/>
          <p:cNvSpPr>
            <a:spLocks noChangeArrowheads="1"/>
          </p:cNvSpPr>
          <p:nvPr/>
        </p:nvSpPr>
        <p:spPr bwMode="auto">
          <a:xfrm>
            <a:off x="1956160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2018Y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0" name="직사각형 34"/>
          <p:cNvSpPr>
            <a:spLocks noChangeArrowheads="1"/>
          </p:cNvSpPr>
          <p:nvPr/>
        </p:nvSpPr>
        <p:spPr bwMode="auto">
          <a:xfrm>
            <a:off x="2714350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2019Y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1" name="직사각형 34"/>
          <p:cNvSpPr>
            <a:spLocks noChangeArrowheads="1"/>
          </p:cNvSpPr>
          <p:nvPr/>
        </p:nvSpPr>
        <p:spPr bwMode="auto">
          <a:xfrm>
            <a:off x="3474977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2020Y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2" name="직사각형 34"/>
          <p:cNvSpPr>
            <a:spLocks noChangeArrowheads="1"/>
          </p:cNvSpPr>
          <p:nvPr/>
        </p:nvSpPr>
        <p:spPr bwMode="auto">
          <a:xfrm>
            <a:off x="4234100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2021Y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3" name="직사각형 34"/>
          <p:cNvSpPr>
            <a:spLocks noChangeArrowheads="1"/>
          </p:cNvSpPr>
          <p:nvPr/>
        </p:nvSpPr>
        <p:spPr bwMode="auto">
          <a:xfrm>
            <a:off x="4990352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2022Y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4" name="직사각형 34"/>
          <p:cNvSpPr>
            <a:spLocks noChangeArrowheads="1"/>
          </p:cNvSpPr>
          <p:nvPr/>
        </p:nvSpPr>
        <p:spPr bwMode="auto">
          <a:xfrm>
            <a:off x="5746601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2023Y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5" name="직사각형 34"/>
          <p:cNvSpPr>
            <a:spLocks noChangeArrowheads="1"/>
          </p:cNvSpPr>
          <p:nvPr/>
        </p:nvSpPr>
        <p:spPr bwMode="auto">
          <a:xfrm>
            <a:off x="6502849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2024Y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6" name="직사각형 34"/>
          <p:cNvSpPr>
            <a:spLocks noChangeArrowheads="1"/>
          </p:cNvSpPr>
          <p:nvPr/>
        </p:nvSpPr>
        <p:spPr bwMode="auto">
          <a:xfrm>
            <a:off x="7270602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2025Y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7" name="직사각형 34"/>
          <p:cNvSpPr>
            <a:spLocks noChangeArrowheads="1"/>
          </p:cNvSpPr>
          <p:nvPr/>
        </p:nvSpPr>
        <p:spPr bwMode="auto">
          <a:xfrm>
            <a:off x="144000" y="3206931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8kW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8" name="직사각형 34"/>
          <p:cNvSpPr>
            <a:spLocks noChangeArrowheads="1"/>
          </p:cNvSpPr>
          <p:nvPr/>
        </p:nvSpPr>
        <p:spPr bwMode="auto">
          <a:xfrm>
            <a:off x="144000" y="3544431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7kW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29" name="직사각형 28"/>
          <p:cNvSpPr>
            <a:spLocks noChangeArrowheads="1"/>
          </p:cNvSpPr>
          <p:nvPr/>
        </p:nvSpPr>
        <p:spPr bwMode="auto">
          <a:xfrm>
            <a:off x="144000" y="3861045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6kW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0" name="직사각형 34"/>
          <p:cNvSpPr>
            <a:spLocks noChangeArrowheads="1"/>
          </p:cNvSpPr>
          <p:nvPr/>
        </p:nvSpPr>
        <p:spPr bwMode="auto">
          <a:xfrm>
            <a:off x="144000" y="4202602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5kW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1" name="직사각형 34"/>
          <p:cNvSpPr>
            <a:spLocks noChangeArrowheads="1"/>
          </p:cNvSpPr>
          <p:nvPr/>
        </p:nvSpPr>
        <p:spPr bwMode="auto">
          <a:xfrm>
            <a:off x="144000" y="4547794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4kW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2" name="직사각형 34"/>
          <p:cNvSpPr>
            <a:spLocks noChangeArrowheads="1"/>
          </p:cNvSpPr>
          <p:nvPr/>
        </p:nvSpPr>
        <p:spPr bwMode="auto">
          <a:xfrm>
            <a:off x="144000" y="4859645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3kW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3" name="직사각형 34"/>
          <p:cNvSpPr>
            <a:spLocks noChangeArrowheads="1"/>
          </p:cNvSpPr>
          <p:nvPr/>
        </p:nvSpPr>
        <p:spPr bwMode="auto">
          <a:xfrm>
            <a:off x="144000" y="5199368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4" name="직사각형 34"/>
          <p:cNvSpPr>
            <a:spLocks noChangeArrowheads="1"/>
          </p:cNvSpPr>
          <p:nvPr/>
        </p:nvSpPr>
        <p:spPr bwMode="auto">
          <a:xfrm>
            <a:off x="144000" y="5538457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1kW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5" name="직사각형 34"/>
          <p:cNvSpPr>
            <a:spLocks noChangeArrowheads="1"/>
          </p:cNvSpPr>
          <p:nvPr/>
        </p:nvSpPr>
        <p:spPr bwMode="auto">
          <a:xfrm>
            <a:off x="599438" y="2352383"/>
            <a:ext cx="271032" cy="216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defTabSz="0" eaLnBrk="1" hangingPunct="1">
              <a:lnSpc>
                <a:spcPts val="500"/>
              </a:lnSpc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~</a:t>
            </a:r>
          </a:p>
          <a:p>
            <a:pPr algn="ctr" defTabSz="0" eaLnBrk="1" hangingPunct="1">
              <a:lnSpc>
                <a:spcPts val="500"/>
              </a:lnSpc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~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36" name="직사각형 57"/>
          <p:cNvSpPr>
            <a:spLocks noChangeArrowheads="1"/>
          </p:cNvSpPr>
          <p:nvPr/>
        </p:nvSpPr>
        <p:spPr bwMode="auto">
          <a:xfrm>
            <a:off x="8220098" y="6354464"/>
            <a:ext cx="881062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Calibri" panose="020F0502020204030204" pitchFamily="34" charset="0"/>
                <a:ea typeface="HY헤드라인M" panose="02030600000101010101" pitchFamily="18" charset="-127"/>
                <a:cs typeface="Calibri" panose="020F0502020204030204" pitchFamily="34" charset="0"/>
              </a:rPr>
              <a:t>YEAR</a:t>
            </a:r>
            <a:endParaRPr lang="ko-KR" altLang="en-US" sz="1100" dirty="0">
              <a:latin typeface="Calibri" panose="020F0502020204030204" pitchFamily="34" charset="0"/>
              <a:ea typeface="HY헤드라인M" panose="02030600000101010101" pitchFamily="18" charset="-127"/>
              <a:cs typeface="Calibri" panose="020F0502020204030204" pitchFamily="34" charset="0"/>
            </a:endParaRPr>
          </a:p>
        </p:txBody>
      </p:sp>
      <p:sp>
        <p:nvSpPr>
          <p:cNvPr id="37" name="직사각형 57"/>
          <p:cNvSpPr>
            <a:spLocks noChangeArrowheads="1"/>
          </p:cNvSpPr>
          <p:nvPr/>
        </p:nvSpPr>
        <p:spPr bwMode="auto">
          <a:xfrm rot="16200000">
            <a:off x="155687" y="1632048"/>
            <a:ext cx="567619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POWER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cxnSp>
        <p:nvCxnSpPr>
          <p:cNvPr id="38" name="직선 연결선 99"/>
          <p:cNvCxnSpPr>
            <a:cxnSpLocks noChangeShapeType="1"/>
          </p:cNvCxnSpPr>
          <p:nvPr/>
        </p:nvCxnSpPr>
        <p:spPr bwMode="auto">
          <a:xfrm>
            <a:off x="725819" y="5408504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직선 연결선 99"/>
          <p:cNvCxnSpPr>
            <a:cxnSpLocks noChangeShapeType="1"/>
          </p:cNvCxnSpPr>
          <p:nvPr/>
        </p:nvCxnSpPr>
        <p:spPr bwMode="auto">
          <a:xfrm>
            <a:off x="725819" y="5079163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직선 연결선 99"/>
          <p:cNvCxnSpPr>
            <a:cxnSpLocks noChangeShapeType="1"/>
          </p:cNvCxnSpPr>
          <p:nvPr/>
        </p:nvCxnSpPr>
        <p:spPr bwMode="auto">
          <a:xfrm>
            <a:off x="725819" y="4748385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직선 연결선 99"/>
          <p:cNvCxnSpPr>
            <a:cxnSpLocks noChangeShapeType="1"/>
          </p:cNvCxnSpPr>
          <p:nvPr/>
        </p:nvCxnSpPr>
        <p:spPr bwMode="auto">
          <a:xfrm>
            <a:off x="725819" y="4411339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직선 연결선 99"/>
          <p:cNvCxnSpPr>
            <a:cxnSpLocks noChangeShapeType="1"/>
          </p:cNvCxnSpPr>
          <p:nvPr/>
        </p:nvCxnSpPr>
        <p:spPr bwMode="auto">
          <a:xfrm>
            <a:off x="725819" y="4080561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직선 연결선 99"/>
          <p:cNvCxnSpPr>
            <a:cxnSpLocks noChangeShapeType="1"/>
          </p:cNvCxnSpPr>
          <p:nvPr/>
        </p:nvCxnSpPr>
        <p:spPr bwMode="auto">
          <a:xfrm>
            <a:off x="725819" y="3749497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직선 연결선 99"/>
          <p:cNvCxnSpPr>
            <a:cxnSpLocks noChangeShapeType="1"/>
          </p:cNvCxnSpPr>
          <p:nvPr/>
        </p:nvCxnSpPr>
        <p:spPr bwMode="auto">
          <a:xfrm>
            <a:off x="725819" y="3418719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직선 연결선 99"/>
          <p:cNvCxnSpPr>
            <a:cxnSpLocks noChangeShapeType="1"/>
          </p:cNvCxnSpPr>
          <p:nvPr/>
        </p:nvCxnSpPr>
        <p:spPr bwMode="auto">
          <a:xfrm>
            <a:off x="725819" y="3088736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직선 연결선 99"/>
          <p:cNvCxnSpPr>
            <a:cxnSpLocks noChangeShapeType="1"/>
          </p:cNvCxnSpPr>
          <p:nvPr/>
        </p:nvCxnSpPr>
        <p:spPr bwMode="auto">
          <a:xfrm>
            <a:off x="725819" y="2757672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7" name="직선 연결선 99"/>
          <p:cNvCxnSpPr>
            <a:cxnSpLocks noChangeShapeType="1"/>
          </p:cNvCxnSpPr>
          <p:nvPr/>
        </p:nvCxnSpPr>
        <p:spPr bwMode="auto">
          <a:xfrm>
            <a:off x="725819" y="2088128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직사각형 34"/>
          <p:cNvSpPr>
            <a:spLocks noChangeArrowheads="1"/>
          </p:cNvSpPr>
          <p:nvPr/>
        </p:nvSpPr>
        <p:spPr bwMode="auto">
          <a:xfrm>
            <a:off x="144000" y="2553523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10kW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49" name="직사각형 34"/>
          <p:cNvSpPr>
            <a:spLocks noChangeArrowheads="1"/>
          </p:cNvSpPr>
          <p:nvPr/>
        </p:nvSpPr>
        <p:spPr bwMode="auto">
          <a:xfrm>
            <a:off x="144000" y="2891023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9</a:t>
            </a:r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kW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cxnSp>
        <p:nvCxnSpPr>
          <p:cNvPr id="50" name="직선 연결선 112"/>
          <p:cNvCxnSpPr>
            <a:cxnSpLocks noChangeShapeType="1"/>
          </p:cNvCxnSpPr>
          <p:nvPr/>
        </p:nvCxnSpPr>
        <p:spPr bwMode="auto">
          <a:xfrm>
            <a:off x="8310715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직사각형 34"/>
          <p:cNvSpPr>
            <a:spLocks noChangeArrowheads="1"/>
          </p:cNvSpPr>
          <p:nvPr/>
        </p:nvSpPr>
        <p:spPr bwMode="auto">
          <a:xfrm>
            <a:off x="8026198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2026Y</a:t>
            </a:r>
            <a:endParaRPr lang="ko-KR" altLang="en-US" sz="11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graphicFrame>
        <p:nvGraphicFramePr>
          <p:cNvPr id="52" name="표 51"/>
          <p:cNvGraphicFramePr>
            <a:graphicFrameLocks noGrp="1"/>
          </p:cNvGraphicFramePr>
          <p:nvPr>
            <p:extLst/>
          </p:nvPr>
        </p:nvGraphicFramePr>
        <p:xfrm>
          <a:off x="723957" y="1407644"/>
          <a:ext cx="8349704" cy="4662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9064">
                  <a:extLst>
                    <a:ext uri="{9D8B030D-6E8A-4147-A177-3AD203B41FA5}">
                      <a16:colId xmlns:a16="http://schemas.microsoft.com/office/drawing/2014/main" val="1794205977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4014904878"/>
                    </a:ext>
                  </a:extLst>
                </a:gridCol>
                <a:gridCol w="745739">
                  <a:extLst>
                    <a:ext uri="{9D8B030D-6E8A-4147-A177-3AD203B41FA5}">
                      <a16:colId xmlns:a16="http://schemas.microsoft.com/office/drawing/2014/main" val="1553021490"/>
                    </a:ext>
                  </a:extLst>
                </a:gridCol>
                <a:gridCol w="772389">
                  <a:extLst>
                    <a:ext uri="{9D8B030D-6E8A-4147-A177-3AD203B41FA5}">
                      <a16:colId xmlns:a16="http://schemas.microsoft.com/office/drawing/2014/main" val="800534496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2603710588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3851847658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1473842437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1509854807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2675213066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3065947493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928266286"/>
                    </a:ext>
                  </a:extLst>
                </a:gridCol>
              </a:tblGrid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379971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873250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143752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948573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790274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128129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18677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782462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170157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194345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837346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109734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039501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60870"/>
                  </a:ext>
                </a:extLst>
              </a:tr>
            </a:tbl>
          </a:graphicData>
        </a:graphic>
      </p:graphicFrame>
      <p:sp>
        <p:nvSpPr>
          <p:cNvPr id="53" name="타원 105"/>
          <p:cNvSpPr>
            <a:spLocks noChangeArrowheads="1"/>
          </p:cNvSpPr>
          <p:nvPr/>
        </p:nvSpPr>
        <p:spPr bwMode="auto">
          <a:xfrm>
            <a:off x="7601572" y="686141"/>
            <a:ext cx="207963" cy="201613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ko-KR" altLang="en-US" sz="1100">
              <a:latin typeface="Calibri" panose="020F0502020204030204" pitchFamily="34" charset="0"/>
              <a:ea typeface="HY헤드라인M" panose="02030600000101010101" pitchFamily="18" charset="-127"/>
              <a:cs typeface="Calibri" panose="020F0502020204030204" pitchFamily="34" charset="0"/>
            </a:endParaRPr>
          </a:p>
        </p:txBody>
      </p:sp>
      <p:sp>
        <p:nvSpPr>
          <p:cNvPr id="54" name="직사각형 57"/>
          <p:cNvSpPr>
            <a:spLocks noChangeArrowheads="1"/>
          </p:cNvSpPr>
          <p:nvPr/>
        </p:nvSpPr>
        <p:spPr bwMode="auto">
          <a:xfrm>
            <a:off x="7890497" y="666151"/>
            <a:ext cx="95567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ko-KR" sz="1100" dirty="0" smtClean="0">
                <a:latin typeface="Calibri" panose="020F0502020204030204" pitchFamily="34" charset="0"/>
                <a:ea typeface="HY헤드라인M" panose="02030600000101010101" pitchFamily="18" charset="-127"/>
                <a:cs typeface="Calibri" panose="020F0502020204030204" pitchFamily="34" charset="0"/>
              </a:rPr>
              <a:t>Sheath HEATER</a:t>
            </a:r>
            <a:endParaRPr lang="ko-KR" altLang="en-US" sz="1100" dirty="0">
              <a:latin typeface="Calibri" panose="020F0502020204030204" pitchFamily="34" charset="0"/>
              <a:ea typeface="HY헤드라인M" panose="02030600000101010101" pitchFamily="18" charset="-127"/>
              <a:cs typeface="Calibri" panose="020F0502020204030204" pitchFamily="34" charset="0"/>
            </a:endParaRPr>
          </a:p>
        </p:txBody>
      </p:sp>
      <p:sp>
        <p:nvSpPr>
          <p:cNvPr id="55" name="타원 105"/>
          <p:cNvSpPr>
            <a:spLocks noChangeArrowheads="1"/>
          </p:cNvSpPr>
          <p:nvPr/>
        </p:nvSpPr>
        <p:spPr bwMode="auto">
          <a:xfrm>
            <a:off x="7601572" y="990941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" name="직사각형 57"/>
          <p:cNvSpPr>
            <a:spLocks noChangeArrowheads="1"/>
          </p:cNvSpPr>
          <p:nvPr/>
        </p:nvSpPr>
        <p:spPr bwMode="auto">
          <a:xfrm>
            <a:off x="7919072" y="944174"/>
            <a:ext cx="955675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 eaLnBrk="1" hangingPunct="1"/>
            <a:r>
              <a:rPr lang="en-US" altLang="ko-KR" sz="1100" dirty="0" err="1" smtClean="0">
                <a:latin typeface="Calibri" panose="020F0502020204030204" pitchFamily="34" charset="0"/>
                <a:ea typeface="HY헤드라인M" panose="02030600000101010101" pitchFamily="18" charset="-127"/>
                <a:cs typeface="Calibri" panose="020F0502020204030204" pitchFamily="34" charset="0"/>
              </a:rPr>
              <a:t>ReP</a:t>
            </a:r>
            <a:r>
              <a:rPr lang="en-US" altLang="ko-KR" sz="1100" dirty="0" smtClean="0">
                <a:latin typeface="Calibri" panose="020F0502020204030204" pitchFamily="34" charset="0"/>
                <a:ea typeface="HY헤드라인M" panose="02030600000101010101" pitchFamily="18" charset="-127"/>
                <a:cs typeface="Calibri" panose="020F0502020204030204" pitchFamily="34" charset="0"/>
              </a:rPr>
              <a:t> HEATER</a:t>
            </a:r>
            <a:endParaRPr lang="ko-KR" altLang="en-US" sz="1100" dirty="0">
              <a:latin typeface="Calibri" panose="020F0502020204030204" pitchFamily="34" charset="0"/>
              <a:ea typeface="HY헤드라인M" panose="02030600000101010101" pitchFamily="18" charset="-127"/>
              <a:cs typeface="Calibri" panose="020F0502020204030204" pitchFamily="34" charset="0"/>
            </a:endParaRPr>
          </a:p>
        </p:txBody>
      </p:sp>
      <p:pic>
        <p:nvPicPr>
          <p:cNvPr id="61" name="Picture 4" descr="C:\Users\woory\Desktop\제목 없음.p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3" r="75011" b="78406"/>
          <a:stretch>
            <a:fillRect/>
          </a:stretch>
        </p:blipFill>
        <p:spPr bwMode="auto">
          <a:xfrm>
            <a:off x="2913208" y="3580275"/>
            <a:ext cx="576943" cy="3568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2" name="직선 연결선 99"/>
          <p:cNvCxnSpPr>
            <a:cxnSpLocks noChangeShapeType="1"/>
          </p:cNvCxnSpPr>
          <p:nvPr/>
        </p:nvCxnSpPr>
        <p:spPr bwMode="auto">
          <a:xfrm>
            <a:off x="725819" y="5408504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3" name="직선 연결선 99"/>
          <p:cNvCxnSpPr>
            <a:cxnSpLocks noChangeShapeType="1"/>
          </p:cNvCxnSpPr>
          <p:nvPr/>
        </p:nvCxnSpPr>
        <p:spPr bwMode="auto">
          <a:xfrm>
            <a:off x="725819" y="5079163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4" name="직선 연결선 99"/>
          <p:cNvCxnSpPr>
            <a:cxnSpLocks noChangeShapeType="1"/>
          </p:cNvCxnSpPr>
          <p:nvPr/>
        </p:nvCxnSpPr>
        <p:spPr bwMode="auto">
          <a:xfrm>
            <a:off x="725819" y="4748385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5" name="직선 연결선 99"/>
          <p:cNvCxnSpPr>
            <a:cxnSpLocks noChangeShapeType="1"/>
          </p:cNvCxnSpPr>
          <p:nvPr/>
        </p:nvCxnSpPr>
        <p:spPr bwMode="auto">
          <a:xfrm>
            <a:off x="725819" y="4411339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6" name="직선 연결선 99"/>
          <p:cNvCxnSpPr>
            <a:cxnSpLocks noChangeShapeType="1"/>
          </p:cNvCxnSpPr>
          <p:nvPr/>
        </p:nvCxnSpPr>
        <p:spPr bwMode="auto">
          <a:xfrm>
            <a:off x="725819" y="4080561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직선 연결선 99"/>
          <p:cNvCxnSpPr>
            <a:cxnSpLocks noChangeShapeType="1"/>
          </p:cNvCxnSpPr>
          <p:nvPr/>
        </p:nvCxnSpPr>
        <p:spPr bwMode="auto">
          <a:xfrm>
            <a:off x="725819" y="3749497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직선 연결선 99"/>
          <p:cNvCxnSpPr>
            <a:cxnSpLocks noChangeShapeType="1"/>
          </p:cNvCxnSpPr>
          <p:nvPr/>
        </p:nvCxnSpPr>
        <p:spPr bwMode="auto">
          <a:xfrm>
            <a:off x="725819" y="3418719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직선 연결선 99"/>
          <p:cNvCxnSpPr>
            <a:cxnSpLocks noChangeShapeType="1"/>
          </p:cNvCxnSpPr>
          <p:nvPr/>
        </p:nvCxnSpPr>
        <p:spPr bwMode="auto">
          <a:xfrm>
            <a:off x="725819" y="3088736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0" name="직선 연결선 99"/>
          <p:cNvCxnSpPr>
            <a:cxnSpLocks noChangeShapeType="1"/>
          </p:cNvCxnSpPr>
          <p:nvPr/>
        </p:nvCxnSpPr>
        <p:spPr bwMode="auto">
          <a:xfrm>
            <a:off x="725819" y="2757672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직선 연결선 99"/>
          <p:cNvCxnSpPr>
            <a:cxnSpLocks noChangeShapeType="1"/>
          </p:cNvCxnSpPr>
          <p:nvPr/>
        </p:nvCxnSpPr>
        <p:spPr bwMode="auto">
          <a:xfrm>
            <a:off x="725819" y="2088128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2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358373" y="2408231"/>
            <a:ext cx="450198" cy="30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" name="그림 72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71613" y="2381306"/>
            <a:ext cx="511758" cy="318330"/>
          </a:xfrm>
          <a:prstGeom prst="rect">
            <a:avLst/>
          </a:prstGeom>
        </p:spPr>
      </p:pic>
      <p:pic>
        <p:nvPicPr>
          <p:cNvPr id="74" name="그림 73"/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18574" y="3374338"/>
            <a:ext cx="456009" cy="305695"/>
          </a:xfrm>
          <a:prstGeom prst="rect">
            <a:avLst/>
          </a:prstGeom>
        </p:spPr>
      </p:pic>
      <p:pic>
        <p:nvPicPr>
          <p:cNvPr id="75" name="Picture 3" descr="C:\Users\woory\Desktop\123.bmp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645028" y="4233964"/>
            <a:ext cx="530667" cy="347164"/>
          </a:xfrm>
          <a:prstGeom prst="rect">
            <a:avLst/>
          </a:prstGeom>
          <a:noFill/>
        </p:spPr>
      </p:pic>
      <p:pic>
        <p:nvPicPr>
          <p:cNvPr id="76" name="그림 75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00708" y="3928972"/>
            <a:ext cx="407079" cy="273288"/>
          </a:xfrm>
          <a:prstGeom prst="rect">
            <a:avLst/>
          </a:prstGeom>
        </p:spPr>
      </p:pic>
      <p:pic>
        <p:nvPicPr>
          <p:cNvPr id="77" name="Picture 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36745" y="3887805"/>
            <a:ext cx="405415" cy="279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8" name="Picture 3" descr="C:\Users\woory\Desktop\123.bmp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690050" y="3173168"/>
            <a:ext cx="473815" cy="309971"/>
          </a:xfrm>
          <a:prstGeom prst="rect">
            <a:avLst/>
          </a:prstGeom>
          <a:noFill/>
        </p:spPr>
      </p:pic>
      <p:sp>
        <p:nvSpPr>
          <p:cNvPr id="79" name="타원 105"/>
          <p:cNvSpPr>
            <a:spLocks noChangeArrowheads="1"/>
          </p:cNvSpPr>
          <p:nvPr/>
        </p:nvSpPr>
        <p:spPr bwMode="auto">
          <a:xfrm>
            <a:off x="5902876" y="2665704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0" name="타원 79"/>
          <p:cNvSpPr>
            <a:spLocks noChangeArrowheads="1"/>
          </p:cNvSpPr>
          <p:nvPr/>
        </p:nvSpPr>
        <p:spPr bwMode="auto">
          <a:xfrm>
            <a:off x="5513270" y="3632823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1" name="타원 105"/>
          <p:cNvSpPr>
            <a:spLocks noChangeArrowheads="1"/>
          </p:cNvSpPr>
          <p:nvPr/>
        </p:nvSpPr>
        <p:spPr bwMode="auto">
          <a:xfrm>
            <a:off x="6698301" y="2658037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2" name="타원 81"/>
          <p:cNvSpPr>
            <a:spLocks noChangeArrowheads="1"/>
          </p:cNvSpPr>
          <p:nvPr/>
        </p:nvSpPr>
        <p:spPr bwMode="auto">
          <a:xfrm>
            <a:off x="6219272" y="3315427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3" name="타원 105"/>
          <p:cNvSpPr>
            <a:spLocks noChangeArrowheads="1"/>
          </p:cNvSpPr>
          <p:nvPr/>
        </p:nvSpPr>
        <p:spPr bwMode="auto">
          <a:xfrm>
            <a:off x="6725888" y="3319382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4" name="타원 83"/>
          <p:cNvSpPr>
            <a:spLocks noChangeArrowheads="1"/>
          </p:cNvSpPr>
          <p:nvPr/>
        </p:nvSpPr>
        <p:spPr bwMode="auto">
          <a:xfrm>
            <a:off x="4769695" y="3985350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5" name="타원 105"/>
          <p:cNvSpPr>
            <a:spLocks noChangeArrowheads="1"/>
          </p:cNvSpPr>
          <p:nvPr/>
        </p:nvSpPr>
        <p:spPr bwMode="auto">
          <a:xfrm>
            <a:off x="6271755" y="3985350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7" name="타원 105"/>
          <p:cNvSpPr>
            <a:spLocks noChangeArrowheads="1"/>
          </p:cNvSpPr>
          <p:nvPr/>
        </p:nvSpPr>
        <p:spPr bwMode="auto">
          <a:xfrm>
            <a:off x="2588493" y="3622192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8" name="직사각형 57"/>
          <p:cNvSpPr>
            <a:spLocks noChangeArrowheads="1"/>
          </p:cNvSpPr>
          <p:nvPr/>
        </p:nvSpPr>
        <p:spPr bwMode="auto">
          <a:xfrm>
            <a:off x="2532850" y="3813463"/>
            <a:ext cx="685250" cy="55164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Rox_R11</a:t>
            </a:r>
          </a:p>
          <a:p>
            <a:pPr algn="ctr" eaLnBrk="1" hangingPunct="1"/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7kW</a:t>
            </a: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(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실제 양산 </a:t>
            </a:r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2023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년</a:t>
            </a:r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)</a:t>
            </a:r>
            <a:endParaRPr lang="ko-KR" altLang="en-US" sz="8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89" name="직사각형 57"/>
          <p:cNvSpPr>
            <a:spLocks noChangeArrowheads="1"/>
          </p:cNvSpPr>
          <p:nvPr/>
        </p:nvSpPr>
        <p:spPr bwMode="auto">
          <a:xfrm>
            <a:off x="3943480" y="4103485"/>
            <a:ext cx="763862" cy="32543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Mahindra_S230</a:t>
            </a: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6kW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90" name="직사각형 57"/>
          <p:cNvSpPr>
            <a:spLocks noChangeArrowheads="1"/>
          </p:cNvSpPr>
          <p:nvPr/>
        </p:nvSpPr>
        <p:spPr bwMode="auto">
          <a:xfrm>
            <a:off x="4948905" y="3534562"/>
            <a:ext cx="518367" cy="352344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Zeekr_S12L</a:t>
            </a: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7kW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91" name="직사각형 57"/>
          <p:cNvSpPr>
            <a:spLocks noChangeArrowheads="1"/>
          </p:cNvSpPr>
          <p:nvPr/>
        </p:nvSpPr>
        <p:spPr bwMode="auto">
          <a:xfrm>
            <a:off x="6039746" y="2982070"/>
            <a:ext cx="539606" cy="34891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dirty="0" err="1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Rivian_Helios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8kW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92" name="직사각형 57"/>
          <p:cNvSpPr>
            <a:spLocks noChangeArrowheads="1"/>
          </p:cNvSpPr>
          <p:nvPr/>
        </p:nvSpPr>
        <p:spPr bwMode="auto">
          <a:xfrm>
            <a:off x="5806109" y="2058450"/>
            <a:ext cx="608885" cy="355087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Xiaomi_Ms11</a:t>
            </a: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10kW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93" name="직사각형 57"/>
          <p:cNvSpPr>
            <a:spLocks noChangeArrowheads="1"/>
          </p:cNvSpPr>
          <p:nvPr/>
        </p:nvSpPr>
        <p:spPr bwMode="auto">
          <a:xfrm>
            <a:off x="5746601" y="4226389"/>
            <a:ext cx="1336786" cy="44071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dirty="0" err="1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Stellatis_SmartCar</a:t>
            </a:r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(BPTC)</a:t>
            </a:r>
          </a:p>
          <a:p>
            <a:pPr algn="ctr" eaLnBrk="1" hangingPunct="1"/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6kW</a:t>
            </a:r>
          </a:p>
          <a:p>
            <a:pPr algn="ctr" eaLnBrk="1" hangingPunct="1"/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FUSA-</a:t>
            </a:r>
            <a:r>
              <a:rPr lang="en-US" altLang="ko-KR" sz="800" dirty="0" err="1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AsIL</a:t>
            </a:r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 QM</a:t>
            </a:r>
            <a:endParaRPr lang="ko-KR" altLang="en-US" sz="8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94" name="직사각형 57"/>
          <p:cNvSpPr>
            <a:spLocks noChangeArrowheads="1"/>
          </p:cNvSpPr>
          <p:nvPr/>
        </p:nvSpPr>
        <p:spPr bwMode="auto">
          <a:xfrm>
            <a:off x="6657876" y="2087141"/>
            <a:ext cx="461659" cy="310838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Lantu_H37</a:t>
            </a: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10kW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96" name="직사각형 57"/>
          <p:cNvSpPr>
            <a:spLocks noChangeArrowheads="1"/>
          </p:cNvSpPr>
          <p:nvPr/>
        </p:nvSpPr>
        <p:spPr bwMode="auto">
          <a:xfrm>
            <a:off x="6949456" y="3076493"/>
            <a:ext cx="533566" cy="35838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dirty="0" err="1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Lucid_Gravity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8kW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97" name="그림 96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08564" y="2287197"/>
            <a:ext cx="423067" cy="263161"/>
          </a:xfrm>
          <a:prstGeom prst="rect">
            <a:avLst/>
          </a:prstGeom>
        </p:spPr>
      </p:pic>
      <p:sp>
        <p:nvSpPr>
          <p:cNvPr id="98" name="타원 105"/>
          <p:cNvSpPr>
            <a:spLocks noChangeArrowheads="1"/>
          </p:cNvSpPr>
          <p:nvPr/>
        </p:nvSpPr>
        <p:spPr bwMode="auto">
          <a:xfrm>
            <a:off x="8099873" y="2618128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00" name="직사각형 57"/>
          <p:cNvSpPr>
            <a:spLocks noChangeArrowheads="1"/>
          </p:cNvSpPr>
          <p:nvPr/>
        </p:nvSpPr>
        <p:spPr bwMode="auto">
          <a:xfrm>
            <a:off x="8375163" y="2479116"/>
            <a:ext cx="339333" cy="23334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Toa  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10kW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101" name="그림 100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3" t="15983" r="10693" b="9800"/>
          <a:stretch/>
        </p:blipFill>
        <p:spPr>
          <a:xfrm>
            <a:off x="7532729" y="1605381"/>
            <a:ext cx="318411" cy="449521"/>
          </a:xfrm>
          <a:prstGeom prst="rect">
            <a:avLst/>
          </a:prstGeom>
        </p:spPr>
      </p:pic>
      <p:sp>
        <p:nvSpPr>
          <p:cNvPr id="102" name="타원 105"/>
          <p:cNvSpPr>
            <a:spLocks noChangeArrowheads="1"/>
          </p:cNvSpPr>
          <p:nvPr/>
        </p:nvSpPr>
        <p:spPr bwMode="auto">
          <a:xfrm>
            <a:off x="7270602" y="1770283"/>
            <a:ext cx="207963" cy="201613"/>
          </a:xfrm>
          <a:prstGeom prst="ellipse">
            <a:avLst/>
          </a:prstGeom>
          <a:solidFill>
            <a:srgbClr val="FF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03" name="직사각형 57"/>
          <p:cNvSpPr>
            <a:spLocks noChangeArrowheads="1"/>
          </p:cNvSpPr>
          <p:nvPr/>
        </p:nvSpPr>
        <p:spPr bwMode="auto">
          <a:xfrm>
            <a:off x="6873374" y="1512104"/>
            <a:ext cx="296859" cy="18334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현대</a:t>
            </a:r>
            <a:r>
              <a:rPr lang="en-US" altLang="ko-KR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_Qz,Nh2,</a:t>
            </a:r>
            <a:r>
              <a:rPr lang="ko-KR" altLang="en-US" sz="800" dirty="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사업화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13kW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  <a:p>
            <a:pPr algn="ctr" eaLnBrk="1" hangingPunct="1"/>
            <a:r>
              <a:rPr lang="ko-KR" altLang="en-US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사이버 시큐리티</a:t>
            </a:r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, UDS</a:t>
            </a:r>
            <a:endParaRPr lang="ko-KR" altLang="en-US" sz="800" dirty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07" name="오른쪽 화살표 106"/>
          <p:cNvSpPr/>
          <p:nvPr/>
        </p:nvSpPr>
        <p:spPr>
          <a:xfrm>
            <a:off x="1043608" y="2492896"/>
            <a:ext cx="1493090" cy="2781565"/>
          </a:xfrm>
          <a:prstGeom prst="rightArrow">
            <a:avLst/>
          </a:prstGeom>
          <a:solidFill>
            <a:schemeClr val="accent1">
              <a:hueOff val="0"/>
              <a:satOff val="0"/>
              <a:lumOff val="0"/>
              <a:alpha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  <p:cxnSp>
        <p:nvCxnSpPr>
          <p:cNvPr id="3" name="직선 연결선 2"/>
          <p:cNvCxnSpPr/>
          <p:nvPr/>
        </p:nvCxnSpPr>
        <p:spPr bwMode="auto">
          <a:xfrm flipV="1">
            <a:off x="7919072" y="1340769"/>
            <a:ext cx="0" cy="4829257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0" name="타원 105"/>
          <p:cNvSpPr>
            <a:spLocks noChangeArrowheads="1"/>
          </p:cNvSpPr>
          <p:nvPr/>
        </p:nvSpPr>
        <p:spPr bwMode="auto">
          <a:xfrm>
            <a:off x="8805172" y="3613718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11" name="직사각형 57"/>
          <p:cNvSpPr>
            <a:spLocks noChangeArrowheads="1"/>
          </p:cNvSpPr>
          <p:nvPr/>
        </p:nvSpPr>
        <p:spPr bwMode="auto">
          <a:xfrm>
            <a:off x="8637871" y="3387287"/>
            <a:ext cx="311174" cy="18334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  <a:extLst/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Ceer P800</a:t>
            </a:r>
          </a:p>
          <a:p>
            <a:pPr algn="ctr" eaLnBrk="1" hangingPunct="1"/>
            <a:r>
              <a:rPr lang="en-US" altLang="ko-KR" sz="800" smtClean="0">
                <a:latin typeface="현대하모니 L" panose="02020603020101020101" pitchFamily="18" charset="-127"/>
                <a:ea typeface="현대하모니 L" panose="02020603020101020101" pitchFamily="18" charset="-127"/>
                <a:cs typeface="Calibri" panose="020F0502020204030204" pitchFamily="34" charset="0"/>
              </a:rPr>
              <a:t>7kW</a:t>
            </a:r>
            <a:endParaRPr lang="en-US" altLang="ko-KR" sz="800" dirty="0" smtClean="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7187040" y="5540181"/>
            <a:ext cx="688615" cy="428728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r>
              <a:rPr lang="ko-KR" altLang="en-US" b="1" kern="0" smtClean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양산</a:t>
            </a:r>
            <a:endParaRPr lang="ko-KR" altLang="en-US" b="1" kern="0" dirty="0" smtClean="0">
              <a:solidFill>
                <a:srgbClr val="3333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8027221" y="5562906"/>
            <a:ext cx="1188154" cy="365505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b="1" kern="0" smtClean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중</a:t>
            </a:r>
            <a:endParaRPr lang="ko-KR" altLang="en-US" b="1" kern="0" dirty="0" smtClean="0">
              <a:solidFill>
                <a:srgbClr val="3333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989647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6619196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2215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P</a:t>
            </a:r>
            <a:r>
              <a:rPr lang="en-US" altLang="ko-KR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TC S/W </a:t>
            </a:r>
            <a:r>
              <a:rPr lang="ko-KR" altLang="en-US" sz="2215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개발 실적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(</a:t>
            </a:r>
            <a:r>
              <a:rPr lang="ko-KR" altLang="en-US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차종 및 인증 현황</a:t>
            </a:r>
            <a:r>
              <a:rPr lang="en-US" altLang="ko-KR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현대하모니 B" panose="02020603020101020101" pitchFamily="18" charset="-127"/>
                <a:cs typeface="Arial" panose="020B0604020202020204" pitchFamily="34" charset="0"/>
              </a:rPr>
              <a:t>)</a:t>
            </a:r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ea typeface="현대하모니 B" panose="02020603020101020101" pitchFamily="18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29106" y="620688"/>
            <a:ext cx="51004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3345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 smtClean="0">
                <a:latin typeface="+mj-ea"/>
                <a:ea typeface="+mj-ea"/>
                <a:cs typeface="Arial" panose="020B0604020202020204" pitchFamily="34" charset="0"/>
              </a:rPr>
              <a:t>▣ </a:t>
            </a:r>
            <a:r>
              <a:rPr lang="en-US" altLang="ko-KR" sz="1600" b="1" dirty="0">
                <a:latin typeface="+mj-ea"/>
                <a:ea typeface="+mj-ea"/>
                <a:cs typeface="Arial" panose="020B0604020202020204" pitchFamily="34" charset="0"/>
              </a:rPr>
              <a:t>Woory HV </a:t>
            </a:r>
            <a:r>
              <a:rPr lang="en-US" altLang="ko-KR" sz="1600" b="1" dirty="0" smtClean="0">
                <a:latin typeface="+mj-ea"/>
                <a:ea typeface="+mj-ea"/>
                <a:cs typeface="Arial" panose="020B0604020202020204" pitchFamily="34" charset="0"/>
              </a:rPr>
              <a:t>AIR PTC </a:t>
            </a:r>
            <a:r>
              <a:rPr lang="en-US" altLang="ko-KR" sz="1600" b="1" dirty="0">
                <a:latin typeface="+mj-ea"/>
                <a:ea typeface="+mj-ea"/>
                <a:cs typeface="Arial" panose="020B0604020202020204" pitchFamily="34" charset="0"/>
              </a:rPr>
              <a:t>Heater Technical Road Map</a:t>
            </a:r>
          </a:p>
        </p:txBody>
      </p:sp>
      <p:graphicFrame>
        <p:nvGraphicFramePr>
          <p:cNvPr id="108" name="표 107"/>
          <p:cNvGraphicFramePr>
            <a:graphicFrameLocks noGrp="1"/>
          </p:cNvGraphicFramePr>
          <p:nvPr>
            <p:extLst/>
          </p:nvPr>
        </p:nvGraphicFramePr>
        <p:xfrm>
          <a:off x="730457" y="1757534"/>
          <a:ext cx="7586010" cy="43197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601">
                  <a:extLst>
                    <a:ext uri="{9D8B030D-6E8A-4147-A177-3AD203B41FA5}">
                      <a16:colId xmlns:a16="http://schemas.microsoft.com/office/drawing/2014/main" val="1553947238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49983320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381510497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737871571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769899999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739738891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145689922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3180421529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064684979"/>
                    </a:ext>
                  </a:extLst>
                </a:gridCol>
                <a:gridCol w="758601">
                  <a:extLst>
                    <a:ext uri="{9D8B030D-6E8A-4147-A177-3AD203B41FA5}">
                      <a16:colId xmlns:a16="http://schemas.microsoft.com/office/drawing/2014/main" val="2902982406"/>
                    </a:ext>
                  </a:extLst>
                </a:gridCol>
              </a:tblGrid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13060559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1217114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3463503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5992600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9674777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7916891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09714305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82530001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1746390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24487033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9301983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941224"/>
                  </a:ext>
                </a:extLst>
              </a:tr>
              <a:tr h="332286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78259368"/>
                  </a:ext>
                </a:extLst>
              </a:tr>
            </a:tbl>
          </a:graphicData>
        </a:graphic>
      </p:graphicFrame>
      <p:cxnSp>
        <p:nvCxnSpPr>
          <p:cNvPr id="109" name="직선 연결선 108"/>
          <p:cNvCxnSpPr/>
          <p:nvPr/>
        </p:nvCxnSpPr>
        <p:spPr bwMode="auto">
          <a:xfrm>
            <a:off x="730700" y="1613207"/>
            <a:ext cx="0" cy="4556819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0" name="직선 연결선 109"/>
          <p:cNvCxnSpPr/>
          <p:nvPr/>
        </p:nvCxnSpPr>
        <p:spPr bwMode="auto">
          <a:xfrm flipH="1">
            <a:off x="632764" y="6074280"/>
            <a:ext cx="8213408" cy="2972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1" name="직선 연결선 112"/>
          <p:cNvCxnSpPr>
            <a:cxnSpLocks noChangeShapeType="1"/>
          </p:cNvCxnSpPr>
          <p:nvPr/>
        </p:nvCxnSpPr>
        <p:spPr bwMode="auto">
          <a:xfrm>
            <a:off x="1492638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" name="직선 연결선 112"/>
          <p:cNvCxnSpPr>
            <a:cxnSpLocks noChangeShapeType="1"/>
          </p:cNvCxnSpPr>
          <p:nvPr/>
        </p:nvCxnSpPr>
        <p:spPr bwMode="auto">
          <a:xfrm>
            <a:off x="2245453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3" name="직선 연결선 112"/>
          <p:cNvCxnSpPr>
            <a:cxnSpLocks noChangeShapeType="1"/>
          </p:cNvCxnSpPr>
          <p:nvPr/>
        </p:nvCxnSpPr>
        <p:spPr bwMode="auto">
          <a:xfrm>
            <a:off x="3004619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4" name="직선 연결선 112"/>
          <p:cNvCxnSpPr>
            <a:cxnSpLocks noChangeShapeType="1"/>
          </p:cNvCxnSpPr>
          <p:nvPr/>
        </p:nvCxnSpPr>
        <p:spPr bwMode="auto">
          <a:xfrm>
            <a:off x="3765248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5" name="직선 연결선 112"/>
          <p:cNvCxnSpPr>
            <a:cxnSpLocks noChangeShapeType="1"/>
          </p:cNvCxnSpPr>
          <p:nvPr/>
        </p:nvCxnSpPr>
        <p:spPr bwMode="auto">
          <a:xfrm>
            <a:off x="4521497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6" name="직선 연결선 112"/>
          <p:cNvCxnSpPr>
            <a:cxnSpLocks noChangeShapeType="1"/>
          </p:cNvCxnSpPr>
          <p:nvPr/>
        </p:nvCxnSpPr>
        <p:spPr bwMode="auto">
          <a:xfrm>
            <a:off x="5280621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7" name="직선 연결선 112"/>
          <p:cNvCxnSpPr>
            <a:cxnSpLocks noChangeShapeType="1"/>
          </p:cNvCxnSpPr>
          <p:nvPr/>
        </p:nvCxnSpPr>
        <p:spPr bwMode="auto">
          <a:xfrm>
            <a:off x="6039746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8" name="직선 연결선 112"/>
          <p:cNvCxnSpPr>
            <a:cxnSpLocks noChangeShapeType="1"/>
          </p:cNvCxnSpPr>
          <p:nvPr/>
        </p:nvCxnSpPr>
        <p:spPr bwMode="auto">
          <a:xfrm>
            <a:off x="6798870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9" name="직선 연결선 112"/>
          <p:cNvCxnSpPr>
            <a:cxnSpLocks noChangeShapeType="1"/>
          </p:cNvCxnSpPr>
          <p:nvPr/>
        </p:nvCxnSpPr>
        <p:spPr bwMode="auto">
          <a:xfrm>
            <a:off x="7555119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0" name="직선 연결선 99"/>
          <p:cNvCxnSpPr>
            <a:cxnSpLocks noChangeShapeType="1"/>
          </p:cNvCxnSpPr>
          <p:nvPr/>
        </p:nvCxnSpPr>
        <p:spPr bwMode="auto">
          <a:xfrm>
            <a:off x="725819" y="5739282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1" name="직사각형 34"/>
          <p:cNvSpPr>
            <a:spLocks noChangeArrowheads="1"/>
          </p:cNvSpPr>
          <p:nvPr/>
        </p:nvSpPr>
        <p:spPr bwMode="auto">
          <a:xfrm>
            <a:off x="1204320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2019Y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2" name="직사각형 34"/>
          <p:cNvSpPr>
            <a:spLocks noChangeArrowheads="1"/>
          </p:cNvSpPr>
          <p:nvPr/>
        </p:nvSpPr>
        <p:spPr bwMode="auto">
          <a:xfrm>
            <a:off x="1956160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2020Y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3" name="직사각형 34"/>
          <p:cNvSpPr>
            <a:spLocks noChangeArrowheads="1"/>
          </p:cNvSpPr>
          <p:nvPr/>
        </p:nvSpPr>
        <p:spPr bwMode="auto">
          <a:xfrm>
            <a:off x="2714350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2021Y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4" name="직사각형 34"/>
          <p:cNvSpPr>
            <a:spLocks noChangeArrowheads="1"/>
          </p:cNvSpPr>
          <p:nvPr/>
        </p:nvSpPr>
        <p:spPr bwMode="auto">
          <a:xfrm>
            <a:off x="3474977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2022Y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5" name="직사각형 34"/>
          <p:cNvSpPr>
            <a:spLocks noChangeArrowheads="1"/>
          </p:cNvSpPr>
          <p:nvPr/>
        </p:nvSpPr>
        <p:spPr bwMode="auto">
          <a:xfrm>
            <a:off x="4234100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2023Y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6" name="직사각형 34"/>
          <p:cNvSpPr>
            <a:spLocks noChangeArrowheads="1"/>
          </p:cNvSpPr>
          <p:nvPr/>
        </p:nvSpPr>
        <p:spPr bwMode="auto">
          <a:xfrm>
            <a:off x="4990352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2024Y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7" name="직사각형 34"/>
          <p:cNvSpPr>
            <a:spLocks noChangeArrowheads="1"/>
          </p:cNvSpPr>
          <p:nvPr/>
        </p:nvSpPr>
        <p:spPr bwMode="auto">
          <a:xfrm>
            <a:off x="5746601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2025Y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8" name="직사각형 34"/>
          <p:cNvSpPr>
            <a:spLocks noChangeArrowheads="1"/>
          </p:cNvSpPr>
          <p:nvPr/>
        </p:nvSpPr>
        <p:spPr bwMode="auto">
          <a:xfrm>
            <a:off x="6502849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2026Y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9" name="직사각형 34"/>
          <p:cNvSpPr>
            <a:spLocks noChangeArrowheads="1"/>
          </p:cNvSpPr>
          <p:nvPr/>
        </p:nvSpPr>
        <p:spPr bwMode="auto">
          <a:xfrm>
            <a:off x="7270602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2027Y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0" name="직사각형 34"/>
          <p:cNvSpPr>
            <a:spLocks noChangeArrowheads="1"/>
          </p:cNvSpPr>
          <p:nvPr/>
        </p:nvSpPr>
        <p:spPr bwMode="auto">
          <a:xfrm>
            <a:off x="144000" y="3206931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8kW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1" name="직사각형 34"/>
          <p:cNvSpPr>
            <a:spLocks noChangeArrowheads="1"/>
          </p:cNvSpPr>
          <p:nvPr/>
        </p:nvSpPr>
        <p:spPr bwMode="auto">
          <a:xfrm>
            <a:off x="144000" y="3544431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7kW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2" name="직사각형 131"/>
          <p:cNvSpPr>
            <a:spLocks noChangeArrowheads="1"/>
          </p:cNvSpPr>
          <p:nvPr/>
        </p:nvSpPr>
        <p:spPr bwMode="auto">
          <a:xfrm>
            <a:off x="144000" y="3861045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6kW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3" name="직사각형 34"/>
          <p:cNvSpPr>
            <a:spLocks noChangeArrowheads="1"/>
          </p:cNvSpPr>
          <p:nvPr/>
        </p:nvSpPr>
        <p:spPr bwMode="auto">
          <a:xfrm>
            <a:off x="144000" y="4202602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5kW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4" name="직사각형 34"/>
          <p:cNvSpPr>
            <a:spLocks noChangeArrowheads="1"/>
          </p:cNvSpPr>
          <p:nvPr/>
        </p:nvSpPr>
        <p:spPr bwMode="auto">
          <a:xfrm>
            <a:off x="144000" y="4547794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4kW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5" name="직사각형 34"/>
          <p:cNvSpPr>
            <a:spLocks noChangeArrowheads="1"/>
          </p:cNvSpPr>
          <p:nvPr/>
        </p:nvSpPr>
        <p:spPr bwMode="auto">
          <a:xfrm>
            <a:off x="144000" y="4859645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3kW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6" name="직사각형 34"/>
          <p:cNvSpPr>
            <a:spLocks noChangeArrowheads="1"/>
          </p:cNvSpPr>
          <p:nvPr/>
        </p:nvSpPr>
        <p:spPr bwMode="auto">
          <a:xfrm>
            <a:off x="144000" y="5199368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2kW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7" name="직사각형 34"/>
          <p:cNvSpPr>
            <a:spLocks noChangeArrowheads="1"/>
          </p:cNvSpPr>
          <p:nvPr/>
        </p:nvSpPr>
        <p:spPr bwMode="auto">
          <a:xfrm>
            <a:off x="144000" y="5538457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1kW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8" name="직사각형 34"/>
          <p:cNvSpPr>
            <a:spLocks noChangeArrowheads="1"/>
          </p:cNvSpPr>
          <p:nvPr/>
        </p:nvSpPr>
        <p:spPr bwMode="auto">
          <a:xfrm>
            <a:off x="599438" y="2352383"/>
            <a:ext cx="271032" cy="216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defTabSz="0" eaLnBrk="1" hangingPunct="1">
              <a:lnSpc>
                <a:spcPts val="500"/>
              </a:lnSpc>
            </a:pPr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~</a:t>
            </a:r>
          </a:p>
          <a:p>
            <a:pPr algn="ctr" defTabSz="0" eaLnBrk="1" hangingPunct="1">
              <a:lnSpc>
                <a:spcPts val="500"/>
              </a:lnSpc>
            </a:pPr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~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39" name="직사각형 57"/>
          <p:cNvSpPr>
            <a:spLocks noChangeArrowheads="1"/>
          </p:cNvSpPr>
          <p:nvPr/>
        </p:nvSpPr>
        <p:spPr bwMode="auto">
          <a:xfrm>
            <a:off x="8220098" y="6354464"/>
            <a:ext cx="881062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YEAR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40" name="직사각형 57"/>
          <p:cNvSpPr>
            <a:spLocks noChangeArrowheads="1"/>
          </p:cNvSpPr>
          <p:nvPr/>
        </p:nvSpPr>
        <p:spPr bwMode="auto">
          <a:xfrm rot="16200000">
            <a:off x="155687" y="1632048"/>
            <a:ext cx="567619" cy="242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POWER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41" name="직선 연결선 99"/>
          <p:cNvCxnSpPr>
            <a:cxnSpLocks noChangeShapeType="1"/>
          </p:cNvCxnSpPr>
          <p:nvPr/>
        </p:nvCxnSpPr>
        <p:spPr bwMode="auto">
          <a:xfrm>
            <a:off x="725819" y="5408504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2" name="직선 연결선 99"/>
          <p:cNvCxnSpPr>
            <a:cxnSpLocks noChangeShapeType="1"/>
          </p:cNvCxnSpPr>
          <p:nvPr/>
        </p:nvCxnSpPr>
        <p:spPr bwMode="auto">
          <a:xfrm>
            <a:off x="725819" y="5079163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" name="직선 연결선 99"/>
          <p:cNvCxnSpPr>
            <a:cxnSpLocks noChangeShapeType="1"/>
          </p:cNvCxnSpPr>
          <p:nvPr/>
        </p:nvCxnSpPr>
        <p:spPr bwMode="auto">
          <a:xfrm>
            <a:off x="725819" y="4748385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4" name="직사각형 34"/>
          <p:cNvSpPr>
            <a:spLocks noChangeArrowheads="1"/>
          </p:cNvSpPr>
          <p:nvPr/>
        </p:nvSpPr>
        <p:spPr bwMode="auto">
          <a:xfrm>
            <a:off x="144000" y="2553523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 smtClean="0">
                <a:latin typeface="+mj-ea"/>
                <a:ea typeface="+mj-ea"/>
                <a:cs typeface="Arial" panose="020B0604020202020204" pitchFamily="34" charset="0"/>
              </a:rPr>
              <a:t>10kW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45" name="직사각형 34"/>
          <p:cNvSpPr>
            <a:spLocks noChangeArrowheads="1"/>
          </p:cNvSpPr>
          <p:nvPr/>
        </p:nvSpPr>
        <p:spPr bwMode="auto">
          <a:xfrm>
            <a:off x="144000" y="2891023"/>
            <a:ext cx="622300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dirty="0">
                <a:latin typeface="+mj-ea"/>
                <a:ea typeface="+mj-ea"/>
                <a:cs typeface="Arial" panose="020B0604020202020204" pitchFamily="34" charset="0"/>
              </a:rPr>
              <a:t>9</a:t>
            </a:r>
            <a:r>
              <a:rPr lang="en-US" altLang="ko-KR" sz="1100" dirty="0" smtClean="0">
                <a:latin typeface="+mj-ea"/>
                <a:ea typeface="+mj-ea"/>
                <a:cs typeface="Arial" panose="020B0604020202020204" pitchFamily="34" charset="0"/>
              </a:rPr>
              <a:t>kW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146" name="직선 연결선 112"/>
          <p:cNvCxnSpPr>
            <a:cxnSpLocks noChangeShapeType="1"/>
          </p:cNvCxnSpPr>
          <p:nvPr/>
        </p:nvCxnSpPr>
        <p:spPr bwMode="auto">
          <a:xfrm>
            <a:off x="8310715" y="6013162"/>
            <a:ext cx="0" cy="122237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7" name="직사각형 34"/>
          <p:cNvSpPr>
            <a:spLocks noChangeArrowheads="1"/>
          </p:cNvSpPr>
          <p:nvPr/>
        </p:nvSpPr>
        <p:spPr bwMode="auto">
          <a:xfrm>
            <a:off x="8026198" y="6156414"/>
            <a:ext cx="580538" cy="228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1100" smtClean="0">
                <a:latin typeface="+mj-ea"/>
                <a:ea typeface="+mj-ea"/>
                <a:cs typeface="Arial" panose="020B0604020202020204" pitchFamily="34" charset="0"/>
              </a:rPr>
              <a:t>2028Y</a:t>
            </a:r>
            <a:endParaRPr lang="ko-KR" altLang="en-US" sz="11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148" name="표 147"/>
          <p:cNvGraphicFramePr>
            <a:graphicFrameLocks noGrp="1"/>
          </p:cNvGraphicFramePr>
          <p:nvPr>
            <p:extLst/>
          </p:nvPr>
        </p:nvGraphicFramePr>
        <p:xfrm>
          <a:off x="723957" y="1407644"/>
          <a:ext cx="8349704" cy="46621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9064">
                  <a:extLst>
                    <a:ext uri="{9D8B030D-6E8A-4147-A177-3AD203B41FA5}">
                      <a16:colId xmlns:a16="http://schemas.microsoft.com/office/drawing/2014/main" val="1794205977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4014904878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1553021490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800534496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2603710588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3851847658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1473842437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1509854807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2675213066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3065947493"/>
                    </a:ext>
                  </a:extLst>
                </a:gridCol>
                <a:gridCol w="759064">
                  <a:extLst>
                    <a:ext uri="{9D8B030D-6E8A-4147-A177-3AD203B41FA5}">
                      <a16:colId xmlns:a16="http://schemas.microsoft.com/office/drawing/2014/main" val="928266286"/>
                    </a:ext>
                  </a:extLst>
                </a:gridCol>
              </a:tblGrid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5379971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3873250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143752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948573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6790274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6128129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718677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8782462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1170157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3194345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0837346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109734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9039501"/>
                  </a:ext>
                </a:extLst>
              </a:tr>
              <a:tr h="333010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60870"/>
                  </a:ext>
                </a:extLst>
              </a:tr>
            </a:tbl>
          </a:graphicData>
        </a:graphic>
      </p:graphicFrame>
      <p:cxnSp>
        <p:nvCxnSpPr>
          <p:cNvPr id="149" name="직선 연결선 99"/>
          <p:cNvCxnSpPr>
            <a:cxnSpLocks noChangeShapeType="1"/>
          </p:cNvCxnSpPr>
          <p:nvPr/>
        </p:nvCxnSpPr>
        <p:spPr bwMode="auto">
          <a:xfrm>
            <a:off x="725819" y="5408504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0" name="직선 연결선 99"/>
          <p:cNvCxnSpPr>
            <a:cxnSpLocks noChangeShapeType="1"/>
          </p:cNvCxnSpPr>
          <p:nvPr/>
        </p:nvCxnSpPr>
        <p:spPr bwMode="auto">
          <a:xfrm>
            <a:off x="725819" y="5079163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1" name="직선 연결선 99"/>
          <p:cNvCxnSpPr>
            <a:cxnSpLocks noChangeShapeType="1"/>
          </p:cNvCxnSpPr>
          <p:nvPr/>
        </p:nvCxnSpPr>
        <p:spPr bwMode="auto">
          <a:xfrm>
            <a:off x="725819" y="4748385"/>
            <a:ext cx="80962" cy="0"/>
          </a:xfrm>
          <a:prstGeom prst="lin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5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3292430" y="3301439"/>
            <a:ext cx="286488" cy="290878"/>
          </a:xfrm>
          <a:prstGeom prst="rect">
            <a:avLst/>
          </a:prstGeom>
          <a:noFill/>
        </p:spPr>
      </p:pic>
      <p:sp>
        <p:nvSpPr>
          <p:cNvPr id="153" name="직사각형 34"/>
          <p:cNvSpPr>
            <a:spLocks noChangeArrowheads="1"/>
          </p:cNvSpPr>
          <p:nvPr/>
        </p:nvSpPr>
        <p:spPr bwMode="auto">
          <a:xfrm>
            <a:off x="3181490" y="3050688"/>
            <a:ext cx="565579" cy="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RIVIAN</a:t>
            </a:r>
          </a:p>
          <a:p>
            <a:pPr algn="ctr" eaLnBrk="1" hangingPunct="1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8kW</a:t>
            </a:r>
            <a:endParaRPr lang="ko-KR" altLang="en-US" sz="8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54" name="그림 153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rcRect l="36222" b="36987"/>
          <a:stretch/>
        </p:blipFill>
        <p:spPr>
          <a:xfrm rot="5400000">
            <a:off x="4161980" y="4164868"/>
            <a:ext cx="288232" cy="368351"/>
          </a:xfrm>
          <a:prstGeom prst="rect">
            <a:avLst/>
          </a:prstGeom>
        </p:spPr>
      </p:pic>
      <p:sp>
        <p:nvSpPr>
          <p:cNvPr id="155" name="직사각형 34"/>
          <p:cNvSpPr>
            <a:spLocks noChangeArrowheads="1"/>
          </p:cNvSpPr>
          <p:nvPr/>
        </p:nvSpPr>
        <p:spPr bwMode="auto">
          <a:xfrm>
            <a:off x="4046753" y="3906047"/>
            <a:ext cx="653869" cy="323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SAIC EP33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5.5kW </a:t>
            </a:r>
            <a:endParaRPr lang="ko-KR" altLang="en-US" sz="7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56" name="그림 155"/>
          <p:cNvPicPr>
            <a:picLocks noChangeAspect="1"/>
          </p:cNvPicPr>
          <p:nvPr/>
        </p:nvPicPr>
        <p:blipFill>
          <a:blip r:embed="rId4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5228270" y="3500317"/>
            <a:ext cx="265337" cy="401918"/>
          </a:xfrm>
          <a:prstGeom prst="rect">
            <a:avLst/>
          </a:prstGeom>
        </p:spPr>
      </p:pic>
      <p:pic>
        <p:nvPicPr>
          <p:cNvPr id="157" name="그림 156"/>
          <p:cNvPicPr>
            <a:picLocks noChangeAspect="1"/>
          </p:cNvPicPr>
          <p:nvPr/>
        </p:nvPicPr>
        <p:blipFill>
          <a:blip r:embed="rId5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23344" y="5274461"/>
            <a:ext cx="430016" cy="293821"/>
          </a:xfrm>
          <a:prstGeom prst="rect">
            <a:avLst/>
          </a:prstGeom>
        </p:spPr>
      </p:pic>
      <p:sp>
        <p:nvSpPr>
          <p:cNvPr id="158" name="직사각형 34"/>
          <p:cNvSpPr>
            <a:spLocks noChangeArrowheads="1"/>
          </p:cNvSpPr>
          <p:nvPr/>
        </p:nvSpPr>
        <p:spPr bwMode="auto">
          <a:xfrm>
            <a:off x="4643945" y="3204550"/>
            <a:ext cx="1433986" cy="37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HYUNDAI/KIA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MVa/MEa/NEa/CVa </a:t>
            </a:r>
            <a:r>
              <a:rPr lang="en-US" altLang="ko-KR" sz="800" dirty="0" smtClean="0">
                <a:latin typeface="+mj-ea"/>
                <a:ea typeface="+mj-ea"/>
                <a:cs typeface="Arial" panose="020B0604020202020204" pitchFamily="34" charset="0"/>
              </a:rPr>
              <a:t>Front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6.3kW</a:t>
            </a:r>
            <a:endParaRPr lang="ko-KR" altLang="en-US" sz="7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59" name="직사각형 34"/>
          <p:cNvSpPr>
            <a:spLocks noChangeArrowheads="1"/>
          </p:cNvSpPr>
          <p:nvPr/>
        </p:nvSpPr>
        <p:spPr bwMode="auto">
          <a:xfrm>
            <a:off x="4940606" y="4969590"/>
            <a:ext cx="865545" cy="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cs typeface="Arial" panose="020B0604020202020204" pitchFamily="34" charset="0"/>
              </a:rPr>
              <a:t>HYUNDAI/KIA</a:t>
            </a:r>
            <a:endParaRPr lang="en-US" altLang="ko-KR" sz="800" smtClean="0"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MVa/MEa </a:t>
            </a:r>
            <a:r>
              <a:rPr lang="en-US" altLang="ko-KR" sz="800" dirty="0" smtClean="0">
                <a:latin typeface="+mj-ea"/>
                <a:ea typeface="+mj-ea"/>
                <a:cs typeface="Arial" panose="020B0604020202020204" pitchFamily="34" charset="0"/>
              </a:rPr>
              <a:t>Rear</a:t>
            </a:r>
          </a:p>
          <a:p>
            <a:pPr algn="ctr"/>
            <a:r>
              <a:rPr lang="en-US" altLang="ko-KR" sz="800" dirty="0" smtClean="0">
                <a:latin typeface="+mj-ea"/>
                <a:ea typeface="+mj-ea"/>
                <a:cs typeface="Arial" panose="020B0604020202020204" pitchFamily="34" charset="0"/>
              </a:rPr>
              <a:t>(4kW)</a:t>
            </a:r>
            <a:endParaRPr lang="ko-KR" altLang="en-US" sz="7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60" name="그림 159"/>
          <p:cNvPicPr>
            <a:picLocks noChangeAspect="1"/>
          </p:cNvPicPr>
          <p:nvPr/>
        </p:nvPicPr>
        <p:blipFill rotWithShape="1">
          <a:blip r:embed="rId6"/>
          <a:srcRect l="44601"/>
          <a:stretch/>
        </p:blipFill>
        <p:spPr>
          <a:xfrm rot="16200000">
            <a:off x="7010556" y="3768342"/>
            <a:ext cx="276832" cy="424478"/>
          </a:xfrm>
          <a:prstGeom prst="rect">
            <a:avLst/>
          </a:prstGeom>
        </p:spPr>
      </p:pic>
      <p:sp>
        <p:nvSpPr>
          <p:cNvPr id="161" name="직사각형 34"/>
          <p:cNvSpPr>
            <a:spLocks noChangeArrowheads="1"/>
          </p:cNvSpPr>
          <p:nvPr/>
        </p:nvSpPr>
        <p:spPr bwMode="auto">
          <a:xfrm>
            <a:off x="6805653" y="3281639"/>
            <a:ext cx="688223" cy="579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cs typeface="Arial" panose="020B0604020202020204" pitchFamily="34" charset="0"/>
              </a:rPr>
              <a:t>HYUNDAI/KIA</a:t>
            </a:r>
            <a:endParaRPr lang="en-US" altLang="ko-KR" sz="800" smtClean="0"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QV/BJ1/SVm</a:t>
            </a:r>
            <a:endParaRPr lang="en-US" altLang="ko-KR" sz="800" dirty="0" smtClean="0"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5.5kW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SPQA </a:t>
            </a:r>
            <a:endParaRPr lang="ko-KR" altLang="en-US" sz="7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62" name="그림 161"/>
          <p:cNvPicPr>
            <a:picLocks noChangeAspect="1"/>
          </p:cNvPicPr>
          <p:nvPr/>
        </p:nvPicPr>
        <p:blipFill>
          <a:blip r:embed="rId7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5869373" y="5113820"/>
            <a:ext cx="331347" cy="348901"/>
          </a:xfrm>
          <a:prstGeom prst="rect">
            <a:avLst/>
          </a:prstGeom>
        </p:spPr>
      </p:pic>
      <p:sp>
        <p:nvSpPr>
          <p:cNvPr id="163" name="직사각형 34"/>
          <p:cNvSpPr>
            <a:spLocks noChangeArrowheads="1"/>
          </p:cNvSpPr>
          <p:nvPr/>
        </p:nvSpPr>
        <p:spPr bwMode="auto">
          <a:xfrm>
            <a:off x="5855104" y="4883382"/>
            <a:ext cx="407769" cy="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cs typeface="Arial" panose="020B0604020202020204" pitchFamily="34" charset="0"/>
              </a:rPr>
              <a:t>HYUNDAI</a:t>
            </a:r>
            <a:endParaRPr lang="en-US" altLang="ko-KR" sz="800" smtClean="0"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Su2i (</a:t>
            </a:r>
            <a:r>
              <a:rPr lang="en-US" altLang="ko-KR" sz="800" dirty="0" smtClean="0">
                <a:latin typeface="+mj-ea"/>
                <a:ea typeface="+mj-ea"/>
                <a:cs typeface="Arial" panose="020B0604020202020204" pitchFamily="34" charset="0"/>
              </a:rPr>
              <a:t>4kW)</a:t>
            </a:r>
            <a:endParaRPr lang="ko-KR" altLang="en-US" sz="7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164" name="그림 163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10"/>
          <a:stretch/>
        </p:blipFill>
        <p:spPr>
          <a:xfrm rot="16200000">
            <a:off x="7944321" y="4353684"/>
            <a:ext cx="330017" cy="506029"/>
          </a:xfrm>
          <a:prstGeom prst="rect">
            <a:avLst/>
          </a:prstGeom>
        </p:spPr>
      </p:pic>
      <p:pic>
        <p:nvPicPr>
          <p:cNvPr id="165" name="그림 164"/>
          <p:cNvPicPr>
            <a:picLocks noChangeAspect="1"/>
          </p:cNvPicPr>
          <p:nvPr/>
        </p:nvPicPr>
        <p:blipFill>
          <a:blip r:embed="rId4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7802289" y="3451275"/>
            <a:ext cx="265337" cy="401918"/>
          </a:xfrm>
          <a:prstGeom prst="rect">
            <a:avLst/>
          </a:prstGeom>
        </p:spPr>
      </p:pic>
      <p:sp>
        <p:nvSpPr>
          <p:cNvPr id="166" name="직사각형 34"/>
          <p:cNvSpPr>
            <a:spLocks noChangeArrowheads="1"/>
          </p:cNvSpPr>
          <p:nvPr/>
        </p:nvSpPr>
        <p:spPr bwMode="auto">
          <a:xfrm>
            <a:off x="7465395" y="3247802"/>
            <a:ext cx="989614" cy="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cs typeface="Arial" panose="020B0604020202020204" pitchFamily="34" charset="0"/>
              </a:rPr>
              <a:t>HYUNDAI</a:t>
            </a:r>
            <a:endParaRPr lang="en-US" altLang="ko-KR" sz="800" smtClean="0"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MX5a6.3kW</a:t>
            </a:r>
          </a:p>
          <a:p>
            <a:pPr algn="ctr"/>
            <a:r>
              <a:rPr lang="en-US" altLang="ko-KR" sz="800">
                <a:latin typeface="+mj-ea"/>
                <a:cs typeface="Arial" panose="020B0604020202020204" pitchFamily="34" charset="0"/>
              </a:rPr>
              <a:t>SPQA </a:t>
            </a:r>
            <a:endParaRPr lang="ko-KR" altLang="en-US" sz="800">
              <a:latin typeface="+mj-ea"/>
              <a:cs typeface="Arial" panose="020B0604020202020204" pitchFamily="34" charset="0"/>
            </a:endParaRPr>
          </a:p>
        </p:txBody>
      </p:sp>
      <p:sp>
        <p:nvSpPr>
          <p:cNvPr id="167" name="직사각형 34"/>
          <p:cNvSpPr>
            <a:spLocks noChangeArrowheads="1"/>
          </p:cNvSpPr>
          <p:nvPr/>
        </p:nvSpPr>
        <p:spPr bwMode="auto">
          <a:xfrm>
            <a:off x="7815233" y="4103247"/>
            <a:ext cx="695579" cy="288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cs typeface="Arial" panose="020B0604020202020204" pitchFamily="34" charset="0"/>
              </a:rPr>
              <a:t>HYUNDAI</a:t>
            </a:r>
            <a:endParaRPr lang="en-US" altLang="ko-KR" sz="800" smtClean="0"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NX5e 6.3kW</a:t>
            </a:r>
          </a:p>
          <a:p>
            <a:pPr algn="ctr"/>
            <a:r>
              <a:rPr lang="en-US" altLang="ko-KR" sz="800">
                <a:latin typeface="+mj-ea"/>
                <a:cs typeface="Arial" panose="020B0604020202020204" pitchFamily="34" charset="0"/>
              </a:rPr>
              <a:t>SPQA </a:t>
            </a:r>
            <a:endParaRPr lang="ko-KR" altLang="en-US" sz="800">
              <a:latin typeface="+mj-ea"/>
              <a:cs typeface="Arial" panose="020B0604020202020204" pitchFamily="34" charset="0"/>
            </a:endParaRPr>
          </a:p>
        </p:txBody>
      </p:sp>
      <p:pic>
        <p:nvPicPr>
          <p:cNvPr id="168" name="그림 167"/>
          <p:cNvPicPr>
            <a:picLocks noChangeAspect="1"/>
          </p:cNvPicPr>
          <p:nvPr/>
        </p:nvPicPr>
        <p:blipFill>
          <a:blip r:embed="rId7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6511626" y="5118785"/>
            <a:ext cx="331347" cy="348901"/>
          </a:xfrm>
          <a:prstGeom prst="rect">
            <a:avLst/>
          </a:prstGeom>
        </p:spPr>
      </p:pic>
      <p:sp>
        <p:nvSpPr>
          <p:cNvPr id="169" name="직사각형 34"/>
          <p:cNvSpPr>
            <a:spLocks noChangeArrowheads="1"/>
          </p:cNvSpPr>
          <p:nvPr/>
        </p:nvSpPr>
        <p:spPr bwMode="auto">
          <a:xfrm>
            <a:off x="6469818" y="4888291"/>
            <a:ext cx="407769" cy="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KIA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KY (</a:t>
            </a:r>
            <a:r>
              <a:rPr lang="en-US" altLang="ko-KR" sz="800" dirty="0" smtClean="0">
                <a:latin typeface="+mj-ea"/>
                <a:ea typeface="+mj-ea"/>
                <a:cs typeface="Arial" panose="020B0604020202020204" pitchFamily="34" charset="0"/>
              </a:rPr>
              <a:t>4kW)</a:t>
            </a:r>
            <a:endParaRPr lang="ko-KR" altLang="en-US" sz="7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70" name="타원 169"/>
          <p:cNvSpPr>
            <a:spLocks noChangeArrowheads="1"/>
          </p:cNvSpPr>
          <p:nvPr/>
        </p:nvSpPr>
        <p:spPr bwMode="auto">
          <a:xfrm>
            <a:off x="5284008" y="3854960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71" name="타원 170"/>
          <p:cNvSpPr>
            <a:spLocks noChangeArrowheads="1"/>
          </p:cNvSpPr>
          <p:nvPr/>
        </p:nvSpPr>
        <p:spPr bwMode="auto">
          <a:xfrm>
            <a:off x="6891833" y="4157395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72" name="타원 171"/>
          <p:cNvSpPr>
            <a:spLocks noChangeArrowheads="1"/>
          </p:cNvSpPr>
          <p:nvPr/>
        </p:nvSpPr>
        <p:spPr bwMode="auto">
          <a:xfrm>
            <a:off x="5274869" y="4631902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73" name="타원 172"/>
          <p:cNvSpPr>
            <a:spLocks noChangeArrowheads="1"/>
          </p:cNvSpPr>
          <p:nvPr/>
        </p:nvSpPr>
        <p:spPr bwMode="auto">
          <a:xfrm>
            <a:off x="5827084" y="4638256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74" name="타원 173"/>
          <p:cNvSpPr>
            <a:spLocks noChangeArrowheads="1"/>
          </p:cNvSpPr>
          <p:nvPr/>
        </p:nvSpPr>
        <p:spPr bwMode="auto">
          <a:xfrm>
            <a:off x="6550686" y="4631901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175" name="그림 174"/>
          <p:cNvPicPr>
            <a:picLocks noChangeAspect="1"/>
          </p:cNvPicPr>
          <p:nvPr/>
        </p:nvPicPr>
        <p:blipFill>
          <a:blip r:embed="rId7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 rot="16200000">
            <a:off x="7041208" y="5129899"/>
            <a:ext cx="331347" cy="348901"/>
          </a:xfrm>
          <a:prstGeom prst="rect">
            <a:avLst/>
          </a:prstGeom>
        </p:spPr>
      </p:pic>
      <p:sp>
        <p:nvSpPr>
          <p:cNvPr id="176" name="타원 175"/>
          <p:cNvSpPr>
            <a:spLocks noChangeArrowheads="1"/>
          </p:cNvSpPr>
          <p:nvPr/>
        </p:nvSpPr>
        <p:spPr bwMode="auto">
          <a:xfrm>
            <a:off x="7102901" y="4631901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77" name="직사각형 34"/>
          <p:cNvSpPr>
            <a:spLocks noChangeArrowheads="1"/>
          </p:cNvSpPr>
          <p:nvPr/>
        </p:nvSpPr>
        <p:spPr bwMode="auto">
          <a:xfrm>
            <a:off x="7003626" y="4894303"/>
            <a:ext cx="407769" cy="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KIA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AY (</a:t>
            </a:r>
            <a:r>
              <a:rPr lang="en-US" altLang="ko-KR" sz="800" dirty="0" smtClean="0">
                <a:latin typeface="+mj-ea"/>
                <a:ea typeface="+mj-ea"/>
                <a:cs typeface="Arial" panose="020B0604020202020204" pitchFamily="34" charset="0"/>
              </a:rPr>
              <a:t>4kW)</a:t>
            </a:r>
            <a:endParaRPr lang="ko-KR" altLang="en-US" sz="7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78" name="타원 177"/>
          <p:cNvSpPr>
            <a:spLocks noChangeArrowheads="1"/>
          </p:cNvSpPr>
          <p:nvPr/>
        </p:nvSpPr>
        <p:spPr bwMode="auto">
          <a:xfrm>
            <a:off x="8005349" y="3806379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79" name="타원 178"/>
          <p:cNvSpPr>
            <a:spLocks noChangeArrowheads="1"/>
          </p:cNvSpPr>
          <p:nvPr/>
        </p:nvSpPr>
        <p:spPr bwMode="auto">
          <a:xfrm rot="20971265">
            <a:off x="7762930" y="3805241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80" name="타원 179"/>
          <p:cNvSpPr>
            <a:spLocks noChangeArrowheads="1"/>
          </p:cNvSpPr>
          <p:nvPr/>
        </p:nvSpPr>
        <p:spPr bwMode="auto">
          <a:xfrm>
            <a:off x="3828287" y="4164241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81" name="타원 180"/>
          <p:cNvSpPr>
            <a:spLocks noChangeArrowheads="1"/>
          </p:cNvSpPr>
          <p:nvPr/>
        </p:nvSpPr>
        <p:spPr bwMode="auto">
          <a:xfrm>
            <a:off x="3026794" y="3178336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pic>
        <p:nvPicPr>
          <p:cNvPr id="184" name="그림 183"/>
          <p:cNvPicPr>
            <a:picLocks noChangeAspect="1"/>
          </p:cNvPicPr>
          <p:nvPr/>
        </p:nvPicPr>
        <p:blipFill>
          <a:blip r:embed="rId9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310575" y="4129096"/>
            <a:ext cx="248306" cy="294283"/>
          </a:xfrm>
          <a:prstGeom prst="rect">
            <a:avLst/>
          </a:prstGeom>
        </p:spPr>
      </p:pic>
      <p:sp>
        <p:nvSpPr>
          <p:cNvPr id="185" name="타원 184"/>
          <p:cNvSpPr>
            <a:spLocks noChangeArrowheads="1"/>
          </p:cNvSpPr>
          <p:nvPr/>
        </p:nvSpPr>
        <p:spPr bwMode="auto">
          <a:xfrm>
            <a:off x="6072414" y="4159070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86" name="직사각형 34"/>
          <p:cNvSpPr>
            <a:spLocks noChangeArrowheads="1"/>
          </p:cNvSpPr>
          <p:nvPr/>
        </p:nvSpPr>
        <p:spPr bwMode="auto">
          <a:xfrm>
            <a:off x="5011060" y="4075693"/>
            <a:ext cx="1433986" cy="37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BENZ 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MMA 5.5kW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ASPICE CL2</a:t>
            </a:r>
            <a:endParaRPr lang="ko-KR" altLang="en-US" sz="8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87" name="타원 186"/>
          <p:cNvSpPr>
            <a:spLocks noChangeArrowheads="1"/>
          </p:cNvSpPr>
          <p:nvPr/>
        </p:nvSpPr>
        <p:spPr bwMode="auto">
          <a:xfrm>
            <a:off x="6516216" y="3833945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88" name="직사각형 34"/>
          <p:cNvSpPr>
            <a:spLocks noChangeArrowheads="1"/>
          </p:cNvSpPr>
          <p:nvPr/>
        </p:nvSpPr>
        <p:spPr bwMode="auto">
          <a:xfrm>
            <a:off x="5713089" y="3399799"/>
            <a:ext cx="1433986" cy="3787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BENZ 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MBEAM 6.5kW</a:t>
            </a: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ASPICE CL2</a:t>
            </a:r>
            <a:endParaRPr lang="ko-KR" altLang="en-US" sz="8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29869" y="3473632"/>
            <a:ext cx="298068" cy="394738"/>
          </a:xfrm>
          <a:prstGeom prst="rect">
            <a:avLst/>
          </a:prstGeom>
        </p:spPr>
      </p:pic>
      <p:sp>
        <p:nvSpPr>
          <p:cNvPr id="189" name="타원 188"/>
          <p:cNvSpPr>
            <a:spLocks noChangeArrowheads="1"/>
          </p:cNvSpPr>
          <p:nvPr/>
        </p:nvSpPr>
        <p:spPr bwMode="auto">
          <a:xfrm>
            <a:off x="3828287" y="3806379"/>
            <a:ext cx="207963" cy="20161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round/>
            <a:headEnd/>
            <a:tailEnd/>
          </a:ln>
        </p:spPr>
        <p:txBody>
          <a:bodyPr wrap="none" lIns="82628" tIns="41315" rIns="82628" bIns="41315" anchor="ctr"/>
          <a:lstStyle/>
          <a:p>
            <a:pPr algn="ctr" eaLnBrk="1" hangingPunct="1">
              <a:defRPr/>
            </a:pPr>
            <a:endParaRPr lang="ko-KR" altLang="en-US" sz="1100">
              <a:latin typeface="현대하모니 L" panose="02020603020101020101" pitchFamily="18" charset="-127"/>
              <a:ea typeface="현대하모니 L" panose="02020603020101020101" pitchFamily="18" charset="-127"/>
              <a:cs typeface="Calibri" panose="020F0502020204030204" pitchFamily="34" charset="0"/>
            </a:endParaRPr>
          </a:p>
        </p:txBody>
      </p:sp>
      <p:sp>
        <p:nvSpPr>
          <p:cNvPr id="191" name="직사각형 34"/>
          <p:cNvSpPr>
            <a:spLocks noChangeArrowheads="1"/>
          </p:cNvSpPr>
          <p:nvPr/>
        </p:nvSpPr>
        <p:spPr bwMode="auto">
          <a:xfrm>
            <a:off x="3421923" y="3555332"/>
            <a:ext cx="989614" cy="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2628" tIns="41315" rIns="82628" bIns="41315" anchor="ctr"/>
          <a:lstStyle>
            <a:lvl1pPr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 b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ko-KR" sz="800" smtClean="0">
                <a:latin typeface="+mj-ea"/>
                <a:cs typeface="Arial" panose="020B0604020202020204" pitchFamily="34" charset="0"/>
              </a:rPr>
              <a:t>HYUNDAI</a:t>
            </a:r>
            <a:endParaRPr lang="en-US" altLang="ko-KR" sz="800" smtClean="0"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lang="en-US" altLang="ko-KR" sz="800" smtClean="0">
                <a:latin typeface="+mj-ea"/>
                <a:ea typeface="+mj-ea"/>
                <a:cs typeface="Arial" panose="020B0604020202020204" pitchFamily="34" charset="0"/>
              </a:rPr>
              <a:t>OSEV 6.3kW</a:t>
            </a:r>
          </a:p>
        </p:txBody>
      </p:sp>
      <p:cxnSp>
        <p:nvCxnSpPr>
          <p:cNvPr id="192" name="직선 화살표 연결선 191"/>
          <p:cNvCxnSpPr/>
          <p:nvPr/>
        </p:nvCxnSpPr>
        <p:spPr bwMode="auto">
          <a:xfrm>
            <a:off x="1043608" y="2917061"/>
            <a:ext cx="1493090" cy="1721195"/>
          </a:xfrm>
          <a:prstGeom prst="straightConnector1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3" name="오른쪽 화살표 192"/>
          <p:cNvSpPr/>
          <p:nvPr/>
        </p:nvSpPr>
        <p:spPr>
          <a:xfrm>
            <a:off x="1043608" y="2492896"/>
            <a:ext cx="1493090" cy="2781565"/>
          </a:xfrm>
          <a:prstGeom prst="rightArrow">
            <a:avLst/>
          </a:prstGeom>
          <a:solidFill>
            <a:schemeClr val="accent1">
              <a:hueOff val="0"/>
              <a:satOff val="0"/>
              <a:lumOff val="0"/>
              <a:alpha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429718" tIns="757682" rIns="1833422" bIns="1708658" numCol="1" spcCol="1270" rtlCol="0" anchor="ctr" anchorCtr="0">
            <a:noAutofit/>
          </a:bodyPr>
          <a:lstStyle/>
          <a:p>
            <a:pPr algn="ctr" defTabSz="120015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ko-KR" altLang="en-US" sz="2700" kern="1200" dirty="0"/>
          </a:p>
        </p:txBody>
      </p:sp>
      <p:cxnSp>
        <p:nvCxnSpPr>
          <p:cNvPr id="194" name="직선 연결선 193"/>
          <p:cNvCxnSpPr/>
          <p:nvPr/>
        </p:nvCxnSpPr>
        <p:spPr bwMode="auto">
          <a:xfrm flipV="1">
            <a:off x="6436270" y="1340769"/>
            <a:ext cx="0" cy="4829257"/>
          </a:xfrm>
          <a:prstGeom prst="line">
            <a:avLst/>
          </a:prstGeom>
          <a:noFill/>
          <a:ln w="254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7" name="TextBox 196"/>
          <p:cNvSpPr txBox="1"/>
          <p:nvPr/>
        </p:nvSpPr>
        <p:spPr>
          <a:xfrm>
            <a:off x="5701778" y="1526395"/>
            <a:ext cx="688615" cy="428728"/>
          </a:xfrm>
          <a:prstGeom prst="rect">
            <a:avLst/>
          </a:prstGeom>
        </p:spPr>
        <p:txBody>
          <a:bodyPr vert="horz" wrap="none" lIns="91440" tIns="45720" rIns="91440" bIns="45720" rtlCol="0">
            <a:normAutofit/>
          </a:bodyPr>
          <a:lstStyle/>
          <a:p>
            <a:pPr latinLnBrk="0"/>
            <a:r>
              <a:rPr lang="ko-KR" altLang="en-US" b="1" kern="0" smtClean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양산</a:t>
            </a:r>
            <a:endParaRPr lang="ko-KR" altLang="en-US" b="1" kern="0" dirty="0" smtClean="0">
              <a:solidFill>
                <a:srgbClr val="3333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6511795" y="1556991"/>
            <a:ext cx="1188154" cy="365505"/>
          </a:xfrm>
          <a:prstGeom prst="rect">
            <a:avLst/>
          </a:prstGeom>
        </p:spPr>
        <p:txBody>
          <a:bodyPr vert="horz" wrap="none" lIns="91440" tIns="45720" rIns="91440" bIns="45720" rtlCol="0">
            <a:normAutofit lnSpcReduction="10000"/>
          </a:bodyPr>
          <a:lstStyle/>
          <a:p>
            <a:pPr latinLnBrk="0"/>
            <a:r>
              <a:rPr lang="ko-KR" altLang="en-US" b="1" kern="0" smtClean="0">
                <a:solidFill>
                  <a:srgbClr val="3333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개발 중</a:t>
            </a:r>
            <a:endParaRPr lang="ko-KR" altLang="en-US" b="1" kern="0" dirty="0" smtClean="0">
              <a:solidFill>
                <a:srgbClr val="3333FF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290485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사각형: 둥근 모서리 16">
            <a:extLst>
              <a:ext uri="{FF2B5EF4-FFF2-40B4-BE49-F238E27FC236}">
                <a16:creationId xmlns:a16="http://schemas.microsoft.com/office/drawing/2014/main" id="{C172CC1C-9656-6D0D-CFCA-D01CA8AEFF16}"/>
              </a:ext>
            </a:extLst>
          </p:cNvPr>
          <p:cNvSpPr/>
          <p:nvPr/>
        </p:nvSpPr>
        <p:spPr>
          <a:xfrm>
            <a:off x="8548969" y="261895"/>
            <a:ext cx="609387" cy="236122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66462" tIns="33231" rIns="66462" bIns="33231" rtlCol="0" anchor="ctr"/>
          <a:lstStyle/>
          <a:p>
            <a:pPr marL="0" marR="0" lvl="0" indent="0" algn="r" defTabSz="844083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8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현대하모니 B" panose="02020603020101020101" pitchFamily="18" charset="-127"/>
                <a:ea typeface="현대하모니 B" panose="02020603020101020101" pitchFamily="18" charset="-127"/>
                <a:cs typeface="KoPubWorld돋움체 Bold" panose="00000800000000000000" pitchFamily="2" charset="-127"/>
              </a:rPr>
              <a:t>1/2</a:t>
            </a:r>
            <a:endParaRPr kumimoji="0" lang="ko-KR" altLang="en-US" sz="1662" b="1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현대하모니 B" panose="02020603020101020101" pitchFamily="18" charset="-127"/>
              <a:ea typeface="현대하모니 B" panose="020206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95" name="Text Box 2"/>
          <p:cNvSpPr txBox="1">
            <a:spLocks noChangeArrowheads="1"/>
          </p:cNvSpPr>
          <p:nvPr/>
        </p:nvSpPr>
        <p:spPr bwMode="auto">
          <a:xfrm>
            <a:off x="185052" y="44624"/>
            <a:ext cx="6619196" cy="433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6615" anchor="ctr" anchorCtr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215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ATC S/W </a:t>
            </a:r>
            <a:r>
              <a:rPr kumimoji="0" lang="ko-KR" altLang="en-US" sz="2215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개발 실적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(</a:t>
            </a:r>
            <a:r>
              <a:rPr kumimoji="0" lang="ko-KR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차종 현황</a:t>
            </a:r>
            <a:r>
              <a:rPr kumimoji="0" lang="en-US" altLang="ko-KR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현대하모니 B" panose="02020603020101020101" pitchFamily="18" charset="-127"/>
                <a:cs typeface="Arial" panose="020B0604020202020204" pitchFamily="34" charset="0"/>
              </a:rPr>
              <a:t>)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맑은 고딕"/>
              <a:ea typeface="현대하모니 B" panose="02020603020101020101" pitchFamily="18" charset="-127"/>
              <a:cs typeface="+mn-cs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/>
          </p:nvPr>
        </p:nvGraphicFramePr>
        <p:xfrm>
          <a:off x="251521" y="692696"/>
          <a:ext cx="3960439" cy="5852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6295">
                  <a:extLst>
                    <a:ext uri="{9D8B030D-6E8A-4147-A177-3AD203B41FA5}">
                      <a16:colId xmlns:a16="http://schemas.microsoft.com/office/drawing/2014/main" val="1048299810"/>
                    </a:ext>
                  </a:extLst>
                </a:gridCol>
                <a:gridCol w="1799609">
                  <a:extLst>
                    <a:ext uri="{9D8B030D-6E8A-4147-A177-3AD203B41FA5}">
                      <a16:colId xmlns:a16="http://schemas.microsoft.com/office/drawing/2014/main" val="1726446904"/>
                    </a:ext>
                  </a:extLst>
                </a:gridCol>
                <a:gridCol w="1214535">
                  <a:extLst>
                    <a:ext uri="{9D8B030D-6E8A-4147-A177-3AD203B41FA5}">
                      <a16:colId xmlns:a16="http://schemas.microsoft.com/office/drawing/2014/main" val="2382051539"/>
                    </a:ext>
                  </a:extLst>
                </a:gridCol>
              </a:tblGrid>
              <a:tr h="39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순번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항 목 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개발단계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571343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BC3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PE EURO7 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P2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707543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BC3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PE EURO7 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P2</a:t>
                      </a:r>
                      <a:endParaRPr lang="ko-KR" alt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72254026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JA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PE2 EURO7 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393355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JA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PE2 EURO7 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78293190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5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CD CUV PE EURO7 ATC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5246363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6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CD CUV PE EURO7 MTC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040424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7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CD CUV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PE2 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66063082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8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CD CUV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PE2 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3425207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11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PDe PE2 EURO7 MTC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72256043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13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US4 PE ICE REAR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827719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14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US4 PE HEV REAR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77047480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15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US4 PE EV REAR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4400614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16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US4 PE MTC REAR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58757655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17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GN7 PE ICE 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1579388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18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GN7 PE HEV ATC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24618783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19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GN7 PE REAR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8883386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20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AI3 ATC SUV LHD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3060017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21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JX1 PE HEV 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09730001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22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RG3 PE HEV 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 smtClean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54870089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23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JK1 PE HEV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67313601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24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MQ4i PE 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969484144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25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NQ5e PE MTC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00941691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26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NQ5a PE MTC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19538460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27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AC3 EURO7 FATC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7279950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28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AC3 EURO7 MTC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8082480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29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AI3 SUV PE FATC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132747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30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CN8 PE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4430024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31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JX1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PE 3rd 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FATC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1807406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33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SW EV ATC </a:t>
                      </a:r>
                      <a:r>
                        <a:rPr lang="ko-KR" alt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페신저밴</a:t>
                      </a:r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3156165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34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SW EV ATC </a:t>
                      </a:r>
                      <a:r>
                        <a:rPr lang="ko-KR" alt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페신저밴</a:t>
                      </a:r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1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30435062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35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SW EV ATC WAV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52526162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/>
          </p:nvPr>
        </p:nvGraphicFramePr>
        <p:xfrm>
          <a:off x="4788024" y="692696"/>
          <a:ext cx="3960439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6295">
                  <a:extLst>
                    <a:ext uri="{9D8B030D-6E8A-4147-A177-3AD203B41FA5}">
                      <a16:colId xmlns:a16="http://schemas.microsoft.com/office/drawing/2014/main" val="1048299810"/>
                    </a:ext>
                  </a:extLst>
                </a:gridCol>
                <a:gridCol w="1799609">
                  <a:extLst>
                    <a:ext uri="{9D8B030D-6E8A-4147-A177-3AD203B41FA5}">
                      <a16:colId xmlns:a16="http://schemas.microsoft.com/office/drawing/2014/main" val="1726446904"/>
                    </a:ext>
                  </a:extLst>
                </a:gridCol>
                <a:gridCol w="1214535">
                  <a:extLst>
                    <a:ext uri="{9D8B030D-6E8A-4147-A177-3AD203B41FA5}">
                      <a16:colId xmlns:a16="http://schemas.microsoft.com/office/drawing/2014/main" val="2382051539"/>
                    </a:ext>
                  </a:extLst>
                </a:gridCol>
              </a:tblGrid>
              <a:tr h="39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순번</a:t>
                      </a:r>
                      <a:endParaRPr lang="ko-KR" alt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항 목 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0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개발단계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5571343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36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SW EV REAR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9281586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37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KY PE 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8255095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38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KY PE MTC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50503534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39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KY EV 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P2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290150073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40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NQ5C PE MTC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008708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41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SG2 PE HEV ATCU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77546845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42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AY EV 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610241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43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QY2 UNIT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3023087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44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QY2 MTC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72073784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45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QY2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PANEL(FATC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58015448"/>
                  </a:ext>
                </a:extLst>
              </a:tr>
              <a:tr h="1575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46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BC4i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PANEL(ATC/MTC </a:t>
                      </a:r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2</a:t>
                      </a:r>
                      <a:r>
                        <a:rPr lang="ko-KR" alt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종</a:t>
                      </a:r>
                      <a:r>
                        <a:rPr lang="en-US" altLang="ko-KR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48009120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47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BC4i MTCU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53736638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48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BC4i ATCU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PROTO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80804487"/>
                  </a:ext>
                </a:extLst>
              </a:tr>
              <a:tr h="1216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51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KS PE ATC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62924299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52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KS PE MTC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297971215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53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KS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PEAVN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M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59855819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54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NX5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HEV(</a:t>
                      </a:r>
                      <a:r>
                        <a:rPr lang="ko-KR" alt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자동차 선행</a:t>
                      </a:r>
                      <a:r>
                        <a:rPr lang="en-US" altLang="ko-KR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8944892"/>
                  </a:ext>
                </a:extLst>
              </a:tr>
              <a:tr h="1016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55</a:t>
                      </a:r>
                      <a:endParaRPr lang="en-US" altLang="ko-KR" sz="1200" b="1" i="0" u="none" strike="noStrike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u="none" strike="noStrike" dirty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NX5 </a:t>
                      </a:r>
                      <a:r>
                        <a:rPr lang="en-US" sz="1200" u="none" strike="noStrike" dirty="0" smtClean="0"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HEV ATC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P1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73448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34728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45" y="1422520"/>
            <a:ext cx="6304787" cy="361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04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_제안서 템플릿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spcFirstLastPara="0" vert="horz" wrap="square" lIns="429718" tIns="757682" rIns="1833422" bIns="1708658" numCol="1" spcCol="1270" anchor="ctr" anchorCtr="0">
        <a:noAutofit/>
      </a:bodyPr>
      <a:lstStyle>
        <a:defPPr algn="ctr" defTabSz="1200150" latinLnBrk="1">
          <a:lnSpc>
            <a:spcPct val="90000"/>
          </a:lnSpc>
          <a:spcBef>
            <a:spcPct val="0"/>
          </a:spcBef>
          <a:spcAft>
            <a:spcPct val="35000"/>
          </a:spcAft>
          <a:defRPr sz="2700" kern="1200" dirty="0"/>
        </a:defPPr>
      </a:lstStyle>
      <a:style>
        <a:lnRef idx="2">
          <a:schemeClr val="lt1">
            <a:hueOff val="0"/>
            <a:satOff val="0"/>
            <a:lumOff val="0"/>
            <a:alphaOff val="0"/>
          </a:schemeClr>
        </a:lnRef>
        <a:fillRef idx="1">
          <a:schemeClr val="accent1">
            <a:hueOff val="0"/>
            <a:satOff val="0"/>
            <a:lumOff val="0"/>
            <a:alphaOff val="0"/>
          </a:schemeClr>
        </a:fillRef>
        <a:effectRef idx="0">
          <a:schemeClr val="accent1">
            <a:hueOff val="0"/>
            <a:satOff val="0"/>
            <a:lumOff val="0"/>
            <a:alphaOff val="0"/>
          </a:schemeClr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  <a:txDef>
      <a:spPr/>
      <a:bodyPr vert="horz" lIns="91440" tIns="45720" rIns="91440" bIns="45720" rtlCol="0">
        <a:normAutofit lnSpcReduction="10000"/>
      </a:bodyPr>
      <a:lstStyle>
        <a:defPPr latinLnBrk="0">
          <a:defRPr kern="0" dirty="0" smtClean="0"/>
        </a:defPPr>
      </a:lstStyle>
    </a:tx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Woory2016_RWJ</Template>
  <TotalTime>21884</TotalTime>
  <Words>844</Words>
  <Application>Microsoft Office PowerPoint</Application>
  <PresentationFormat>화면 슬라이드 쇼(4:3)</PresentationFormat>
  <Paragraphs>498</Paragraphs>
  <Slides>10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10</vt:i4>
      </vt:variant>
    </vt:vector>
  </HeadingPairs>
  <TitlesOfParts>
    <vt:vector size="28" baseType="lpstr">
      <vt:lpstr>HY헤드라인M</vt:lpstr>
      <vt:lpstr>KoPubWorld돋움체 Bold</vt:lpstr>
      <vt:lpstr>MS PGothic</vt:lpstr>
      <vt:lpstr>굴림</vt:lpstr>
      <vt:lpstr>맑은 고딕</vt:lpstr>
      <vt:lpstr>현대산스 Head</vt:lpstr>
      <vt:lpstr>현대하모니 B</vt:lpstr>
      <vt:lpstr>현대하모니 L</vt:lpstr>
      <vt:lpstr>현대하모니 M</vt:lpstr>
      <vt:lpstr>Arial</vt:lpstr>
      <vt:lpstr>Berlin Sans FB Demi</vt:lpstr>
      <vt:lpstr>Calibri</vt:lpstr>
      <vt:lpstr>Lucida Sans Unicode</vt:lpstr>
      <vt:lpstr>Verdana</vt:lpstr>
      <vt:lpstr>Wingdings</vt:lpstr>
      <vt:lpstr>2_제안서 템플릿</vt:lpstr>
      <vt:lpstr>Microsoft Word 문서</vt:lpstr>
      <vt:lpstr>Microsoft 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유원종</dc:creator>
  <cp:lastModifiedBy>WOORY</cp:lastModifiedBy>
  <cp:revision>739</cp:revision>
  <cp:lastPrinted>2025-03-19T09:06:02Z</cp:lastPrinted>
  <dcterms:created xsi:type="dcterms:W3CDTF">2017-01-19T08:03:01Z</dcterms:created>
  <dcterms:modified xsi:type="dcterms:W3CDTF">2025-06-17T23:39:33Z</dcterms:modified>
</cp:coreProperties>
</file>